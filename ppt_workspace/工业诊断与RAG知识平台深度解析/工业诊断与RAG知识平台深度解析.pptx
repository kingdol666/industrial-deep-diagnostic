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8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1" Type="http://schemas.openxmlformats.org/officeDocument/2006/relationships/viewProps" Target="viewProps.xml" /><Relationship Id="rId5" Type="http://schemas.openxmlformats.org/officeDocument/2006/relationships/slide" Target="slides/slide5.xml" /><Relationship Id="rId2" Type="http://schemas.openxmlformats.org/officeDocument/2006/relationships/slide" Target="slides/slide2.xml" /><Relationship Id="rId6" Type="http://schemas.openxmlformats.org/officeDocument/2006/relationships/slide" Target="slides/slide6.xml" /><Relationship Id="rId10" Type="http://schemas.openxmlformats.org/officeDocument/2006/relationships/tableStyles" Target="tableStyles.xml" /><Relationship Id="rId1" Type="http://schemas.openxmlformats.org/officeDocument/2006/relationships/slide" Target="slides/slide1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7" Type="http://schemas.openxmlformats.org/officeDocument/2006/relationships/slide" Target="slides/slide7.xml" /><Relationship Id="rId8" Type="http://schemas.openxmlformats.org/officeDocument/2006/relationships/notesMaster" Target="notesMasters/notesMaster1.xml" /><Relationship Id="rId9" Type="http://schemas.openxmlformats.org/officeDocument/2006/relationships/presProps" Target="presProps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pn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png" /><Relationship Id="rId2" Type="http://schemas.openxmlformats.org/officeDocument/2006/relationships/image" Target="media/image4.png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5.pn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6.pn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pn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 descr="&lt;Slide style={{ width: 1280, height: 720, background: '#FFFFFF', padding: '20px 56px', flexDirection: 'column', fontFamily: 'Noto Sans SC' }}&gt;&#10;&#10;  &lt;Box style={{ height: 180, flexDirection: 'column', gap: 8, justifyContent: 'center' }}&gt;&#10;    &lt;Text style={{ fontSize: 12, color: '#94A3B8', fontFamily: 'Cascadia Mono', letterSpacing: 2 }}&gt;TECHNICAL DEEP DIVE · 2026&lt;/Text&gt;&#10;    &lt;Text style={{ fontSize: 52, fontWeight: 'bold', color: '#0F172A', lineHeight: 1.2 }}&gt;&#10;      工业深度诊断 &lt;span style={{ color: '#2563EB' }}&gt;×&lt;/span&gt; RAG 知识平台&#10;    &lt;/Text&gt;&#10;    &lt;Text style={{ fontSize: 16, color: '#64748B', lineHeight: 1.5 }}&gt;&#10;      双引擎深度解析：从一个根因结论的可信性，到一个知识条目的可复用性&#10;    &lt;/Text&gt;&#10;  &lt;/Box&gt;&#10;&#10;  &lt;Box style={{ height: 210, flexDirection: 'row', gap: 24 }}&gt;&#10;&#10;    &lt;Box style={{ flex: 1, background: '#EFF6FF', border: '1px solid #BFDBFE', borderRadius: 12, padding: '16px 20px', flexDirection: 'column' }}&gt;&#10;      &lt;Text style={{ fontSize: 11, color: '#2563EB', fontFamily: 'Cascadia Mono', letterSpacing: 1 }}&gt;ENGINE 01 · DIAGNOSIS&lt;/Text&gt;&#10;      &lt;Box style={{ height: 7 }} /&gt;&#10;      &lt;Text style={{ fontSize: 20, fontWeight: 'bold', color: '#0F172A' }}&gt;工业深度诊断引擎 IDD&lt;/Text&gt;&#10;      &lt;Box style={{ height: 4 }} /&gt;&#10;      &lt;Text style={{ fontSize: 12.5, color: '#475569', lineHeight: 1.5 }}&gt;多 Agent × 多 Skill 的可审计根因分析管线&lt;/Text&gt;&#10;      &lt;Box style={{ height: 10 }} /&gt;&#10;      &lt;Box style={{ flexDirection: 'column', gap: 5 }}&gt;&#10;        &lt;Text style={{ fontSize: 12.5, color: '#0F172A', lineHeight: 1.55 }}&gt;&#10;          &lt;span style={{ color: '#2563EB', fontWeight: 'bold' }}&gt;▪ &lt;/span&gt;Step 0-10 主管线：本体 → 统计 + VLM → 诊断 → 评审 → 报告 → 审计&#10;        &lt;/Text&gt;&#10;        &lt;Text style={{ fontSize: 12.5, color: '#0F172A', lineHeight: 1.55 }}&gt;&#10;          &lt;span style={{ color: '#2563EB', fontWeight: 'bold' }}&gt;▪ &lt;/span&gt;14 Agents × 18 Skills，14 类执行引擎可切换（OMP / Claude Code 等）&#10;        &lt;/Text&gt;&#10;        &lt;Text style={{ fontSize: 12.5, color: '#0F172A', lineHeight: 1.55 }}&gt;&#10;          &lt;span style={{ color: '#2563EB', fontWeight: 'bold' }}&gt;▪ &lt;/span&gt;CP-1~9 检查点 · 证据分级 L1-L7 · 反假相关四条件&#10;        &lt;/Text&gt;&#10;      &lt;/Box&gt;&#10;      &lt;Box style={{ marginTop: 'auto', flexDirection: 'row', gap: 6 }}&gt;&#10;        &lt;Text style={{ fontSize: 10.5, color: '#1D4ED8', fontFamily: 'Cascadia Mono' }}&gt;14 AGENTS · 18 SKILLS · CP-1~9 · L1-L7&lt;/Text&gt;&#10;      &lt;/Box&gt;&#10;    &lt;/Box&gt;&#10;&#10;    &lt;Box style={{ flex: 1, background: '#F5F3FF', border: '1px solid #DDD6FE', borderRadius: 12, padding: '16px 20px', flexDirection: 'column' }}&gt;&#10;      &lt;Text style={{ fontSize: 11, color: '#7C3AED', fontFamily: 'Cascadia Mono', letterSpacing: 1 }}&gt;ENGINE 02 · KNOWLEDGE&lt;/Text&gt;&#10;      &lt;Box style={{ height: 7 }} /&gt;&#10;      &lt;Text style={{ fontSize: 20, fontWeight: 'bold', color: '#0F172A' }}&gt;RAG Knowledge 知识平台&lt;/Text&gt;&#10;      &lt;Box style={{ height: 4 }} /&gt;&#10;      &lt;Text style={{ fontSize: 12.5, color: '#475569', lineHeight: 1.5 }}&gt;企业级文档智能与智能体知识库&lt;/Text&gt;&#10;      &lt;Box style={{ height: 10 }} /&gt;&#10;      &lt;Box style={{ flexDirection: 'column', gap: 5 }}&gt;&#10;        &lt;Text style={{ fontSize: 12.5, color: '#0F172A', lineHeight: 1.55 }}&gt;&#10;          &lt;span style={{ color: '#7C3AED', fontWeight: 'bold' }}&gt;▪ &lt;/span&gt;QDCVR 内容验证检索：0-8 评分，低于 6 扩展召回、低于 4 硬丢弃&#10;        &lt;/Text&gt;&#10;        &lt;Text style={{ fontSize: 12.5, color: '#0F172A', lineHeight: 1.55 }}&gt;&#10;          &lt;span style={{ color: '#7C3AED', fontWeight: 'bold' }}&gt;▪ &lt;/span&gt;BM25 + 向量 + 标签 + 图谱四路召回，跨库去重与融合&#10;        &lt;/Text&gt;&#10;        &lt;Text style={{ fontSize: 12.5, color: '#0F172A', lineHeight: 1.55 }}&gt;&#10;          &lt;span style={{ color: '#7C3AED', fontWeight: 'bold' }}&gt;▪ &lt;/span&gt;P0 / P1 / P2 / DISCARD 可信度分级 · E0-E12 经验生命周期&#10;        &lt;/Text&gt;&#10;      &lt;/Box&gt;&#10;      &lt;Box style={{ marginTop: 'auto', flexDirection: 'row', gap: 6 }}&gt;&#10;        &lt;Text style={{ fontSize: 10.5, color: '#6D28D9', fontFamily: 'Cascadia Mono' }}&gt;94 MCP TOOLS · 19 SKILLS · NEO4J · MINERU&lt;/Text&gt;&#10;      &lt;/Box&gt;&#10;    &lt;/Box&gt;&#10;&#10;  &lt;/Box&gt;&#10;&#10;  &lt;Box style={{ height: 22 }} /&gt;&#10;&#10;  &lt;Box style={{ height: 172, background: '#F8FAFC', border: '1px solid #E2E8F0', borderRadius: 10, padding: '8px 10px', flexDirection: 'column', gap: 4 }}&gt;&#10;    &lt;Image src=&quot;assets/idd_pipeline.png&quot; style={{ width: '100%', height: 140, objectFit: 'contain' }} /&gt;&#10;    &lt;Text style={{ fontSize: 11, color: '#94A3B8', fontFamily: 'Cascadia Mono', textAlign: 'center' }}&gt;&#10;      IDD · Step 0-10 分析管线（项目真实产物）&#10;    &lt;/Text&gt;&#10;  &lt;/Box&gt;&#10;&#10;  &lt;Box style={{ marginTop: 'auto', height: 34, flexDirection: 'row', alignItems: 'center', justifyContent: 'space-between' }}&gt;&#10;    &lt;Text style={{ fontSize: 12.5, color: '#94A3B8' }}&gt;工业深度诊断 × RAG 知识平台 · 深度解析&lt;/Text&gt;&#10;    &lt;Text style={{ fontSize: 12.5, color: '#94A3B8', fontFamily: 'Cascadia Mono' }}&gt;01 / 07&lt;/Text&gt;&#10;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533400" y="409575"/>
            <a:ext cx="11125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94A3B8"/>
                </a:solidFill>
                <a:latin typeface="Cascadia Mono"/>
                <a:ea typeface="Cascadia Mono"/>
              </a:rPr>
              <a:t>TECHNICAL DEEP DIVE · 2026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533400" y="628650"/>
            <a:ext cx="11125200" cy="7143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0F172A"/>
                </a:solidFill>
                <a:latin typeface="Noto Sans SC"/>
                <a:ea typeface="Noto Sans SC"/>
              </a:rPr>
              <a:t>工业深度诊断</a:t>
            </a:r>
            <a:r>
              <a:rPr lang="en-US" sz="3900" b="1">
                <a:solidFill>
                  <a:srgbClr val="0F172A"/>
                </a:solidFill>
                <a:latin typeface="Noto Sans SC"/>
                <a:ea typeface="Noto Sans SC"/>
              </a:rPr>
              <a:t> </a:t>
            </a:r>
            <a:r>
              <a:rPr sz="3900" b="1">
                <a:solidFill>
                  <a:srgbClr val="2563EB"/>
                </a:solidFill>
                <a:latin typeface="Noto Sans SC"/>
                <a:ea typeface="Noto Sans SC"/>
              </a:rPr>
              <a:t>×</a:t>
            </a:r>
            <a:r>
              <a:rPr lang="en-US" sz="3900" b="1">
                <a:solidFill>
                  <a:srgbClr val="0F172A"/>
                </a:solidFill>
                <a:latin typeface="Noto Sans SC"/>
                <a:ea typeface="Noto Sans SC"/>
              </a:rPr>
              <a:t> RAG </a:t>
            </a:r>
            <a:r>
              <a:rPr lang="zh-CN" sz="3900" b="1">
                <a:solidFill>
                  <a:srgbClr val="0F172A"/>
                </a:solidFill>
                <a:latin typeface="Noto Sans SC"/>
                <a:ea typeface="Noto Sans SC"/>
              </a:rPr>
              <a:t>知识平台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533400" y="1419225"/>
            <a:ext cx="11125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Noto Sans SC"/>
                <a:ea typeface="Noto Sans SC"/>
              </a:rPr>
              <a:t>双引擎深度解析：从一个根因结论的可信性，到一个知识条目的可复用性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533400" y="1905000"/>
            <a:ext cx="5448300" cy="2000250"/>
          </a:xfrm>
          <a:prstGeom prst="roundRect">
            <a:avLst>
              <a:gd name="adj" fmla="val 571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23900" y="2057400"/>
            <a:ext cx="5067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75">
                <a:solidFill>
                  <a:srgbClr val="2563EB"/>
                </a:solidFill>
                <a:latin typeface="Cascadia Mono"/>
                <a:ea typeface="Cascadia Mono"/>
              </a:rPr>
              <a:t>ENGINE 01 · DIAGNOSIS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723900" y="2257425"/>
            <a:ext cx="5067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72A"/>
                </a:solidFill>
                <a:latin typeface="Noto Sans SC"/>
                <a:ea typeface="Noto Sans SC"/>
              </a:rPr>
              <a:t>工业深度诊断引擎</a:t>
            </a:r>
            <a:r>
              <a:rPr lang="en-US" sz="1500" b="1">
                <a:solidFill>
                  <a:srgbClr val="0F172A"/>
                </a:solidFill>
                <a:latin typeface="Noto Sans SC"/>
                <a:ea typeface="Noto Sans SC"/>
              </a:rPr>
              <a:t> IDD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23900" y="2524125"/>
            <a:ext cx="506730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475569"/>
                </a:solidFill>
                <a:latin typeface="Noto Sans SC"/>
                <a:ea typeface="Noto Sans SC"/>
              </a:rPr>
              <a:t>多</a:t>
            </a:r>
            <a:r>
              <a:rPr lang="en-US" sz="938">
                <a:solidFill>
                  <a:srgbClr val="475569"/>
                </a:solidFill>
                <a:latin typeface="Noto Sans SC"/>
                <a:ea typeface="Noto Sans SC"/>
              </a:rPr>
              <a:t> Agent × </a:t>
            </a:r>
            <a:r>
              <a:rPr lang="zh-CN" sz="938">
                <a:solidFill>
                  <a:srgbClr val="475569"/>
                </a:solidFill>
                <a:latin typeface="Noto Sans SC"/>
                <a:ea typeface="Noto Sans SC"/>
              </a:rPr>
              <a:t>多</a:t>
            </a:r>
            <a:r>
              <a:rPr lang="en-US" sz="938">
                <a:solidFill>
                  <a:srgbClr val="475569"/>
                </a:solidFill>
                <a:latin typeface="Noto Sans SC"/>
                <a:ea typeface="Noto Sans SC"/>
              </a:rPr>
              <a:t> Skill </a:t>
            </a:r>
            <a:r>
              <a:rPr lang="zh-CN" sz="938">
                <a:solidFill>
                  <a:srgbClr val="475569"/>
                </a:solidFill>
                <a:latin typeface="Noto Sans SC"/>
                <a:ea typeface="Noto Sans SC"/>
              </a:rPr>
              <a:t>的可审计根因分析管线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723900" y="2838450"/>
            <a:ext cx="5067300" cy="2286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38" b="1">
                <a:solidFill>
                  <a:srgbClr val="2563EB"/>
                </a:solidFill>
                <a:latin typeface="Noto Sans SC"/>
                <a:ea typeface="Noto Sans SC"/>
              </a:rPr>
              <a:t>▪ </a:t>
            </a:r>
            <a:r>
              <a:rPr lang="en-US" sz="938">
                <a:solidFill>
                  <a:srgbClr val="0F172A"/>
                </a:solidFill>
                <a:latin typeface="Noto Sans SC"/>
                <a:ea typeface="Noto Sans SC"/>
              </a:rPr>
              <a:t>Step 0-10 </a:t>
            </a:r>
            <a:r>
              <a:rPr lang="zh-CN" sz="938">
                <a:solidFill>
                  <a:srgbClr val="0F172A"/>
                </a:solidFill>
                <a:latin typeface="Noto Sans SC"/>
                <a:ea typeface="Noto Sans SC"/>
              </a:rPr>
              <a:t>主管线：本体</a:t>
            </a:r>
            <a:r>
              <a:rPr lang="en-US" sz="938">
                <a:solidFill>
                  <a:srgbClr val="0F172A"/>
                </a:solidFill>
                <a:latin typeface="Noto Sans SC"/>
                <a:ea typeface="Noto Sans SC"/>
              </a:rPr>
              <a:t> → </a:t>
            </a:r>
            <a:r>
              <a:rPr lang="zh-CN" sz="938">
                <a:solidFill>
                  <a:srgbClr val="0F172A"/>
                </a:solidFill>
                <a:latin typeface="Noto Sans SC"/>
                <a:ea typeface="Noto Sans SC"/>
              </a:rPr>
              <a:t>统计</a:t>
            </a:r>
            <a:r>
              <a:rPr lang="en-US" sz="938">
                <a:solidFill>
                  <a:srgbClr val="0F172A"/>
                </a:solidFill>
                <a:latin typeface="Noto Sans SC"/>
                <a:ea typeface="Noto Sans SC"/>
              </a:rPr>
              <a:t> + VLM → </a:t>
            </a:r>
            <a:r>
              <a:rPr lang="zh-CN" sz="938">
                <a:solidFill>
                  <a:srgbClr val="0F172A"/>
                </a:solidFill>
                <a:latin typeface="Noto Sans SC"/>
                <a:ea typeface="Noto Sans SC"/>
              </a:rPr>
              <a:t>诊断</a:t>
            </a:r>
            <a:r>
              <a:rPr lang="en-US" sz="938">
                <a:solidFill>
                  <a:srgbClr val="0F172A"/>
                </a:solidFill>
                <a:latin typeface="Noto Sans SC"/>
                <a:ea typeface="Noto Sans SC"/>
              </a:rPr>
              <a:t> → </a:t>
            </a:r>
            <a:r>
              <a:rPr lang="zh-CN" sz="938">
                <a:solidFill>
                  <a:srgbClr val="0F172A"/>
                </a:solidFill>
                <a:latin typeface="Noto Sans SC"/>
                <a:ea typeface="Noto Sans SC"/>
              </a:rPr>
              <a:t>评审</a:t>
            </a:r>
            <a:r>
              <a:rPr lang="en-US" sz="938">
                <a:solidFill>
                  <a:srgbClr val="0F172A"/>
                </a:solidFill>
                <a:latin typeface="Noto Sans SC"/>
                <a:ea typeface="Noto Sans SC"/>
              </a:rPr>
              <a:t> → </a:t>
            </a:r>
            <a:r>
              <a:rPr lang="zh-CN" sz="938">
                <a:solidFill>
                  <a:srgbClr val="0F172A"/>
                </a:solidFill>
                <a:latin typeface="Noto Sans SC"/>
                <a:ea typeface="Noto Sans SC"/>
              </a:rPr>
              <a:t>报告</a:t>
            </a:r>
            <a:r>
              <a:rPr lang="en-US" sz="938">
                <a:solidFill>
                  <a:srgbClr val="0F172A"/>
                </a:solidFill>
                <a:latin typeface="Noto Sans SC"/>
                <a:ea typeface="Noto Sans SC"/>
              </a:rPr>
              <a:t> → </a:t>
            </a:r>
            <a:r>
              <a:rPr lang="zh-CN" sz="938">
                <a:solidFill>
                  <a:srgbClr val="0F172A"/>
                </a:solidFill>
                <a:latin typeface="Noto Sans SC"/>
                <a:ea typeface="Noto Sans SC"/>
              </a:rPr>
              <a:t>审计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723900" y="3114675"/>
            <a:ext cx="5067300" cy="2286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38" b="1">
                <a:solidFill>
                  <a:srgbClr val="2563EB"/>
                </a:solidFill>
                <a:latin typeface="Noto Sans SC"/>
                <a:ea typeface="Noto Sans SC"/>
              </a:rPr>
              <a:t>▪ </a:t>
            </a:r>
            <a:r>
              <a:rPr lang="en-US" sz="938">
                <a:solidFill>
                  <a:srgbClr val="0F172A"/>
                </a:solidFill>
                <a:latin typeface="Noto Sans SC"/>
                <a:ea typeface="Noto Sans SC"/>
              </a:rPr>
              <a:t>14 Agents × 18 Skills</a:t>
            </a:r>
            <a:r>
              <a:rPr lang="zh-CN" sz="938">
                <a:solidFill>
                  <a:srgbClr val="0F172A"/>
                </a:solidFill>
                <a:latin typeface="Noto Sans SC"/>
                <a:ea typeface="Noto Sans SC"/>
              </a:rPr>
              <a:t>，</a:t>
            </a:r>
            <a:r>
              <a:rPr lang="en-US" sz="938">
                <a:solidFill>
                  <a:srgbClr val="0F172A"/>
                </a:solidFill>
                <a:latin typeface="Noto Sans SC"/>
                <a:ea typeface="Noto Sans SC"/>
              </a:rPr>
              <a:t>14 </a:t>
            </a:r>
            <a:r>
              <a:rPr lang="zh-CN" sz="938">
                <a:solidFill>
                  <a:srgbClr val="0F172A"/>
                </a:solidFill>
                <a:latin typeface="Noto Sans SC"/>
                <a:ea typeface="Noto Sans SC"/>
              </a:rPr>
              <a:t>类执行引擎可切换（</a:t>
            </a:r>
            <a:r>
              <a:rPr lang="en-US" sz="938">
                <a:solidFill>
                  <a:srgbClr val="0F172A"/>
                </a:solidFill>
                <a:latin typeface="Noto Sans SC"/>
                <a:ea typeface="Noto Sans SC"/>
              </a:rPr>
              <a:t>OMP / Claude Code </a:t>
            </a:r>
            <a:r>
              <a:rPr lang="zh-CN" sz="938">
                <a:solidFill>
                  <a:srgbClr val="0F172A"/>
                </a:solidFill>
                <a:latin typeface="Noto Sans SC"/>
                <a:ea typeface="Noto Sans SC"/>
              </a:rPr>
              <a:t>等）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723900" y="3390900"/>
            <a:ext cx="5067300" cy="2286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38" b="1">
                <a:solidFill>
                  <a:srgbClr val="2563EB"/>
                </a:solidFill>
                <a:latin typeface="Noto Sans SC"/>
                <a:ea typeface="Noto Sans SC"/>
              </a:rPr>
              <a:t>▪ </a:t>
            </a:r>
            <a:r>
              <a:rPr lang="en-US" sz="938">
                <a:solidFill>
                  <a:srgbClr val="0F172A"/>
                </a:solidFill>
                <a:latin typeface="Noto Sans SC"/>
                <a:ea typeface="Noto Sans SC"/>
              </a:rPr>
              <a:t>CP-1~9 </a:t>
            </a:r>
            <a:r>
              <a:rPr lang="zh-CN" sz="938">
                <a:solidFill>
                  <a:srgbClr val="0F172A"/>
                </a:solidFill>
                <a:latin typeface="Noto Sans SC"/>
                <a:ea typeface="Noto Sans SC"/>
              </a:rPr>
              <a:t>检查点</a:t>
            </a:r>
            <a:r>
              <a:rPr lang="en-US" sz="938">
                <a:solidFill>
                  <a:srgbClr val="0F172A"/>
                </a:solidFill>
                <a:latin typeface="Noto Sans SC"/>
                <a:ea typeface="Noto Sans SC"/>
              </a:rPr>
              <a:t> · </a:t>
            </a:r>
            <a:r>
              <a:rPr lang="zh-CN" sz="938">
                <a:solidFill>
                  <a:srgbClr val="0F172A"/>
                </a:solidFill>
                <a:latin typeface="Noto Sans SC"/>
                <a:ea typeface="Noto Sans SC"/>
              </a:rPr>
              <a:t>证据分级</a:t>
            </a:r>
            <a:r>
              <a:rPr lang="en-US" sz="938">
                <a:solidFill>
                  <a:srgbClr val="0F172A"/>
                </a:solidFill>
                <a:latin typeface="Noto Sans SC"/>
                <a:ea typeface="Noto Sans SC"/>
              </a:rPr>
              <a:t> L1-L7 · </a:t>
            </a:r>
            <a:r>
              <a:rPr lang="zh-CN" sz="938">
                <a:solidFill>
                  <a:srgbClr val="0F172A"/>
                </a:solidFill>
                <a:latin typeface="Noto Sans SC"/>
                <a:ea typeface="Noto Sans SC"/>
              </a:rPr>
              <a:t>反假相关四条件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723900" y="3629025"/>
            <a:ext cx="22288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1D4ED8"/>
                </a:solidFill>
                <a:latin typeface="Cascadia Mono"/>
                <a:ea typeface="Cascadia Mono"/>
              </a:rPr>
              <a:t>14 AGENTS · 18 SKILLS · CP-1~9 · L1-L7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6210300" y="1905000"/>
            <a:ext cx="5448300" cy="2000250"/>
          </a:xfrm>
          <a:prstGeom prst="roundRect">
            <a:avLst>
              <a:gd name="adj" fmla="val 5714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6400800" y="2057400"/>
            <a:ext cx="5067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75">
                <a:solidFill>
                  <a:srgbClr val="7C3AED"/>
                </a:solidFill>
                <a:latin typeface="Cascadia Mono"/>
                <a:ea typeface="Cascadia Mono"/>
              </a:rPr>
              <a:t>ENGINE 02 · KNOWLEDGE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6400800" y="2257425"/>
            <a:ext cx="5067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F172A"/>
                </a:solidFill>
                <a:latin typeface="Noto Sans SC"/>
                <a:ea typeface="Noto Sans SC"/>
              </a:rPr>
              <a:t>RAG Knowledge </a:t>
            </a:r>
            <a:r>
              <a:rPr lang="zh-CN" sz="1500" b="1">
                <a:solidFill>
                  <a:srgbClr val="0F172A"/>
                </a:solidFill>
                <a:latin typeface="Noto Sans SC"/>
                <a:ea typeface="Noto Sans SC"/>
              </a:rPr>
              <a:t>知识平台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400800" y="2524125"/>
            <a:ext cx="506730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475569"/>
                </a:solidFill>
                <a:latin typeface="Noto Sans SC"/>
                <a:ea typeface="Noto Sans SC"/>
              </a:rPr>
              <a:t>企业级文档智能与智能体知识库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400800" y="2838450"/>
            <a:ext cx="5067300" cy="2286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38" b="1">
                <a:solidFill>
                  <a:srgbClr val="7C3AED"/>
                </a:solidFill>
                <a:latin typeface="Noto Sans SC"/>
                <a:ea typeface="Noto Sans SC"/>
              </a:rPr>
              <a:t>▪ </a:t>
            </a:r>
            <a:r>
              <a:rPr lang="en-US" sz="938">
                <a:solidFill>
                  <a:srgbClr val="0F172A"/>
                </a:solidFill>
                <a:latin typeface="Noto Sans SC"/>
                <a:ea typeface="Noto Sans SC"/>
              </a:rPr>
              <a:t>QDCVR </a:t>
            </a:r>
            <a:r>
              <a:rPr lang="zh-CN" sz="938">
                <a:solidFill>
                  <a:srgbClr val="0F172A"/>
                </a:solidFill>
                <a:latin typeface="Noto Sans SC"/>
                <a:ea typeface="Noto Sans SC"/>
              </a:rPr>
              <a:t>内容验证检索：</a:t>
            </a:r>
            <a:r>
              <a:rPr lang="en-US" sz="938">
                <a:solidFill>
                  <a:srgbClr val="0F172A"/>
                </a:solidFill>
                <a:latin typeface="Noto Sans SC"/>
                <a:ea typeface="Noto Sans SC"/>
              </a:rPr>
              <a:t>0-8 </a:t>
            </a:r>
            <a:r>
              <a:rPr lang="zh-CN" sz="938">
                <a:solidFill>
                  <a:srgbClr val="0F172A"/>
                </a:solidFill>
                <a:latin typeface="Noto Sans SC"/>
                <a:ea typeface="Noto Sans SC"/>
              </a:rPr>
              <a:t>评分，低于</a:t>
            </a:r>
            <a:r>
              <a:rPr lang="en-US" sz="938">
                <a:solidFill>
                  <a:srgbClr val="0F172A"/>
                </a:solidFill>
                <a:latin typeface="Noto Sans SC"/>
                <a:ea typeface="Noto Sans SC"/>
              </a:rPr>
              <a:t> 6 </a:t>
            </a:r>
            <a:r>
              <a:rPr lang="zh-CN" sz="938">
                <a:solidFill>
                  <a:srgbClr val="0F172A"/>
                </a:solidFill>
                <a:latin typeface="Noto Sans SC"/>
                <a:ea typeface="Noto Sans SC"/>
              </a:rPr>
              <a:t>扩展召回、低于</a:t>
            </a:r>
            <a:r>
              <a:rPr lang="en-US" sz="938">
                <a:solidFill>
                  <a:srgbClr val="0F172A"/>
                </a:solidFill>
                <a:latin typeface="Noto Sans SC"/>
                <a:ea typeface="Noto Sans SC"/>
              </a:rPr>
              <a:t> 4 </a:t>
            </a:r>
            <a:r>
              <a:rPr lang="zh-CN" sz="938">
                <a:solidFill>
                  <a:srgbClr val="0F172A"/>
                </a:solidFill>
                <a:latin typeface="Noto Sans SC"/>
                <a:ea typeface="Noto Sans SC"/>
              </a:rPr>
              <a:t>硬丢弃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6400800" y="3114675"/>
            <a:ext cx="5067300" cy="2286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38" b="1">
                <a:solidFill>
                  <a:srgbClr val="7C3AED"/>
                </a:solidFill>
                <a:latin typeface="Noto Sans SC"/>
                <a:ea typeface="Noto Sans SC"/>
              </a:rPr>
              <a:t>▪ </a:t>
            </a:r>
            <a:r>
              <a:rPr lang="en-US" sz="938">
                <a:solidFill>
                  <a:srgbClr val="0F172A"/>
                </a:solidFill>
                <a:latin typeface="Noto Sans SC"/>
                <a:ea typeface="Noto Sans SC"/>
              </a:rPr>
              <a:t>BM25 + </a:t>
            </a:r>
            <a:r>
              <a:rPr lang="zh-CN" sz="938">
                <a:solidFill>
                  <a:srgbClr val="0F172A"/>
                </a:solidFill>
                <a:latin typeface="Noto Sans SC"/>
                <a:ea typeface="Noto Sans SC"/>
              </a:rPr>
              <a:t>向量</a:t>
            </a:r>
            <a:r>
              <a:rPr lang="en-US" sz="938">
                <a:solidFill>
                  <a:srgbClr val="0F172A"/>
                </a:solidFill>
                <a:latin typeface="Noto Sans SC"/>
                <a:ea typeface="Noto Sans SC"/>
              </a:rPr>
              <a:t> + </a:t>
            </a:r>
            <a:r>
              <a:rPr lang="zh-CN" sz="938">
                <a:solidFill>
                  <a:srgbClr val="0F172A"/>
                </a:solidFill>
                <a:latin typeface="Noto Sans SC"/>
                <a:ea typeface="Noto Sans SC"/>
              </a:rPr>
              <a:t>标签</a:t>
            </a:r>
            <a:r>
              <a:rPr lang="en-US" sz="938">
                <a:solidFill>
                  <a:srgbClr val="0F172A"/>
                </a:solidFill>
                <a:latin typeface="Noto Sans SC"/>
                <a:ea typeface="Noto Sans SC"/>
              </a:rPr>
              <a:t> + </a:t>
            </a:r>
            <a:r>
              <a:rPr lang="zh-CN" sz="938">
                <a:solidFill>
                  <a:srgbClr val="0F172A"/>
                </a:solidFill>
                <a:latin typeface="Noto Sans SC"/>
                <a:ea typeface="Noto Sans SC"/>
              </a:rPr>
              <a:t>图谱四路召回，跨库去重与融合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6400800" y="3390900"/>
            <a:ext cx="5067300" cy="2286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38" b="1">
                <a:solidFill>
                  <a:srgbClr val="7C3AED"/>
                </a:solidFill>
                <a:latin typeface="Noto Sans SC"/>
                <a:ea typeface="Noto Sans SC"/>
              </a:rPr>
              <a:t>▪ </a:t>
            </a:r>
            <a:r>
              <a:rPr lang="en-US" sz="938">
                <a:solidFill>
                  <a:srgbClr val="0F172A"/>
                </a:solidFill>
                <a:latin typeface="Noto Sans SC"/>
                <a:ea typeface="Noto Sans SC"/>
              </a:rPr>
              <a:t>P0 / P1 / P2 / DISCARD </a:t>
            </a:r>
            <a:r>
              <a:rPr lang="zh-CN" sz="938">
                <a:solidFill>
                  <a:srgbClr val="0F172A"/>
                </a:solidFill>
                <a:latin typeface="Noto Sans SC"/>
                <a:ea typeface="Noto Sans SC"/>
              </a:rPr>
              <a:t>可信度分级</a:t>
            </a:r>
            <a:r>
              <a:rPr lang="en-US" sz="938">
                <a:solidFill>
                  <a:srgbClr val="0F172A"/>
                </a:solidFill>
                <a:latin typeface="Noto Sans SC"/>
                <a:ea typeface="Noto Sans SC"/>
              </a:rPr>
              <a:t> · E0-E12 </a:t>
            </a:r>
            <a:r>
              <a:rPr lang="zh-CN" sz="938">
                <a:solidFill>
                  <a:srgbClr val="0F172A"/>
                </a:solidFill>
                <a:latin typeface="Noto Sans SC"/>
                <a:ea typeface="Noto Sans SC"/>
              </a:rPr>
              <a:t>经验生命周期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400800" y="3629025"/>
            <a:ext cx="24098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6D28D9"/>
                </a:solidFill>
                <a:latin typeface="Cascadia Mono"/>
                <a:ea typeface="Cascadia Mono"/>
              </a:rPr>
              <a:t>94 MCP TOOLS · 19 SKILLS · NEO4J · MINERU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533400" y="4114800"/>
            <a:ext cx="11125200" cy="1638300"/>
          </a:xfrm>
          <a:prstGeom prst="roundRect">
            <a:avLst>
              <a:gd name="adj" fmla="val 58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pic>
        <p:nvPicPr>
          <p:cNvPr id="23" name=""/>
          <p:cNvPicPr>
            <a:picLocks noChangeAspect="1"/>
          </p:cNvPicPr>
          <p:nvPr/>
        </p:nvPicPr>
        <p:blipFill>
          <a:blip r:embed="rId1"/>
          <a:srcRect l="0" t="17099" r="0" b="17099"/>
          <a:stretch>
            <a:fillRect/>
          </a:stretch>
        </p:blipFill>
        <p:spPr>
          <a:xfrm rot="0" flipH="0" flipV="0">
            <a:off x="628650" y="4191000"/>
            <a:ext cx="10934700" cy="1333500"/>
          </a:xfrm>
          <a:prstGeom prst="rect">
            <a:avLst/>
          </a:prstGeom>
          <a:ln/>
        </p:spPr>
      </p:pic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628650" y="5562600"/>
            <a:ext cx="10934700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Cascadia Mono"/>
                <a:ea typeface="Cascadia Mono"/>
              </a:rPr>
              <a:t>IDD · Step 0-10 </a:t>
            </a:r>
            <a:r>
              <a:rPr lang="zh-CN" sz="825">
                <a:solidFill>
                  <a:srgbClr val="94A3B8"/>
                </a:solidFill>
                <a:latin typeface="Cascadia Mono"/>
                <a:ea typeface="Cascadia Mono"/>
              </a:rPr>
              <a:t>分析管线（项目真实产物）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533400" y="6438900"/>
            <a:ext cx="2257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94A3B8"/>
                </a:solidFill>
                <a:latin typeface="Noto Sans SC"/>
                <a:ea typeface="Noto Sans SC"/>
              </a:rPr>
              <a:t>工业深度诊断</a:t>
            </a:r>
            <a:r>
              <a:rPr lang="en-US" sz="938">
                <a:solidFill>
                  <a:srgbClr val="94A3B8"/>
                </a:solidFill>
                <a:latin typeface="Noto Sans SC"/>
                <a:ea typeface="Noto Sans SC"/>
              </a:rPr>
              <a:t> × RAG </a:t>
            </a:r>
            <a:r>
              <a:rPr lang="zh-CN" sz="938">
                <a:solidFill>
                  <a:srgbClr val="94A3B8"/>
                </a:solidFill>
                <a:latin typeface="Noto Sans SC"/>
                <a:ea typeface="Noto Sans SC"/>
              </a:rPr>
              <a:t>知识平台</a:t>
            </a:r>
            <a:r>
              <a:rPr lang="en-US" sz="938">
                <a:solidFill>
                  <a:srgbClr val="94A3B8"/>
                </a:solidFill>
                <a:latin typeface="Noto Sans SC"/>
                <a:ea typeface="Noto Sans SC"/>
              </a:rPr>
              <a:t> · </a:t>
            </a:r>
            <a:r>
              <a:rPr lang="zh-CN" sz="938">
                <a:solidFill>
                  <a:srgbClr val="94A3B8"/>
                </a:solidFill>
                <a:latin typeface="Noto Sans SC"/>
                <a:ea typeface="Noto Sans SC"/>
              </a:rPr>
              <a:t>深度解析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11163300" y="6438900"/>
            <a:ext cx="495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94A3B8"/>
                </a:solidFill>
                <a:latin typeface="Cascadia Mono"/>
                <a:ea typeface="Cascadia Mono"/>
              </a:rPr>
              <a:t>01 / 07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27" name="" descr="&lt;Slide style={{ width: 1280, height: 720, background: '#FFFFFF', padding: '20px 56px', flexDirection: 'column', fontFamily: 'Noto Sans SC' }}&gt;&#10;&#10;  &lt;Box style={{ height: 88, flexDirection: 'row', alignItems: 'flex-start', justifyContent: 'space-between' }}&gt;&#10;    &lt;Box style={{ flexDirection: 'column', gap: 6 }}&gt;&#10;      &lt;Text style={{ fontSize: 30, fontWeight: 'bold', color: '#0F172A', lineHeight: 1.25 }}&gt;IDD · Step 0-10 分析管线与角色分工&lt;/Text&gt;&#10;      &lt;Text style={{ fontSize: 14, color: '#64748B', lineHeight: 1.5 }}&gt;&#10;        一条主管线，14 个专职角色；评审与审计介入在结论产出前后各一次&#10;      &lt;/Text&gt;&#10;    &lt;/Box&gt;&#10;    &lt;Box style={{ flexDirection: 'column', alignItems: 'flex-end', gap: 3, paddingTop: 8 }}&gt;&#10;      &lt;Text style={{ fontSize: 12, color: '#94A3B8', fontFamily: 'Cascadia Mono' }}&gt;PIPELINE&lt;/Text&gt;&#10;      &lt;Text style={{ fontSize: 12, color: '#94A3B8', fontFamily: 'Cascadia Mono' }}&gt;AND ROLES&lt;/Text&gt;&#10;    &lt;/Box&gt;&#10;  &lt;/Box&gt;&#10;&#10;  &lt;Box style={{ height: 12 }} /&gt;&#10;&#10;  &lt;Box style={{ height: 170, background: '#F8FAFC', border: '1px solid #E2E8F0', borderRadius: 10, padding: '16px 18px', flexDirection: 'column', gap: 12 }}&gt;&#10;    &lt;Box style={{ height: 104, flexDirection: 'row', alignItems: 'flex-start', position: 'relative' }}&gt;&#10;      &lt;Box style={{ position: 'absolute', top: 13, left: 40, right: 40, height: 1, background: '#CBD5E1' }} /&gt;&#10;&#10;      &lt;Box style={{ flex: 1, flexDirection: 'column', alignItems: 'center', gap: 5, zIndex: 1 }}&gt;&#10;        &lt;Box style={{ width: 26, height: 26, borderRadius: 13, background: '#FFFFFF', border: '2px solid #2563EB', alignItems: 'center', justifyContent: 'center' }}&gt;&#10;          &lt;Text style={{ fontSize: 11, fontWeight: 'bold', color: '#2563EB', fontFamily: 'Cascadia Mono' }}&gt;0&lt;/Text&gt;&#10;        &lt;/Box&gt;&#10;        &lt;Text style={{ fontSize: 11, fontWeight: 'bold', color: '#0F172A' }}&gt;Setup&lt;/Text&gt;&#10;        &lt;Text style={{ fontSize: 9.5, color: '#94A3B8', fontFamily: 'Cascadia Mono' }}&gt;main-agent&lt;/Text&gt;&#10;      &lt;/Box&gt;&#10;      &lt;Box style={{ flex: 1, flexDirection: 'column', alignItems: 'center', gap: 5, zIndex: 1 }}&gt;&#10;        &lt;Box style={{ width: 26, height: 26, borderRadius: 13, background: '#FFFFFF', border: '2px solid #2563EB', alignItems: 'center', justifyContent: 'center' }}&gt;&#10;          &lt;Text style={{ fontSize: 11, fontWeight: 'bold', color: '#2563EB', fontFamily: 'Cascadia Mono' }}&gt;1&lt;/Text&gt;&#10;        &lt;/Box&gt;&#10;        &lt;Text style={{ fontSize: 11, fontWeight: 'bold', color: '#0F172A' }}&gt;Inspect&lt;/Text&gt;&#10;        &lt;Text style={{ fontSize: 9.5, color: '#94A3B8', fontFamily: 'Cascadia Mono' }}&gt;main-agent&lt;/Text&gt;&#10;      &lt;/Box&gt;&#10;      &lt;Box style={{ flex: 1, flexDirection: 'column', alignItems: 'center', gap: 5, zIndex: 1 }}&gt;&#10;        &lt;Box style={{ width: 26, height: 26, borderRadius: 13, background: '#FFFFFF', border: '2px solid #2563EB', alignItems: 'center', justifyContent: 'center' }}&gt;&#10;          &lt;Text style={{ fontSize: 11, fontWeight: 'bold', color: '#2563EB', fontFamily: 'Cascadia Mono' }}&gt;2&lt;/Text&gt;&#10;        &lt;/Box&gt;&#10;        &lt;Text style={{ fontSize: 11, fontWeight: 'bold', color: '#0F172A' }}&gt;本体&lt;/Text&gt;&#10;        &lt;Text style={{ fontSize: 9.5, color: '#94A3B8', fontFamily: 'Cascadia Mono' }}&gt;context-builder&lt;/Text&gt;&#10;      &lt;/Box&gt;&#10;      &lt;Box style={{ flex: 1, flexDirection: 'column', alignItems: 'center', gap: 5, zIndex: 1 }}&gt;&#10;        &lt;Box style={{ width: 26, height: 26, borderRadius: 13, background: '#FFFFFF', border: '2px solid #2563EB', alignItems: 'center', justifyContent: 'center' }}&gt;&#10;          &lt;Text style={{ fontSize: 11, fontWeight: 'bold', color: '#2563EB', fontFamily: 'Cascadia Mono' }}&gt;3&lt;/Text&gt;&#10;        &lt;/Box&gt;&#10;        &lt;Text style={{ fontSize: 11, fontWeight: 'bold', color: '#0F172A' }}&gt;数据处理&lt;/Text&gt;&#10;        &lt;Text style={{ fontSize: 9.5, color: '#94A3B8', fontFamily: 'Cascadia Mono' }}&gt;data-processor&lt;/Text&gt;&#10;      &lt;/Box&gt;&#10;      &lt;Box style={{ flex: 1, flexDirection: 'column', alignItems: 'center', gap: 5, zIndex: 1 }}&gt;&#10;        &lt;Box style={{ width: 26, height: 26, borderRadius: 13, background: '#2563EB', border: '2px solid #2563EB', alignItems: 'center', justifyContent: 'center' }}&gt;&#10;          &lt;Text style={{ fontSize: 11, fontWeight: 'bold', color: '#FFFFFF', fontFamily: 'Cascadia Mono' }}&gt;4&lt;/Text&gt;&#10;        &lt;/Box&gt;&#10;        &lt;Text style={{ fontSize: 11, fontWeight: 'bold', color: '#1D4ED8' }}&gt;根因诊断&lt;/Text&gt;&#10;        &lt;Text style={{ fontSize: 9.5, color: '#60A5FA', fontFamily: 'Cascadia Mono' }}&gt;diagnostician&lt;/Text&gt;&#10;      &lt;/Box&gt;&#10;      &lt;Box style={{ flex: 1, flexDirection: 'column', alignItems: 'center', gap: 5, zIndex: 1 }}&gt;&#10;        &lt;Box style={{ width: 26, height: 26, borderRadius: 13, background: '#FFFFFF', border: '2px solid #0D9488', alignItems: 'center', justifyContent: 'center' }}&gt;&#10;          &lt;Text style={{ fontSize: 11, fontWeight: 'bold', color: '#0D9488', fontFamily: 'Cascadia Mono' }}&gt;5&lt;/Text&gt;&#10;        &lt;/Box&gt;&#10;        &lt;Text style={{ fontSize: 11, fontWeight: 'bold', color: '#0F766E' }}&gt;双评审&lt;/Text&gt;&#10;        &lt;Text style={{ fontSize: 9.5, color: '#94A3B8', fontFamily: 'Cascadia Mono' }}&gt;judge ∥ auditor&lt;/Text&gt;&#10;      &lt;/Box&gt;&#10;      &lt;Box style={{ flex: 1, flexDirection: 'column', alignItems: 'center', gap: 5, zIndex: 1 }}&gt;&#10;        &lt;Box style={{ width: 26, height: 26, borderRadius: 13, background: '#FFFFFF', border: '2px solid #2563EB', alignItems: 'center', justifyContent: 'center' }}&gt;&#10;          &lt;Text style={{ fontSize: 11, fontWeight: 'bold', color: '#2563EB', fontFamily: 'Cascadia Mono' }}&gt;6&lt;/Text&gt;&#10;        &lt;/Box&gt;&#10;        &lt;Text style={{ fontSize: 11, fontWeight: 'bold', color: '#0F172A' }}&gt;报告&lt;/Text&gt;&#10;        &lt;Text style={{ fontSize: 9.5, color: '#94A3B8', fontFamily: 'Cascadia Mono' }}&gt;reporter&lt;/Text&gt;&#10;      &lt;/Box&gt;&#10;      &lt;Box style={{ flex: 1, flexDirection: 'column', alignItems: 'center', gap: 5, zIndex: 1 }}&gt;&#10;        &lt;Box style={{ width: 26, height: 26, borderRadius: 13, background: '#FFFFFF', border: '2px solid #0D9488', alignItems: 'center', justifyContent: 'center' }}&gt;&#10;          &lt;Text style={{ fontSize: 11, fontWeight: 'bold', color: '#0D9488', fontFamily: 'Cascadia Mono' }}&gt;7&lt;/Text&gt;&#10;        &lt;/Box&gt;&#10;        &lt;Text style={{ fontSize: 11, fontWeight: 'bold', color: '#0F766E' }}&gt;物理终审&lt;/Text&gt;&#10;        &lt;Text style={{ fontSize: 9.5, color: '#94A3B8', fontFamily: 'Cascadia Mono' }}&gt;report-reviewer&lt;/Text&gt;&#10;      &lt;/Box&gt;&#10;      &lt;Box style={{ flex: 1, flexDirection: 'column', alignItems: 'center', gap: 5, zIndex: 1 }}&gt;&#10;        &lt;Box style={{ width: 26, height: 26, borderRadius: 13, background: '#FFFFFF', border: '2px solid #2563EB', alignItems: 'center', justifyContent: 'center' }}&gt;&#10;          &lt;Text style={{ fontSize: 11, fontWeight: 'bold', color: '#2563EB', fontFamily: 'Cascadia Mono' }}&gt;8&lt;/Text&gt;&#10;        &lt;/Box&gt;&#10;        &lt;Text style={{ fontSize: 11, fontWeight: 'bold', color: '#0F172A' }}&gt;HTML&lt;/Text&gt;&#10;        &lt;Text style={{ fontSize: 9.5, color: '#94A3B8', fontFamily: 'Cascadia Mono' }}&gt;html-visualizer&lt;/Text&gt;&#10;      &lt;/Box&gt;&#10;      &lt;Box style={{ flex: 1, flexDirection: 'column', alignItems: 'center', gap: 5, zIndex: 1 }}&gt;&#10;        &lt;Box style={{ width: 26, height: 26, borderRadius: 13, background: '#FFFFFF', border: '2px solid #2563EB', alignItems: 'center', justifyContent: 'center' }}&gt;&#10;          &lt;Text style={{ fontSize: 11, fontWeight: 'bold', color: '#2563EB', fontFamily: 'Cascadia Mono' }}&gt;9&lt;/Text&gt;&#10;        &lt;/Box&gt;&#10;        &lt;Text style={{ fontSize: 11, fontWeight: 'bold', color: '#0F172A' }}&gt;证据闭环&lt;/Text&gt;&#10;        &lt;Text style={{ fontSize: 9.5, color: '#94A3B8', fontFamily: 'Cascadia Mono' }}&gt;main-agent&lt;/Text&gt;&#10;      &lt;/Box&gt;&#10;    &lt;/Box&gt;&#10;&#10;    &lt;Text style={{ fontSize: 11, color: '#475569', lineHeight: 1.6 }}&gt;&#10;      Step 5a（Judge）与 5b（物理预审计）是管线中&lt;span style={{ fontWeight: 'bold', color: '#0F172A' }}&gt;唯一并行对&lt;/span&gt;；另有 Step 0.5 数据源无关性预处理与 Step 10（E0-E8）条件增强。修复循环：Judge &amp;lt; 90 重诊断 ≤ 3 次，终审未过全链重跑 ≤ 2 次，全局重诊断 ≤ 5 次。&#10;    &lt;/Text&gt;&#10;  &lt;/Box&gt;&#10;&#10;  &lt;Box style={{ height: 14 }} /&gt;&#10;&#10;  &lt;Box style={{ height: 340, flexDirection: 'row', gap: 20 }}&gt;&#10;&#10;    &lt;Box style={{ flex: 1, background: '#FFFFFF', border: '1px solid #E2E8F0', borderRadius: 12, padding: '14px 18px', flexDirection: 'column' }}&gt;&#10;      &lt;Box style={{ flexDirection: 'row', alignItems: 'center', gap: 8 }}&gt;&#10;        &lt;Box style={{ width: 4, height: 15, background: '#2563EB', borderRadius: 2 }} /&gt;&#10;        &lt;Text style={{ fontSize: 15, fontWeight: 'bold', color: '#0F172A' }}&gt;三类角色，互不越权&lt;/Text&gt;&#10;      &lt;/Box&gt;&#10;      &lt;Box style={{ height: 12 }} /&gt;&#10;&#10;      &lt;Box style={{ flexDirection: 'column', gap: 6 }}&gt;&#10;        &lt;Text style={{ fontSize: 13, color: '#0F172A', lineHeight: 1.6 }}&gt;&#10;          &lt;span style={{ fontWeight: 'bold', color: '#0D9488' }}&gt;分析组　&lt;/span&gt;context-builder 构建本体与 RAG 检索上下文；data-processor 负责统计与产线状态判别；vlm-visual-analyzer 读取图表与图像证据&#10;        &lt;/Text&gt;&#10;        &lt;Text style={{ fontSize: 13, color: '#0F172A', lineHeight: 1.6 }}&gt;&#10;          &lt;span style={{ fontWeight: 'bold', color: '#2563EB' }}&gt;决策组　&lt;/span&gt;diagnostician 执行竞争性假设推理；judge 按十维度量评分；report-reviewer 以物理机理复核，守住&quot;不合理即打回&quot;&#10;        &lt;/Text&gt;&#10;        &lt;Text style={{ fontSize: 13, color: '#0F172A', lineHeight: 1.6 }}&gt;&#10;          &lt;span style={{ fontWeight: 'bold', color: '#7C3AED' }}&gt;交付组　&lt;/span&gt;reporter 输出金字塔结构报告与 run_summary；html-visualizer / html-reviewer 生成并审校可交付的单文件 HTML 报告&#10;        &lt;/Text&gt;&#10;      &lt;/Box&gt;&#10;&#10;      &lt;Box style={{ height: 12 }} /&gt;&#10;&#10;      &lt;Box style={{ flex: 1, background: '#F8FAFC', border: '1px solid #E2E8F0', borderRadius: 8, padding: '12px 14px', flexDirection: 'column', gap: 6, justifyContent: 'center' }}&gt;&#10;        &lt;Text style={{ fontSize: 12.5, color: '#0F172A', lineHeight: 1.6 }}&gt;&#10;          &lt;span style={{ color: '#2563EB', fontWeight: 'bold' }}&gt;▪ &lt;/span&gt;每个角色只消费上游产物、只产出下游依赖的工件，职责边界由文件契约固定&#10;        &lt;/Text&gt;&#10;        &lt;Text style={{ fontSize: 12.5, color: '#0F172A', lineHeight: 1.6 }}&gt;&#10;          &lt;span style={{ color: '#2563EB', fontWeight: 'bold' }}&gt;▪ &lt;/span&gt;main-agent 只做编排与收尾，不下场做分析——避免&quot;既当运动员又当裁判&quot;&#10;        &lt;/Text&gt;&#10;      &lt;/Box&gt;&#10;    &lt;/Box&gt;&#10;&#10;    &lt;Box style={{ width: 476, flexDirection: 'column', gap: 6 }}&gt;&#10;      &lt;Text style={{ fontSize: 11, color: '#94A3B8', fontFamily: 'Cascadia Mono' }}&gt;实时诊断工作台（真实界面）&lt;/Text&gt;&#10;      &lt;Box style={{ flex: 1, background: '#FFFFFF', border: '1px solid #E2E8F0', borderRadius: 10, padding: 4 }}&gt;&#10;        &lt;Image src=&quot;assets/idd_ui_diagnose.png&quot; style={{ width: '100%', height: '100%', objectFit: 'cover', borderRadius: 6 }} /&gt;&#10;      &lt;/Box&gt;&#10;    &lt;/Box&gt;&#10;&#10;  &lt;/Box&gt;&#10;&#10;  &lt;Box style={{ marginTop: 'auto', height: 34, flexDirection: 'row', alignItems: 'center', justifyContent: 'space-between' }}&gt;&#10;    &lt;Text style={{ fontSize: 12.5, color: '#94A3B8' }}&gt;工业深度诊断引擎 IDD&lt;/Text&gt;&#10;    &lt;Text style={{ fontSize: 12.5, color: '#94A3B8', fontFamily: 'Cascadia Mono' }}&gt;02 / 07&lt;/Text&gt;&#10;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533400" y="190500"/>
            <a:ext cx="4676775" cy="4286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2250" b="1">
                <a:solidFill>
                  <a:srgbClr val="0F172A"/>
                </a:solidFill>
                <a:latin typeface="Noto Sans SC"/>
                <a:ea typeface="Noto Sans SC"/>
              </a:rPr>
              <a:t>IDD · Step 0-10 </a:t>
            </a:r>
            <a:r>
              <a:rPr lang="zh-CN" sz="2250" b="1">
                <a:solidFill>
                  <a:srgbClr val="0F172A"/>
                </a:solidFill>
                <a:latin typeface="Noto Sans SC"/>
                <a:ea typeface="Noto Sans SC"/>
              </a:rPr>
              <a:t>分析管线与角色分工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533400" y="676275"/>
            <a:ext cx="46767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4748B"/>
                </a:solidFill>
                <a:latin typeface="Noto Sans SC"/>
                <a:ea typeface="Noto Sans SC"/>
              </a:rPr>
              <a:t>一条主管线，</a:t>
            </a:r>
            <a:r>
              <a:rPr lang="en-US" sz="1050">
                <a:solidFill>
                  <a:srgbClr val="64748B"/>
                </a:solidFill>
                <a:latin typeface="Noto Sans SC"/>
                <a:ea typeface="Noto Sans SC"/>
              </a:rPr>
              <a:t>14 </a:t>
            </a:r>
            <a:r>
              <a:rPr lang="zh-CN" sz="1050">
                <a:solidFill>
                  <a:srgbClr val="64748B"/>
                </a:solidFill>
                <a:latin typeface="Noto Sans SC"/>
                <a:ea typeface="Noto Sans SC"/>
              </a:rPr>
              <a:t>个专职角色；评审与审计介入在结论产出前后各一次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11115675" y="266700"/>
            <a:ext cx="542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Cascadia Mono"/>
                <a:ea typeface="Cascadia Mono"/>
              </a:rPr>
              <a:t>PIPELINE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11049000" y="438150"/>
            <a:ext cx="609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Cascadia Mono"/>
                <a:ea typeface="Cascadia Mono"/>
              </a:rPr>
              <a:t>AND ROLES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533400" y="1143000"/>
            <a:ext cx="11125200" cy="161925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704850" y="2400300"/>
            <a:ext cx="10782300" cy="2095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825">
                <a:solidFill>
                  <a:srgbClr val="475569"/>
                </a:solidFill>
                <a:latin typeface="Noto Sans SC"/>
                <a:ea typeface="Noto Sans SC"/>
              </a:rPr>
              <a:t>Step 5a</a:t>
            </a:r>
            <a:r>
              <a:rPr lang="zh-CN" sz="825">
                <a:solidFill>
                  <a:srgbClr val="475569"/>
                </a:solidFill>
                <a:latin typeface="Noto Sans SC"/>
                <a:ea typeface="Noto Sans SC"/>
              </a:rPr>
              <a:t>（</a:t>
            </a:r>
            <a:r>
              <a:rPr lang="en-US" sz="825">
                <a:solidFill>
                  <a:srgbClr val="475569"/>
                </a:solidFill>
                <a:latin typeface="Noto Sans SC"/>
                <a:ea typeface="Noto Sans SC"/>
              </a:rPr>
              <a:t>Judge</a:t>
            </a:r>
            <a:r>
              <a:rPr lang="zh-CN" sz="825">
                <a:solidFill>
                  <a:srgbClr val="475569"/>
                </a:solidFill>
                <a:latin typeface="Noto Sans SC"/>
                <a:ea typeface="Noto Sans SC"/>
              </a:rPr>
              <a:t>）与</a:t>
            </a:r>
            <a:r>
              <a:rPr lang="en-US" sz="825">
                <a:solidFill>
                  <a:srgbClr val="475569"/>
                </a:solidFill>
                <a:latin typeface="Noto Sans SC"/>
                <a:ea typeface="Noto Sans SC"/>
              </a:rPr>
              <a:t> 5b</a:t>
            </a:r>
            <a:r>
              <a:rPr lang="zh-CN" sz="825">
                <a:solidFill>
                  <a:srgbClr val="475569"/>
                </a:solidFill>
                <a:latin typeface="Noto Sans SC"/>
                <a:ea typeface="Noto Sans SC"/>
              </a:rPr>
              <a:t>（物理预审计）是管线中</a:t>
            </a:r>
            <a:r>
              <a:rPr lang="zh-CN" sz="825" b="1">
                <a:solidFill>
                  <a:srgbClr val="0F172A"/>
                </a:solidFill>
                <a:latin typeface="Noto Sans SC"/>
                <a:ea typeface="Noto Sans SC"/>
              </a:rPr>
              <a:t>唯一并行对</a:t>
            </a:r>
            <a:r>
              <a:rPr lang="zh-CN" sz="825">
                <a:solidFill>
                  <a:srgbClr val="475569"/>
                </a:solidFill>
                <a:latin typeface="Noto Sans SC"/>
                <a:ea typeface="Noto Sans SC"/>
              </a:rPr>
              <a:t>；另有</a:t>
            </a:r>
            <a:r>
              <a:rPr lang="en-US" sz="825">
                <a:solidFill>
                  <a:srgbClr val="475569"/>
                </a:solidFill>
                <a:latin typeface="Noto Sans SC"/>
                <a:ea typeface="Noto Sans SC"/>
              </a:rPr>
              <a:t> Step 0.5 </a:t>
            </a:r>
            <a:r>
              <a:rPr lang="zh-CN" sz="825">
                <a:solidFill>
                  <a:srgbClr val="475569"/>
                </a:solidFill>
                <a:latin typeface="Noto Sans SC"/>
                <a:ea typeface="Noto Sans SC"/>
              </a:rPr>
              <a:t>数据源无关性预处理与</a:t>
            </a:r>
            <a:r>
              <a:rPr lang="en-US" sz="825">
                <a:solidFill>
                  <a:srgbClr val="475569"/>
                </a:solidFill>
                <a:latin typeface="Noto Sans SC"/>
                <a:ea typeface="Noto Sans SC"/>
              </a:rPr>
              <a:t> Step 10</a:t>
            </a:r>
            <a:r>
              <a:rPr lang="zh-CN" sz="825">
                <a:solidFill>
                  <a:srgbClr val="475569"/>
                </a:solidFill>
                <a:latin typeface="Noto Sans SC"/>
                <a:ea typeface="Noto Sans SC"/>
              </a:rPr>
              <a:t>（</a:t>
            </a:r>
            <a:r>
              <a:rPr lang="en-US" sz="825">
                <a:solidFill>
                  <a:srgbClr val="475569"/>
                </a:solidFill>
                <a:latin typeface="Noto Sans SC"/>
                <a:ea typeface="Noto Sans SC"/>
              </a:rPr>
              <a:t>E0-E8</a:t>
            </a:r>
            <a:r>
              <a:rPr lang="zh-CN" sz="825">
                <a:solidFill>
                  <a:srgbClr val="475569"/>
                </a:solidFill>
                <a:latin typeface="Noto Sans SC"/>
                <a:ea typeface="Noto Sans SC"/>
              </a:rPr>
              <a:t>）条件增强。修复循环：</a:t>
            </a:r>
            <a:r>
              <a:rPr lang="en-US" sz="825">
                <a:solidFill>
                  <a:srgbClr val="475569"/>
                </a:solidFill>
                <a:latin typeface="Noto Sans SC"/>
                <a:ea typeface="Noto Sans SC"/>
              </a:rPr>
              <a:t>Judge &lt; 90 </a:t>
            </a:r>
            <a:r>
              <a:rPr lang="zh-CN" sz="825">
                <a:solidFill>
                  <a:srgbClr val="475569"/>
                </a:solidFill>
                <a:latin typeface="Noto Sans SC"/>
                <a:ea typeface="Noto Sans SC"/>
              </a:rPr>
              <a:t>重诊断</a:t>
            </a:r>
            <a:r>
              <a:rPr lang="en-US" sz="825">
                <a:solidFill>
                  <a:srgbClr val="475569"/>
                </a:solidFill>
                <a:latin typeface="Noto Sans SC"/>
                <a:ea typeface="Noto Sans SC"/>
              </a:rPr>
              <a:t> ≤ 3 </a:t>
            </a:r>
            <a:r>
              <a:rPr lang="zh-CN" sz="825">
                <a:solidFill>
                  <a:srgbClr val="475569"/>
                </a:solidFill>
                <a:latin typeface="Noto Sans SC"/>
                <a:ea typeface="Noto Sans SC"/>
              </a:rPr>
              <a:t>次，终审未过全链重跑</a:t>
            </a:r>
            <a:r>
              <a:rPr lang="en-US" sz="825">
                <a:solidFill>
                  <a:srgbClr val="475569"/>
                </a:solidFill>
                <a:latin typeface="Noto Sans SC"/>
                <a:ea typeface="Noto Sans SC"/>
              </a:rPr>
              <a:t> ≤ 2 </a:t>
            </a:r>
            <a:r>
              <a:rPr lang="zh-CN" sz="825">
                <a:solidFill>
                  <a:srgbClr val="475569"/>
                </a:solidFill>
                <a:latin typeface="Noto Sans SC"/>
                <a:ea typeface="Noto Sans SC"/>
              </a:rPr>
              <a:t>次，全局重诊断</a:t>
            </a:r>
            <a:r>
              <a:rPr lang="en-US" sz="825">
                <a:solidFill>
                  <a:srgbClr val="475569"/>
                </a:solidFill>
                <a:latin typeface="Noto Sans SC"/>
                <a:ea typeface="Noto Sans SC"/>
              </a:rPr>
              <a:t> ≤ 5 </a:t>
            </a:r>
            <a:r>
              <a:rPr lang="zh-CN" sz="825">
                <a:solidFill>
                  <a:srgbClr val="475569"/>
                </a:solidFill>
                <a:latin typeface="Noto Sans SC"/>
                <a:ea typeface="Noto Sans SC"/>
              </a:rPr>
              <a:t>次。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533400" y="2895600"/>
            <a:ext cx="6400800" cy="323850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6" name=""/>
          <p:cNvSpPr/>
          <p:nvPr/>
        </p:nvSpPr>
        <p:spPr>
          <a:xfrm rot="0" flipH="0" flipV="0">
            <a:off x="704850" y="3048000"/>
            <a:ext cx="38100" cy="14287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819150" y="3028950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Noto Sans SC"/>
                <a:ea typeface="Noto Sans SC"/>
              </a:rPr>
              <a:t>三类角色，互不越权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704850" y="3314700"/>
            <a:ext cx="60579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 b="1">
                <a:solidFill>
                  <a:srgbClr val="0D9488"/>
                </a:solidFill>
                <a:latin typeface="Noto Sans SC"/>
                <a:ea typeface="Noto Sans SC"/>
              </a:rPr>
              <a:t>分析组　</a:t>
            </a:r>
            <a:r>
              <a:rPr lang="en-US" sz="975">
                <a:solidFill>
                  <a:srgbClr val="0F172A"/>
                </a:solidFill>
                <a:latin typeface="Noto Sans SC"/>
                <a:ea typeface="Noto Sans SC"/>
              </a:rPr>
              <a:t>context-builder </a:t>
            </a:r>
            <a:r>
              <a:rPr lang="zh-CN" sz="975">
                <a:solidFill>
                  <a:srgbClr val="0F172A"/>
                </a:solidFill>
                <a:latin typeface="Noto Sans SC"/>
                <a:ea typeface="Noto Sans SC"/>
              </a:rPr>
              <a:t>构建本体与</a:t>
            </a:r>
            <a:r>
              <a:rPr lang="en-US" sz="975">
                <a:solidFill>
                  <a:srgbClr val="0F172A"/>
                </a:solidFill>
                <a:latin typeface="Noto Sans SC"/>
                <a:ea typeface="Noto Sans SC"/>
              </a:rPr>
              <a:t> RAG </a:t>
            </a:r>
            <a:r>
              <a:rPr lang="zh-CN" sz="975">
                <a:solidFill>
                  <a:srgbClr val="0F172A"/>
                </a:solidFill>
                <a:latin typeface="Noto Sans SC"/>
                <a:ea typeface="Noto Sans SC"/>
              </a:rPr>
              <a:t>检索上下文；</a:t>
            </a:r>
            <a:r>
              <a:rPr lang="en-US" sz="975">
                <a:solidFill>
                  <a:srgbClr val="0F172A"/>
                </a:solidFill>
                <a:latin typeface="Noto Sans SC"/>
                <a:ea typeface="Noto Sans SC"/>
              </a:rPr>
              <a:t>data-processor </a:t>
            </a:r>
            <a:r>
              <a:rPr lang="zh-CN" sz="975">
                <a:solidFill>
                  <a:srgbClr val="0F172A"/>
                </a:solidFill>
                <a:latin typeface="Noto Sans SC"/>
                <a:ea typeface="Noto Sans SC"/>
              </a:rPr>
              <a:t>负责统计与产线状态判别；</a:t>
            </a:r>
            <a:r>
              <a:rPr lang="en-US" sz="975">
                <a:solidFill>
                  <a:srgbClr val="0F172A"/>
                </a:solidFill>
                <a:latin typeface="Noto Sans SC"/>
                <a:ea typeface="Noto Sans SC"/>
              </a:rPr>
              <a:t>vlm-visual-analyzer </a:t>
            </a:r>
            <a:r>
              <a:rPr lang="zh-CN" sz="975">
                <a:solidFill>
                  <a:srgbClr val="0F172A"/>
                </a:solidFill>
                <a:latin typeface="Noto Sans SC"/>
                <a:ea typeface="Noto Sans SC"/>
              </a:rPr>
              <a:t>读取图表与图像证据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704850" y="3848100"/>
            <a:ext cx="60579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 b="1">
                <a:solidFill>
                  <a:srgbClr val="2563EB"/>
                </a:solidFill>
                <a:latin typeface="Noto Sans SC"/>
                <a:ea typeface="Noto Sans SC"/>
              </a:rPr>
              <a:t>决策组　</a:t>
            </a:r>
            <a:r>
              <a:rPr lang="en-US" sz="975">
                <a:solidFill>
                  <a:srgbClr val="0F172A"/>
                </a:solidFill>
                <a:latin typeface="Noto Sans SC"/>
                <a:ea typeface="Noto Sans SC"/>
              </a:rPr>
              <a:t>diagnostician </a:t>
            </a:r>
            <a:r>
              <a:rPr lang="zh-CN" sz="975">
                <a:solidFill>
                  <a:srgbClr val="0F172A"/>
                </a:solidFill>
                <a:latin typeface="Noto Sans SC"/>
                <a:ea typeface="Noto Sans SC"/>
              </a:rPr>
              <a:t>执行竞争性假设推理；</a:t>
            </a:r>
            <a:r>
              <a:rPr lang="en-US" sz="975">
                <a:solidFill>
                  <a:srgbClr val="0F172A"/>
                </a:solidFill>
                <a:latin typeface="Noto Sans SC"/>
                <a:ea typeface="Noto Sans SC"/>
              </a:rPr>
              <a:t>judge </a:t>
            </a:r>
            <a:r>
              <a:rPr lang="zh-CN" sz="975">
                <a:solidFill>
                  <a:srgbClr val="0F172A"/>
                </a:solidFill>
                <a:latin typeface="Noto Sans SC"/>
                <a:ea typeface="Noto Sans SC"/>
              </a:rPr>
              <a:t>按十维度量评分；</a:t>
            </a:r>
            <a:r>
              <a:rPr lang="en-US" sz="975">
                <a:solidFill>
                  <a:srgbClr val="0F172A"/>
                </a:solidFill>
                <a:latin typeface="Noto Sans SC"/>
                <a:ea typeface="Noto Sans SC"/>
              </a:rPr>
              <a:t>report-reviewer </a:t>
            </a:r>
            <a:r>
              <a:rPr lang="zh-CN" sz="975">
                <a:solidFill>
                  <a:srgbClr val="0F172A"/>
                </a:solidFill>
                <a:latin typeface="Noto Sans SC"/>
                <a:ea typeface="Noto Sans SC"/>
              </a:rPr>
              <a:t>以物理机理复核，守住</a:t>
            </a:r>
            <a:r>
              <a:rPr lang="en-US" sz="975">
                <a:solidFill>
                  <a:srgbClr val="0F172A"/>
                </a:solidFill>
                <a:latin typeface="Noto Sans SC"/>
                <a:ea typeface="Noto Sans SC"/>
              </a:rPr>
              <a:t>"</a:t>
            </a:r>
            <a:r>
              <a:rPr lang="zh-CN" sz="975">
                <a:solidFill>
                  <a:srgbClr val="0F172A"/>
                </a:solidFill>
                <a:latin typeface="Noto Sans SC"/>
                <a:ea typeface="Noto Sans SC"/>
              </a:rPr>
              <a:t>不合理即打回</a:t>
            </a:r>
            <a:r>
              <a:rPr lang="en-US" sz="975">
                <a:solidFill>
                  <a:srgbClr val="0F172A"/>
                </a:solidFill>
                <a:latin typeface="Noto Sans SC"/>
                <a:ea typeface="Noto Sans SC"/>
              </a:rPr>
              <a:t>"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704850" y="4381500"/>
            <a:ext cx="60579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 b="1">
                <a:solidFill>
                  <a:srgbClr val="7C3AED"/>
                </a:solidFill>
                <a:latin typeface="Noto Sans SC"/>
                <a:ea typeface="Noto Sans SC"/>
              </a:rPr>
              <a:t>交付组　</a:t>
            </a:r>
            <a:r>
              <a:rPr lang="en-US" sz="975">
                <a:solidFill>
                  <a:srgbClr val="0F172A"/>
                </a:solidFill>
                <a:latin typeface="Noto Sans SC"/>
                <a:ea typeface="Noto Sans SC"/>
              </a:rPr>
              <a:t>reporter </a:t>
            </a:r>
            <a:r>
              <a:rPr lang="zh-CN" sz="975">
                <a:solidFill>
                  <a:srgbClr val="0F172A"/>
                </a:solidFill>
                <a:latin typeface="Noto Sans SC"/>
                <a:ea typeface="Noto Sans SC"/>
              </a:rPr>
              <a:t>输出金字塔结构报告与</a:t>
            </a:r>
            <a:r>
              <a:rPr lang="en-US" sz="975">
                <a:solidFill>
                  <a:srgbClr val="0F172A"/>
                </a:solidFill>
                <a:latin typeface="Noto Sans SC"/>
                <a:ea typeface="Noto Sans SC"/>
              </a:rPr>
              <a:t> run_summary</a:t>
            </a:r>
            <a:r>
              <a:rPr lang="zh-CN" sz="975">
                <a:solidFill>
                  <a:srgbClr val="0F172A"/>
                </a:solidFill>
                <a:latin typeface="Noto Sans SC"/>
                <a:ea typeface="Noto Sans SC"/>
              </a:rPr>
              <a:t>；</a:t>
            </a:r>
            <a:r>
              <a:rPr lang="en-US" sz="975">
                <a:solidFill>
                  <a:srgbClr val="0F172A"/>
                </a:solidFill>
                <a:latin typeface="Noto Sans SC"/>
                <a:ea typeface="Noto Sans SC"/>
              </a:rPr>
              <a:t>html-visualizer / html-reviewer </a:t>
            </a:r>
            <a:r>
              <a:rPr lang="zh-CN" sz="975">
                <a:solidFill>
                  <a:srgbClr val="0F172A"/>
                </a:solidFill>
                <a:latin typeface="Noto Sans SC"/>
                <a:ea typeface="Noto Sans SC"/>
              </a:rPr>
              <a:t>生成并审校可交付的单文件</a:t>
            </a:r>
            <a:r>
              <a:rPr lang="en-US" sz="975">
                <a:solidFill>
                  <a:srgbClr val="0F172A"/>
                </a:solidFill>
                <a:latin typeface="Noto Sans SC"/>
                <a:ea typeface="Noto Sans SC"/>
              </a:rPr>
              <a:t> HTML </a:t>
            </a:r>
            <a:r>
              <a:rPr lang="zh-CN" sz="975">
                <a:solidFill>
                  <a:srgbClr val="0F172A"/>
                </a:solidFill>
                <a:latin typeface="Noto Sans SC"/>
                <a:ea typeface="Noto Sans SC"/>
              </a:rPr>
              <a:t>报告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704850" y="4972050"/>
            <a:ext cx="6057900" cy="102870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838200" y="5229225"/>
            <a:ext cx="5791200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38" b="1">
                <a:solidFill>
                  <a:srgbClr val="2563EB"/>
                </a:solidFill>
                <a:latin typeface="Noto Sans SC"/>
                <a:ea typeface="Noto Sans SC"/>
              </a:rPr>
              <a:t>▪ </a:t>
            </a:r>
            <a:r>
              <a:rPr lang="zh-CN" sz="938">
                <a:solidFill>
                  <a:srgbClr val="0F172A"/>
                </a:solidFill>
                <a:latin typeface="Noto Sans SC"/>
                <a:ea typeface="Noto Sans SC"/>
              </a:rPr>
              <a:t>每个角色只消费上游产物、只产出下游依赖的工件，职责边界由文件契约固定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838200" y="5514975"/>
            <a:ext cx="5791200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38" b="1">
                <a:solidFill>
                  <a:srgbClr val="2563EB"/>
                </a:solidFill>
                <a:latin typeface="Noto Sans SC"/>
                <a:ea typeface="Noto Sans SC"/>
              </a:rPr>
              <a:t>▪ </a:t>
            </a:r>
            <a:r>
              <a:rPr lang="en-US" sz="938">
                <a:solidFill>
                  <a:srgbClr val="0F172A"/>
                </a:solidFill>
                <a:latin typeface="Noto Sans SC"/>
                <a:ea typeface="Noto Sans SC"/>
              </a:rPr>
              <a:t>main-agent </a:t>
            </a:r>
            <a:r>
              <a:rPr lang="zh-CN" sz="938">
                <a:solidFill>
                  <a:srgbClr val="0F172A"/>
                </a:solidFill>
                <a:latin typeface="Noto Sans SC"/>
                <a:ea typeface="Noto Sans SC"/>
              </a:rPr>
              <a:t>只做编排与收尾，不下场做分析——避免</a:t>
            </a:r>
            <a:r>
              <a:rPr lang="en-US" sz="938">
                <a:solidFill>
                  <a:srgbClr val="0F172A"/>
                </a:solidFill>
                <a:latin typeface="Noto Sans SC"/>
                <a:ea typeface="Noto Sans SC"/>
              </a:rPr>
              <a:t>"</a:t>
            </a:r>
            <a:r>
              <a:rPr lang="zh-CN" sz="938">
                <a:solidFill>
                  <a:srgbClr val="0F172A"/>
                </a:solidFill>
                <a:latin typeface="Noto Sans SC"/>
                <a:ea typeface="Noto Sans SC"/>
              </a:rPr>
              <a:t>既当运动员又当裁判</a:t>
            </a:r>
            <a:r>
              <a:rPr lang="en-US" sz="938">
                <a:solidFill>
                  <a:srgbClr val="0F172A"/>
                </a:solidFill>
                <a:latin typeface="Noto Sans SC"/>
                <a:ea typeface="Noto Sans SC"/>
              </a:rPr>
              <a:t>"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7124700" y="2895600"/>
            <a:ext cx="4533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94A3B8"/>
                </a:solidFill>
                <a:latin typeface="Cascadia Mono"/>
                <a:ea typeface="Cascadia Mono"/>
              </a:rPr>
              <a:t>实时诊断工作台（真实界面）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7124700" y="3086100"/>
            <a:ext cx="4533900" cy="30480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pic>
        <p:nvPicPr>
          <p:cNvPr id="46" name=""/>
          <p:cNvPicPr>
            <a:picLocks noChangeAspect="1"/>
          </p:cNvPicPr>
          <p:nvPr/>
        </p:nvPicPr>
        <p:blipFill>
          <a:blip r:embed="rId1"/>
          <a:srcRect l="3125" t="0" r="3125" b="0"/>
          <a:stretch>
            <a:fillRect/>
          </a:stretch>
        </p:blipFill>
        <p:spPr>
          <a:xfrm rot="0" flipH="0" flipV="0">
            <a:off x="7162800" y="3124200"/>
            <a:ext cx="4457700" cy="2971800"/>
          </a:xfrm>
          <a:prstGeom prst="roundRect">
            <a:avLst>
              <a:gd name="adj" fmla="val 1923"/>
            </a:avLst>
          </a:prstGeom>
          <a:ln/>
        </p:spPr>
      </p:pic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533400" y="6438900"/>
            <a:ext cx="11715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94A3B8"/>
                </a:solidFill>
                <a:latin typeface="Noto Sans SC"/>
                <a:ea typeface="Noto Sans SC"/>
              </a:rPr>
              <a:t>工业深度诊断引擎</a:t>
            </a:r>
            <a:r>
              <a:rPr lang="en-US" sz="938">
                <a:solidFill>
                  <a:srgbClr val="94A3B8"/>
                </a:solidFill>
                <a:latin typeface="Noto Sans SC"/>
                <a:ea typeface="Noto Sans SC"/>
              </a:rPr>
              <a:t> IDD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11163300" y="6438900"/>
            <a:ext cx="495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94A3B8"/>
                </a:solidFill>
                <a:latin typeface="Cascadia Mono"/>
                <a:ea typeface="Cascadia Mono"/>
              </a:rPr>
              <a:t>02 / 07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1085850" y="1419225"/>
            <a:ext cx="10020300" cy="9525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p/>
        </p:txBody>
      </p:sp>
      <p:sp>
        <p:nvSpPr>
          <p:cNvPr id="50" name=""/>
          <p:cNvSpPr/>
          <p:nvPr/>
        </p:nvSpPr>
        <p:spPr>
          <a:xfrm rot="0" flipH="0" flipV="0">
            <a:off x="1123950" y="129540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1219200" y="135255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2563EB"/>
                </a:solidFill>
                <a:latin typeface="Cascadia Mono"/>
                <a:ea typeface="Cascadia Mono"/>
              </a:rPr>
              <a:t>0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1104900" y="1590675"/>
            <a:ext cx="2762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F172A"/>
                </a:solidFill>
                <a:latin typeface="Noto Sans SC"/>
                <a:ea typeface="Noto Sans SC"/>
              </a:rPr>
              <a:t>Setup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981075" y="1771650"/>
            <a:ext cx="5334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94A3B8"/>
                </a:solidFill>
                <a:latin typeface="Cascadia Mono"/>
                <a:ea typeface="Cascadia Mono"/>
              </a:rPr>
              <a:t>main-agent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2200275" y="129540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2295525" y="135255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2563EB"/>
                </a:solidFill>
                <a:latin typeface="Cascadia Mono"/>
                <a:ea typeface="Cascadia Mono"/>
              </a:rPr>
              <a:t>1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2152650" y="1590675"/>
            <a:ext cx="342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F172A"/>
                </a:solidFill>
                <a:latin typeface="Noto Sans SC"/>
                <a:ea typeface="Noto Sans SC"/>
              </a:rPr>
              <a:t>Inspect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2057400" y="1771650"/>
            <a:ext cx="5334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94A3B8"/>
                </a:solidFill>
                <a:latin typeface="Cascadia Mono"/>
                <a:ea typeface="Cascadia Mono"/>
              </a:rPr>
              <a:t>main-agent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3276600" y="129540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3371850" y="135255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2563EB"/>
                </a:solidFill>
                <a:latin typeface="Cascadia Mono"/>
                <a:ea typeface="Cascadia Mono"/>
              </a:rPr>
              <a:t>2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3295650" y="1590675"/>
            <a:ext cx="209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0F172A"/>
                </a:solidFill>
                <a:latin typeface="Noto Sans SC"/>
                <a:ea typeface="Noto Sans SC"/>
              </a:rPr>
              <a:t>本体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3000375" y="1771650"/>
            <a:ext cx="800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94A3B8"/>
                </a:solidFill>
                <a:latin typeface="Cascadia Mono"/>
                <a:ea typeface="Cascadia Mono"/>
              </a:rPr>
              <a:t>context-builder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4362450" y="129540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4457700" y="135255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2563EB"/>
                </a:solidFill>
                <a:latin typeface="Cascadia Mono"/>
                <a:ea typeface="Cascadia Mono"/>
              </a:rPr>
              <a:t>3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4276725" y="1590675"/>
            <a:ext cx="41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0F172A"/>
                </a:solidFill>
                <a:latin typeface="Noto Sans SC"/>
                <a:ea typeface="Noto Sans SC"/>
              </a:rPr>
              <a:t>数据处理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4114800" y="1771650"/>
            <a:ext cx="7429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94A3B8"/>
                </a:solidFill>
                <a:latin typeface="Cascadia Mono"/>
                <a:ea typeface="Cascadia Mono"/>
              </a:rPr>
              <a:t>data-processor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5438775" y="129540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254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5534025" y="135255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Cascadia Mono"/>
                <a:ea typeface="Cascadia Mono"/>
              </a:rPr>
              <a:t>4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5353050" y="1590675"/>
            <a:ext cx="41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1D4ED8"/>
                </a:solidFill>
                <a:latin typeface="Noto Sans SC"/>
                <a:ea typeface="Noto Sans SC"/>
              </a:rPr>
              <a:t>根因诊断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5210175" y="1771650"/>
            <a:ext cx="6953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60A5FA"/>
                </a:solidFill>
                <a:latin typeface="Cascadia Mono"/>
                <a:ea typeface="Cascadia Mono"/>
              </a:rPr>
              <a:t>diagnostician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6515100" y="129540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6610350" y="135255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D9488"/>
                </a:solidFill>
                <a:latin typeface="Cascadia Mono"/>
                <a:ea typeface="Cascadia Mono"/>
              </a:rPr>
              <a:t>5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6477000" y="1590675"/>
            <a:ext cx="314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0F766E"/>
                </a:solidFill>
                <a:latin typeface="Noto Sans SC"/>
                <a:ea typeface="Noto Sans SC"/>
              </a:rPr>
              <a:t>双评审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6181725" y="1771650"/>
            <a:ext cx="9048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94A3B8"/>
                </a:solidFill>
                <a:latin typeface="Cascadia Mono"/>
                <a:ea typeface="Cascadia Mono"/>
              </a:rPr>
              <a:t>judge ∥ auditor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7591425" y="129540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7686675" y="135255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2563EB"/>
                </a:solidFill>
                <a:latin typeface="Cascadia Mono"/>
                <a:ea typeface="Cascadia Mono"/>
              </a:rPr>
              <a:t>6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7610475" y="1590675"/>
            <a:ext cx="209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0F172A"/>
                </a:solidFill>
                <a:latin typeface="Noto Sans SC"/>
                <a:ea typeface="Noto Sans SC"/>
              </a:rPr>
              <a:t>报告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7496175" y="1771650"/>
            <a:ext cx="4286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94A3B8"/>
                </a:solidFill>
                <a:latin typeface="Cascadia Mono"/>
                <a:ea typeface="Cascadia Mono"/>
              </a:rPr>
              <a:t>reporter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8667750" y="129540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8763000" y="135255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D9488"/>
                </a:solidFill>
                <a:latin typeface="Cascadia Mono"/>
                <a:ea typeface="Cascadia Mono"/>
              </a:rPr>
              <a:t>7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8582025" y="1590675"/>
            <a:ext cx="41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0F766E"/>
                </a:solidFill>
                <a:latin typeface="Noto Sans SC"/>
                <a:ea typeface="Noto Sans SC"/>
              </a:rPr>
              <a:t>物理终审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8391525" y="1771650"/>
            <a:ext cx="800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94A3B8"/>
                </a:solidFill>
                <a:latin typeface="Cascadia Mono"/>
                <a:ea typeface="Cascadia Mono"/>
              </a:rPr>
              <a:t>report-reviewer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9753600" y="129540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9848850" y="135255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2563EB"/>
                </a:solidFill>
                <a:latin typeface="Cascadia Mono"/>
                <a:ea typeface="Cascadia Mono"/>
              </a:rPr>
              <a:t>8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9734550" y="1590675"/>
            <a:ext cx="2762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F172A"/>
                </a:solidFill>
                <a:latin typeface="Noto Sans SC"/>
                <a:ea typeface="Noto Sans SC"/>
              </a:rPr>
              <a:t>HTML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9477375" y="1771650"/>
            <a:ext cx="800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94A3B8"/>
                </a:solidFill>
                <a:latin typeface="Cascadia Mono"/>
                <a:ea typeface="Cascadia Mono"/>
              </a:rPr>
              <a:t>html-visualizer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10829925" y="129540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10925175" y="135255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2563EB"/>
                </a:solidFill>
                <a:latin typeface="Cascadia Mono"/>
                <a:ea typeface="Cascadia Mono"/>
              </a:rPr>
              <a:t>9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10744200" y="1590675"/>
            <a:ext cx="41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0F172A"/>
                </a:solidFill>
                <a:latin typeface="Noto Sans SC"/>
                <a:ea typeface="Noto Sans SC"/>
              </a:rPr>
              <a:t>证据闭环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10687050" y="1771650"/>
            <a:ext cx="5334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94A3B8"/>
                </a:solidFill>
                <a:latin typeface="Cascadia Mono"/>
                <a:ea typeface="Cascadia Mono"/>
              </a:rPr>
              <a:t>main-agent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90" name="" descr="&lt;Slide style={{ width: 1280, height: 720, background: '#FFFFFF', padding: '20px 56px', flexDirection: 'column', fontFamily: 'Noto Sans SC' }}&gt;&#10;&#10;  &lt;Box style={{ height: 88, flexDirection: 'row', alignItems: 'flex-start', justifyContent: 'space-between' }}&gt;&#10;    &lt;Box style={{ flexDirection: 'column', gap: 6 }}&gt;&#10;      &lt;Text style={{ fontSize: 30, fontWeight: 'bold', color: '#0F172A', lineHeight: 1.25 }}&gt;IDD · 三道闸门：结论为什么可信&lt;/Text&gt;&#10;      &lt;Text style={{ fontSize: 14, color: '#64748B', lineHeight: 1.5 }}&gt;&#10;        证据不足时宁可不结论——每一道闸门都可以把不合适的结果挡回去&#10;      &lt;/Text&gt;&#10;    &lt;/Box&gt;&#10;    &lt;Box style={{ flexDirection: 'column', alignItems: 'flex-end', gap: 3, paddingTop: 8 }}&gt;&#10;      &lt;Text style={{ fontSize: 12, color: '#94A3B8', fontFamily: 'Cascadia Mono' }}&gt;GATES&lt;/Text&gt;&#10;      &lt;Text style={{ fontSize: 12, color: '#94A3B8', fontFamily: 'Cascadia Mono' }}&gt;01 → 03&lt;/Text&gt;&#10;    &lt;/Box&gt;&#10;  &lt;/Box&gt;&#10;&#10;  &lt;Box style={{ height: 12 }} /&gt;&#10;&#10;  &lt;Box style={{ height: 430, flexDirection: 'row', gap: 18 }}&gt;&#10;&#10;    &lt;Box style={{ flex: 1, background: '#EFF6FF', border: '1px solid #BFDBFE', borderRadius: 12, overflow: 'hidden', flexDirection: 'column' }}&gt;&#10;      &lt;Box style={{ height: 4, background: '#93C5FD' }} /&gt;&#10;      &lt;Box style={{ flex: 1, padding: '14px 18px', flexDirection: 'column' }}&gt;&#10;        &lt;Text style={{ fontSize: 11, color: '#2563EB', fontFamily: 'Cascadia Mono' }}&gt;GATE 01&lt;/Text&gt;&#10;        &lt;Box style={{ height: 5 }} /&gt;&#10;        &lt;Text style={{ fontSize: 17, fontWeight: 'bold', color: '#0F172A' }}&gt;竞争性假设协议&lt;/Text&gt;&#10;        &lt;Box style={{ height: 10 }} /&gt;&#10;        &lt;Box style={{ flexDirection: 'column', gap: 7 }}&gt;&#10;          &lt;Text style={{ fontSize: 12.5, color: '#0F172A', lineHeight: 1.6 }}&gt;&#10;            &lt;span style={{ color: '#2563EB', fontWeight: 'bold' }}&gt;① &lt;/span&gt;先并列多个候选机理，而不是先射箭再画靶&#10;          &lt;/Text&gt;&#10;          &lt;Text style={{ fontSize: 12.5, color: '#0F172A', lineHeight: 1.6 }}&gt;&#10;            &lt;span style={{ color: '#2563EB', fontWeight: 'bold' }}&gt;② &lt;/span&gt;为每个假设预先声明&quot;什么样的证据能区分它&quot;&#10;          &lt;/Text&gt;&#10;          &lt;Text style={{ fontSize: 12.5, color: '#0F172A', lineHeight: 1.6 }}&gt;&#10;            &lt;span style={{ color: '#2563EB', fontWeight: 'bold' }}&gt;③ &lt;/span&gt;用数据执行排除，保留无法排除的假设集合&#10;          &lt;/Text&gt;&#10;          &lt;Text style={{ fontSize: 12.5, color: '#0F172A', lineHeight: 1.6 }}&gt;&#10;            &lt;span style={{ color: '#2563EB', fontWeight: 'bold' }}&gt;④ &lt;/span&gt;三态输出：DETERMINED / COMPETING_SET / NEEDS_DATA&#10;          &lt;/Text&gt;&#10;        &lt;/Box&gt;&#10;        &lt;Box style={{ marginTop: 'auto', background: '#FFFFFF', border: '1px solid #BFDBFE', borderRadius: 8, padding: '9px 11px' }}&gt;&#10;          &lt;Text style={{ fontSize: 11.5, color: '#1D4ED8', lineHeight: 1.55, fontWeight: 'bold' }}&gt;&#10;            拦截：区分不出来的假设，不强行收敛成一个答案&#10;          &lt;/Text&gt;&#10;        &lt;/Box&gt;&#10;      &lt;/Box&gt;&#10;    &lt;/Box&gt;&#10;&#10;    &lt;Box style={{ flex: 1, background: '#DBEAFE', border: '1px solid #93C5FD', borderRadius: 12, overflow: 'hidden', flexDirection: 'column' }}&gt;&#10;      &lt;Box style={{ height: 4, background: '#60A5FA' }} /&gt;&#10;      &lt;Box style={{ flex: 1, padding: '14px 18px', flexDirection: 'column' }}&gt;&#10;        &lt;Text style={{ fontSize: 11, color: '#1D4ED8', fontFamily: 'Cascadia Mono' }}&gt;GATE 02&lt;/Text&gt;&#10;        &lt;Box style={{ height: 5 }} /&gt;&#10;        &lt;Text style={{ fontSize: 17, fontWeight: 'bold', color: '#0F172A' }}&gt;质量门禁与物理审计&lt;/Text&gt;&#10;        &lt;Box style={{ height: 10 }} /&gt;&#10;        &lt;Box style={{ flexDirection: 'column', gap: 7 }}&gt;&#10;          &lt;Text style={{ fontSize: 12.5, color: '#0F172A', lineHeight: 1.6 }}&gt;&#10;            &lt;span style={{ color: '#1D4ED8', fontWeight: 'bold' }}&gt;① &lt;/span&gt;Judge 按十个维度打分，&lt;span style={{ fontWeight: 'bold' }}&gt;≥ 90 才放行&lt;/span&gt;&#10;          &lt;/Text&gt;&#10;          &lt;Text style={{ fontSize: 12.5, color: '#0F172A', lineHeight: 1.6 }}&gt;&#10;            &lt;span style={{ color: '#1D4ED8', fontWeight: 'bold' }}&gt;② &lt;/span&gt;物理审计复核机理自洽、量纲与工况合理性&#10;          &lt;/Text&gt;&#10;          &lt;Text style={{ fontSize: 12.5, color: '#0F172A', lineHeight: 1.6 }}&gt;&#10;            &lt;span style={{ color: '#1D4ED8', fontWeight: 'bold' }}&gt;③ &lt;/span&gt;报告产出后再做一次终审，签署 ENDORSED 才交付&#10;          &lt;/Text&gt;&#10;          &lt;Text style={{ fontSize: 12.5, color: '#0F172A', lineHeight: 1.6 }}&gt;&#10;            &lt;span style={{ color: '#1D4ED8', fontWeight: 'bold' }}&gt;④ &lt;/span&gt;CP-1~9 检查点逐项校验产物，不通过即阻断或回退&#10;          &lt;/Text&gt;&#10;        &lt;/Box&gt;&#10;        &lt;Box style={{ marginTop: 'auto', background: '#FFFFFF', border: '1px solid #93C5FD', borderRadius: 8, padding: '9px 11px' }}&gt;&#10;          &lt;Text style={{ fontSize: 11.5, color: '#1D4ED8', lineHeight: 1.55, fontWeight: 'bold' }}&gt;&#10;            拦截：分数不足打回重诊（≤3），机理矛盾全链重跑（≤2）&#10;          &lt;/Text&gt;&#10;        &lt;/Box&gt;&#10;      &lt;/Box&gt;&#10;    &lt;/Box&gt;&#10;&#10;    &lt;Box style={{ flex: 1, background: '#BFDBFE', border: '1px solid #60A5FA', borderRadius: 12, overflow: 'hidden', flexDirection: 'column' }}&gt;&#10;      &lt;Box style={{ height: 4, background: '#2563EB' }} /&gt;&#10;      &lt;Box style={{ flex: 1, padding: '14px 18px', flexDirection: 'column' }}&gt;&#10;        &lt;Text style={{ fontSize: 11, color: '#1E3A8A', fontFamily: 'Cascadia Mono' }}&gt;GATE 03&lt;/Text&gt;&#10;        &lt;Box style={{ height: 5 }} /&gt;&#10;        &lt;Text style={{ fontSize: 17, fontWeight: 'bold', color: '#0F172A' }}&gt;证据分级与反假相关&lt;/Text&gt;&#10;        &lt;Box style={{ height: 10 }} /&gt;&#10;        &lt;Box style={{ flexDirection: 'column', gap: 7 }}&gt;&#10;          &lt;Text style={{ fontSize: 12.5, color: '#0F172A', lineHeight: 1.6 }}&gt;&#10;            &lt;span style={{ color: '#1E3A8A', fontWeight: 'bold' }}&gt;① &lt;/span&gt;证据分级 L1-L7，结论被其最低等级证据&quot;封顶&quot;&#10;          &lt;/Text&gt;&#10;          &lt;Text style={{ fontSize: 12.5, color: '#0F172A', lineHeight: 1.6 }}&gt;&#10;            &lt;span style={{ color: '#1E3A8A', fontWeight: 'bold' }}&gt;② &lt;/span&gt;反推测四条件：时间先后 + 统计显著 + 物理机制 + 无矛盾&#10;          &lt;/Text&gt;&#10;          &lt;Text style={{ fontSize: 12.5, color: '#0F172A', lineHeight: 1.6 }}&gt;&#10;            &lt;span style={{ color: '#1E3A8A', fontWeight: 'bold' }}&gt;③ &lt;/span&gt;强制反假相关：时滞 CCF、稳态过滤、批次完整性、留一杠杆&#10;          &lt;/Text&gt;&#10;          &lt;Text style={{ fontSize: 12.5, color: '#0F172A', lineHeight: 1.6 }}&gt;&#10;            &lt;span style={{ color: '#1E3A8A', fontWeight: 'bold' }}&gt;④ &lt;/span&gt;辛普森悖论与混淆变量检查，防止&quot;整体相关、分层反相关&quot;&#10;          &lt;/Text&gt;&#10;        &lt;/Box&gt;&#10;        &lt;Box style={{ marginTop: 'auto', background: '#FFFFFF', border: '1px solid #60A5FA', borderRadius: 8, padding: '9px 11px' }}&gt;&#10;          &lt;Text style={{ fontSize: 11.5, color: '#1E3A8A', lineHeight: 1.55, fontWeight: 'bold' }}&gt;&#10;            拦截：相关不等于因果，假相关在进入结论前出局&#10;          &lt;/Text&gt;&#10;        &lt;/Box&gt;&#10;      &lt;/Box&gt;&#10;    &lt;/Box&gt;&#10;&#10;  &lt;/Box&gt;&#10;&#10;  &lt;Box style={{ height: 14 }} /&gt;&#10;&#10;  &lt;Box style={{ height: 60, background: '#F1F5F9', border: '1px solid #E2E8F0', borderRadius: 10, padding: '12px 18px', flexDirection: 'row', alignItems: 'center', gap: 20 }}&gt;&#10;    &lt;Text style={{ fontSize: 12, color: '#64748B', fontFamily: 'Cascadia Mono' }}&gt;CONFIDENCE CAP&lt;/Text&gt;&#10;    &lt;Box style={{ width: 1, height: 32, background: '#CBD5E1' }} /&gt;&#10;    &lt;Text style={{ fontSize: 12.5, color: '#0F172A', lineHeight: 1.6, flex: 1 }}&gt;&#10;      结论无法唯一确定时置信度封顶 65；同一问题第三次重诊仍振荡则停止并封顶 50，同时输出&quot;证据不足 + 建议补测项&quot;，而不是编一个看起来完整的答案。&#10;    &lt;/Text&gt;&#10;  &lt;/Box&gt;&#10;&#10;  &lt;Box style={{ marginTop: 'auto', height: 34, flexDirection: 'row', alignItems: 'center', justifyContent: 'space-between' }}&gt;&#10;    &lt;Text style={{ fontSize: 12.5, color: '#94A3B8' }}&gt;工业深度诊断引擎 IDD&lt;/Text&gt;&#10;    &lt;Text style={{ fontSize: 12.5, color: '#94A3B8', fontFamily: 'Cascadia Mono' }}&gt;03 / 07&lt;/Text&gt;&#10;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533400" y="190500"/>
            <a:ext cx="4295775" cy="4286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2250" b="1">
                <a:solidFill>
                  <a:srgbClr val="0F172A"/>
                </a:solidFill>
                <a:latin typeface="Noto Sans SC"/>
                <a:ea typeface="Noto Sans SC"/>
              </a:rPr>
              <a:t>IDD · </a:t>
            </a:r>
            <a:r>
              <a:rPr lang="zh-CN" sz="2250" b="1">
                <a:solidFill>
                  <a:srgbClr val="0F172A"/>
                </a:solidFill>
                <a:latin typeface="Noto Sans SC"/>
                <a:ea typeface="Noto Sans SC"/>
              </a:rPr>
              <a:t>三道闸门：结论为什么可信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533400" y="676275"/>
            <a:ext cx="42957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4748B"/>
                </a:solidFill>
                <a:latin typeface="Noto Sans SC"/>
                <a:ea typeface="Noto Sans SC"/>
              </a:rPr>
              <a:t>证据不足时宁可不结论——每一道闸门都可以把不合适的结果挡回去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11315700" y="266700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Cascadia Mono"/>
                <a:ea typeface="Cascadia Mono"/>
              </a:rPr>
              <a:t>GATES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11182350" y="438150"/>
            <a:ext cx="47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Cascadia Mono"/>
                <a:ea typeface="Cascadia Mono"/>
              </a:rPr>
              <a:t>01 → 03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533400" y="1143000"/>
            <a:ext cx="3590925" cy="4095750"/>
          </a:xfrm>
          <a:prstGeom prst="roundRect">
            <a:avLst>
              <a:gd name="adj" fmla="val 318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97" name=""/>
          <p:cNvSpPr/>
          <p:nvPr/>
        </p:nvSpPr>
        <p:spPr>
          <a:xfrm rot="0" flipH="0" flipV="0">
            <a:off x="533400" y="1143000"/>
            <a:ext cx="3590925" cy="38100"/>
          </a:xfrm>
          <a:custGeom>
            <a:pathLst>
              <a:path w="377" h="4">
                <a:moveTo>
                  <a:pt x="365" y="0"/>
                </a:moveTo>
                <a:cubicBezTo>
                  <a:pt x="369" y="0"/>
                  <a:pt x="372" y="2"/>
                  <a:pt x="374" y="4"/>
                </a:cubicBezTo>
                <a:lnTo>
                  <a:pt x="3" y="4"/>
                </a:lnTo>
                <a:cubicBezTo>
                  <a:pt x="5" y="1"/>
                  <a:pt x="9" y="0"/>
                  <a:pt x="12" y="0"/>
                </a:cubicBezTo>
                <a:lnTo>
                  <a:pt x="365" y="0"/>
                </a:lnTo>
                <a:close/>
              </a:path>
            </a:pathLst>
          </a:custGeom>
          <a:solidFill>
            <a:srgbClr val="93C5FD"/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704850" y="1314450"/>
            <a:ext cx="3248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2563EB"/>
                </a:solidFill>
                <a:latin typeface="Cascadia Mono"/>
                <a:ea typeface="Cascadia Mono"/>
              </a:rPr>
              <a:t>GATE 01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704850" y="1495425"/>
            <a:ext cx="3248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Noto Sans SC"/>
                <a:ea typeface="Noto Sans SC"/>
              </a:rPr>
              <a:t>竞争性假设协议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704850" y="1790700"/>
            <a:ext cx="3248025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38" b="1">
                <a:solidFill>
                  <a:srgbClr val="2563EB"/>
                </a:solidFill>
                <a:latin typeface="Noto Sans SC"/>
                <a:ea typeface="Noto Sans SC"/>
              </a:rPr>
              <a:t>① </a:t>
            </a:r>
            <a:r>
              <a:rPr lang="zh-CN" sz="938">
                <a:solidFill>
                  <a:srgbClr val="0F172A"/>
                </a:solidFill>
                <a:latin typeface="Noto Sans SC"/>
                <a:ea typeface="Noto Sans SC"/>
              </a:rPr>
              <a:t>先并列多个候选机理，而不是先射箭再画靶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704850" y="2085975"/>
            <a:ext cx="3248025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38" b="1">
                <a:solidFill>
                  <a:srgbClr val="2563EB"/>
                </a:solidFill>
                <a:latin typeface="Noto Sans SC"/>
                <a:ea typeface="Noto Sans SC"/>
              </a:rPr>
              <a:t>② </a:t>
            </a:r>
            <a:r>
              <a:rPr lang="zh-CN" sz="938">
                <a:solidFill>
                  <a:srgbClr val="0F172A"/>
                </a:solidFill>
                <a:latin typeface="Noto Sans SC"/>
                <a:ea typeface="Noto Sans SC"/>
              </a:rPr>
              <a:t>为每个假设预先声明</a:t>
            </a:r>
            <a:r>
              <a:rPr lang="en-US" sz="938">
                <a:solidFill>
                  <a:srgbClr val="0F172A"/>
                </a:solidFill>
                <a:latin typeface="Noto Sans SC"/>
                <a:ea typeface="Noto Sans SC"/>
              </a:rPr>
              <a:t>"</a:t>
            </a:r>
            <a:r>
              <a:rPr lang="zh-CN" sz="938">
                <a:solidFill>
                  <a:srgbClr val="0F172A"/>
                </a:solidFill>
                <a:latin typeface="Noto Sans SC"/>
                <a:ea typeface="Noto Sans SC"/>
              </a:rPr>
              <a:t>什么样的证据能区分它</a:t>
            </a:r>
            <a:r>
              <a:rPr lang="en-US" sz="938">
                <a:solidFill>
                  <a:srgbClr val="0F172A"/>
                </a:solidFill>
                <a:latin typeface="Noto Sans SC"/>
                <a:ea typeface="Noto Sans SC"/>
              </a:rPr>
              <a:t>"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704850" y="2381250"/>
            <a:ext cx="3248025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38" b="1">
                <a:solidFill>
                  <a:srgbClr val="2563EB"/>
                </a:solidFill>
                <a:latin typeface="Noto Sans SC"/>
                <a:ea typeface="Noto Sans SC"/>
              </a:rPr>
              <a:t>③ </a:t>
            </a:r>
            <a:r>
              <a:rPr lang="zh-CN" sz="938">
                <a:solidFill>
                  <a:srgbClr val="0F172A"/>
                </a:solidFill>
                <a:latin typeface="Noto Sans SC"/>
                <a:ea typeface="Noto Sans SC"/>
              </a:rPr>
              <a:t>用数据执行排除，保留无法排除的假设集合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704850" y="2676525"/>
            <a:ext cx="3248025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38" b="1">
                <a:solidFill>
                  <a:srgbClr val="2563EB"/>
                </a:solidFill>
                <a:latin typeface="Noto Sans SC"/>
                <a:ea typeface="Noto Sans SC"/>
              </a:rPr>
              <a:t>④ </a:t>
            </a:r>
            <a:r>
              <a:rPr lang="zh-CN" sz="938">
                <a:solidFill>
                  <a:srgbClr val="0F172A"/>
                </a:solidFill>
                <a:latin typeface="Noto Sans SC"/>
                <a:ea typeface="Noto Sans SC"/>
              </a:rPr>
              <a:t>三态输出：</a:t>
            </a:r>
            <a:r>
              <a:rPr lang="en-US" sz="938">
                <a:solidFill>
                  <a:srgbClr val="0F172A"/>
                </a:solidFill>
                <a:latin typeface="Noto Sans SC"/>
                <a:ea typeface="Noto Sans SC"/>
              </a:rPr>
              <a:t>DETERMINED / COMPETING_SET / NEEDS_DATA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704850" y="4724400"/>
            <a:ext cx="3248025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809625" y="4810125"/>
            <a:ext cx="3038475" cy="2095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63" b="1">
                <a:solidFill>
                  <a:srgbClr val="1D4ED8"/>
                </a:solidFill>
                <a:latin typeface="Noto Sans SC"/>
                <a:ea typeface="Noto Sans SC"/>
              </a:rPr>
              <a:t>拦截：区分不出来的假设，不强行收敛成一个答案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4295775" y="1143000"/>
            <a:ext cx="3600450" cy="4095750"/>
          </a:xfrm>
          <a:prstGeom prst="roundRect">
            <a:avLst>
              <a:gd name="adj" fmla="val 3175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107" name=""/>
          <p:cNvSpPr/>
          <p:nvPr/>
        </p:nvSpPr>
        <p:spPr>
          <a:xfrm rot="0" flipH="0" flipV="0">
            <a:off x="4295775" y="1143000"/>
            <a:ext cx="3600450" cy="38100"/>
          </a:xfrm>
          <a:custGeom>
            <a:pathLst>
              <a:path w="378" h="4">
                <a:moveTo>
                  <a:pt x="366" y="0"/>
                </a:moveTo>
                <a:cubicBezTo>
                  <a:pt x="370" y="0"/>
                  <a:pt x="373" y="2"/>
                  <a:pt x="375" y="4"/>
                </a:cubicBezTo>
                <a:lnTo>
                  <a:pt x="3" y="4"/>
                </a:lnTo>
                <a:cubicBezTo>
                  <a:pt x="5" y="1"/>
                  <a:pt x="9" y="0"/>
                  <a:pt x="12" y="0"/>
                </a:cubicBezTo>
                <a:lnTo>
                  <a:pt x="366" y="0"/>
                </a:lnTo>
                <a:close/>
              </a:path>
            </a:pathLst>
          </a:custGeom>
          <a:solidFill>
            <a:srgbClr val="60A5FA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4467225" y="1314450"/>
            <a:ext cx="3257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1D4ED8"/>
                </a:solidFill>
                <a:latin typeface="Cascadia Mono"/>
                <a:ea typeface="Cascadia Mono"/>
              </a:rPr>
              <a:t>GATE 02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4467225" y="1495425"/>
            <a:ext cx="3257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Noto Sans SC"/>
                <a:ea typeface="Noto Sans SC"/>
              </a:rPr>
              <a:t>质量门禁与物理审计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4467225" y="1790700"/>
            <a:ext cx="3257550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38" b="1">
                <a:solidFill>
                  <a:srgbClr val="1D4ED8"/>
                </a:solidFill>
                <a:latin typeface="Noto Sans SC"/>
                <a:ea typeface="Noto Sans SC"/>
              </a:rPr>
              <a:t>① </a:t>
            </a:r>
            <a:r>
              <a:rPr lang="en-US" sz="938">
                <a:solidFill>
                  <a:srgbClr val="0F172A"/>
                </a:solidFill>
                <a:latin typeface="Noto Sans SC"/>
                <a:ea typeface="Noto Sans SC"/>
              </a:rPr>
              <a:t>Judge </a:t>
            </a:r>
            <a:r>
              <a:rPr lang="zh-CN" sz="938">
                <a:solidFill>
                  <a:srgbClr val="0F172A"/>
                </a:solidFill>
                <a:latin typeface="Noto Sans SC"/>
                <a:ea typeface="Noto Sans SC"/>
              </a:rPr>
              <a:t>按十个维度打分，</a:t>
            </a:r>
            <a:r>
              <a:rPr lang="en-US" sz="938" b="1">
                <a:solidFill>
                  <a:srgbClr val="0F172A"/>
                </a:solidFill>
                <a:latin typeface="Noto Sans SC"/>
                <a:ea typeface="Noto Sans SC"/>
              </a:rPr>
              <a:t>≥ 90 </a:t>
            </a:r>
            <a:r>
              <a:rPr lang="zh-CN" sz="938" b="1">
                <a:solidFill>
                  <a:srgbClr val="0F172A"/>
                </a:solidFill>
                <a:latin typeface="Noto Sans SC"/>
                <a:ea typeface="Noto Sans SC"/>
              </a:rPr>
              <a:t>才放行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4467225" y="2085975"/>
            <a:ext cx="3257550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38" b="1">
                <a:solidFill>
                  <a:srgbClr val="1D4ED8"/>
                </a:solidFill>
                <a:latin typeface="Noto Sans SC"/>
                <a:ea typeface="Noto Sans SC"/>
              </a:rPr>
              <a:t>② </a:t>
            </a:r>
            <a:r>
              <a:rPr lang="zh-CN" sz="938">
                <a:solidFill>
                  <a:srgbClr val="0F172A"/>
                </a:solidFill>
                <a:latin typeface="Noto Sans SC"/>
                <a:ea typeface="Noto Sans SC"/>
              </a:rPr>
              <a:t>物理审计复核机理自洽、量纲与工况合理性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4467225" y="2381250"/>
            <a:ext cx="3257550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38" b="1">
                <a:solidFill>
                  <a:srgbClr val="1D4ED8"/>
                </a:solidFill>
                <a:latin typeface="Noto Sans SC"/>
                <a:ea typeface="Noto Sans SC"/>
              </a:rPr>
              <a:t>③ </a:t>
            </a:r>
            <a:r>
              <a:rPr lang="zh-CN" sz="938">
                <a:solidFill>
                  <a:srgbClr val="0F172A"/>
                </a:solidFill>
                <a:latin typeface="Noto Sans SC"/>
                <a:ea typeface="Noto Sans SC"/>
              </a:rPr>
              <a:t>报告产出后再做一次终审，签署</a:t>
            </a:r>
            <a:r>
              <a:rPr lang="en-US" sz="938">
                <a:solidFill>
                  <a:srgbClr val="0F172A"/>
                </a:solidFill>
                <a:latin typeface="Noto Sans SC"/>
                <a:ea typeface="Noto Sans SC"/>
              </a:rPr>
              <a:t> ENDORSED </a:t>
            </a:r>
            <a:r>
              <a:rPr lang="zh-CN" sz="938">
                <a:solidFill>
                  <a:srgbClr val="0F172A"/>
                </a:solidFill>
                <a:latin typeface="Noto Sans SC"/>
                <a:ea typeface="Noto Sans SC"/>
              </a:rPr>
              <a:t>才交付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4467225" y="2676525"/>
            <a:ext cx="3257550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38" b="1">
                <a:solidFill>
                  <a:srgbClr val="1D4ED8"/>
                </a:solidFill>
                <a:latin typeface="Noto Sans SC"/>
                <a:ea typeface="Noto Sans SC"/>
              </a:rPr>
              <a:t>④ </a:t>
            </a:r>
            <a:r>
              <a:rPr lang="en-US" sz="938">
                <a:solidFill>
                  <a:srgbClr val="0F172A"/>
                </a:solidFill>
                <a:latin typeface="Noto Sans SC"/>
                <a:ea typeface="Noto Sans SC"/>
              </a:rPr>
              <a:t>CP-1~9 </a:t>
            </a:r>
            <a:r>
              <a:rPr lang="zh-CN" sz="938">
                <a:solidFill>
                  <a:srgbClr val="0F172A"/>
                </a:solidFill>
                <a:latin typeface="Noto Sans SC"/>
                <a:ea typeface="Noto Sans SC"/>
              </a:rPr>
              <a:t>检查点逐项校验产物，不通过即阻断或回退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4467225" y="4724400"/>
            <a:ext cx="325755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4572000" y="4810125"/>
            <a:ext cx="3048000" cy="2095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63" b="1">
                <a:solidFill>
                  <a:srgbClr val="1D4ED8"/>
                </a:solidFill>
                <a:latin typeface="Noto Sans SC"/>
                <a:ea typeface="Noto Sans SC"/>
              </a:rPr>
              <a:t>拦截：分数不足打回重诊（≤</a:t>
            </a:r>
            <a:r>
              <a:rPr lang="en-US" sz="863" b="1">
                <a:solidFill>
                  <a:srgbClr val="1D4ED8"/>
                </a:solidFill>
                <a:latin typeface="Noto Sans SC"/>
                <a:ea typeface="Noto Sans SC"/>
              </a:rPr>
              <a:t>3</a:t>
            </a:r>
            <a:r>
              <a:rPr lang="zh-CN" sz="863" b="1">
                <a:solidFill>
                  <a:srgbClr val="1D4ED8"/>
                </a:solidFill>
                <a:latin typeface="Noto Sans SC"/>
                <a:ea typeface="Noto Sans SC"/>
              </a:rPr>
              <a:t>），机理矛盾全链重跑（≤</a:t>
            </a:r>
            <a:r>
              <a:rPr lang="en-US" sz="863" b="1">
                <a:solidFill>
                  <a:srgbClr val="1D4ED8"/>
                </a:solidFill>
                <a:latin typeface="Noto Sans SC"/>
                <a:ea typeface="Noto Sans SC"/>
              </a:rPr>
              <a:t>2</a:t>
            </a:r>
            <a:r>
              <a:rPr lang="zh-CN" sz="863" b="1">
                <a:solidFill>
                  <a:srgbClr val="1D4ED8"/>
                </a:solidFill>
                <a:latin typeface="Noto Sans SC"/>
                <a:ea typeface="Noto Sans SC"/>
              </a:rPr>
              <a:t>）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8067675" y="1143000"/>
            <a:ext cx="3590925" cy="4095750"/>
          </a:xfrm>
          <a:prstGeom prst="roundRect">
            <a:avLst>
              <a:gd name="adj" fmla="val 3183"/>
            </a:avLst>
          </a:prstGeom>
          <a:solidFill>
            <a:srgbClr val="BFDBFE"/>
          </a:solidFill>
          <a:ln w="12700">
            <a:solidFill>
              <a:srgbClr val="60A5FA"/>
            </a:solidFill>
            <a:prstDash val="solid"/>
          </a:ln>
        </p:spPr>
        <p:txBody>
          <a:bodyPr/>
          <a:p/>
        </p:txBody>
      </p:sp>
      <p:sp>
        <p:nvSpPr>
          <p:cNvPr id="117" name=""/>
          <p:cNvSpPr/>
          <p:nvPr/>
        </p:nvSpPr>
        <p:spPr>
          <a:xfrm rot="0" flipH="0" flipV="0">
            <a:off x="8067675" y="1143000"/>
            <a:ext cx="3590925" cy="38100"/>
          </a:xfrm>
          <a:custGeom>
            <a:pathLst>
              <a:path w="377" h="4">
                <a:moveTo>
                  <a:pt x="365" y="0"/>
                </a:moveTo>
                <a:cubicBezTo>
                  <a:pt x="369" y="0"/>
                  <a:pt x="372" y="2"/>
                  <a:pt x="374" y="4"/>
                </a:cubicBezTo>
                <a:lnTo>
                  <a:pt x="3" y="4"/>
                </a:lnTo>
                <a:cubicBezTo>
                  <a:pt x="5" y="1"/>
                  <a:pt x="9" y="0"/>
                  <a:pt x="12" y="0"/>
                </a:cubicBezTo>
                <a:lnTo>
                  <a:pt x="365" y="0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8239125" y="1314450"/>
            <a:ext cx="3248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1E3A8A"/>
                </a:solidFill>
                <a:latin typeface="Cascadia Mono"/>
                <a:ea typeface="Cascadia Mono"/>
              </a:rPr>
              <a:t>GATE 03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8239125" y="1495425"/>
            <a:ext cx="3248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Noto Sans SC"/>
                <a:ea typeface="Noto Sans SC"/>
              </a:rPr>
              <a:t>证据分级与反假相关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8239125" y="1790700"/>
            <a:ext cx="3248025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38" b="1">
                <a:solidFill>
                  <a:srgbClr val="1E3A8A"/>
                </a:solidFill>
                <a:latin typeface="Noto Sans SC"/>
                <a:ea typeface="Noto Sans SC"/>
              </a:rPr>
              <a:t>① </a:t>
            </a:r>
            <a:r>
              <a:rPr lang="zh-CN" sz="938">
                <a:solidFill>
                  <a:srgbClr val="0F172A"/>
                </a:solidFill>
                <a:latin typeface="Noto Sans SC"/>
                <a:ea typeface="Noto Sans SC"/>
              </a:rPr>
              <a:t>证据分级</a:t>
            </a:r>
            <a:r>
              <a:rPr lang="en-US" sz="938">
                <a:solidFill>
                  <a:srgbClr val="0F172A"/>
                </a:solidFill>
                <a:latin typeface="Noto Sans SC"/>
                <a:ea typeface="Noto Sans SC"/>
              </a:rPr>
              <a:t> L1-L7</a:t>
            </a:r>
            <a:r>
              <a:rPr lang="zh-CN" sz="938">
                <a:solidFill>
                  <a:srgbClr val="0F172A"/>
                </a:solidFill>
                <a:latin typeface="Noto Sans SC"/>
                <a:ea typeface="Noto Sans SC"/>
              </a:rPr>
              <a:t>，结论被其最低等级证据</a:t>
            </a:r>
            <a:r>
              <a:rPr lang="en-US" sz="938">
                <a:solidFill>
                  <a:srgbClr val="0F172A"/>
                </a:solidFill>
                <a:latin typeface="Noto Sans SC"/>
                <a:ea typeface="Noto Sans SC"/>
              </a:rPr>
              <a:t>"</a:t>
            </a:r>
            <a:r>
              <a:rPr lang="zh-CN" sz="938">
                <a:solidFill>
                  <a:srgbClr val="0F172A"/>
                </a:solidFill>
                <a:latin typeface="Noto Sans SC"/>
                <a:ea typeface="Noto Sans SC"/>
              </a:rPr>
              <a:t>封顶</a:t>
            </a:r>
            <a:r>
              <a:rPr lang="en-US" sz="938">
                <a:solidFill>
                  <a:srgbClr val="0F172A"/>
                </a:solidFill>
                <a:latin typeface="Noto Sans SC"/>
                <a:ea typeface="Noto Sans SC"/>
              </a:rPr>
              <a:t>"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8239125" y="2085975"/>
            <a:ext cx="3248025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38" b="1">
                <a:solidFill>
                  <a:srgbClr val="1E3A8A"/>
                </a:solidFill>
                <a:latin typeface="Noto Sans SC"/>
                <a:ea typeface="Noto Sans SC"/>
              </a:rPr>
              <a:t>② </a:t>
            </a:r>
            <a:r>
              <a:rPr lang="zh-CN" sz="938">
                <a:solidFill>
                  <a:srgbClr val="0F172A"/>
                </a:solidFill>
                <a:latin typeface="Noto Sans SC"/>
                <a:ea typeface="Noto Sans SC"/>
              </a:rPr>
              <a:t>反推测四条件：时间先后</a:t>
            </a:r>
            <a:r>
              <a:rPr lang="en-US" sz="938">
                <a:solidFill>
                  <a:srgbClr val="0F172A"/>
                </a:solidFill>
                <a:latin typeface="Noto Sans SC"/>
                <a:ea typeface="Noto Sans SC"/>
              </a:rPr>
              <a:t> + </a:t>
            </a:r>
            <a:r>
              <a:rPr lang="zh-CN" sz="938">
                <a:solidFill>
                  <a:srgbClr val="0F172A"/>
                </a:solidFill>
                <a:latin typeface="Noto Sans SC"/>
                <a:ea typeface="Noto Sans SC"/>
              </a:rPr>
              <a:t>统计显著</a:t>
            </a:r>
            <a:r>
              <a:rPr lang="en-US" sz="938">
                <a:solidFill>
                  <a:srgbClr val="0F172A"/>
                </a:solidFill>
                <a:latin typeface="Noto Sans SC"/>
                <a:ea typeface="Noto Sans SC"/>
              </a:rPr>
              <a:t> + </a:t>
            </a:r>
            <a:r>
              <a:rPr lang="zh-CN" sz="938">
                <a:solidFill>
                  <a:srgbClr val="0F172A"/>
                </a:solidFill>
                <a:latin typeface="Noto Sans SC"/>
                <a:ea typeface="Noto Sans SC"/>
              </a:rPr>
              <a:t>物理机制</a:t>
            </a:r>
            <a:r>
              <a:rPr lang="en-US" sz="938">
                <a:solidFill>
                  <a:srgbClr val="0F172A"/>
                </a:solidFill>
                <a:latin typeface="Noto Sans SC"/>
                <a:ea typeface="Noto Sans SC"/>
              </a:rPr>
              <a:t> + </a:t>
            </a:r>
            <a:r>
              <a:rPr lang="zh-CN" sz="938">
                <a:solidFill>
                  <a:srgbClr val="0F172A"/>
                </a:solidFill>
                <a:latin typeface="Noto Sans SC"/>
                <a:ea typeface="Noto Sans SC"/>
              </a:rPr>
              <a:t>无矛盾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8239125" y="2381250"/>
            <a:ext cx="3248025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38" b="1">
                <a:solidFill>
                  <a:srgbClr val="1E3A8A"/>
                </a:solidFill>
                <a:latin typeface="Noto Sans SC"/>
                <a:ea typeface="Noto Sans SC"/>
              </a:rPr>
              <a:t>③ </a:t>
            </a:r>
            <a:r>
              <a:rPr lang="zh-CN" sz="938">
                <a:solidFill>
                  <a:srgbClr val="0F172A"/>
                </a:solidFill>
                <a:latin typeface="Noto Sans SC"/>
                <a:ea typeface="Noto Sans SC"/>
              </a:rPr>
              <a:t>强制反假相关：时滞</a:t>
            </a:r>
            <a:r>
              <a:rPr lang="en-US" sz="938">
                <a:solidFill>
                  <a:srgbClr val="0F172A"/>
                </a:solidFill>
                <a:latin typeface="Noto Sans SC"/>
                <a:ea typeface="Noto Sans SC"/>
              </a:rPr>
              <a:t> CCF</a:t>
            </a:r>
            <a:r>
              <a:rPr lang="zh-CN" sz="938">
                <a:solidFill>
                  <a:srgbClr val="0F172A"/>
                </a:solidFill>
                <a:latin typeface="Noto Sans SC"/>
                <a:ea typeface="Noto Sans SC"/>
              </a:rPr>
              <a:t>、稳态过滤、批次完整性、留一杠杆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8239125" y="2905125"/>
            <a:ext cx="3248025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38" b="1">
                <a:solidFill>
                  <a:srgbClr val="1E3A8A"/>
                </a:solidFill>
                <a:latin typeface="Noto Sans SC"/>
                <a:ea typeface="Noto Sans SC"/>
              </a:rPr>
              <a:t>④ </a:t>
            </a:r>
            <a:r>
              <a:rPr lang="zh-CN" sz="938">
                <a:solidFill>
                  <a:srgbClr val="0F172A"/>
                </a:solidFill>
                <a:latin typeface="Noto Sans SC"/>
                <a:ea typeface="Noto Sans SC"/>
              </a:rPr>
              <a:t>辛普森悖论与混淆变量检查，防止</a:t>
            </a:r>
            <a:r>
              <a:rPr lang="en-US" sz="938">
                <a:solidFill>
                  <a:srgbClr val="0F172A"/>
                </a:solidFill>
                <a:latin typeface="Noto Sans SC"/>
                <a:ea typeface="Noto Sans SC"/>
              </a:rPr>
              <a:t>"</a:t>
            </a:r>
            <a:r>
              <a:rPr lang="zh-CN" sz="938">
                <a:solidFill>
                  <a:srgbClr val="0F172A"/>
                </a:solidFill>
                <a:latin typeface="Noto Sans SC"/>
                <a:ea typeface="Noto Sans SC"/>
              </a:rPr>
              <a:t>整体相关、分层反相关</a:t>
            </a:r>
            <a:r>
              <a:rPr lang="en-US" sz="938">
                <a:solidFill>
                  <a:srgbClr val="0F172A"/>
                </a:solidFill>
                <a:latin typeface="Noto Sans SC"/>
                <a:ea typeface="Noto Sans SC"/>
              </a:rPr>
              <a:t>"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8239125" y="4724400"/>
            <a:ext cx="3248025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0A5FA"/>
            </a:solidFill>
            <a:prstDash val="solid"/>
          </a:ln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8343900" y="4810125"/>
            <a:ext cx="3038475" cy="2095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63" b="1">
                <a:solidFill>
                  <a:srgbClr val="1E3A8A"/>
                </a:solidFill>
                <a:latin typeface="Noto Sans SC"/>
                <a:ea typeface="Noto Sans SC"/>
              </a:rPr>
              <a:t>拦截：相关不等于因果，假相关在进入结论前出局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533400" y="5372100"/>
            <a:ext cx="11125200" cy="5715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704850" y="5591175"/>
            <a:ext cx="942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Cascadia Mono"/>
                <a:ea typeface="Cascadia Mono"/>
              </a:rPr>
              <a:t>CONFIDENCE CAP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1838325" y="5505450"/>
            <a:ext cx="9525" cy="30480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2038350" y="5543550"/>
            <a:ext cx="9448800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38">
                <a:solidFill>
                  <a:srgbClr val="0F172A"/>
                </a:solidFill>
                <a:latin typeface="Noto Sans SC"/>
                <a:ea typeface="Noto Sans SC"/>
              </a:rPr>
              <a:t>结论无法唯一确定时置信度封顶</a:t>
            </a:r>
            <a:r>
              <a:rPr lang="en-US" sz="938">
                <a:solidFill>
                  <a:srgbClr val="0F172A"/>
                </a:solidFill>
                <a:latin typeface="Noto Sans SC"/>
                <a:ea typeface="Noto Sans SC"/>
              </a:rPr>
              <a:t> 65</a:t>
            </a:r>
            <a:r>
              <a:rPr lang="zh-CN" sz="938">
                <a:solidFill>
                  <a:srgbClr val="0F172A"/>
                </a:solidFill>
                <a:latin typeface="Noto Sans SC"/>
                <a:ea typeface="Noto Sans SC"/>
              </a:rPr>
              <a:t>；同一问题第三次重诊仍振荡则停止并封顶</a:t>
            </a:r>
            <a:r>
              <a:rPr lang="en-US" sz="938">
                <a:solidFill>
                  <a:srgbClr val="0F172A"/>
                </a:solidFill>
                <a:latin typeface="Noto Sans SC"/>
                <a:ea typeface="Noto Sans SC"/>
              </a:rPr>
              <a:t> 50</a:t>
            </a:r>
            <a:r>
              <a:rPr lang="zh-CN" sz="938">
                <a:solidFill>
                  <a:srgbClr val="0F172A"/>
                </a:solidFill>
                <a:latin typeface="Noto Sans SC"/>
                <a:ea typeface="Noto Sans SC"/>
              </a:rPr>
              <a:t>，同时输出</a:t>
            </a:r>
            <a:r>
              <a:rPr lang="en-US" sz="938">
                <a:solidFill>
                  <a:srgbClr val="0F172A"/>
                </a:solidFill>
                <a:latin typeface="Noto Sans SC"/>
                <a:ea typeface="Noto Sans SC"/>
              </a:rPr>
              <a:t>"</a:t>
            </a:r>
            <a:r>
              <a:rPr lang="zh-CN" sz="938">
                <a:solidFill>
                  <a:srgbClr val="0F172A"/>
                </a:solidFill>
                <a:latin typeface="Noto Sans SC"/>
                <a:ea typeface="Noto Sans SC"/>
              </a:rPr>
              <a:t>证据不足</a:t>
            </a:r>
            <a:r>
              <a:rPr lang="en-US" sz="938">
                <a:solidFill>
                  <a:srgbClr val="0F172A"/>
                </a:solidFill>
                <a:latin typeface="Noto Sans SC"/>
                <a:ea typeface="Noto Sans SC"/>
              </a:rPr>
              <a:t> + </a:t>
            </a:r>
            <a:r>
              <a:rPr lang="zh-CN" sz="938">
                <a:solidFill>
                  <a:srgbClr val="0F172A"/>
                </a:solidFill>
                <a:latin typeface="Noto Sans SC"/>
                <a:ea typeface="Noto Sans SC"/>
              </a:rPr>
              <a:t>建议补测项</a:t>
            </a:r>
            <a:r>
              <a:rPr lang="en-US" sz="938">
                <a:solidFill>
                  <a:srgbClr val="0F172A"/>
                </a:solidFill>
                <a:latin typeface="Noto Sans SC"/>
                <a:ea typeface="Noto Sans SC"/>
              </a:rPr>
              <a:t>"</a:t>
            </a:r>
            <a:r>
              <a:rPr lang="zh-CN" sz="938">
                <a:solidFill>
                  <a:srgbClr val="0F172A"/>
                </a:solidFill>
                <a:latin typeface="Noto Sans SC"/>
                <a:ea typeface="Noto Sans SC"/>
              </a:rPr>
              <a:t>，而不是编一个看起来完整的答案。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533400" y="6438900"/>
            <a:ext cx="11715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94A3B8"/>
                </a:solidFill>
                <a:latin typeface="Noto Sans SC"/>
                <a:ea typeface="Noto Sans SC"/>
              </a:rPr>
              <a:t>工业深度诊断引擎</a:t>
            </a:r>
            <a:r>
              <a:rPr lang="en-US" sz="938">
                <a:solidFill>
                  <a:srgbClr val="94A3B8"/>
                </a:solidFill>
                <a:latin typeface="Noto Sans SC"/>
                <a:ea typeface="Noto Sans SC"/>
              </a:rPr>
              <a:t> IDD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11163300" y="6438900"/>
            <a:ext cx="495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94A3B8"/>
                </a:solidFill>
                <a:latin typeface="Cascadia Mono"/>
                <a:ea typeface="Cascadia Mono"/>
              </a:rPr>
              <a:t>03 / 07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32" name="" descr="&lt;Slide style={{ width: 1280, height: 720, background: '#FFFFFF', padding: '20px 56px', flexDirection: 'column', fontFamily: 'Noto Sans SC' }}&gt;&#10;&#10;  &lt;Box style={{ height: 88, flexDirection: 'row', alignItems: 'flex-start', justifyContent: 'space-between' }}&gt;&#10;    &lt;Box style={{ flexDirection: 'column', gap: 6 }}&gt;&#10;      &lt;Text style={{ fontSize: 30, fontWeight: 'bold', color: '#0F172A', lineHeight: 1.25 }}&gt;IDD · 实证：9 个场景与真实产线案例&lt;/Text&gt;&#10;      &lt;Text style={{ fontSize: 14, color: '#64748B', lineHeight: 1.5 }}&gt;&#10;        覆盖化工 / 水力 / 发酵三类过程，含 3 个无故障控制组；结论全部可回溯到证据&#10;      &lt;/Text&gt;&#10;    &lt;/Box&gt;&#10;    &lt;Box style={{ flexDirection: 'column', alignItems: 'flex-end', gap: 3, paddingTop: 8 }}&gt;&#10;      &lt;Text style={{ fontSize: 12, color: '#94A3B8', fontFamily: 'Cascadia Mono' }}&gt;EVALUATION&lt;/Text&gt;&#10;      &lt;Text style={{ fontSize: 12, color: '#94A3B8', fontFamily: 'Cascadia Mono' }}&gt;n = 9&lt;/Text&gt;&#10;    &lt;/Box&gt;&#10;  &lt;/Box&gt;&#10;&#10;  &lt;Box style={{ height: 12 }} /&gt;&#10;&#10;  &lt;Box style={{ height: 380, flexDirection: 'row', gap: 20 }}&gt;&#10;&#10;    &lt;Box style={{ width: 430, flexDirection: 'column', gap: 8 }}&gt;&#10;      &lt;Box style={{ flex: 1, background: '#F0FDFA', border: '1px solid #99F6E4', borderRadius: 10, padding: '10px 14px', flexDirection: 'row', alignItems: 'center', gap: 12 }}&gt;&#10;        &lt;Text style={{ fontSize: 34, fontWeight: 'bold', color: '#0D9488', fontFamily: 'Cascadia Mono', lineHeight: 1.0 }}&gt;5/6&lt;/Text&gt;&#10;        &lt;Box style={{ flexDirection: 'column', gap: 2 }}&gt;&#10;          &lt;Text style={{ fontSize: 12.5, fontWeight: 'bold', color: '#0F172A' }}&gt;TEP 故障场景 Top-1 命中&lt;/Text&gt;&#10;          &lt;Text style={{ fontSize: 11, color: '#64748B', lineHeight: 1.5 }}&gt;田纳西-伊士曼过程，6 个可归因故障&lt;/Text&gt;&#10;        &lt;/Box&gt;&#10;      &lt;/Box&gt;&#10;&#10;      &lt;Box style={{ flex: 1, background: '#F0FDFA', border: '1px solid #99F6E4', borderRadius: 10, padding: '10px 14px', flexDirection: 'row', alignItems: 'center', gap: 12 }}&gt;&#10;        &lt;Text style={{ fontSize: 34, fontWeight: 'bold', color: '#0D9488', fontFamily: 'Cascadia Mono', lineHeight: 1.0 }}&gt;1/1&lt;/Text&gt;&#10;        &lt;Box style={{ flexDirection: 'column', gap: 2 }}&gt;&#10;          &lt;Text style={{ fontSize: 12.5, fontWeight: 'bold', color: '#0F172A' }}&gt;IndPenSim 批次偏差定位正确&lt;/Text&gt;&#10;          &lt;Text style={{ fontSize: 11, color: '#64748B', lineHeight: 1.5 }}&gt;工业级青霉素发酵批次（真实工况形态）&lt;/Text&gt;&#10;        &lt;/Box&gt;&#10;      &lt;/Box&gt;&#10;&#10;      &lt;Box style={{ flex: 1, background: '#F0FDFA', border: '1px solid #99F6E4', borderRadius: 10, padding: '10px 14px', flexDirection: 'row', alignItems: 'center', gap: 12 }}&gt;&#10;        &lt;Text style={{ fontSize: 34, fontWeight: 'bold', color: '#0D9488', fontFamily: 'Cascadia Mono', lineHeight: 1.0 }}&gt;3/3&lt;/Text&gt;&#10;        &lt;Box style={{ flexDirection: 'column', gap: 2 }}&gt;&#10;          &lt;Text style={{ fontSize: 12.5, fontWeight: 'bold', color: '#0F172A' }}&gt;无故障控制组全部通过&lt;/Text&gt;&#10;          &lt;Text style={{ fontSize: 11, color: '#64748B', lineHeight: 1.5 }}&gt;TEP / SKAB / IndPenSim 各一，未产生误报&lt;/Text&gt;&#10;        &lt;/Box&gt;&#10;      &lt;/Box&gt;&#10;&#10;      &lt;Box style={{ flex: 1, background: '#EFF6FF', border: '1px solid #BFDBFE', borderRadius: 10, padding: '10px 14px', flexDirection: 'row', alignItems: 'center', gap: 12 }}&gt;&#10;        &lt;Text style={{ fontSize: 34, fontWeight: 'bold', color: '#2563EB', fontFamily: 'Cascadia Mono', lineHeight: 1.0 }}&gt;96&lt;/Text&gt;&#10;        &lt;Box style={{ flexDirection: 'column', gap: 2 }}&gt;&#10;          &lt;Text style={{ fontSize: 12.5, fontWeight: 'bold', color: '#0F172A' }}&gt;Judge 评分 · ENDORSED&lt;/Text&gt;&#10;          &lt;Text style={{ fontSize: 11, color: '#64748B', lineHeight: 1.5 }}&gt;十维评分通过并经物理终审签署&lt;/Text&gt;&#10;        &lt;/Box&gt;&#10;      &lt;/Box&gt;&#10;    &lt;/Box&gt;&#10;&#10;    &lt;Box style={{ flex: 1, flexDirection: 'column', gap: 6 }}&gt;&#10;      &lt;Text style={{ fontSize: 11, color: '#94A3B8', fontFamily: 'Cascadia Mono' }}&gt;基准结果：故障结论分布 · rubric 与 judge 门限（项目实证数据）&lt;/Text&gt;&#10;      &lt;Box style={{ flex: 1, background: '#FFFFFF', border: '1px solid #E2E8F0', borderRadius: 10, padding: 4 }}&gt;&#10;        &lt;Image src=&quot;assets/idd_benchmark.png&quot; style={{ width: '100%', height: '100%', objectFit: 'contain' }} /&gt;&#10;      &lt;/Box&gt;&#10;    &lt;/Box&gt;&#10;&#10;  &lt;/Box&gt;&#10;&#10;  &lt;Box style={{ height: 14 }} /&gt;&#10;&#10;  &lt;Box style={{ height: 120, background: '#F8FAFC', border: '1px solid #E2E8F0', borderRadius: 10, padding: '12px 18px', flexDirection: 'row', alignItems: 'center', gap: 18 }}&gt;&#10;    &lt;Box style={{ width: 240, height: 94, background: '#FFFFFF', border: '1px solid #E2E8F0', borderRadius: 8, padding: 3 }}&gt;&#10;      &lt;Image src=&quot;assets/idd_mechanism.png&quot; style={{ width: '100%', height: '100%', objectFit: 'contain' }} /&gt;&#10;    &lt;/Box&gt;&#10;    &lt;Box style={{ flex: 1, flexDirection: 'column', gap: 5 }}&gt;&#10;      &lt;Box style={{ flexDirection: 'row', alignItems: 'center', gap: 8 }}&gt;&#10;        &lt;Box style={{ width: 4, height: 14, background: '#2563EB', borderRadius: 2 }} /&gt;&#10;        &lt;Text style={{ fontSize: 13.5, fontWeight: 'bold', color: '#0F172A' }}&gt;真实产线案例 · BOPET 薄膜划伤投诉&lt;/Text&gt;&#10;      &lt;/Box&gt;&#10;      &lt;Text style={{ fontSize: 12, color: '#334155', lineHeight: 1.6 }}&gt;&#10;        8# 拉伸扭矩与熔融缺陷族 |ρ| ≈ 0.5 显著相关，与划伤的 |ρ| 仅 0.18 —— 结论：划伤是独立机理，不应与熔融类缺陷合并处置。&#10;      &lt;/Text&gt;&#10;      &lt;Text style={{ fontSize: 11.5, color: '#64748B', lineHeight: 1.6 }}&gt;&#10;        诚实性说明：SKAB 2 个场景未给出强断言（真因仅进入候补集），结论被置信度封顶输出为 COMPETING_SET —— 宁可说&quot;无法区分&quot;，也不制造假阳性。&#10;      &lt;/Text&gt;&#10;    &lt;/Box&gt;&#10;  &lt;/Box&gt;&#10;&#10;  &lt;Box style={{ marginTop: 'auto', height: 34, flexDirection: 'row', alignItems: 'center', justifyContent: 'space-between' }}&gt;&#10;    &lt;Text style={{ fontSize: 12.5, color: '#94A3B8' }}&gt;工业深度诊断引擎 IDD&lt;/Text&gt;&#10;    &lt;Text style={{ fontSize: 12.5, color: '#94A3B8', fontFamily: 'Cascadia Mono' }}&gt;04 / 07&lt;/Text&gt;&#10;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533400" y="190500"/>
            <a:ext cx="4791075" cy="4286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2250" b="1">
                <a:solidFill>
                  <a:srgbClr val="0F172A"/>
                </a:solidFill>
                <a:latin typeface="Noto Sans SC"/>
                <a:ea typeface="Noto Sans SC"/>
              </a:rPr>
              <a:t>IDD · </a:t>
            </a:r>
            <a:r>
              <a:rPr lang="zh-CN" sz="2250" b="1">
                <a:solidFill>
                  <a:srgbClr val="0F172A"/>
                </a:solidFill>
                <a:latin typeface="Noto Sans SC"/>
                <a:ea typeface="Noto Sans SC"/>
              </a:rPr>
              <a:t>实证：</a:t>
            </a:r>
            <a:r>
              <a:rPr lang="en-US" sz="2250" b="1">
                <a:solidFill>
                  <a:srgbClr val="0F172A"/>
                </a:solidFill>
                <a:latin typeface="Noto Sans SC"/>
                <a:ea typeface="Noto Sans SC"/>
              </a:rPr>
              <a:t>9 </a:t>
            </a:r>
            <a:r>
              <a:rPr lang="zh-CN" sz="2250" b="1">
                <a:solidFill>
                  <a:srgbClr val="0F172A"/>
                </a:solidFill>
                <a:latin typeface="Noto Sans SC"/>
                <a:ea typeface="Noto Sans SC"/>
              </a:rPr>
              <a:t>个场景与真实产线案例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533400" y="676275"/>
            <a:ext cx="47910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4748B"/>
                </a:solidFill>
                <a:latin typeface="Noto Sans SC"/>
                <a:ea typeface="Noto Sans SC"/>
              </a:rPr>
              <a:t>覆盖化工</a:t>
            </a:r>
            <a:r>
              <a:rPr lang="en-US" sz="1050">
                <a:solidFill>
                  <a:srgbClr val="64748B"/>
                </a:solidFill>
                <a:latin typeface="Noto Sans SC"/>
                <a:ea typeface="Noto Sans SC"/>
              </a:rPr>
              <a:t> / </a:t>
            </a:r>
            <a:r>
              <a:rPr lang="zh-CN" sz="1050">
                <a:solidFill>
                  <a:srgbClr val="64748B"/>
                </a:solidFill>
                <a:latin typeface="Noto Sans SC"/>
                <a:ea typeface="Noto Sans SC"/>
              </a:rPr>
              <a:t>水力</a:t>
            </a:r>
            <a:r>
              <a:rPr lang="en-US" sz="1050">
                <a:solidFill>
                  <a:srgbClr val="64748B"/>
                </a:solidFill>
                <a:latin typeface="Noto Sans SC"/>
                <a:ea typeface="Noto Sans SC"/>
              </a:rPr>
              <a:t> / </a:t>
            </a:r>
            <a:r>
              <a:rPr lang="zh-CN" sz="1050">
                <a:solidFill>
                  <a:srgbClr val="64748B"/>
                </a:solidFill>
                <a:latin typeface="Noto Sans SC"/>
                <a:ea typeface="Noto Sans SC"/>
              </a:rPr>
              <a:t>发酵三类过程，含</a:t>
            </a:r>
            <a:r>
              <a:rPr lang="en-US" sz="1050">
                <a:solidFill>
                  <a:srgbClr val="64748B"/>
                </a:solidFill>
                <a:latin typeface="Noto Sans SC"/>
                <a:ea typeface="Noto Sans SC"/>
              </a:rPr>
              <a:t> 3 </a:t>
            </a:r>
            <a:r>
              <a:rPr lang="zh-CN" sz="1050">
                <a:solidFill>
                  <a:srgbClr val="64748B"/>
                </a:solidFill>
                <a:latin typeface="Noto Sans SC"/>
                <a:ea typeface="Noto Sans SC"/>
              </a:rPr>
              <a:t>个无故障控制组；结论全部可回溯到证据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10982325" y="266700"/>
            <a:ext cx="676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Cascadia Mono"/>
                <a:ea typeface="Cascadia Mono"/>
              </a:rPr>
              <a:t>EVALUATION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11315700" y="438150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Cascadia Mono"/>
                <a:ea typeface="Cascadia Mono"/>
              </a:rPr>
              <a:t>n = 9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533400" y="1143000"/>
            <a:ext cx="4095750" cy="847725"/>
          </a:xfrm>
          <a:prstGeom prst="roundRect">
            <a:avLst>
              <a:gd name="adj" fmla="val 11236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666750" y="1371600"/>
            <a:ext cx="571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D9488"/>
                </a:solidFill>
                <a:latin typeface="Cascadia Mono"/>
                <a:ea typeface="Cascadia Mono"/>
              </a:rPr>
              <a:t>5/6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1352550" y="1390650"/>
            <a:ext cx="1685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0F172A"/>
                </a:solidFill>
                <a:latin typeface="Noto Sans SC"/>
                <a:ea typeface="Noto Sans SC"/>
              </a:rPr>
              <a:t>TEP </a:t>
            </a:r>
            <a:r>
              <a:rPr lang="zh-CN" sz="938" b="1">
                <a:solidFill>
                  <a:srgbClr val="0F172A"/>
                </a:solidFill>
                <a:latin typeface="Noto Sans SC"/>
                <a:ea typeface="Noto Sans SC"/>
              </a:rPr>
              <a:t>故障场景</a:t>
            </a:r>
            <a:r>
              <a:rPr lang="en-US" sz="938" b="1">
                <a:solidFill>
                  <a:srgbClr val="0F172A"/>
                </a:solidFill>
                <a:latin typeface="Noto Sans SC"/>
                <a:ea typeface="Noto Sans SC"/>
              </a:rPr>
              <a:t> Top-1 </a:t>
            </a:r>
            <a:r>
              <a:rPr lang="zh-CN" sz="938" b="1">
                <a:solidFill>
                  <a:srgbClr val="0F172A"/>
                </a:solidFill>
                <a:latin typeface="Noto Sans SC"/>
                <a:ea typeface="Noto Sans SC"/>
              </a:rPr>
              <a:t>命中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1352550" y="1552575"/>
            <a:ext cx="1685925" cy="1905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64748B"/>
                </a:solidFill>
                <a:latin typeface="Noto Sans SC"/>
                <a:ea typeface="Noto Sans SC"/>
              </a:rPr>
              <a:t>田纳西</a:t>
            </a:r>
            <a:r>
              <a:rPr lang="en-US" sz="825">
                <a:solidFill>
                  <a:srgbClr val="64748B"/>
                </a:solidFill>
                <a:latin typeface="Noto Sans SC"/>
                <a:ea typeface="Noto Sans SC"/>
              </a:rPr>
              <a:t>-</a:t>
            </a:r>
            <a:r>
              <a:rPr lang="zh-CN" sz="825">
                <a:solidFill>
                  <a:srgbClr val="64748B"/>
                </a:solidFill>
                <a:latin typeface="Noto Sans SC"/>
                <a:ea typeface="Noto Sans SC"/>
              </a:rPr>
              <a:t>伊士曼过程，</a:t>
            </a:r>
            <a:r>
              <a:rPr lang="en-US" sz="825">
                <a:solidFill>
                  <a:srgbClr val="64748B"/>
                </a:solidFill>
                <a:latin typeface="Noto Sans SC"/>
                <a:ea typeface="Noto Sans SC"/>
              </a:rPr>
              <a:t>6 </a:t>
            </a:r>
            <a:r>
              <a:rPr lang="zh-CN" sz="825">
                <a:solidFill>
                  <a:srgbClr val="64748B"/>
                </a:solidFill>
                <a:latin typeface="Noto Sans SC"/>
                <a:ea typeface="Noto Sans SC"/>
              </a:rPr>
              <a:t>个可归因故障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533400" y="2066925"/>
            <a:ext cx="4095750" cy="847725"/>
          </a:xfrm>
          <a:prstGeom prst="roundRect">
            <a:avLst>
              <a:gd name="adj" fmla="val 11236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666750" y="2295525"/>
            <a:ext cx="571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D9488"/>
                </a:solidFill>
                <a:latin typeface="Cascadia Mono"/>
                <a:ea typeface="Cascadia Mono"/>
              </a:rPr>
              <a:t>1/1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1352550" y="2314575"/>
            <a:ext cx="1885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0F172A"/>
                </a:solidFill>
                <a:latin typeface="Noto Sans SC"/>
                <a:ea typeface="Noto Sans SC"/>
              </a:rPr>
              <a:t>IndPenSim </a:t>
            </a:r>
            <a:r>
              <a:rPr lang="zh-CN" sz="938" b="1">
                <a:solidFill>
                  <a:srgbClr val="0F172A"/>
                </a:solidFill>
                <a:latin typeface="Noto Sans SC"/>
                <a:ea typeface="Noto Sans SC"/>
              </a:rPr>
              <a:t>批次偏差定位正确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1352550" y="2476500"/>
            <a:ext cx="1885950" cy="1905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64748B"/>
                </a:solidFill>
                <a:latin typeface="Noto Sans SC"/>
                <a:ea typeface="Noto Sans SC"/>
              </a:rPr>
              <a:t>工业级青霉素发酵批次（真实工况形态）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533400" y="2990850"/>
            <a:ext cx="4095750" cy="847725"/>
          </a:xfrm>
          <a:prstGeom prst="roundRect">
            <a:avLst>
              <a:gd name="adj" fmla="val 11236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666750" y="3219450"/>
            <a:ext cx="571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D9488"/>
                </a:solidFill>
                <a:latin typeface="Cascadia Mono"/>
                <a:ea typeface="Cascadia Mono"/>
              </a:rPr>
              <a:t>3/3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1352550" y="3238500"/>
            <a:ext cx="1971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72A"/>
                </a:solidFill>
                <a:latin typeface="Noto Sans SC"/>
                <a:ea typeface="Noto Sans SC"/>
              </a:rPr>
              <a:t>无故障控制组全部通过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1352550" y="3400425"/>
            <a:ext cx="1971675" cy="1905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825">
                <a:solidFill>
                  <a:srgbClr val="64748B"/>
                </a:solidFill>
                <a:latin typeface="Noto Sans SC"/>
                <a:ea typeface="Noto Sans SC"/>
              </a:rPr>
              <a:t>TEP / SKAB / IndPenSim </a:t>
            </a:r>
            <a:r>
              <a:rPr lang="zh-CN" sz="825">
                <a:solidFill>
                  <a:srgbClr val="64748B"/>
                </a:solidFill>
                <a:latin typeface="Noto Sans SC"/>
                <a:ea typeface="Noto Sans SC"/>
              </a:rPr>
              <a:t>各一，未产生误报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533400" y="3914775"/>
            <a:ext cx="4095750" cy="847725"/>
          </a:xfrm>
          <a:prstGeom prst="roundRect">
            <a:avLst>
              <a:gd name="adj" fmla="val 1123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666750" y="4143375"/>
            <a:ext cx="381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563EB"/>
                </a:solidFill>
                <a:latin typeface="Cascadia Mono"/>
                <a:ea typeface="Cascadia Mono"/>
              </a:rPr>
              <a:t>96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1162050" y="4162425"/>
            <a:ext cx="1466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0F172A"/>
                </a:solidFill>
                <a:latin typeface="Noto Sans SC"/>
                <a:ea typeface="Noto Sans SC"/>
              </a:rPr>
              <a:t>Judge </a:t>
            </a:r>
            <a:r>
              <a:rPr lang="zh-CN" sz="938" b="1">
                <a:solidFill>
                  <a:srgbClr val="0F172A"/>
                </a:solidFill>
                <a:latin typeface="Noto Sans SC"/>
                <a:ea typeface="Noto Sans SC"/>
              </a:rPr>
              <a:t>评分</a:t>
            </a:r>
            <a:r>
              <a:rPr lang="en-US" sz="938" b="1">
                <a:solidFill>
                  <a:srgbClr val="0F172A"/>
                </a:solidFill>
                <a:latin typeface="Noto Sans SC"/>
                <a:ea typeface="Noto Sans SC"/>
              </a:rPr>
              <a:t> · ENDORSED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1162050" y="4324350"/>
            <a:ext cx="1466850" cy="1905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64748B"/>
                </a:solidFill>
                <a:latin typeface="Noto Sans SC"/>
                <a:ea typeface="Noto Sans SC"/>
              </a:rPr>
              <a:t>十维评分通过并经物理终审签署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4819650" y="1143000"/>
            <a:ext cx="68389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94A3B8"/>
                </a:solidFill>
                <a:latin typeface="Cascadia Mono"/>
                <a:ea typeface="Cascadia Mono"/>
              </a:rPr>
              <a:t>基准结果：故障结论分布</a:t>
            </a:r>
            <a:r>
              <a:rPr lang="en-US" sz="825">
                <a:solidFill>
                  <a:srgbClr val="94A3B8"/>
                </a:solidFill>
                <a:latin typeface="Cascadia Mono"/>
                <a:ea typeface="Cascadia Mono"/>
              </a:rPr>
              <a:t> · rubric </a:t>
            </a:r>
            <a:r>
              <a:rPr lang="zh-CN" sz="825">
                <a:solidFill>
                  <a:srgbClr val="94A3B8"/>
                </a:solidFill>
                <a:latin typeface="Cascadia Mono"/>
                <a:ea typeface="Cascadia Mono"/>
              </a:rPr>
              <a:t>与</a:t>
            </a:r>
            <a:r>
              <a:rPr lang="en-US" sz="825">
                <a:solidFill>
                  <a:srgbClr val="94A3B8"/>
                </a:solidFill>
                <a:latin typeface="Cascadia Mono"/>
                <a:ea typeface="Cascadia Mono"/>
              </a:rPr>
              <a:t> judge </a:t>
            </a:r>
            <a:r>
              <a:rPr lang="zh-CN" sz="825">
                <a:solidFill>
                  <a:srgbClr val="94A3B8"/>
                </a:solidFill>
                <a:latin typeface="Cascadia Mono"/>
                <a:ea typeface="Cascadia Mono"/>
              </a:rPr>
              <a:t>门限（项目实证数据）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4819650" y="1333500"/>
            <a:ext cx="6838950" cy="34290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pic>
        <p:nvPicPr>
          <p:cNvPr id="156" name=""/>
          <p:cNvPicPr>
            <a:picLocks noChangeAspect="1"/>
          </p:cNvPicPr>
          <p:nvPr/>
        </p:nvPicPr>
        <p:blipFill>
          <a:blip r:embed="rId1"/>
          <a:srcRect l="0" t="3303" r="0" b="3303"/>
          <a:stretch>
            <a:fillRect/>
          </a:stretch>
        </p:blipFill>
        <p:spPr>
          <a:xfrm rot="0" flipH="0" flipV="0">
            <a:off x="4857750" y="1371600"/>
            <a:ext cx="6762750" cy="3352800"/>
          </a:xfrm>
          <a:prstGeom prst="rect">
            <a:avLst/>
          </a:prstGeom>
          <a:ln/>
        </p:spPr>
      </p:pic>
      <p:sp>
        <p:nvSpPr>
          <p:cNvPr id="157" name=""/>
          <p:cNvSpPr/>
          <p:nvPr/>
        </p:nvSpPr>
        <p:spPr>
          <a:xfrm rot="0" flipH="0" flipV="0">
            <a:off x="533400" y="4895850"/>
            <a:ext cx="11125200" cy="11430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58" name=""/>
          <p:cNvSpPr/>
          <p:nvPr/>
        </p:nvSpPr>
        <p:spPr>
          <a:xfrm rot="0" flipH="0" flipV="0">
            <a:off x="704850" y="5019675"/>
            <a:ext cx="228600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pic>
        <p:nvPicPr>
          <p:cNvPr id="159" name=""/>
          <p:cNvPicPr>
            <a:picLocks noChangeAspect="1"/>
          </p:cNvPicPr>
          <p:nvPr/>
        </p:nvPicPr>
        <p:blipFill>
          <a:blip r:embed="rId2"/>
          <a:srcRect l="0" t="7692" r="0" b="7692"/>
          <a:stretch>
            <a:fillRect/>
          </a:stretch>
        </p:blipFill>
        <p:spPr>
          <a:xfrm rot="0" flipH="0" flipV="0">
            <a:off x="733425" y="5048250"/>
            <a:ext cx="2228850" cy="838200"/>
          </a:xfrm>
          <a:prstGeom prst="rect">
            <a:avLst/>
          </a:prstGeom>
          <a:ln/>
        </p:spPr>
      </p:pic>
      <p:sp>
        <p:nvSpPr>
          <p:cNvPr id="160" name=""/>
          <p:cNvSpPr/>
          <p:nvPr/>
        </p:nvSpPr>
        <p:spPr>
          <a:xfrm rot="0" flipH="0" flipV="0">
            <a:off x="3162300" y="5133975"/>
            <a:ext cx="38100" cy="1333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3276600" y="5114925"/>
            <a:ext cx="2152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0F172A"/>
                </a:solidFill>
                <a:latin typeface="Noto Sans SC"/>
                <a:ea typeface="Noto Sans SC"/>
              </a:rPr>
              <a:t>真实产线案例</a:t>
            </a:r>
            <a:r>
              <a:rPr lang="en-US" sz="1013" b="1">
                <a:solidFill>
                  <a:srgbClr val="0F172A"/>
                </a:solidFill>
                <a:latin typeface="Noto Sans SC"/>
                <a:ea typeface="Noto Sans SC"/>
              </a:rPr>
              <a:t> · BOPET </a:t>
            </a:r>
            <a:r>
              <a:rPr lang="zh-CN" sz="1013" b="1">
                <a:solidFill>
                  <a:srgbClr val="0F172A"/>
                </a:solidFill>
                <a:latin typeface="Noto Sans SC"/>
                <a:ea typeface="Noto Sans SC"/>
              </a:rPr>
              <a:t>薄膜划伤投诉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3162300" y="5324475"/>
            <a:ext cx="8324850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334155"/>
                </a:solidFill>
                <a:latin typeface="Noto Sans SC"/>
                <a:ea typeface="Noto Sans SC"/>
              </a:rPr>
              <a:t>8# </a:t>
            </a:r>
            <a:r>
              <a:rPr lang="zh-CN" sz="900">
                <a:solidFill>
                  <a:srgbClr val="334155"/>
                </a:solidFill>
                <a:latin typeface="Noto Sans SC"/>
                <a:ea typeface="Noto Sans SC"/>
              </a:rPr>
              <a:t>拉伸扭矩与熔融缺陷族</a:t>
            </a:r>
            <a:r>
              <a:rPr lang="en-US" sz="900">
                <a:solidFill>
                  <a:srgbClr val="334155"/>
                </a:solidFill>
                <a:latin typeface="Noto Sans SC"/>
                <a:ea typeface="Noto Sans SC"/>
              </a:rPr>
              <a:t> |ρ| ≈ 0.5 </a:t>
            </a:r>
            <a:r>
              <a:rPr lang="zh-CN" sz="900">
                <a:solidFill>
                  <a:srgbClr val="334155"/>
                </a:solidFill>
                <a:latin typeface="Noto Sans SC"/>
                <a:ea typeface="Noto Sans SC"/>
              </a:rPr>
              <a:t>显著相关，与划伤的</a:t>
            </a:r>
            <a:r>
              <a:rPr lang="en-US" sz="900">
                <a:solidFill>
                  <a:srgbClr val="334155"/>
                </a:solidFill>
                <a:latin typeface="Noto Sans SC"/>
                <a:ea typeface="Noto Sans SC"/>
              </a:rPr>
              <a:t> |ρ| </a:t>
            </a:r>
            <a:r>
              <a:rPr lang="zh-CN" sz="900">
                <a:solidFill>
                  <a:srgbClr val="334155"/>
                </a:solidFill>
                <a:latin typeface="Noto Sans SC"/>
                <a:ea typeface="Noto Sans SC"/>
              </a:rPr>
              <a:t>仅</a:t>
            </a:r>
            <a:r>
              <a:rPr lang="en-US" sz="900">
                <a:solidFill>
                  <a:srgbClr val="334155"/>
                </a:solidFill>
                <a:latin typeface="Noto Sans SC"/>
                <a:ea typeface="Noto Sans SC"/>
              </a:rPr>
              <a:t> 0.18 —— </a:t>
            </a:r>
            <a:r>
              <a:rPr lang="zh-CN" sz="900">
                <a:solidFill>
                  <a:srgbClr val="334155"/>
                </a:solidFill>
                <a:latin typeface="Noto Sans SC"/>
                <a:ea typeface="Noto Sans SC"/>
              </a:rPr>
              <a:t>结论：划伤是独立机理，不应与熔融类缺陷合并处置。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3162300" y="5600700"/>
            <a:ext cx="8324850" cy="2190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863">
                <a:solidFill>
                  <a:srgbClr val="64748B"/>
                </a:solidFill>
                <a:latin typeface="Noto Sans SC"/>
                <a:ea typeface="Noto Sans SC"/>
              </a:rPr>
              <a:t>诚实性说明：</a:t>
            </a:r>
            <a:r>
              <a:rPr lang="en-US" sz="863">
                <a:solidFill>
                  <a:srgbClr val="64748B"/>
                </a:solidFill>
                <a:latin typeface="Noto Sans SC"/>
                <a:ea typeface="Noto Sans SC"/>
              </a:rPr>
              <a:t>SKAB 2 </a:t>
            </a:r>
            <a:r>
              <a:rPr lang="zh-CN" sz="863">
                <a:solidFill>
                  <a:srgbClr val="64748B"/>
                </a:solidFill>
                <a:latin typeface="Noto Sans SC"/>
                <a:ea typeface="Noto Sans SC"/>
              </a:rPr>
              <a:t>个场景未给出强断言（真因仅进入候补集），结论被置信度封顶输出为</a:t>
            </a:r>
            <a:r>
              <a:rPr lang="en-US" sz="863">
                <a:solidFill>
                  <a:srgbClr val="64748B"/>
                </a:solidFill>
                <a:latin typeface="Noto Sans SC"/>
                <a:ea typeface="Noto Sans SC"/>
              </a:rPr>
              <a:t> COMPETING_SET —— </a:t>
            </a:r>
            <a:r>
              <a:rPr lang="zh-CN" sz="863">
                <a:solidFill>
                  <a:srgbClr val="64748B"/>
                </a:solidFill>
                <a:latin typeface="Noto Sans SC"/>
                <a:ea typeface="Noto Sans SC"/>
              </a:rPr>
              <a:t>宁可说</a:t>
            </a:r>
            <a:r>
              <a:rPr lang="en-US" sz="863">
                <a:solidFill>
                  <a:srgbClr val="64748B"/>
                </a:solidFill>
                <a:latin typeface="Noto Sans SC"/>
                <a:ea typeface="Noto Sans SC"/>
              </a:rPr>
              <a:t>"</a:t>
            </a:r>
            <a:r>
              <a:rPr lang="zh-CN" sz="863">
                <a:solidFill>
                  <a:srgbClr val="64748B"/>
                </a:solidFill>
                <a:latin typeface="Noto Sans SC"/>
                <a:ea typeface="Noto Sans SC"/>
              </a:rPr>
              <a:t>无法区分</a:t>
            </a:r>
            <a:r>
              <a:rPr lang="en-US" sz="863">
                <a:solidFill>
                  <a:srgbClr val="64748B"/>
                </a:solidFill>
                <a:latin typeface="Noto Sans SC"/>
                <a:ea typeface="Noto Sans SC"/>
              </a:rPr>
              <a:t>"</a:t>
            </a:r>
            <a:r>
              <a:rPr lang="zh-CN" sz="863">
                <a:solidFill>
                  <a:srgbClr val="64748B"/>
                </a:solidFill>
                <a:latin typeface="Noto Sans SC"/>
                <a:ea typeface="Noto Sans SC"/>
              </a:rPr>
              <a:t>，也不制造假阳性。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533400" y="6438900"/>
            <a:ext cx="11715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94A3B8"/>
                </a:solidFill>
                <a:latin typeface="Noto Sans SC"/>
                <a:ea typeface="Noto Sans SC"/>
              </a:rPr>
              <a:t>工业深度诊断引擎</a:t>
            </a:r>
            <a:r>
              <a:rPr lang="en-US" sz="938">
                <a:solidFill>
                  <a:srgbClr val="94A3B8"/>
                </a:solidFill>
                <a:latin typeface="Noto Sans SC"/>
                <a:ea typeface="Noto Sans SC"/>
              </a:rPr>
              <a:t> IDD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11163300" y="6438900"/>
            <a:ext cx="495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94A3B8"/>
                </a:solidFill>
                <a:latin typeface="Cascadia Mono"/>
                <a:ea typeface="Cascadia Mono"/>
              </a:rPr>
              <a:t>04 / 07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66" name="" descr="&lt;Slide style={{ width: 1280, height: 720, background: '#FFFFFF', padding: '20px 56px', flexDirection: 'column', fontFamily: 'Noto Sans SC' }}&gt;&#10;&#10;  &lt;Box style={{ height: 88, flexDirection: 'row', alignItems: 'flex-start', justifyContent: 'space-between' }}&gt;&#10;    &lt;Box style={{ flexDirection: 'column', gap: 6 }}&gt;&#10;      &lt;Text style={{ fontSize: 30, fontWeight: 'bold', color: '#0F172A', lineHeight: 1.25 }}&gt;RAG 知识平台 · 五层架构与检索范式&lt;/Text&gt;&#10;      &lt;Text style={{ fontSize: 14, color: '#64748B', lineHeight: 1.5 }}&gt;&#10;        从原始文档到可被 Agent 调用的知识：解析、召回、验证、图谱、经验&#10;      &lt;/Text&gt;&#10;    &lt;/Box&gt;&#10;    &lt;Box style={{ flexDirection: 'column', alignItems: 'flex-end', gap: 3, paddingTop: 8 }}&gt;&#10;      &lt;Text style={{ fontSize: 12, color: '#94A3B8', fontFamily: 'Cascadia Mono' }}&gt;ARCHITECTURE&lt;/Text&gt;&#10;      &lt;Text style={{ fontSize: 12, color: '#94A3B8', fontFamily: 'Cascadia Mono' }}&gt;5 LAYERS&lt;/Text&gt;&#10;    &lt;/Box&gt;&#10;  &lt;/Box&gt;&#10;&#10;  &lt;Box style={{ height: 12 }} /&gt;&#10;&#10;  &lt;Box style={{ height: 300, flexDirection: 'row', gap: 20 }}&gt;&#10;&#10;    &lt;Box style={{ width: 620, flexDirection: 'column', gap: 6 }}&gt;&#10;      &lt;Text style={{ fontSize: 11, color: '#94A3B8', fontFamily: 'Cascadia Mono' }}&gt;五层架构（项目官方图）&lt;/Text&gt;&#10;      &lt;Box style={{ flex: 1, background: '#FFFFFF', border: '1px solid #E2E8F0', borderRadius: 10, padding: 4 }}&gt;&#10;        &lt;Image src=&quot;assets/rag_architecture.png&quot; style={{ width: '100%', height: '100%', objectFit: 'contain' }} /&gt;&#10;      &lt;/Box&gt;&#10;    &lt;/Box&gt;&#10;&#10;    &lt;Box style={{ flex: 1, flexDirection: 'column', gap: 8 }}&gt;&#10;      &lt;Box style={{ flex: 1, background: '#F5F3FF', border: '1px solid #DDD6FE', borderRadius: 10, padding: '10px 14px', flexDirection: 'column', justifyContent: 'center', gap: 3 }}&gt;&#10;        &lt;Text style={{ fontSize: 12.5, fontWeight: 'bold', color: '#5B21B6' }}&gt;① 文档解析层&lt;/Text&gt;&#10;        &lt;Text style={{ fontSize: 11.5, color: '#334155', lineHeight: 1.55 }}&gt;&#10;          PDF / Word / Excel / PPT / 图片统一转 Markdown，内置 MinerU OCR 引擎&#10;        &lt;/Text&gt;&#10;      &lt;/Box&gt;&#10;      &lt;Box style={{ flex: 1, background: '#F5F3FF', border: '1px solid #DDD6FE', borderRadius: 10, padding: '10px 14px', flexDirection: 'column', justifyContent: 'center', gap: 3 }}&gt;&#10;        &lt;Text style={{ fontSize: 12.5, fontWeight: 'bold', color: '#5B21B6' }}&gt;② 多策略召回层&lt;/Text&gt;&#10;        &lt;Text style={{ fontSize: 11.5, color: '#334155', lineHeight: 1.55 }}&gt;&#10;          BM25 词法 + 向量语义两阶段召回，跨库企业级检索；balance_kbs 防止大库垄断结果&#10;        &lt;/Text&gt;&#10;      &lt;/Box&gt;&#10;      &lt;Box style={{ flex: 1, background: '#F5F3FF', border: '1px solid #DDD6FE', borderRadius: 10, padding: '10px 14px', flexDirection: 'column', justifyContent: 'center', gap: 3 }}&gt;&#10;        &lt;Text style={{ fontSize: 12.5, fontWeight: 'bold', color: '#5B21B6' }}&gt;③ 内容验证层&lt;/Text&gt;&#10;        &lt;Text style={{ fontSize: 11.5, color: '#334155', lineHeight: 1.55 }}&gt;&#10;          对召回片段独立打 0-8 分，低于 6 触发标签与描述扩展召回，低于 4 直接硬丢弃&#10;        &lt;/Text&gt;&#10;      &lt;/Box&gt;&#10;    &lt;/Box&gt;&#10;&#10;  &lt;/Box&gt;&#10;&#10;  &lt;Box style={{ height: 14 }} /&gt;&#10;&#10;  &lt;Box style={{ height: 186, flexDirection: 'row', gap: 18 }}&gt;&#10;&#10;    &lt;Box style={{ width: 340, flexDirection: 'column', gap: 6 }}&gt;&#10;      &lt;Text style={{ fontSize: 11, color: '#94A3B8', fontFamily: 'Cascadia Mono' }}&gt;知识图谱可视化（项目官方截图）&lt;/Text&gt;&#10;      &lt;Box style={{ flex: 1, background: '#FFFFFF', border: '1px solid #E2E8F0', borderRadius: 10, padding: 3 }}&gt;&#10;        &lt;Image src=&quot;assets/rag_graph.png&quot; style={{ width: '100%', height: '100%', objectFit: 'cover', borderRadius: 6 }} /&gt;&#10;      &lt;/Box&gt;&#10;    &lt;/Box&gt;&#10;&#10;    &lt;Box style={{ flex: 1, background: '#F8FAFC', border: '1px solid #E2E8F0', borderRadius: 10, padding: '14px 18px', flexDirection: 'column', gap: 7, justifyContent: 'center' }}&gt;&#10;      &lt;Box style={{ flexDirection: 'row', alignItems: 'center', gap: 8 }}&gt;&#10;        &lt;Box style={{ width: 4, height: 14, background: '#7C3AED', borderRadius: 2 }} /&gt;&#10;        &lt;Text style={{ fontSize: 13.5, fontWeight: 'bold', color: '#0F172A' }}&gt;图谱层与经验层：知识不只是&quot;被检索到&quot;&lt;/Text&gt;&#10;      &lt;/Box&gt;&#10;      &lt;Text style={{ fontSize: 12, color: '#334155', lineHeight: 1.6 }}&gt;&#10;        &lt;span style={{ color: '#7C3AED', fontWeight: 'bold' }}&gt;▪ &lt;/span&gt;Neo4j 知识图谱：11 个图谱工具，实体 / 关系图谱与跨库文档桥接&#10;      &lt;/Text&gt;&#10;      &lt;Text style={{ fontSize: 12, color: '#334155', lineHeight: 1.6 }}&gt;&#10;        &lt;span style={{ color: '#7C3AED', fontWeight: 'bold' }}&gt;▪ &lt;/span&gt;经验库 E0-E12 生命周期：问题 → 方案 → 教训的结构化沉淀，按可信度 P0 / P1 / P2 分级并带时间衰减&#10;      &lt;/Text&gt;&#10;      &lt;Text style={{ fontSize: 12, color: '#334155', lineHeight: 1.6 }}&gt;&#10;        &lt;span style={{ color: '#7C3AED', fontWeight: 'bold' }}&gt;▪ &lt;/span&gt;94 个 MCP 工具 + 19 个 Agent Skills，四个界面共用同一后端能力面&#10;      &lt;/Text&gt;&#10;    &lt;/Box&gt;&#10;&#10;  &lt;/Box&gt;&#10;&#10;  &lt;Box style={{ marginTop: 'auto', height: 34, flexDirection: 'row', alignItems: 'center', justifyContent: 'space-between' }}&gt;&#10;    &lt;Text style={{ fontSize: 12.5, color: '#94A3B8' }}&gt;RAG Knowledge 知识平台&lt;/Text&gt;&#10;    &lt;Text style={{ fontSize: 12.5, color: '#94A3B8', fontFamily: 'Cascadia Mono' }}&gt;05 / 07&lt;/Text&gt;&#10;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533400" y="190500"/>
            <a:ext cx="4714875" cy="4286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2250" b="1">
                <a:solidFill>
                  <a:srgbClr val="0F172A"/>
                </a:solidFill>
                <a:latin typeface="Noto Sans SC"/>
                <a:ea typeface="Noto Sans SC"/>
              </a:rPr>
              <a:t>RAG </a:t>
            </a:r>
            <a:r>
              <a:rPr lang="zh-CN" sz="2250" b="1">
                <a:solidFill>
                  <a:srgbClr val="0F172A"/>
                </a:solidFill>
                <a:latin typeface="Noto Sans SC"/>
                <a:ea typeface="Noto Sans SC"/>
              </a:rPr>
              <a:t>知识平台</a:t>
            </a:r>
            <a:r>
              <a:rPr lang="en-US" sz="2250" b="1">
                <a:solidFill>
                  <a:srgbClr val="0F172A"/>
                </a:solidFill>
                <a:latin typeface="Noto Sans SC"/>
                <a:ea typeface="Noto Sans SC"/>
              </a:rPr>
              <a:t> · </a:t>
            </a:r>
            <a:r>
              <a:rPr lang="zh-CN" sz="2250" b="1">
                <a:solidFill>
                  <a:srgbClr val="0F172A"/>
                </a:solidFill>
                <a:latin typeface="Noto Sans SC"/>
                <a:ea typeface="Noto Sans SC"/>
              </a:rPr>
              <a:t>五层架构与检索范式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533400" y="676275"/>
            <a:ext cx="47148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4748B"/>
                </a:solidFill>
                <a:latin typeface="Noto Sans SC"/>
                <a:ea typeface="Noto Sans SC"/>
              </a:rPr>
              <a:t>从原始文档到可被</a:t>
            </a:r>
            <a:r>
              <a:rPr lang="en-US" sz="1050">
                <a:solidFill>
                  <a:srgbClr val="64748B"/>
                </a:solidFill>
                <a:latin typeface="Noto Sans SC"/>
                <a:ea typeface="Noto Sans SC"/>
              </a:rPr>
              <a:t> Agent </a:t>
            </a:r>
            <a:r>
              <a:rPr lang="zh-CN" sz="1050">
                <a:solidFill>
                  <a:srgbClr val="64748B"/>
                </a:solidFill>
                <a:latin typeface="Noto Sans SC"/>
                <a:ea typeface="Noto Sans SC"/>
              </a:rPr>
              <a:t>调用的知识：解析、召回、验证、图谱、经验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10848975" y="266700"/>
            <a:ext cx="8096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Cascadia Mono"/>
                <a:ea typeface="Cascadia Mono"/>
              </a:rPr>
              <a:t>ARCHITECTURE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11115675" y="438150"/>
            <a:ext cx="542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Cascadia Mono"/>
                <a:ea typeface="Cascadia Mono"/>
              </a:rPr>
              <a:t>5 LAYERS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533400" y="1143000"/>
            <a:ext cx="5905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94A3B8"/>
                </a:solidFill>
                <a:latin typeface="Cascadia Mono"/>
                <a:ea typeface="Cascadia Mono"/>
              </a:rPr>
              <a:t>五层架构（项目官方图）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533400" y="1333500"/>
            <a:ext cx="5905500" cy="26670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pic>
        <p:nvPicPr>
          <p:cNvPr id="174" name=""/>
          <p:cNvPicPr>
            <a:picLocks noChangeAspect="1"/>
          </p:cNvPicPr>
          <p:nvPr/>
        </p:nvPicPr>
        <p:blipFill>
          <a:blip r:embed="rId1"/>
          <a:srcRect l="0" t="11066" r="0" b="11066"/>
          <a:stretch>
            <a:fillRect/>
          </a:stretch>
        </p:blipFill>
        <p:spPr>
          <a:xfrm rot="0" flipH="0" flipV="0">
            <a:off x="571500" y="1371600"/>
            <a:ext cx="5829300" cy="2590800"/>
          </a:xfrm>
          <a:prstGeom prst="rect">
            <a:avLst/>
          </a:prstGeom>
          <a:ln/>
        </p:spPr>
      </p:pic>
      <p:sp>
        <p:nvSpPr>
          <p:cNvPr id="175" name=""/>
          <p:cNvSpPr/>
          <p:nvPr/>
        </p:nvSpPr>
        <p:spPr>
          <a:xfrm rot="0" flipH="0" flipV="0">
            <a:off x="6629400" y="1143000"/>
            <a:ext cx="5029200" cy="904875"/>
          </a:xfrm>
          <a:prstGeom prst="roundRect">
            <a:avLst>
              <a:gd name="adj" fmla="val 10526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6762750" y="1409700"/>
            <a:ext cx="4762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5B21B6"/>
                </a:solidFill>
                <a:latin typeface="Noto Sans SC"/>
                <a:ea typeface="Noto Sans SC"/>
              </a:rPr>
              <a:t>① </a:t>
            </a:r>
            <a:r>
              <a:rPr lang="zh-CN" sz="938" b="1">
                <a:solidFill>
                  <a:srgbClr val="5B21B6"/>
                </a:solidFill>
                <a:latin typeface="Noto Sans SC"/>
                <a:ea typeface="Noto Sans SC"/>
              </a:rPr>
              <a:t>文档解析层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6762750" y="1581150"/>
            <a:ext cx="4762500" cy="2095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863">
                <a:solidFill>
                  <a:srgbClr val="334155"/>
                </a:solidFill>
                <a:latin typeface="Noto Sans SC"/>
                <a:ea typeface="Noto Sans SC"/>
              </a:rPr>
              <a:t>PDF / Word / Excel / PPT / </a:t>
            </a:r>
            <a:r>
              <a:rPr lang="zh-CN" sz="863">
                <a:solidFill>
                  <a:srgbClr val="334155"/>
                </a:solidFill>
                <a:latin typeface="Noto Sans SC"/>
                <a:ea typeface="Noto Sans SC"/>
              </a:rPr>
              <a:t>图片统一转</a:t>
            </a:r>
            <a:r>
              <a:rPr lang="en-US" sz="863">
                <a:solidFill>
                  <a:srgbClr val="334155"/>
                </a:solidFill>
                <a:latin typeface="Noto Sans SC"/>
                <a:ea typeface="Noto Sans SC"/>
              </a:rPr>
              <a:t> Markdown</a:t>
            </a:r>
            <a:r>
              <a:rPr lang="zh-CN" sz="863">
                <a:solidFill>
                  <a:srgbClr val="334155"/>
                </a:solidFill>
                <a:latin typeface="Noto Sans SC"/>
                <a:ea typeface="Noto Sans SC"/>
              </a:rPr>
              <a:t>，内置</a:t>
            </a:r>
            <a:r>
              <a:rPr lang="en-US" sz="863">
                <a:solidFill>
                  <a:srgbClr val="334155"/>
                </a:solidFill>
                <a:latin typeface="Noto Sans SC"/>
                <a:ea typeface="Noto Sans SC"/>
              </a:rPr>
              <a:t> MinerU OCR </a:t>
            </a:r>
            <a:r>
              <a:rPr lang="zh-CN" sz="863">
                <a:solidFill>
                  <a:srgbClr val="334155"/>
                </a:solidFill>
                <a:latin typeface="Noto Sans SC"/>
                <a:ea typeface="Noto Sans SC"/>
              </a:rPr>
              <a:t>引擎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6629400" y="2124075"/>
            <a:ext cx="5029200" cy="895350"/>
          </a:xfrm>
          <a:prstGeom prst="roundRect">
            <a:avLst>
              <a:gd name="adj" fmla="val 1063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6762750" y="2381250"/>
            <a:ext cx="4762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5B21B6"/>
                </a:solidFill>
                <a:latin typeface="Noto Sans SC"/>
                <a:ea typeface="Noto Sans SC"/>
              </a:rPr>
              <a:t>② </a:t>
            </a:r>
            <a:r>
              <a:rPr lang="zh-CN" sz="938" b="1">
                <a:solidFill>
                  <a:srgbClr val="5B21B6"/>
                </a:solidFill>
                <a:latin typeface="Noto Sans SC"/>
                <a:ea typeface="Noto Sans SC"/>
              </a:rPr>
              <a:t>多策略召回层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6762750" y="2552700"/>
            <a:ext cx="4762500" cy="2095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863">
                <a:solidFill>
                  <a:srgbClr val="334155"/>
                </a:solidFill>
                <a:latin typeface="Noto Sans SC"/>
                <a:ea typeface="Noto Sans SC"/>
              </a:rPr>
              <a:t>BM25 </a:t>
            </a:r>
            <a:r>
              <a:rPr lang="zh-CN" sz="863">
                <a:solidFill>
                  <a:srgbClr val="334155"/>
                </a:solidFill>
                <a:latin typeface="Noto Sans SC"/>
                <a:ea typeface="Noto Sans SC"/>
              </a:rPr>
              <a:t>词法</a:t>
            </a:r>
            <a:r>
              <a:rPr lang="en-US" sz="863">
                <a:solidFill>
                  <a:srgbClr val="334155"/>
                </a:solidFill>
                <a:latin typeface="Noto Sans SC"/>
                <a:ea typeface="Noto Sans SC"/>
              </a:rPr>
              <a:t> + </a:t>
            </a:r>
            <a:r>
              <a:rPr lang="zh-CN" sz="863">
                <a:solidFill>
                  <a:srgbClr val="334155"/>
                </a:solidFill>
                <a:latin typeface="Noto Sans SC"/>
                <a:ea typeface="Noto Sans SC"/>
              </a:rPr>
              <a:t>向量语义两阶段召回，跨库企业级检索；</a:t>
            </a:r>
            <a:r>
              <a:rPr lang="en-US" sz="863">
                <a:solidFill>
                  <a:srgbClr val="334155"/>
                </a:solidFill>
                <a:latin typeface="Noto Sans SC"/>
                <a:ea typeface="Noto Sans SC"/>
              </a:rPr>
              <a:t>balance_kbs </a:t>
            </a:r>
            <a:r>
              <a:rPr lang="zh-CN" sz="863">
                <a:solidFill>
                  <a:srgbClr val="334155"/>
                </a:solidFill>
                <a:latin typeface="Noto Sans SC"/>
                <a:ea typeface="Noto Sans SC"/>
              </a:rPr>
              <a:t>防止大库垄断结果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6629400" y="3095625"/>
            <a:ext cx="5029200" cy="904875"/>
          </a:xfrm>
          <a:prstGeom prst="roundRect">
            <a:avLst>
              <a:gd name="adj" fmla="val 10526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6762750" y="3362325"/>
            <a:ext cx="4762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5B21B6"/>
                </a:solidFill>
                <a:latin typeface="Noto Sans SC"/>
                <a:ea typeface="Noto Sans SC"/>
              </a:rPr>
              <a:t>③ </a:t>
            </a:r>
            <a:r>
              <a:rPr lang="zh-CN" sz="938" b="1">
                <a:solidFill>
                  <a:srgbClr val="5B21B6"/>
                </a:solidFill>
                <a:latin typeface="Noto Sans SC"/>
                <a:ea typeface="Noto Sans SC"/>
              </a:rPr>
              <a:t>内容验证层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6762750" y="3533775"/>
            <a:ext cx="4762500" cy="2095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63">
                <a:solidFill>
                  <a:srgbClr val="334155"/>
                </a:solidFill>
                <a:latin typeface="Noto Sans SC"/>
                <a:ea typeface="Noto Sans SC"/>
              </a:rPr>
              <a:t>对召回片段独立打</a:t>
            </a:r>
            <a:r>
              <a:rPr lang="en-US" sz="863">
                <a:solidFill>
                  <a:srgbClr val="334155"/>
                </a:solidFill>
                <a:latin typeface="Noto Sans SC"/>
                <a:ea typeface="Noto Sans SC"/>
              </a:rPr>
              <a:t> 0-8 </a:t>
            </a:r>
            <a:r>
              <a:rPr lang="zh-CN" sz="863">
                <a:solidFill>
                  <a:srgbClr val="334155"/>
                </a:solidFill>
                <a:latin typeface="Noto Sans SC"/>
                <a:ea typeface="Noto Sans SC"/>
              </a:rPr>
              <a:t>分，低于</a:t>
            </a:r>
            <a:r>
              <a:rPr lang="en-US" sz="863">
                <a:solidFill>
                  <a:srgbClr val="334155"/>
                </a:solidFill>
                <a:latin typeface="Noto Sans SC"/>
                <a:ea typeface="Noto Sans SC"/>
              </a:rPr>
              <a:t> 6 </a:t>
            </a:r>
            <a:r>
              <a:rPr lang="zh-CN" sz="863">
                <a:solidFill>
                  <a:srgbClr val="334155"/>
                </a:solidFill>
                <a:latin typeface="Noto Sans SC"/>
                <a:ea typeface="Noto Sans SC"/>
              </a:rPr>
              <a:t>触发标签与描述扩展召回，低于</a:t>
            </a:r>
            <a:r>
              <a:rPr lang="en-US" sz="863">
                <a:solidFill>
                  <a:srgbClr val="334155"/>
                </a:solidFill>
                <a:latin typeface="Noto Sans SC"/>
                <a:ea typeface="Noto Sans SC"/>
              </a:rPr>
              <a:t> 4 </a:t>
            </a:r>
            <a:r>
              <a:rPr lang="zh-CN" sz="863">
                <a:solidFill>
                  <a:srgbClr val="334155"/>
                </a:solidFill>
                <a:latin typeface="Noto Sans SC"/>
                <a:ea typeface="Noto Sans SC"/>
              </a:rPr>
              <a:t>直接硬丢弃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533400" y="4133850"/>
            <a:ext cx="3238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94A3B8"/>
                </a:solidFill>
                <a:latin typeface="Cascadia Mono"/>
                <a:ea typeface="Cascadia Mono"/>
              </a:rPr>
              <a:t>知识图谱可视化（项目官方截图）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533400" y="4324350"/>
            <a:ext cx="3238500" cy="1581150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pic>
        <p:nvPicPr>
          <p:cNvPr id="186" name=""/>
          <p:cNvPicPr>
            <a:picLocks noChangeAspect="1"/>
          </p:cNvPicPr>
          <p:nvPr/>
        </p:nvPicPr>
        <p:blipFill>
          <a:blip r:embed="rId2"/>
          <a:srcRect l="0" t="7418" r="0" b="7418"/>
          <a:stretch>
            <a:fillRect/>
          </a:stretch>
        </p:blipFill>
        <p:spPr>
          <a:xfrm rot="0" flipH="0" flipV="0">
            <a:off x="561975" y="4352925"/>
            <a:ext cx="3181350" cy="1524000"/>
          </a:xfrm>
          <a:prstGeom prst="roundRect">
            <a:avLst>
              <a:gd name="adj" fmla="val 3750"/>
            </a:avLst>
          </a:prstGeom>
          <a:ln/>
        </p:spPr>
      </p:pic>
      <p:sp>
        <p:nvSpPr>
          <p:cNvPr id="187" name=""/>
          <p:cNvSpPr/>
          <p:nvPr/>
        </p:nvSpPr>
        <p:spPr>
          <a:xfrm rot="0" flipH="0" flipV="0">
            <a:off x="3943350" y="4133850"/>
            <a:ext cx="7715250" cy="1771650"/>
          </a:xfrm>
          <a:prstGeom prst="roundRect">
            <a:avLst>
              <a:gd name="adj" fmla="val 537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88" name=""/>
          <p:cNvSpPr/>
          <p:nvPr/>
        </p:nvSpPr>
        <p:spPr>
          <a:xfrm rot="0" flipH="0" flipV="0">
            <a:off x="4114800" y="451485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4229100" y="4495800"/>
            <a:ext cx="2286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0F172A"/>
                </a:solidFill>
                <a:latin typeface="Noto Sans SC"/>
                <a:ea typeface="Noto Sans SC"/>
              </a:rPr>
              <a:t>图谱层与经验层：知识不只是</a:t>
            </a:r>
            <a:r>
              <a:rPr lang="en-US" sz="1013" b="1">
                <a:solidFill>
                  <a:srgbClr val="0F172A"/>
                </a:solidFill>
                <a:latin typeface="Noto Sans SC"/>
                <a:ea typeface="Noto Sans SC"/>
              </a:rPr>
              <a:t>"</a:t>
            </a:r>
            <a:r>
              <a:rPr lang="zh-CN" sz="1013" b="1">
                <a:solidFill>
                  <a:srgbClr val="0F172A"/>
                </a:solidFill>
                <a:latin typeface="Noto Sans SC"/>
                <a:ea typeface="Noto Sans SC"/>
              </a:rPr>
              <a:t>被检索到</a:t>
            </a:r>
            <a:r>
              <a:rPr lang="en-US" sz="1013" b="1">
                <a:solidFill>
                  <a:srgbClr val="0F172A"/>
                </a:solidFill>
                <a:latin typeface="Noto Sans SC"/>
                <a:ea typeface="Noto Sans SC"/>
              </a:rPr>
              <a:t>"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4114800" y="4724400"/>
            <a:ext cx="7372350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 b="1">
                <a:solidFill>
                  <a:srgbClr val="7C3AED"/>
                </a:solidFill>
                <a:latin typeface="Noto Sans SC"/>
                <a:ea typeface="Noto Sans SC"/>
              </a:rPr>
              <a:t>▪ </a:t>
            </a:r>
            <a:r>
              <a:rPr lang="en-US" sz="900">
                <a:solidFill>
                  <a:srgbClr val="334155"/>
                </a:solidFill>
                <a:latin typeface="Noto Sans SC"/>
                <a:ea typeface="Noto Sans SC"/>
              </a:rPr>
              <a:t>Neo4j </a:t>
            </a:r>
            <a:r>
              <a:rPr lang="zh-CN" sz="900">
                <a:solidFill>
                  <a:srgbClr val="334155"/>
                </a:solidFill>
                <a:latin typeface="Noto Sans SC"/>
                <a:ea typeface="Noto Sans SC"/>
              </a:rPr>
              <a:t>知识图谱：</a:t>
            </a:r>
            <a:r>
              <a:rPr lang="en-US" sz="900">
                <a:solidFill>
                  <a:srgbClr val="334155"/>
                </a:solidFill>
                <a:latin typeface="Noto Sans SC"/>
                <a:ea typeface="Noto Sans SC"/>
              </a:rPr>
              <a:t>11 </a:t>
            </a:r>
            <a:r>
              <a:rPr lang="zh-CN" sz="900">
                <a:solidFill>
                  <a:srgbClr val="334155"/>
                </a:solidFill>
                <a:latin typeface="Noto Sans SC"/>
                <a:ea typeface="Noto Sans SC"/>
              </a:rPr>
              <a:t>个图谱工具，实体</a:t>
            </a:r>
            <a:r>
              <a:rPr lang="en-US" sz="900">
                <a:solidFill>
                  <a:srgbClr val="334155"/>
                </a:solidFill>
                <a:latin typeface="Noto Sans SC"/>
                <a:ea typeface="Noto Sans SC"/>
              </a:rPr>
              <a:t> / </a:t>
            </a:r>
            <a:r>
              <a:rPr lang="zh-CN" sz="900">
                <a:solidFill>
                  <a:srgbClr val="334155"/>
                </a:solidFill>
                <a:latin typeface="Noto Sans SC"/>
                <a:ea typeface="Noto Sans SC"/>
              </a:rPr>
              <a:t>关系图谱与跨库文档桥接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4114800" y="5019675"/>
            <a:ext cx="7372350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 b="1">
                <a:solidFill>
                  <a:srgbClr val="7C3AED"/>
                </a:solidFill>
                <a:latin typeface="Noto Sans SC"/>
                <a:ea typeface="Noto Sans SC"/>
              </a:rPr>
              <a:t>▪ </a:t>
            </a:r>
            <a:r>
              <a:rPr lang="zh-CN" sz="900">
                <a:solidFill>
                  <a:srgbClr val="334155"/>
                </a:solidFill>
                <a:latin typeface="Noto Sans SC"/>
                <a:ea typeface="Noto Sans SC"/>
              </a:rPr>
              <a:t>经验库</a:t>
            </a:r>
            <a:r>
              <a:rPr lang="en-US" sz="900">
                <a:solidFill>
                  <a:srgbClr val="334155"/>
                </a:solidFill>
                <a:latin typeface="Noto Sans SC"/>
                <a:ea typeface="Noto Sans SC"/>
              </a:rPr>
              <a:t> E0-E12 </a:t>
            </a:r>
            <a:r>
              <a:rPr lang="zh-CN" sz="900">
                <a:solidFill>
                  <a:srgbClr val="334155"/>
                </a:solidFill>
                <a:latin typeface="Noto Sans SC"/>
                <a:ea typeface="Noto Sans SC"/>
              </a:rPr>
              <a:t>生命周期：问题</a:t>
            </a:r>
            <a:r>
              <a:rPr lang="en-US" sz="900">
                <a:solidFill>
                  <a:srgbClr val="334155"/>
                </a:solidFill>
                <a:latin typeface="Noto Sans SC"/>
                <a:ea typeface="Noto Sans SC"/>
              </a:rPr>
              <a:t> → </a:t>
            </a:r>
            <a:r>
              <a:rPr lang="zh-CN" sz="900">
                <a:solidFill>
                  <a:srgbClr val="334155"/>
                </a:solidFill>
                <a:latin typeface="Noto Sans SC"/>
                <a:ea typeface="Noto Sans SC"/>
              </a:rPr>
              <a:t>方案</a:t>
            </a:r>
            <a:r>
              <a:rPr lang="en-US" sz="900">
                <a:solidFill>
                  <a:srgbClr val="334155"/>
                </a:solidFill>
                <a:latin typeface="Noto Sans SC"/>
                <a:ea typeface="Noto Sans SC"/>
              </a:rPr>
              <a:t> → </a:t>
            </a:r>
            <a:r>
              <a:rPr lang="zh-CN" sz="900">
                <a:solidFill>
                  <a:srgbClr val="334155"/>
                </a:solidFill>
                <a:latin typeface="Noto Sans SC"/>
                <a:ea typeface="Noto Sans SC"/>
              </a:rPr>
              <a:t>教训的结构化沉淀，按可信度</a:t>
            </a:r>
            <a:r>
              <a:rPr lang="en-US" sz="900">
                <a:solidFill>
                  <a:srgbClr val="334155"/>
                </a:solidFill>
                <a:latin typeface="Noto Sans SC"/>
                <a:ea typeface="Noto Sans SC"/>
              </a:rPr>
              <a:t> P0 / P1 / P2 </a:t>
            </a:r>
            <a:r>
              <a:rPr lang="zh-CN" sz="900">
                <a:solidFill>
                  <a:srgbClr val="334155"/>
                </a:solidFill>
                <a:latin typeface="Noto Sans SC"/>
                <a:ea typeface="Noto Sans SC"/>
              </a:rPr>
              <a:t>分级并带时间衰减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4114800" y="5314950"/>
            <a:ext cx="7372350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 b="1">
                <a:solidFill>
                  <a:srgbClr val="7C3AED"/>
                </a:solidFill>
                <a:latin typeface="Noto Sans SC"/>
                <a:ea typeface="Noto Sans SC"/>
              </a:rPr>
              <a:t>▪ </a:t>
            </a:r>
            <a:r>
              <a:rPr lang="en-US" sz="900">
                <a:solidFill>
                  <a:srgbClr val="334155"/>
                </a:solidFill>
                <a:latin typeface="Noto Sans SC"/>
                <a:ea typeface="Noto Sans SC"/>
              </a:rPr>
              <a:t>94 </a:t>
            </a:r>
            <a:r>
              <a:rPr lang="zh-CN" sz="900">
                <a:solidFill>
                  <a:srgbClr val="334155"/>
                </a:solidFill>
                <a:latin typeface="Noto Sans SC"/>
                <a:ea typeface="Noto Sans SC"/>
              </a:rPr>
              <a:t>个</a:t>
            </a:r>
            <a:r>
              <a:rPr lang="en-US" sz="900">
                <a:solidFill>
                  <a:srgbClr val="334155"/>
                </a:solidFill>
                <a:latin typeface="Noto Sans SC"/>
                <a:ea typeface="Noto Sans SC"/>
              </a:rPr>
              <a:t> MCP </a:t>
            </a:r>
            <a:r>
              <a:rPr lang="zh-CN" sz="900">
                <a:solidFill>
                  <a:srgbClr val="334155"/>
                </a:solidFill>
                <a:latin typeface="Noto Sans SC"/>
                <a:ea typeface="Noto Sans SC"/>
              </a:rPr>
              <a:t>工具</a:t>
            </a:r>
            <a:r>
              <a:rPr lang="en-US" sz="900">
                <a:solidFill>
                  <a:srgbClr val="334155"/>
                </a:solidFill>
                <a:latin typeface="Noto Sans SC"/>
                <a:ea typeface="Noto Sans SC"/>
              </a:rPr>
              <a:t> + 19 </a:t>
            </a:r>
            <a:r>
              <a:rPr lang="zh-CN" sz="900">
                <a:solidFill>
                  <a:srgbClr val="334155"/>
                </a:solidFill>
                <a:latin typeface="Noto Sans SC"/>
                <a:ea typeface="Noto Sans SC"/>
              </a:rPr>
              <a:t>个</a:t>
            </a:r>
            <a:r>
              <a:rPr lang="en-US" sz="900">
                <a:solidFill>
                  <a:srgbClr val="334155"/>
                </a:solidFill>
                <a:latin typeface="Noto Sans SC"/>
                <a:ea typeface="Noto Sans SC"/>
              </a:rPr>
              <a:t> Agent Skills</a:t>
            </a:r>
            <a:r>
              <a:rPr lang="zh-CN" sz="900">
                <a:solidFill>
                  <a:srgbClr val="334155"/>
                </a:solidFill>
                <a:latin typeface="Noto Sans SC"/>
                <a:ea typeface="Noto Sans SC"/>
              </a:rPr>
              <a:t>，四个界面共用同一后端能力面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533400" y="6438900"/>
            <a:ext cx="1333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94A3B8"/>
                </a:solidFill>
                <a:latin typeface="Noto Sans SC"/>
                <a:ea typeface="Noto Sans SC"/>
              </a:rPr>
              <a:t>RAG Knowledge </a:t>
            </a:r>
            <a:r>
              <a:rPr lang="zh-CN" sz="938">
                <a:solidFill>
                  <a:srgbClr val="94A3B8"/>
                </a:solidFill>
                <a:latin typeface="Noto Sans SC"/>
                <a:ea typeface="Noto Sans SC"/>
              </a:rPr>
              <a:t>知识平台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11163300" y="6438900"/>
            <a:ext cx="495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94A3B8"/>
                </a:solidFill>
                <a:latin typeface="Cascadia Mono"/>
                <a:ea typeface="Cascadia Mono"/>
              </a:rPr>
              <a:t>05 / 07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95" name="" descr="&lt;Slide style={{ width: 1280, height: 720, background: '#FFFFFF', padding: '20px 56px', flexDirection: 'column', fontFamily: 'Noto Sans SC' }}&gt;&#10;&#10;  &lt;Box style={{ height: 88, flexDirection: 'row', alignItems: 'flex-start', justifyContent: 'space-between' }}&gt;&#10;    &lt;Box style={{ flexDirection: 'column', gap: 6 }}&gt;&#10;      &lt;Text style={{ fontSize: 30, fontWeight: 'bold', color: '#0F172A', lineHeight: 1.25 }}&gt;RAG · QDCVR：不信余弦分的内容验证检索&lt;/Text&gt;&#10;      &lt;Text style={{ fontSize: 14, color: '#64748B', lineHeight: 1.5 }}&gt;&#10;        Query-Driven · Content-Verified Retrieval —— 六个阶段里，最关键的是&quot;真的去读一遍内容&quot;&#10;      &lt;/Text&gt;&#10;    &lt;/Box&gt;&#10;    &lt;Box style={{ flexDirection: 'column', alignItems: 'flex-end', gap: 3, paddingTop: 8 }}&gt;&#10;      &lt;Text style={{ fontSize: 12, color: '#94A3B8', fontFamily: 'Cascadia Mono' }}&gt;QDCVR&lt;/Text&gt;&#10;      &lt;Text style={{ fontSize: 12, color: '#94A3B8', fontFamily: 'Cascadia Mono' }}&gt;6 STAGES&lt;/Text&gt;&#10;    &lt;/Box&gt;&#10;  &lt;/Box&gt;&#10;&#10;  &lt;Box style={{ height: 12 }} /&gt;&#10;&#10;  &lt;Box style={{ height: 490, flexDirection: 'row', gap: 24 }}&gt;&#10;&#10;    &lt;Box style={{ width: 818, flexDirection: 'column', gap: 6 }}&gt;&#10;      &lt;Text style={{ fontSize: 11, color: '#94A3B8', fontFamily: 'Cascadia Mono' }}&gt;QDCVR 六阶段管线与可信度模型（项目官方图）&lt;/Text&gt;&#10;      &lt;Box style={{ flex: 1, background: '#FFFFFF', border: '1px solid #E2E8F0', borderRadius: 10, padding: 4 }}&gt;&#10;        &lt;Image src=&quot;assets/rag_qdcvr_pipeline.png&quot; style={{ width: '100%', height: '100%', objectFit: 'contain' }} /&gt;&#10;      &lt;/Box&gt;&#10;    &lt;/Box&gt;&#10;&#10;    &lt;Box style={{ flex: 1, flexDirection: 'column', gap: 10 }}&gt;&#10;&#10;      &lt;Box style={{ background: '#F5F3FF', border: '1px solid #DDD6FE', borderRadius: 10, padding: '10px 13px', flexDirection: 'column', gap: 3 }}&gt;&#10;        &lt;Text style={{ fontSize: 12, fontWeight: 'bold', color: '#5B21B6' }}&gt;到底在读什么&lt;/Text&gt;&#10;        &lt;Text style={{ fontSize: 11, color: '#334155', lineHeight: 1.55 }}&gt;&#10;          余弦相似度高 ≠ 内容相关。QDCVR 会把召回片段的正文实际读一遍再打分&#10;        &lt;/Text&gt;&#10;      &lt;/Box&gt;&#10;&#10;      &lt;Box style={{ background: '#F8FAFC', border: '1px solid #E2E8F0', borderRadius: 10, padding: '10px 13px', flexDirection: 'column', gap: 4 }}&gt;&#10;        &lt;Text style={{ fontSize: 12, fontWeight: 'bold', color: '#0F172A' }}&gt;0-8 分门槛&lt;/Text&gt;&#10;        &lt;Text style={{ fontSize: 11, color: '#334155', lineHeight: 1.55 }}&gt;&#10;          &lt;span style={{ color: '#7C3AED', fontWeight: 'bold' }}&gt;▪ &lt;/span&gt;得分 &amp;lt; 6：触发标签 + 描述扩展，再召回一轮&#10;        &lt;/Text&gt;&#10;        &lt;Text style={{ fontSize: 11, color: '#334155', lineHeight: 1.55 }}&gt;&#10;          &lt;span style={{ color: '#7C3AED', fontWeight: 'bold' }}&gt;▪ &lt;/span&gt;得分 &amp;lt; 4：直接硬丢弃，不进入候选集&#10;        &lt;/Text&gt;&#10;        &lt;Text style={{ fontSize: 11, color: '#334155', lineHeight: 1.55 }}&gt;&#10;          &lt;span style={{ color: '#7C3AED', fontWeight: 'bold' }}&gt;▪ &lt;/span&gt;最终按分数分配可信度等级，随答案一起给出&#10;        &lt;/Text&gt;&#10;      &lt;/Box&gt;&#10;&#10;      &lt;Box style={{ background: '#F8FAFC', border: '1px solid #E2E8F0', borderRadius: 10, padding: '10px 13px', flexDirection: 'column', gap: 4 }}&gt;&#10;        &lt;Text style={{ fontSize: 12, fontWeight: 'bold', color: '#0F172A' }}&gt;三路并行召回&lt;/Text&gt;&#10;        &lt;Text style={{ fontSize: 11, color: '#334155', lineHeight: 1.55 }}&gt;&#10;          &lt;span style={{ color: '#7C3AED', fontWeight: 'bold' }}&gt;A &lt;/span&gt;Agent 语义路径 · 理解上下文与意图&#10;        &lt;/Text&gt;&#10;        &lt;Text style={{ fontSize: 11, color: '#334155', lineHeight: 1.55 }}&gt;&#10;          &lt;span style={{ color: '#7C3AED', fontWeight: 'bold' }}&gt;B &lt;/span&gt;BM25 + 向量 · 词法精确与语义泛化兼顾&#10;        &lt;/Text&gt;&#10;        &lt;Text style={{ fontSize: 11, color: '#334155', lineHeight: 1.55 }}&gt;&#10;          &lt;span style={{ color: '#7C3AED', fontWeight: 'bold' }}&gt;C &lt;/span&gt;跨库语义 · 按实体与标签扩展，突破单库边界&#10;        &lt;/Text&gt;&#10;      &lt;/Box&gt;&#10;&#10;      &lt;Box style={{ flex: 1, background: '#EFF6FF', border: '1px solid #BFDBFE', borderRadius: 10, padding: '10px 13px', flexDirection: 'column', gap: 4, justifyContent: 'center' }}&gt;&#10;        &lt;Text style={{ fontSize: 12, fontWeight: 'bold', color: '#1D4ED8' }}&gt;可信度模型&lt;/Text&gt;&#10;        &lt;Text style={{ fontSize: 11, color: '#1E3A8A', lineHeight: 1.6 }}&gt;&#10;          P0 权威（官方 / 一级来源） · P1 可信（专家 / 验证）&lt;br /&gt;&#10;          P2 可能（未验证 / 传闻） · DISCARD（无关 / 不可用）&#10;        &lt;/Text&gt;&#10;        &lt;Text style={{ fontSize: 10.5, color: '#3B82F6', lineHeight: 1.5 }}&gt;&#10;          答案中会显式标注来源与盲点，低可信内容不会被悄悄当成事实&#10;        &lt;/Text&gt;&#10;      &lt;/Box&gt;&#10;&#10;    &lt;/Box&gt;&#10;&#10;  &lt;/Box&gt;&#10;&#10;  &lt;Box style={{ marginTop: 'auto', height: 34, flexDirection: 'row', alignItems: 'center', justifyContent: 'space-between' }}&gt;&#10;    &lt;Text style={{ fontSize: 12.5, color: '#94A3B8' }}&gt;RAG Knowledge 知识平台&lt;/Text&gt;&#10;    &lt;Text style={{ fontSize: 12.5, color: '#94A3B8', fontFamily: 'Cascadia Mono' }}&gt;06 / 07&lt;/Text&gt;&#10;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533400" y="190500"/>
            <a:ext cx="5543550" cy="4286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2250" b="1">
                <a:solidFill>
                  <a:srgbClr val="0F172A"/>
                </a:solidFill>
                <a:latin typeface="Noto Sans SC"/>
                <a:ea typeface="Noto Sans SC"/>
              </a:rPr>
              <a:t>RAG · QDCVR</a:t>
            </a:r>
            <a:r>
              <a:rPr lang="zh-CN" sz="2250" b="1">
                <a:solidFill>
                  <a:srgbClr val="0F172A"/>
                </a:solidFill>
                <a:latin typeface="Noto Sans SC"/>
                <a:ea typeface="Noto Sans SC"/>
              </a:rPr>
              <a:t>：不信余弦分的内容验证检索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533400" y="676275"/>
            <a:ext cx="55435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64748B"/>
                </a:solidFill>
                <a:latin typeface="Noto Sans SC"/>
                <a:ea typeface="Noto Sans SC"/>
              </a:rPr>
              <a:t>Query-Driven · Content-Verified Retrieval —— </a:t>
            </a:r>
            <a:r>
              <a:rPr lang="zh-CN" sz="1050">
                <a:solidFill>
                  <a:srgbClr val="64748B"/>
                </a:solidFill>
                <a:latin typeface="Noto Sans SC"/>
                <a:ea typeface="Noto Sans SC"/>
              </a:rPr>
              <a:t>六个阶段里，最关键的是</a:t>
            </a:r>
            <a:r>
              <a:rPr lang="en-US" sz="1050">
                <a:solidFill>
                  <a:srgbClr val="64748B"/>
                </a:solidFill>
                <a:latin typeface="Noto Sans SC"/>
                <a:ea typeface="Noto Sans SC"/>
              </a:rPr>
              <a:t>"</a:t>
            </a:r>
            <a:r>
              <a:rPr lang="zh-CN" sz="1050">
                <a:solidFill>
                  <a:srgbClr val="64748B"/>
                </a:solidFill>
                <a:latin typeface="Noto Sans SC"/>
                <a:ea typeface="Noto Sans SC"/>
              </a:rPr>
              <a:t>真的去读一遍内容</a:t>
            </a:r>
            <a:r>
              <a:rPr lang="en-US" sz="1050">
                <a:solidFill>
                  <a:srgbClr val="64748B"/>
                </a:solidFill>
                <a:latin typeface="Noto Sans SC"/>
                <a:ea typeface="Noto Sans SC"/>
              </a:rPr>
              <a:t>"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11315700" y="266700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Cascadia Mono"/>
                <a:ea typeface="Cascadia Mono"/>
              </a:rPr>
              <a:t>QDCVR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11115675" y="438150"/>
            <a:ext cx="542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Cascadia Mono"/>
                <a:ea typeface="Cascadia Mono"/>
              </a:rPr>
              <a:t>6 STAGES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533400" y="1143000"/>
            <a:ext cx="7791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Cascadia Mono"/>
                <a:ea typeface="Cascadia Mono"/>
              </a:rPr>
              <a:t>QDCVR </a:t>
            </a:r>
            <a:r>
              <a:rPr lang="zh-CN" sz="825">
                <a:solidFill>
                  <a:srgbClr val="94A3B8"/>
                </a:solidFill>
                <a:latin typeface="Cascadia Mono"/>
                <a:ea typeface="Cascadia Mono"/>
              </a:rPr>
              <a:t>六阶段管线与可信度模型（项目官方图）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533400" y="1333500"/>
            <a:ext cx="7791450" cy="447675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pic>
        <p:nvPicPr>
          <p:cNvPr id="203" name=""/>
          <p:cNvPicPr>
            <a:picLocks noChangeAspect="1"/>
          </p:cNvPicPr>
          <p:nvPr/>
        </p:nvPicPr>
        <p:blipFill>
          <a:blip r:embed="rId1"/>
          <a:srcRect l="0" t="84" r="0" b="84"/>
          <a:stretch>
            <a:fillRect/>
          </a:stretch>
        </p:blipFill>
        <p:spPr>
          <a:xfrm rot="0" flipH="0" flipV="0">
            <a:off x="571500" y="1371600"/>
            <a:ext cx="7715250" cy="4400550"/>
          </a:xfrm>
          <a:prstGeom prst="rect">
            <a:avLst/>
          </a:prstGeom>
          <a:ln/>
        </p:spPr>
      </p:pic>
      <p:sp>
        <p:nvSpPr>
          <p:cNvPr id="204" name=""/>
          <p:cNvSpPr/>
          <p:nvPr/>
        </p:nvSpPr>
        <p:spPr>
          <a:xfrm rot="0" flipH="0" flipV="0">
            <a:off x="8553450" y="1143000"/>
            <a:ext cx="3105150" cy="752475"/>
          </a:xfrm>
          <a:prstGeom prst="roundRect">
            <a:avLst>
              <a:gd name="adj" fmla="val 126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8677275" y="1238250"/>
            <a:ext cx="2857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5B21B6"/>
                </a:solidFill>
                <a:latin typeface="Noto Sans SC"/>
                <a:ea typeface="Noto Sans SC"/>
              </a:rPr>
              <a:t>到底在读什么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8677275" y="1409700"/>
            <a:ext cx="285750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825">
                <a:solidFill>
                  <a:srgbClr val="334155"/>
                </a:solidFill>
                <a:latin typeface="Noto Sans SC"/>
                <a:ea typeface="Noto Sans SC"/>
              </a:rPr>
              <a:t>余弦相似度高</a:t>
            </a:r>
            <a:r>
              <a:rPr lang="en-US" sz="825">
                <a:solidFill>
                  <a:srgbClr val="334155"/>
                </a:solidFill>
                <a:latin typeface="Noto Sans SC"/>
                <a:ea typeface="Noto Sans SC"/>
              </a:rPr>
              <a:t> ≠ </a:t>
            </a:r>
            <a:r>
              <a:rPr lang="zh-CN" sz="825">
                <a:solidFill>
                  <a:srgbClr val="334155"/>
                </a:solidFill>
                <a:latin typeface="Noto Sans SC"/>
                <a:ea typeface="Noto Sans SC"/>
              </a:rPr>
              <a:t>内容相关。</a:t>
            </a:r>
            <a:r>
              <a:rPr lang="en-US" sz="825">
                <a:solidFill>
                  <a:srgbClr val="334155"/>
                </a:solidFill>
                <a:latin typeface="Noto Sans SC"/>
                <a:ea typeface="Noto Sans SC"/>
              </a:rPr>
              <a:t>QDCVR </a:t>
            </a:r>
            <a:r>
              <a:rPr lang="zh-CN" sz="825">
                <a:solidFill>
                  <a:srgbClr val="334155"/>
                </a:solidFill>
                <a:latin typeface="Noto Sans SC"/>
                <a:ea typeface="Noto Sans SC"/>
              </a:rPr>
              <a:t>会把召回片段的正文实际读一遍再打分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8553450" y="1990725"/>
            <a:ext cx="3105150" cy="104775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8677275" y="2085975"/>
            <a:ext cx="2857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F172A"/>
                </a:solidFill>
                <a:latin typeface="Noto Sans SC"/>
                <a:ea typeface="Noto Sans SC"/>
              </a:rPr>
              <a:t>0-8 </a:t>
            </a:r>
            <a:r>
              <a:rPr lang="zh-CN" sz="900" b="1">
                <a:solidFill>
                  <a:srgbClr val="0F172A"/>
                </a:solidFill>
                <a:latin typeface="Noto Sans SC"/>
                <a:ea typeface="Noto Sans SC"/>
              </a:rPr>
              <a:t>分门槛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8677275" y="2266950"/>
            <a:ext cx="2857500" cy="2000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825" b="1">
                <a:solidFill>
                  <a:srgbClr val="7C3AED"/>
                </a:solidFill>
                <a:latin typeface="Noto Sans SC"/>
                <a:ea typeface="Noto Sans SC"/>
              </a:rPr>
              <a:t>▪ </a:t>
            </a:r>
            <a:r>
              <a:rPr lang="zh-CN" sz="825">
                <a:solidFill>
                  <a:srgbClr val="334155"/>
                </a:solidFill>
                <a:latin typeface="Noto Sans SC"/>
                <a:ea typeface="Noto Sans SC"/>
              </a:rPr>
              <a:t>得分</a:t>
            </a:r>
            <a:r>
              <a:rPr lang="en-US" sz="825">
                <a:solidFill>
                  <a:srgbClr val="334155"/>
                </a:solidFill>
                <a:latin typeface="Noto Sans SC"/>
                <a:ea typeface="Noto Sans SC"/>
              </a:rPr>
              <a:t> &lt; 6</a:t>
            </a:r>
            <a:r>
              <a:rPr lang="zh-CN" sz="825">
                <a:solidFill>
                  <a:srgbClr val="334155"/>
                </a:solidFill>
                <a:latin typeface="Noto Sans SC"/>
                <a:ea typeface="Noto Sans SC"/>
              </a:rPr>
              <a:t>：触发标签</a:t>
            </a:r>
            <a:r>
              <a:rPr lang="en-US" sz="825">
                <a:solidFill>
                  <a:srgbClr val="334155"/>
                </a:solidFill>
                <a:latin typeface="Noto Sans SC"/>
                <a:ea typeface="Noto Sans SC"/>
              </a:rPr>
              <a:t> + </a:t>
            </a:r>
            <a:r>
              <a:rPr lang="zh-CN" sz="825">
                <a:solidFill>
                  <a:srgbClr val="334155"/>
                </a:solidFill>
                <a:latin typeface="Noto Sans SC"/>
                <a:ea typeface="Noto Sans SC"/>
              </a:rPr>
              <a:t>描述扩展，再召回一轮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8677275" y="2505075"/>
            <a:ext cx="2857500" cy="2000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825" b="1">
                <a:solidFill>
                  <a:srgbClr val="7C3AED"/>
                </a:solidFill>
                <a:latin typeface="Noto Sans SC"/>
                <a:ea typeface="Noto Sans SC"/>
              </a:rPr>
              <a:t>▪ </a:t>
            </a:r>
            <a:r>
              <a:rPr lang="zh-CN" sz="825">
                <a:solidFill>
                  <a:srgbClr val="334155"/>
                </a:solidFill>
                <a:latin typeface="Noto Sans SC"/>
                <a:ea typeface="Noto Sans SC"/>
              </a:rPr>
              <a:t>得分</a:t>
            </a:r>
            <a:r>
              <a:rPr lang="en-US" sz="825">
                <a:solidFill>
                  <a:srgbClr val="334155"/>
                </a:solidFill>
                <a:latin typeface="Noto Sans SC"/>
                <a:ea typeface="Noto Sans SC"/>
              </a:rPr>
              <a:t> &lt; 4</a:t>
            </a:r>
            <a:r>
              <a:rPr lang="zh-CN" sz="825">
                <a:solidFill>
                  <a:srgbClr val="334155"/>
                </a:solidFill>
                <a:latin typeface="Noto Sans SC"/>
                <a:ea typeface="Noto Sans SC"/>
              </a:rPr>
              <a:t>：直接硬丢弃，不进入候选集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8677275" y="2743200"/>
            <a:ext cx="2857500" cy="2000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825" b="1">
                <a:solidFill>
                  <a:srgbClr val="7C3AED"/>
                </a:solidFill>
                <a:latin typeface="Noto Sans SC"/>
                <a:ea typeface="Noto Sans SC"/>
              </a:rPr>
              <a:t>▪ </a:t>
            </a:r>
            <a:r>
              <a:rPr lang="zh-CN" sz="825">
                <a:solidFill>
                  <a:srgbClr val="334155"/>
                </a:solidFill>
                <a:latin typeface="Noto Sans SC"/>
                <a:ea typeface="Noto Sans SC"/>
              </a:rPr>
              <a:t>最终按分数分配可信度等级，随答案一起给出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8553450" y="3133725"/>
            <a:ext cx="3105150" cy="104775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8677275" y="3228975"/>
            <a:ext cx="2857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72A"/>
                </a:solidFill>
                <a:latin typeface="Noto Sans SC"/>
                <a:ea typeface="Noto Sans SC"/>
              </a:rPr>
              <a:t>三路并行召回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8677275" y="3409950"/>
            <a:ext cx="2857500" cy="2000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825" b="1">
                <a:solidFill>
                  <a:srgbClr val="7C3AED"/>
                </a:solidFill>
                <a:latin typeface="Noto Sans SC"/>
                <a:ea typeface="Noto Sans SC"/>
              </a:rPr>
              <a:t>A </a:t>
            </a:r>
            <a:r>
              <a:rPr lang="en-US" sz="825">
                <a:solidFill>
                  <a:srgbClr val="334155"/>
                </a:solidFill>
                <a:latin typeface="Noto Sans SC"/>
                <a:ea typeface="Noto Sans SC"/>
              </a:rPr>
              <a:t>Agent </a:t>
            </a:r>
            <a:r>
              <a:rPr lang="zh-CN" sz="825">
                <a:solidFill>
                  <a:srgbClr val="334155"/>
                </a:solidFill>
                <a:latin typeface="Noto Sans SC"/>
                <a:ea typeface="Noto Sans SC"/>
              </a:rPr>
              <a:t>语义路径</a:t>
            </a:r>
            <a:r>
              <a:rPr lang="en-US" sz="825">
                <a:solidFill>
                  <a:srgbClr val="334155"/>
                </a:solidFill>
                <a:latin typeface="Noto Sans SC"/>
                <a:ea typeface="Noto Sans SC"/>
              </a:rPr>
              <a:t> · </a:t>
            </a:r>
            <a:r>
              <a:rPr lang="zh-CN" sz="825">
                <a:solidFill>
                  <a:srgbClr val="334155"/>
                </a:solidFill>
                <a:latin typeface="Noto Sans SC"/>
                <a:ea typeface="Noto Sans SC"/>
              </a:rPr>
              <a:t>理解上下文与意图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8677275" y="3648075"/>
            <a:ext cx="2857500" cy="2000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825" b="1">
                <a:solidFill>
                  <a:srgbClr val="7C3AED"/>
                </a:solidFill>
                <a:latin typeface="Noto Sans SC"/>
                <a:ea typeface="Noto Sans SC"/>
              </a:rPr>
              <a:t>B </a:t>
            </a:r>
            <a:r>
              <a:rPr lang="en-US" sz="825">
                <a:solidFill>
                  <a:srgbClr val="334155"/>
                </a:solidFill>
                <a:latin typeface="Noto Sans SC"/>
                <a:ea typeface="Noto Sans SC"/>
              </a:rPr>
              <a:t>BM25 + </a:t>
            </a:r>
            <a:r>
              <a:rPr lang="zh-CN" sz="825">
                <a:solidFill>
                  <a:srgbClr val="334155"/>
                </a:solidFill>
                <a:latin typeface="Noto Sans SC"/>
                <a:ea typeface="Noto Sans SC"/>
              </a:rPr>
              <a:t>向量</a:t>
            </a:r>
            <a:r>
              <a:rPr lang="en-US" sz="825">
                <a:solidFill>
                  <a:srgbClr val="334155"/>
                </a:solidFill>
                <a:latin typeface="Noto Sans SC"/>
                <a:ea typeface="Noto Sans SC"/>
              </a:rPr>
              <a:t> · </a:t>
            </a:r>
            <a:r>
              <a:rPr lang="zh-CN" sz="825">
                <a:solidFill>
                  <a:srgbClr val="334155"/>
                </a:solidFill>
                <a:latin typeface="Noto Sans SC"/>
                <a:ea typeface="Noto Sans SC"/>
              </a:rPr>
              <a:t>词法精确与语义泛化兼顾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8677275" y="3886200"/>
            <a:ext cx="2857500" cy="2000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825" b="1">
                <a:solidFill>
                  <a:srgbClr val="7C3AED"/>
                </a:solidFill>
                <a:latin typeface="Noto Sans SC"/>
                <a:ea typeface="Noto Sans SC"/>
              </a:rPr>
              <a:t>C </a:t>
            </a:r>
            <a:r>
              <a:rPr lang="zh-CN" sz="825">
                <a:solidFill>
                  <a:srgbClr val="334155"/>
                </a:solidFill>
                <a:latin typeface="Noto Sans SC"/>
                <a:ea typeface="Noto Sans SC"/>
              </a:rPr>
              <a:t>跨库语义</a:t>
            </a:r>
            <a:r>
              <a:rPr lang="en-US" sz="825">
                <a:solidFill>
                  <a:srgbClr val="334155"/>
                </a:solidFill>
                <a:latin typeface="Noto Sans SC"/>
                <a:ea typeface="Noto Sans SC"/>
              </a:rPr>
              <a:t> · </a:t>
            </a:r>
            <a:r>
              <a:rPr lang="zh-CN" sz="825">
                <a:solidFill>
                  <a:srgbClr val="334155"/>
                </a:solidFill>
                <a:latin typeface="Noto Sans SC"/>
                <a:ea typeface="Noto Sans SC"/>
              </a:rPr>
              <a:t>按实体与标签扩展，突破单库边界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8553450" y="4276725"/>
            <a:ext cx="3105150" cy="1533525"/>
          </a:xfrm>
          <a:prstGeom prst="roundRect">
            <a:avLst>
              <a:gd name="adj" fmla="val 621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8677275" y="4638675"/>
            <a:ext cx="2857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D4ED8"/>
                </a:solidFill>
                <a:latin typeface="Noto Sans SC"/>
                <a:ea typeface="Noto Sans SC"/>
              </a:rPr>
              <a:t>可信度模型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8677275" y="4819650"/>
            <a:ext cx="285750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825">
                <a:solidFill>
                  <a:srgbClr val="1E3A8A"/>
                </a:solidFill>
                <a:latin typeface="Noto Sans SC"/>
                <a:ea typeface="Noto Sans SC"/>
              </a:rPr>
              <a:t>P0 </a:t>
            </a:r>
            <a:r>
              <a:rPr lang="zh-CN" sz="825">
                <a:solidFill>
                  <a:srgbClr val="1E3A8A"/>
                </a:solidFill>
                <a:latin typeface="Noto Sans SC"/>
                <a:ea typeface="Noto Sans SC"/>
              </a:rPr>
              <a:t>权威（官方</a:t>
            </a:r>
            <a:r>
              <a:rPr lang="en-US" sz="825">
                <a:solidFill>
                  <a:srgbClr val="1E3A8A"/>
                </a:solidFill>
                <a:latin typeface="Noto Sans SC"/>
                <a:ea typeface="Noto Sans SC"/>
              </a:rPr>
              <a:t> / </a:t>
            </a:r>
            <a:r>
              <a:rPr lang="zh-CN" sz="825">
                <a:solidFill>
                  <a:srgbClr val="1E3A8A"/>
                </a:solidFill>
                <a:latin typeface="Noto Sans SC"/>
                <a:ea typeface="Noto Sans SC"/>
              </a:rPr>
              <a:t>一级来源）</a:t>
            </a:r>
            <a:r>
              <a:rPr lang="en-US" sz="825">
                <a:solidFill>
                  <a:srgbClr val="1E3A8A"/>
                </a:solidFill>
                <a:latin typeface="Noto Sans SC"/>
                <a:ea typeface="Noto Sans SC"/>
              </a:rPr>
              <a:t> · P1 </a:t>
            </a:r>
            <a:r>
              <a:rPr lang="zh-CN" sz="825">
                <a:solidFill>
                  <a:srgbClr val="1E3A8A"/>
                </a:solidFill>
                <a:latin typeface="Noto Sans SC"/>
                <a:ea typeface="Noto Sans SC"/>
              </a:rPr>
              <a:t>可信（专家</a:t>
            </a:r>
            <a:r>
              <a:rPr lang="en-US" sz="825">
                <a:solidFill>
                  <a:srgbClr val="1E3A8A"/>
                </a:solidFill>
                <a:latin typeface="Noto Sans SC"/>
                <a:ea typeface="Noto Sans SC"/>
              </a:rPr>
              <a:t> / </a:t>
            </a:r>
            <a:r>
              <a:rPr lang="zh-CN" sz="825">
                <a:solidFill>
                  <a:srgbClr val="1E3A8A"/>
                </a:solidFill>
                <a:latin typeface="Noto Sans SC"/>
                <a:ea typeface="Noto Sans SC"/>
              </a:rPr>
              <a:t>验证）</a:t>
            </a:r>
            <a:endParaRPr/>
          </a:p>
          <a:p>
            <a:pPr>
              <a:lnSpc>
                <a:spcPct val="160000"/>
              </a:lnSpc>
            </a:pPr>
            <a:r>
              <a:rPr lang="en-US" sz="825">
                <a:solidFill>
                  <a:srgbClr val="1E3A8A"/>
                </a:solidFill>
                <a:latin typeface="Noto Sans SC"/>
                <a:ea typeface="Noto Sans SC"/>
              </a:rPr>
              <a:t>P2 </a:t>
            </a:r>
            <a:r>
              <a:rPr lang="zh-CN" sz="825">
                <a:solidFill>
                  <a:srgbClr val="1E3A8A"/>
                </a:solidFill>
                <a:latin typeface="Noto Sans SC"/>
                <a:ea typeface="Noto Sans SC"/>
              </a:rPr>
              <a:t>可能（未验证</a:t>
            </a:r>
            <a:r>
              <a:rPr lang="en-US" sz="825">
                <a:solidFill>
                  <a:srgbClr val="1E3A8A"/>
                </a:solidFill>
                <a:latin typeface="Noto Sans SC"/>
                <a:ea typeface="Noto Sans SC"/>
              </a:rPr>
              <a:t> / </a:t>
            </a:r>
            <a:r>
              <a:rPr lang="zh-CN" sz="825">
                <a:solidFill>
                  <a:srgbClr val="1E3A8A"/>
                </a:solidFill>
                <a:latin typeface="Noto Sans SC"/>
                <a:ea typeface="Noto Sans SC"/>
              </a:rPr>
              <a:t>传闻）</a:t>
            </a:r>
            <a:r>
              <a:rPr lang="en-US" sz="825">
                <a:solidFill>
                  <a:srgbClr val="1E3A8A"/>
                </a:solidFill>
                <a:latin typeface="Noto Sans SC"/>
                <a:ea typeface="Noto Sans SC"/>
              </a:rPr>
              <a:t> · DISCARD</a:t>
            </a:r>
            <a:r>
              <a:rPr lang="zh-CN" sz="825">
                <a:solidFill>
                  <a:srgbClr val="1E3A8A"/>
                </a:solidFill>
                <a:latin typeface="Noto Sans SC"/>
                <a:ea typeface="Noto Sans SC"/>
              </a:rPr>
              <a:t>（无关</a:t>
            </a:r>
            <a:r>
              <a:rPr lang="en-US" sz="825">
                <a:solidFill>
                  <a:srgbClr val="1E3A8A"/>
                </a:solidFill>
                <a:latin typeface="Noto Sans SC"/>
                <a:ea typeface="Noto Sans SC"/>
              </a:rPr>
              <a:t> / </a:t>
            </a:r>
            <a:r>
              <a:rPr lang="zh-CN" sz="825">
                <a:solidFill>
                  <a:srgbClr val="1E3A8A"/>
                </a:solidFill>
                <a:latin typeface="Noto Sans SC"/>
                <a:ea typeface="Noto Sans SC"/>
              </a:rPr>
              <a:t>不可用）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8677275" y="5267325"/>
            <a:ext cx="2857500" cy="1809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788">
                <a:solidFill>
                  <a:srgbClr val="3B82F6"/>
                </a:solidFill>
                <a:latin typeface="Noto Sans SC"/>
                <a:ea typeface="Noto Sans SC"/>
              </a:rPr>
              <a:t>答案中会显式标注来源与盲点，低可信内容不会被悄悄当成事实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533400" y="6438900"/>
            <a:ext cx="1333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94A3B8"/>
                </a:solidFill>
                <a:latin typeface="Noto Sans SC"/>
                <a:ea typeface="Noto Sans SC"/>
              </a:rPr>
              <a:t>RAG Knowledge </a:t>
            </a:r>
            <a:r>
              <a:rPr lang="zh-CN" sz="938">
                <a:solidFill>
                  <a:srgbClr val="94A3B8"/>
                </a:solidFill>
                <a:latin typeface="Noto Sans SC"/>
                <a:ea typeface="Noto Sans SC"/>
              </a:rPr>
              <a:t>知识平台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11163300" y="6438900"/>
            <a:ext cx="495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94A3B8"/>
                </a:solidFill>
                <a:latin typeface="Cascadia Mono"/>
                <a:ea typeface="Cascadia Mono"/>
              </a:rPr>
              <a:t>06 / 07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223" name="" descr="&lt;Slide style={{ width: 1280, height: 720, background: '#FFFFFF', padding: '20px 56px', flexDirection: 'column', fontFamily: 'Noto Sans SC' }}&gt;&#10;&#10;  &lt;Box style={{ height: 88, flexDirection: 'row', alignItems: 'flex-start', justifyContent: 'space-between' }}&gt;&#10;    &lt;Box style={{ flexDirection: 'column', gap: 6 }}&gt;&#10;      &lt;Text style={{ fontSize: 30, fontWeight: 'bold', color: '#0F172A', lineHeight: 1.25 }}&gt;双引擎协同：一次诊断，长期复用&lt;/Text&gt;&#10;      &lt;Text style={{ fontSize: 14, color: '#64748B', lineHeight: 1.5 }}&gt;&#10;        IDD 把结论做实，RAG 把结论存住——组织记忆由此形成&#10;      &lt;/Text&gt;&#10;    &lt;/Box&gt;&#10;    &lt;Box style={{ flexDirection: 'column', alignItems: 'flex-end', gap: 3, paddingTop: 8 }}&gt;&#10;      &lt;Text style={{ fontSize: 12, color: '#94A3B8', fontFamily: 'Cascadia Mono' }}&gt;CLOSED LOOP&lt;/Text&gt;&#10;      &lt;Text style={{ fontSize: 12, color: '#94A3B8', fontFamily: 'Cascadia Mono' }}&gt;04 STEPS&lt;/Text&gt;&#10;    &lt;/Box&gt;&#10;  &lt;/Box&gt;&#10;&#10;  &lt;Box style={{ height: 12 }} /&gt;&#10;&#10;  &lt;Box style={{ height: 430, flexDirection: 'row', gap: 20 }}&gt;&#10;&#10;    &lt;Box style={{ width: 560, background: '#F8FAFC', border: '1px solid #E2E8F0', borderRadius: 12, padding: '14px 18px', flexDirection: 'column' }}&gt;&#10;      &lt;Box style={{ flexDirection: 'row', alignItems: 'center', gap: 8 }}&gt;&#10;        &lt;Box style={{ width: 4, height: 15, background: '#2563EB', borderRadius: 2 }} /&gt;&#10;        &lt;Text style={{ fontSize: 15, fontWeight: 'bold', color: '#0F172A' }}&gt;协同闭环：诊断结论如何变成组织资产&lt;/Text&gt;&#10;      &lt;/Box&gt;&#10;      &lt;Box style={{ height: 12 }} /&gt;&#10;&#10;      &lt;Box style={{ flexDirection: 'row', gap: 12 }}&gt;&#10;        &lt;Box style={{ flexDirection: 'column', alignItems: 'center', gap: 0 }}&gt;&#10;          &lt;Box style={{ width: 24, height: 24, borderRadius: 12, background: '#2563EB', alignItems: 'center', justifyContent: 'center' }}&gt;&#10;            &lt;Text style={{ fontSize: 11, fontWeight: 'bold', color: '#FFFFFF', fontFamily: 'Cascadia Mono' }}&gt;1&lt;/Text&gt;&#10;          &lt;/Box&gt;&#10;          &lt;Box style={{ width: 2, flex: 1, background: '#CBD5E1' }} /&gt;&#10;        &lt;/Box&gt;&#10;        &lt;Box style={{ flex: 1, flexDirection: 'column', gap: 3, paddingBottom: 14 }}&gt;&#10;          &lt;Text style={{ fontSize: 13, fontWeight: 'bold', color: '#0F172A' }}&gt;产线数据与客诉问题进入系统&lt;/Text&gt;&#10;          &lt;Text style={{ fontSize: 11.5, color: '#475569', lineHeight: 1.6 }}&gt;&#10;            质量记录、时序数据、图像与工艺参数按统一契约上传，形成可诊断的数据包&#10;          &lt;/Text&gt;&#10;        &lt;/Box&gt;&#10;      &lt;/Box&gt;&#10;&#10;      &lt;Box style={{ flexDirection: 'row', gap: 12 }}&gt;&#10;        &lt;Box style={{ flexDirection: 'column', alignItems: 'center', gap: 0 }}&gt;&#10;          &lt;Box style={{ width: 24, height: 24, borderRadius: 12, background: '#2563EB', alignItems: 'center', justifyContent: 'center' }}&gt;&#10;            &lt;Text style={{ fontSize: 11, fontWeight: 'bold', color: '#FFFFFF', fontFamily: 'Cascadia Mono' }}&gt;2&lt;/Text&gt;&#10;          &lt;/Box&gt;&#10;          &lt;Box style={{ width: 2, flex: 1, background: '#CBD5E1' }} /&gt;&#10;        &lt;/Box&gt;&#10;        &lt;Box style={{ flex: 1, flexDirection: 'column', gap: 3, paddingBottom: 14 }}&gt;&#10;          &lt;Text style={{ fontSize: 13, fontWeight: 'bold', color: '#0F172A' }}&gt;IDD 执行 Step 0-10 深度诊断&lt;/Text&gt;&#10;          &lt;Text style={{ fontSize: 11.5, color: '#475569', lineHeight: 1.6 }}&gt;&#10;            本体与 RAG 提供上下文，多 Agent 完成统计、视觉与机理推理，三道闸门逐层把关&#10;          &lt;/Text&gt;&#10;        &lt;/Box&gt;&#10;      &lt;/Box&gt;&#10;&#10;      &lt;Box style={{ flexDirection: 'row', gap: 12 }}&gt;&#10;        &lt;Box style={{ flexDirection: 'column', alignItems: 'center', gap: 0 }}&gt;&#10;          &lt;Box style={{ width: 24, height: 24, borderRadius: 12, background: '#7C3AED', alignItems: 'center', justifyContent: 'center' }}&gt;&#10;            &lt;Text style={{ fontSize: 11, fontWeight: 'bold', color: '#FFFFFF', fontFamily: 'Cascadia Mono' }}&gt;3&lt;/Text&gt;&#10;          &lt;/Box&gt;&#10;          &lt;Box style={{ width: 2, flex: 1, background: '#CBD5E1' }} /&gt;&#10;        &lt;/Box&gt;&#10;        &lt;Box style={{ flex: 1, flexDirection: 'column', gap: 3, paddingBottom: 14 }}&gt;&#10;          &lt;Text style={{ fontSize: 13, fontWeight: 'bold', color: '#0F172A' }}&gt;结论连同证据链写入知识库&lt;/Text&gt;&#10;          &lt;Text style={{ fontSize: 11.5, color: '#475569', lineHeight: 1.6 }}&gt;&#10;            报告、机理结论、证据等级与审计轨迹一并沉淀为经验条目，带来源标签与可信度分级&#10;          &lt;/Text&gt;&#10;        &lt;/Box&gt;&#10;      &lt;/Box&gt;&#10;&#10;      &lt;Box style={{ flexDirection: 'row', gap: 12 }}&gt;&#10;        &lt;Box style={{ flexDirection: 'column', alignItems: 'center', gap: 0 }}&gt;&#10;          &lt;Box style={{ width: 24, height: 24, borderRadius: 12, background: '#0D9488', alignItems: 'center', justifyContent: 'center' }}&gt;&#10;            &lt;Text style={{ fontSize: 11, fontWeight: 'bold', color: '#FFFFFF', fontFamily: 'Cascadia Mono' }}&gt;4&lt;/Text&gt;&#10;          &lt;/Box&gt;&#10;        &lt;/Box&gt;&#10;        &lt;Box style={{ flex: 1, flexDirection: 'column', gap: 3 }}&gt;&#10;          &lt;Text style={{ fontSize: 13, fontWeight: 'bold', color: '#0F172A' }}&gt;下一次检索直接命中经验&lt;/Text&gt;&#10;          &lt;Text style={{ fontSize: 11.5, color: '#475569', lineHeight: 1.6 }}&gt;&#10;            新批次遇到同类问题时，QDCVR 优先命中已验证经验，诊断从&quot;重新推理&quot;变成&quot;复用 + 校验&quot;&#10;          &lt;/Text&gt;&#10;        &lt;/Box&gt;&#10;      &lt;/Box&gt;&#10;    &lt;/Box&gt;&#10;&#10;    &lt;Box style={{ flex: 1, flexDirection: 'column', gap: 10 }}&gt;&#10;      &lt;Box style={{ flexDirection: 'row', gap: 10 }}&gt;&#10;        &lt;Box style={{ flex: 1, background: '#EFF6FF', border: '1px solid #BFDBFE', borderRadius: 10, padding: '14px 16px', flexDirection: 'column', gap: 5 }}&gt;&#10;          &lt;Text style={{ fontSize: 30, fontWeight: 'bold', color: '#2563EB', fontFamily: 'Cascadia Mono', lineHeight: 1.0 }}&gt;94&lt;/Text&gt;&#10;          &lt;Text style={{ fontSize: 12, fontWeight: 'bold', color: '#0F172A' }}&gt;MCP 工具&lt;/Text&gt;&#10;          &lt;Text style={{ fontSize: 11, color: '#475569', lineHeight: 1.55 }}&gt;&#10;            知识库增删改查、检索、图谱、经验、人格、解析、标签与生命周期，全部 MCP 原生&#10;          &lt;/Text&gt;&#10;        &lt;/Box&gt;&#10;        &lt;Box style={{ flex: 1, background: '#F5F3FF', border: '1px solid #DDD6FE', borderRadius: 10, padding: '14px 16px', flexDirection: 'column', gap: 5 }}&gt;&#10;          &lt;Text style={{ fontSize: 30, fontWeight: 'bold', color: '#7C3AED', fontFamily: 'Cascadia Mono', lineHeight: 1.0 }}&gt;19&lt;/Text&gt;&#10;          &lt;Text style={{ fontSize: 12, fontWeight: 'bold', color: '#0F172A' }}&gt;Agent Skills&lt;/Text&gt;&#10;          &lt;Text style={{ fontSize: 11, color: '#475569', lineHeight: 1.55 }}&gt;&#10;            自然语言指令、中英双语触发词，自动派发到归档与检索流程&#10;          &lt;/Text&gt;&#10;        &lt;/Box&gt;&#10;      &lt;/Box&gt;&#10;&#10;      &lt;Box style={{ flexDirection: 'row', gap: 10, flex: 1 }}&gt;&#10;        &lt;Box style={{ flex: 1, background: '#F8FAFC', border: '1px solid #E2E8F0', borderRadius: 10, padding: '14px 16px', flexDirection: 'column', gap: 5 }}&gt;&#10;          &lt;Text style={{ fontSize: 30, fontWeight: 'bold', color: '#0D9488', fontFamily: 'Cascadia Mono', lineHeight: 1.0 }}&gt;11&lt;/Text&gt;&#10;          &lt;Text style={{ fontSize: 12, fontWeight: 'bold', color: '#0F172A' }}&gt;图谱工具&lt;/Text&gt;&#10;          &lt;Text style={{ fontSize: 11, color: '#475569', lineHeight: 1.55 }}&gt;&#10;            实体关系查询、跨库文档桥接与图谱可视化，支撑&quot;顺着关系找证据&quot;&#10;          &lt;/Text&gt;&#10;        &lt;/Box&gt;&#10;        &lt;Box style={{ flex: 1, background: '#F8FAFC', border: '1px solid #E2E8F0', borderRadius: 10, padding: '14px 16px', flexDirection: 'column', gap: 5 }}&gt;&#10;          &lt;Text style={{ fontSize: 30, fontWeight: 'bold', color: '#0D9488', fontFamily: 'Cascadia Mono', lineHeight: 1.0 }}&gt;20&lt;/Text&gt;&#10;          &lt;Text style={{ fontSize: 12, fontWeight: 'bold', color: '#0F172A' }}&gt;人格专用工具&lt;/Text&gt;&#10;          &lt;Text style={{ fontSize: 11, color: '#475569', lineHeight: 1.55 }}&gt;&#10;            SOUL 人格系统：人格蒸馏与好奇心驱动训练，让检索回答带稳定的专业视角&#10;          &lt;/Text&gt;&#10;        &lt;/Box&gt;&#10;      &lt;/Box&gt;&#10;    &lt;/Box&gt;&#10;&#10;  &lt;/Box&gt;&#10;&#10;  &lt;Box style={{ height: 14 }} /&gt;&#10;&#10;  &lt;Box style={{ height: 60, background: '#F1F5F9', border: '1px solid #E2E8F0', borderRadius: 10, padding: '12px 18px', flexDirection: 'row', alignItems: 'center', gap: 16 }}&gt;&#10;    &lt;Box style={{ width: 4, height: 30, background: '#2563EB', borderRadius: 2 }} /&gt;&#10;    &lt;Text style={{ fontSize: 14, fontWeight: 'bold', color: '#0F172A', lineHeight: 1.5 }}&gt;&#10;      诊断产生结论，知识库让结论继续产生价值 —— &lt;span style={{ color: '#7C3AED' }}&gt;一次诊断，长期复用&lt;/span&gt;。&#10;    &lt;/Text&gt;&#10;  &lt;/Box&gt;&#10;&#10;  &lt;Box style={{ marginTop: 'auto', height: 34, flexDirection: 'row', alignItems: 'center', justifyContent: 'space-between' }}&gt;&#10;    &lt;Text style={{ fontSize: 12.5, color: '#94A3B8' }}&gt;工业深度诊断 × RAG 知识平台&lt;/Text&gt;&#10;    &lt;Text style={{ fontSize: 12.5, color: '#94A3B8', fontFamily: 'Cascadia Mono' }}&gt;07 / 07&lt;/Text&gt;&#10;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533400" y="190500"/>
            <a:ext cx="4286250" cy="4286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0F172A"/>
                </a:solidFill>
                <a:latin typeface="Noto Sans SC"/>
                <a:ea typeface="Noto Sans SC"/>
              </a:rPr>
              <a:t>双引擎协同：一次诊断，长期复用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533400" y="676275"/>
            <a:ext cx="42862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64748B"/>
                </a:solidFill>
                <a:latin typeface="Noto Sans SC"/>
                <a:ea typeface="Noto Sans SC"/>
              </a:rPr>
              <a:t>IDD </a:t>
            </a:r>
            <a:r>
              <a:rPr lang="zh-CN" sz="1050">
                <a:solidFill>
                  <a:srgbClr val="64748B"/>
                </a:solidFill>
                <a:latin typeface="Noto Sans SC"/>
                <a:ea typeface="Noto Sans SC"/>
              </a:rPr>
              <a:t>把结论做实，</a:t>
            </a:r>
            <a:r>
              <a:rPr lang="en-US" sz="1050">
                <a:solidFill>
                  <a:srgbClr val="64748B"/>
                </a:solidFill>
                <a:latin typeface="Noto Sans SC"/>
                <a:ea typeface="Noto Sans SC"/>
              </a:rPr>
              <a:t>RAG </a:t>
            </a:r>
            <a:r>
              <a:rPr lang="zh-CN" sz="1050">
                <a:solidFill>
                  <a:srgbClr val="64748B"/>
                </a:solidFill>
                <a:latin typeface="Noto Sans SC"/>
                <a:ea typeface="Noto Sans SC"/>
              </a:rPr>
              <a:t>把结论存住——组织记忆由此形成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10915650" y="266700"/>
            <a:ext cx="742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Cascadia Mono"/>
                <a:ea typeface="Cascadia Mono"/>
              </a:rPr>
              <a:t>CLOSED LOOP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11115675" y="438150"/>
            <a:ext cx="542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Cascadia Mono"/>
                <a:ea typeface="Cascadia Mono"/>
              </a:rPr>
              <a:t>04 STEPS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533400" y="1143000"/>
            <a:ext cx="5334000" cy="4095750"/>
          </a:xfrm>
          <a:prstGeom prst="roundRect">
            <a:avLst>
              <a:gd name="adj" fmla="val 27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30" name=""/>
          <p:cNvSpPr/>
          <p:nvPr/>
        </p:nvSpPr>
        <p:spPr>
          <a:xfrm rot="0" flipH="0" flipV="0">
            <a:off x="704850" y="1295400"/>
            <a:ext cx="38100" cy="14287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819150" y="1276350"/>
            <a:ext cx="2428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Noto Sans SC"/>
                <a:ea typeface="Noto Sans SC"/>
              </a:rPr>
              <a:t>协同闭环：诊断结论如何变成组织资产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704850" y="15621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790575" y="160972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Cascadia Mono"/>
                <a:ea typeface="Cascadia Mono"/>
              </a:rPr>
              <a:t>1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809625" y="1790700"/>
            <a:ext cx="19050" cy="30480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1047750" y="1562100"/>
            <a:ext cx="4648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72A"/>
                </a:solidFill>
                <a:latin typeface="Noto Sans SC"/>
                <a:ea typeface="Noto Sans SC"/>
              </a:rPr>
              <a:t>产线数据与客诉问题进入系统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1047750" y="1743075"/>
            <a:ext cx="4648200" cy="2190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863">
                <a:solidFill>
                  <a:srgbClr val="475569"/>
                </a:solidFill>
                <a:latin typeface="Noto Sans SC"/>
                <a:ea typeface="Noto Sans SC"/>
              </a:rPr>
              <a:t>质量记录、时序数据、图像与工艺参数按统一契约上传，形成可诊断的数据包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704850" y="20955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790575" y="214312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Cascadia Mono"/>
                <a:ea typeface="Cascadia Mono"/>
              </a:rPr>
              <a:t>2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809625" y="2324100"/>
            <a:ext cx="19050" cy="30480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1047750" y="2095500"/>
            <a:ext cx="4648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F172A"/>
                </a:solidFill>
                <a:latin typeface="Noto Sans SC"/>
                <a:ea typeface="Noto Sans SC"/>
              </a:rPr>
              <a:t>IDD </a:t>
            </a:r>
            <a:r>
              <a:rPr lang="zh-CN" sz="975" b="1">
                <a:solidFill>
                  <a:srgbClr val="0F172A"/>
                </a:solidFill>
                <a:latin typeface="Noto Sans SC"/>
                <a:ea typeface="Noto Sans SC"/>
              </a:rPr>
              <a:t>执行</a:t>
            </a:r>
            <a:r>
              <a:rPr lang="en-US" sz="975" b="1">
                <a:solidFill>
                  <a:srgbClr val="0F172A"/>
                </a:solidFill>
                <a:latin typeface="Noto Sans SC"/>
                <a:ea typeface="Noto Sans SC"/>
              </a:rPr>
              <a:t> Step 0-10 </a:t>
            </a:r>
            <a:r>
              <a:rPr lang="zh-CN" sz="975" b="1">
                <a:solidFill>
                  <a:srgbClr val="0F172A"/>
                </a:solidFill>
                <a:latin typeface="Noto Sans SC"/>
                <a:ea typeface="Noto Sans SC"/>
              </a:rPr>
              <a:t>深度诊断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1047750" y="2276475"/>
            <a:ext cx="4648200" cy="2190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863">
                <a:solidFill>
                  <a:srgbClr val="475569"/>
                </a:solidFill>
                <a:latin typeface="Noto Sans SC"/>
                <a:ea typeface="Noto Sans SC"/>
              </a:rPr>
              <a:t>本体与</a:t>
            </a:r>
            <a:r>
              <a:rPr lang="en-US" sz="863">
                <a:solidFill>
                  <a:srgbClr val="475569"/>
                </a:solidFill>
                <a:latin typeface="Noto Sans SC"/>
                <a:ea typeface="Noto Sans SC"/>
              </a:rPr>
              <a:t> RAG </a:t>
            </a:r>
            <a:r>
              <a:rPr lang="zh-CN" sz="863">
                <a:solidFill>
                  <a:srgbClr val="475569"/>
                </a:solidFill>
                <a:latin typeface="Noto Sans SC"/>
                <a:ea typeface="Noto Sans SC"/>
              </a:rPr>
              <a:t>提供上下文，多</a:t>
            </a:r>
            <a:r>
              <a:rPr lang="en-US" sz="863">
                <a:solidFill>
                  <a:srgbClr val="475569"/>
                </a:solidFill>
                <a:latin typeface="Noto Sans SC"/>
                <a:ea typeface="Noto Sans SC"/>
              </a:rPr>
              <a:t> Agent </a:t>
            </a:r>
            <a:r>
              <a:rPr lang="zh-CN" sz="863">
                <a:solidFill>
                  <a:srgbClr val="475569"/>
                </a:solidFill>
                <a:latin typeface="Noto Sans SC"/>
                <a:ea typeface="Noto Sans SC"/>
              </a:rPr>
              <a:t>完成统计、视觉与机理推理，三道闸门逐层把关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704850" y="26289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790575" y="267652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Cascadia Mono"/>
                <a:ea typeface="Cascadia Mono"/>
              </a:rPr>
              <a:t>3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809625" y="2857500"/>
            <a:ext cx="19050" cy="30480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1047750" y="2628900"/>
            <a:ext cx="4648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72A"/>
                </a:solidFill>
                <a:latin typeface="Noto Sans SC"/>
                <a:ea typeface="Noto Sans SC"/>
              </a:rPr>
              <a:t>结论连同证据链写入知识库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1047750" y="2809875"/>
            <a:ext cx="4648200" cy="2190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863">
                <a:solidFill>
                  <a:srgbClr val="475569"/>
                </a:solidFill>
                <a:latin typeface="Noto Sans SC"/>
                <a:ea typeface="Noto Sans SC"/>
              </a:rPr>
              <a:t>报告、机理结论、证据等级与审计轨迹一并沉淀为经验条目，带来源标签与可信度分级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704850" y="31623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790575" y="320992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Cascadia Mono"/>
                <a:ea typeface="Cascadia Mono"/>
              </a:rPr>
              <a:t>4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1047750" y="3162300"/>
            <a:ext cx="4648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72A"/>
                </a:solidFill>
                <a:latin typeface="Noto Sans SC"/>
                <a:ea typeface="Noto Sans SC"/>
              </a:rPr>
              <a:t>下一次检索直接命中经验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1047750" y="3343275"/>
            <a:ext cx="4648200" cy="2190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863">
                <a:solidFill>
                  <a:srgbClr val="475569"/>
                </a:solidFill>
                <a:latin typeface="Noto Sans SC"/>
                <a:ea typeface="Noto Sans SC"/>
              </a:rPr>
              <a:t>新批次遇到同类问题时，</a:t>
            </a:r>
            <a:r>
              <a:rPr lang="en-US" sz="863">
                <a:solidFill>
                  <a:srgbClr val="475569"/>
                </a:solidFill>
                <a:latin typeface="Noto Sans SC"/>
                <a:ea typeface="Noto Sans SC"/>
              </a:rPr>
              <a:t>QDCVR </a:t>
            </a:r>
            <a:r>
              <a:rPr lang="zh-CN" sz="863">
                <a:solidFill>
                  <a:srgbClr val="475569"/>
                </a:solidFill>
                <a:latin typeface="Noto Sans SC"/>
                <a:ea typeface="Noto Sans SC"/>
              </a:rPr>
              <a:t>优先命中已验证经验，诊断从</a:t>
            </a:r>
            <a:r>
              <a:rPr lang="en-US" sz="863">
                <a:solidFill>
                  <a:srgbClr val="475569"/>
                </a:solidFill>
                <a:latin typeface="Noto Sans SC"/>
                <a:ea typeface="Noto Sans SC"/>
              </a:rPr>
              <a:t>"</a:t>
            </a:r>
            <a:r>
              <a:rPr lang="zh-CN" sz="863">
                <a:solidFill>
                  <a:srgbClr val="475569"/>
                </a:solidFill>
                <a:latin typeface="Noto Sans SC"/>
                <a:ea typeface="Noto Sans SC"/>
              </a:rPr>
              <a:t>重新推理</a:t>
            </a:r>
            <a:r>
              <a:rPr lang="en-US" sz="863">
                <a:solidFill>
                  <a:srgbClr val="475569"/>
                </a:solidFill>
                <a:latin typeface="Noto Sans SC"/>
                <a:ea typeface="Noto Sans SC"/>
              </a:rPr>
              <a:t>"</a:t>
            </a:r>
            <a:r>
              <a:rPr lang="zh-CN" sz="863">
                <a:solidFill>
                  <a:srgbClr val="475569"/>
                </a:solidFill>
                <a:latin typeface="Noto Sans SC"/>
                <a:ea typeface="Noto Sans SC"/>
              </a:rPr>
              <a:t>变成</a:t>
            </a:r>
            <a:r>
              <a:rPr lang="en-US" sz="863">
                <a:solidFill>
                  <a:srgbClr val="475569"/>
                </a:solidFill>
                <a:latin typeface="Noto Sans SC"/>
                <a:ea typeface="Noto Sans SC"/>
              </a:rPr>
              <a:t>"</a:t>
            </a:r>
            <a:r>
              <a:rPr lang="zh-CN" sz="863">
                <a:solidFill>
                  <a:srgbClr val="475569"/>
                </a:solidFill>
                <a:latin typeface="Noto Sans SC"/>
                <a:ea typeface="Noto Sans SC"/>
              </a:rPr>
              <a:t>复用</a:t>
            </a:r>
            <a:r>
              <a:rPr lang="en-US" sz="863">
                <a:solidFill>
                  <a:srgbClr val="475569"/>
                </a:solidFill>
                <a:latin typeface="Noto Sans SC"/>
                <a:ea typeface="Noto Sans SC"/>
              </a:rPr>
              <a:t> + </a:t>
            </a:r>
            <a:r>
              <a:rPr lang="zh-CN" sz="863">
                <a:solidFill>
                  <a:srgbClr val="475569"/>
                </a:solidFill>
                <a:latin typeface="Noto Sans SC"/>
                <a:ea typeface="Noto Sans SC"/>
              </a:rPr>
              <a:t>校验</a:t>
            </a:r>
            <a:r>
              <a:rPr lang="en-US" sz="863">
                <a:solidFill>
                  <a:srgbClr val="475569"/>
                </a:solidFill>
                <a:latin typeface="Noto Sans SC"/>
                <a:ea typeface="Noto Sans SC"/>
              </a:rPr>
              <a:t>"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6057900" y="1143000"/>
            <a:ext cx="2752725" cy="1238250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6210300" y="1276350"/>
            <a:ext cx="24479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563EB"/>
                </a:solidFill>
                <a:latin typeface="Cascadia Mono"/>
                <a:ea typeface="Cascadia Mono"/>
              </a:rPr>
              <a:t>94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6210300" y="1666875"/>
            <a:ext cx="2447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F172A"/>
                </a:solidFill>
                <a:latin typeface="Noto Sans SC"/>
                <a:ea typeface="Noto Sans SC"/>
              </a:rPr>
              <a:t>MCP </a:t>
            </a:r>
            <a:r>
              <a:rPr lang="zh-CN" sz="900" b="1">
                <a:solidFill>
                  <a:srgbClr val="0F172A"/>
                </a:solidFill>
                <a:latin typeface="Noto Sans SC"/>
                <a:ea typeface="Noto Sans SC"/>
              </a:rPr>
              <a:t>工具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6210300" y="1857375"/>
            <a:ext cx="2447925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825">
                <a:solidFill>
                  <a:srgbClr val="475569"/>
                </a:solidFill>
                <a:latin typeface="Noto Sans SC"/>
                <a:ea typeface="Noto Sans SC"/>
              </a:rPr>
              <a:t>知识库增删改查、检索、图谱、经验、人格、解析、标签与生命周期，全部</a:t>
            </a:r>
            <a:r>
              <a:rPr lang="en-US" sz="825">
                <a:solidFill>
                  <a:srgbClr val="475569"/>
                </a:solidFill>
                <a:latin typeface="Noto Sans SC"/>
                <a:ea typeface="Noto Sans SC"/>
              </a:rPr>
              <a:t> MCP </a:t>
            </a:r>
            <a:r>
              <a:rPr lang="zh-CN" sz="825">
                <a:solidFill>
                  <a:srgbClr val="475569"/>
                </a:solidFill>
                <a:latin typeface="Noto Sans SC"/>
                <a:ea typeface="Noto Sans SC"/>
              </a:rPr>
              <a:t>原生</a:t>
            </a:r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8905875" y="1143000"/>
            <a:ext cx="2752725" cy="1238250"/>
          </a:xfrm>
          <a:prstGeom prst="roundRect">
            <a:avLst>
              <a:gd name="adj" fmla="val 7692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9058275" y="1276350"/>
            <a:ext cx="24479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7C3AED"/>
                </a:solidFill>
                <a:latin typeface="Cascadia Mono"/>
                <a:ea typeface="Cascadia Mono"/>
              </a:rPr>
              <a:t>19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9058275" y="1666875"/>
            <a:ext cx="2447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F172A"/>
                </a:solidFill>
                <a:latin typeface="Noto Sans SC"/>
                <a:ea typeface="Noto Sans SC"/>
              </a:rPr>
              <a:t>Agent Skills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9058275" y="1857375"/>
            <a:ext cx="2447925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825">
                <a:solidFill>
                  <a:srgbClr val="475569"/>
                </a:solidFill>
                <a:latin typeface="Noto Sans SC"/>
                <a:ea typeface="Noto Sans SC"/>
              </a:rPr>
              <a:t>自然语言指令、中英双语触发词，自动派发到归档与检索流程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6057900" y="2476500"/>
            <a:ext cx="2752725" cy="2762250"/>
          </a:xfrm>
          <a:prstGeom prst="roundRect">
            <a:avLst>
              <a:gd name="adj" fmla="val 346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6210300" y="2609850"/>
            <a:ext cx="24479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D9488"/>
                </a:solidFill>
                <a:latin typeface="Cascadia Mono"/>
                <a:ea typeface="Cascadia Mono"/>
              </a:rPr>
              <a:t>11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6210300" y="3000375"/>
            <a:ext cx="2447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72A"/>
                </a:solidFill>
                <a:latin typeface="Noto Sans SC"/>
                <a:ea typeface="Noto Sans SC"/>
              </a:rPr>
              <a:t>图谱工具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6210300" y="3190875"/>
            <a:ext cx="2447925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825">
                <a:solidFill>
                  <a:srgbClr val="475569"/>
                </a:solidFill>
                <a:latin typeface="Noto Sans SC"/>
                <a:ea typeface="Noto Sans SC"/>
              </a:rPr>
              <a:t>实体关系查询、跨库文档桥接与图谱可视化，支撑</a:t>
            </a:r>
            <a:r>
              <a:rPr lang="en-US" sz="825">
                <a:solidFill>
                  <a:srgbClr val="475569"/>
                </a:solidFill>
                <a:latin typeface="Noto Sans SC"/>
                <a:ea typeface="Noto Sans SC"/>
              </a:rPr>
              <a:t>"</a:t>
            </a:r>
            <a:r>
              <a:rPr lang="zh-CN" sz="825">
                <a:solidFill>
                  <a:srgbClr val="475569"/>
                </a:solidFill>
                <a:latin typeface="Noto Sans SC"/>
                <a:ea typeface="Noto Sans SC"/>
              </a:rPr>
              <a:t>顺着关系找证据</a:t>
            </a:r>
            <a:r>
              <a:rPr lang="en-US" sz="825">
                <a:solidFill>
                  <a:srgbClr val="475569"/>
                </a:solidFill>
                <a:latin typeface="Noto Sans SC"/>
                <a:ea typeface="Noto Sans SC"/>
              </a:rPr>
              <a:t>"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8905875" y="2476500"/>
            <a:ext cx="2752725" cy="2762250"/>
          </a:xfrm>
          <a:prstGeom prst="roundRect">
            <a:avLst>
              <a:gd name="adj" fmla="val 346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9058275" y="2609850"/>
            <a:ext cx="24479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D9488"/>
                </a:solidFill>
                <a:latin typeface="Cascadia Mono"/>
                <a:ea typeface="Cascadia Mono"/>
              </a:rPr>
              <a:t>20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9058275" y="3000375"/>
            <a:ext cx="2447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72A"/>
                </a:solidFill>
                <a:latin typeface="Noto Sans SC"/>
                <a:ea typeface="Noto Sans SC"/>
              </a:rPr>
              <a:t>人格专用工具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9058275" y="3190875"/>
            <a:ext cx="2447925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825">
                <a:solidFill>
                  <a:srgbClr val="475569"/>
                </a:solidFill>
                <a:latin typeface="Noto Sans SC"/>
                <a:ea typeface="Noto Sans SC"/>
              </a:rPr>
              <a:t>SOUL </a:t>
            </a:r>
            <a:r>
              <a:rPr lang="zh-CN" sz="825">
                <a:solidFill>
                  <a:srgbClr val="475569"/>
                </a:solidFill>
                <a:latin typeface="Noto Sans SC"/>
                <a:ea typeface="Noto Sans SC"/>
              </a:rPr>
              <a:t>人格系统：人格蒸馏与好奇心驱动训练，让检索回答带稳定的专业视角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533400" y="5372100"/>
            <a:ext cx="11125200" cy="5715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68" name=""/>
          <p:cNvSpPr/>
          <p:nvPr/>
        </p:nvSpPr>
        <p:spPr>
          <a:xfrm rot="0" flipH="0" flipV="0">
            <a:off x="704850" y="5514975"/>
            <a:ext cx="38100" cy="2857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895350" y="5534025"/>
            <a:ext cx="41529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 b="1">
                <a:solidFill>
                  <a:srgbClr val="0F172A"/>
                </a:solidFill>
                <a:latin typeface="Noto Sans SC"/>
                <a:ea typeface="Noto Sans SC"/>
              </a:rPr>
              <a:t>诊断产生结论，知识库让结论继续产生价值</a:t>
            </a:r>
            <a:r>
              <a:rPr lang="en-US" sz="1050" b="1">
                <a:solidFill>
                  <a:srgbClr val="0F172A"/>
                </a:solidFill>
                <a:latin typeface="Noto Sans SC"/>
                <a:ea typeface="Noto Sans SC"/>
              </a:rPr>
              <a:t> —— </a:t>
            </a:r>
            <a:r>
              <a:rPr lang="zh-CN" sz="1050" b="1">
                <a:solidFill>
                  <a:srgbClr val="7C3AED"/>
                </a:solidFill>
                <a:latin typeface="Noto Sans SC"/>
                <a:ea typeface="Noto Sans SC"/>
              </a:rPr>
              <a:t>一次诊断，长期复用</a:t>
            </a:r>
            <a:r>
              <a:rPr lang="zh-CN" sz="1050" b="1">
                <a:solidFill>
                  <a:srgbClr val="0F172A"/>
                </a:solidFill>
                <a:latin typeface="Noto Sans SC"/>
                <a:ea typeface="Noto Sans SC"/>
              </a:rPr>
              <a:t>。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533400" y="6438900"/>
            <a:ext cx="1609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94A3B8"/>
                </a:solidFill>
                <a:latin typeface="Noto Sans SC"/>
                <a:ea typeface="Noto Sans SC"/>
              </a:rPr>
              <a:t>工业深度诊断</a:t>
            </a:r>
            <a:r>
              <a:rPr lang="en-US" sz="938">
                <a:solidFill>
                  <a:srgbClr val="94A3B8"/>
                </a:solidFill>
                <a:latin typeface="Noto Sans SC"/>
                <a:ea typeface="Noto Sans SC"/>
              </a:rPr>
              <a:t> × RAG </a:t>
            </a:r>
            <a:r>
              <a:rPr lang="zh-CN" sz="938">
                <a:solidFill>
                  <a:srgbClr val="94A3B8"/>
                </a:solidFill>
                <a:latin typeface="Noto Sans SC"/>
                <a:ea typeface="Noto Sans SC"/>
              </a:rPr>
              <a:t>知识平台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11163300" y="6438900"/>
            <a:ext cx="495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94A3B8"/>
                </a:solidFill>
                <a:latin typeface="Cascadia Mono"/>
                <a:ea typeface="Cascadia Mono"/>
              </a:rPr>
              <a:t>07 / 07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2026-09-15T10:34:18Z</dcterms:created>
  <dcterms:modified xsi:type="dcterms:W3CDTF">2026-09-15T10:34:18Z</dcterms:modified>
</cp:coreProperties>
</file>