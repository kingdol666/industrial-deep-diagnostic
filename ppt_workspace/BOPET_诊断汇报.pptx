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121920" y="3962400"/>
            <a:ext cx="12435840" cy="504825"/>
          </a:xfrm>
          <a:prstGeom prst="rect">
            <a:avLst/>
          </a:prstGeom>
          <a:noFill/>
          <a:ln/>
        </p:spPr>
        <p:txBody>
          <a:bodyPr wrap="square" lIns="0" tIns="0" rIns="0" bIns="0" rtlCol="0" anchor="t"/>
          <a:lstStyle/>
          <a:p>
            <a:pPr algn="ctr" indent="0" marL="0">
              <a:buNone/>
            </a:pPr>
            <a:r>
              <a:rPr lang="en-US" sz="2800" b="1" dirty="0">
                <a:solidFill>
                  <a:srgbClr val="1B3A5C"/>
                </a:solidFill>
                <a:latin typeface="Microsoft YaHei" pitchFamily="34" charset="0"/>
                <a:ea typeface="Microsoft YaHei" pitchFamily="34" charset="-122"/>
                <a:cs typeface="Microsoft YaHei" pitchFamily="34" charset="-120"/>
              </a:rPr>
              <a:t>BOPET纵拉段划伤缺陷诊断报告</a:t>
            </a:r>
            <a:endParaRPr lang="en-US" sz="2800" dirty="0"/>
          </a:p>
        </p:txBody>
      </p:sp>
      <p:sp>
        <p:nvSpPr>
          <p:cNvPr id="4" name="Text 2"/>
          <p:cNvSpPr/>
          <p:nvPr/>
        </p:nvSpPr>
        <p:spPr>
          <a:xfrm>
            <a:off x="5587901" y="4622750"/>
            <a:ext cx="1015901"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655320" y="4851350"/>
            <a:ext cx="10881360" cy="209550"/>
          </a:xfrm>
          <a:prstGeom prst="rect">
            <a:avLst/>
          </a:prstGeom>
          <a:noFill/>
          <a:ln/>
        </p:spPr>
        <p:txBody>
          <a:bodyPr wrap="square" lIns="0" tIns="0" rIns="0" bIns="0" rtlCol="0" anchor="t"/>
          <a:lstStyle/>
          <a:p>
            <a:pPr algn="ctr" indent="0" marL="0">
              <a:buNone/>
            </a:pPr>
            <a:r>
              <a:rPr lang="en-US" sz="1200" dirty="0">
                <a:solidFill>
                  <a:srgbClr val="636E72"/>
                </a:solidFill>
                <a:latin typeface="Microsoft YaHei" pitchFamily="34" charset="0"/>
                <a:ea typeface="Microsoft YaHei" pitchFamily="34" charset="-122"/>
                <a:cs typeface="Microsoft YaHei" pitchFamily="34" charset="-120"/>
              </a:rPr>
              <a:t>55批次工业数据分析 × 三温区18辊 × 竞争假说协议</a:t>
            </a:r>
            <a:endParaRPr lang="en-US" sz="1200" dirty="0"/>
          </a:p>
        </p:txBody>
      </p:sp>
      <p:sp>
        <p:nvSpPr>
          <p:cNvPr id="6" name="Text 4"/>
          <p:cNvSpPr/>
          <p:nvPr/>
        </p:nvSpPr>
        <p:spPr>
          <a:xfrm>
            <a:off x="655320" y="5143500"/>
            <a:ext cx="10881360" cy="200025"/>
          </a:xfrm>
          <a:prstGeom prst="rect">
            <a:avLst/>
          </a:prstGeom>
          <a:noFill/>
          <a:ln/>
        </p:spPr>
        <p:txBody>
          <a:bodyPr wrap="square" lIns="0" tIns="0" rIns="0" bIns="0" rtlCol="0" anchor="t"/>
          <a:lstStyle/>
          <a:p>
            <a:pPr algn="ctr" indent="0" marL="0">
              <a:buNone/>
            </a:pPr>
            <a:r>
              <a:rPr lang="en-US" sz="1100" dirty="0">
                <a:solidFill>
                  <a:srgbClr val="636E72"/>
                </a:solidFill>
                <a:latin typeface="Microsoft YaHei" pitchFamily="34" charset="0"/>
                <a:ea typeface="Microsoft YaHei" pitchFamily="34" charset="-122"/>
                <a:cs typeface="Microsoft YaHei" pitchFamily="34" charset="-120"/>
              </a:rPr>
              <a:t>工业深度诊断管线 · 55批次 · 182参数 · 8种型号</a:t>
            </a:r>
            <a:endParaRPr lang="en-US" sz="1100" dirty="0"/>
          </a:p>
        </p:txBody>
      </p:sp>
      <p:sp>
        <p:nvSpPr>
          <p:cNvPr id="7" name="Text 5"/>
          <p:cNvSpPr/>
          <p:nvPr/>
        </p:nvSpPr>
        <p:spPr>
          <a:xfrm>
            <a:off x="304800" y="6346924"/>
            <a:ext cx="1425901" cy="180975"/>
          </a:xfrm>
          <a:prstGeom prst="rect">
            <a:avLst/>
          </a:prstGeom>
          <a:noFill/>
          <a:ln/>
        </p:spPr>
        <p:txBody>
          <a:bodyPr wrap="square" lIns="0" tIns="0" rIns="0" bIns="0" rtlCol="0" anchor="t"/>
          <a:lstStyle/>
          <a:p>
            <a:pPr algn="l" indent="0" marL="0">
              <a:buNone/>
            </a:pPr>
            <a:r>
              <a:rPr lang="en-US" sz="1000" dirty="0">
                <a:solidFill>
                  <a:srgbClr val="636E72"/>
                </a:solidFill>
                <a:latin typeface="Microsoft YaHei" pitchFamily="34" charset="0"/>
                <a:ea typeface="Microsoft YaHei" pitchFamily="34" charset="-122"/>
                <a:cs typeface="Microsoft YaHei" pitchFamily="34" charset="-120"/>
              </a:rPr>
              <a:t>诊断日期：2026-06-04</a:t>
            </a:r>
            <a:endParaRPr lang="en-US" sz="1000" dirty="0"/>
          </a:p>
        </p:txBody>
      </p:sp>
      <p:sp>
        <p:nvSpPr>
          <p:cNvPr id="8" name="Text 6"/>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9" name="Shape 7"/>
          <p:cNvSpPr/>
          <p:nvPr/>
        </p:nvSpPr>
        <p:spPr>
          <a:xfrm>
            <a:off x="0" y="6608862"/>
            <a:ext cx="12192000" cy="0"/>
          </a:xfrm>
          <a:prstGeom prst="line">
            <a:avLst/>
          </a:prstGeom>
          <a:noFill/>
          <a:ln w="9525">
            <a:solidFill>
              <a:srgbClr val="DFE6E9"/>
            </a:solidFill>
            <a:prstDash val="solid"/>
          </a:ln>
        </p:spPr>
      </p:sp>
      <p:sp>
        <p:nvSpPr>
          <p:cNvPr id="10" name="Text 8"/>
          <p:cNvSpPr/>
          <p:nvPr/>
        </p:nvSpPr>
        <p:spPr>
          <a:xfrm>
            <a:off x="11593562" y="6670774"/>
            <a:ext cx="299511"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1 / 10</a:t>
            </a:r>
            <a:endParaRPr lang="en-US" sz="900" dirty="0"/>
          </a:p>
        </p:txBody>
      </p:sp>
      <p:pic>
        <p:nvPicPr>
          <p:cNvPr id="11" name="Image 0" descr="/Volumes/laxer/codes/skills/ industrial-deep-diagnostic/ppt_workspace/garden-gpt-image-2/image/p01_cover.png">    </p:cNvPr>
          <p:cNvPicPr>
            <a:picLocks noChangeAspect="1"/>
          </p:cNvPicPr>
          <p:nvPr/>
        </p:nvPicPr>
        <p:blipFill>
          <a:blip r:embed="rId1"/>
          <a:stretch>
            <a:fillRect/>
          </a:stretch>
        </p:blipFill>
        <p:spPr>
          <a:xfrm>
            <a:off x="2793950" y="660350"/>
            <a:ext cx="660395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304800" y="330101"/>
            <a:ext cx="1321308" cy="428625"/>
          </a:xfrm>
          <a:prstGeom prst="rect">
            <a:avLst/>
          </a:prstGeom>
          <a:noFill/>
          <a:ln/>
        </p:spPr>
        <p:txBody>
          <a:bodyPr wrap="square" lIns="0" tIns="0" rIns="0" bIns="0" rtlCol="0" anchor="t"/>
          <a:lstStyle/>
          <a:p>
            <a:pPr algn="l" indent="0" marL="0">
              <a:buNone/>
            </a:pPr>
            <a:r>
              <a:rPr lang="en-US" sz="2400" b="1" dirty="0">
                <a:solidFill>
                  <a:srgbClr val="1B3A5C"/>
                </a:solidFill>
                <a:latin typeface="Microsoft YaHei" pitchFamily="34" charset="0"/>
                <a:ea typeface="Microsoft YaHei" pitchFamily="34" charset="-122"/>
                <a:cs typeface="Microsoft YaHei" pitchFamily="34" charset="-120"/>
              </a:rPr>
              <a:t>汇报结构</a:t>
            </a:r>
            <a:endParaRPr lang="en-US" sz="2400" dirty="0"/>
          </a:p>
        </p:txBody>
      </p:sp>
      <p:sp>
        <p:nvSpPr>
          <p:cNvPr id="4" name="Text 2"/>
          <p:cNvSpPr/>
          <p:nvPr/>
        </p:nvSpPr>
        <p:spPr>
          <a:xfrm>
            <a:off x="304800" y="787301"/>
            <a:ext cx="698450"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723900" y="1371600"/>
            <a:ext cx="2006501" cy="2667000"/>
          </a:xfrm>
          <a:prstGeom prst="roundRect">
            <a:avLst>
              <a:gd name="adj" fmla="val 2532"/>
            </a:avLst>
          </a:prstGeom>
          <a:solidFill>
            <a:srgbClr val="FFFFFF"/>
          </a:solidFill>
          <a:ln/>
        </p:spPr>
        <p:txBody>
          <a:bodyPr wrap="square" rtlCol="0" anchor="ctr"/>
          <a:lstStyle/>
          <a:p>
            <a:pPr indent="0" marL="0">
              <a:buNone/>
            </a:pPr>
            <a:endParaRPr lang="en-US" dirty="0"/>
          </a:p>
        </p:txBody>
      </p:sp>
      <p:sp>
        <p:nvSpPr>
          <p:cNvPr id="6" name="Shape 4"/>
          <p:cNvSpPr/>
          <p:nvPr/>
        </p:nvSpPr>
        <p:spPr>
          <a:xfrm>
            <a:off x="723900" y="1376363"/>
            <a:ext cx="2006501" cy="0"/>
          </a:xfrm>
          <a:prstGeom prst="line">
            <a:avLst/>
          </a:prstGeom>
          <a:noFill/>
          <a:ln w="9525">
            <a:solidFill>
              <a:srgbClr val="DFE6E9"/>
            </a:solidFill>
            <a:prstDash val="solid"/>
          </a:ln>
        </p:spPr>
      </p:sp>
      <p:sp>
        <p:nvSpPr>
          <p:cNvPr id="7" name="Shape 5"/>
          <p:cNvSpPr/>
          <p:nvPr/>
        </p:nvSpPr>
        <p:spPr>
          <a:xfrm>
            <a:off x="2725638" y="1371600"/>
            <a:ext cx="0" cy="2667000"/>
          </a:xfrm>
          <a:prstGeom prst="line">
            <a:avLst/>
          </a:prstGeom>
          <a:noFill/>
          <a:ln w="9525">
            <a:solidFill>
              <a:srgbClr val="DFE6E9"/>
            </a:solidFill>
            <a:prstDash val="solid"/>
          </a:ln>
        </p:spPr>
      </p:sp>
      <p:sp>
        <p:nvSpPr>
          <p:cNvPr id="8" name="Shape 6"/>
          <p:cNvSpPr/>
          <p:nvPr/>
        </p:nvSpPr>
        <p:spPr>
          <a:xfrm>
            <a:off x="723900" y="4033837"/>
            <a:ext cx="2006501" cy="0"/>
          </a:xfrm>
          <a:prstGeom prst="line">
            <a:avLst/>
          </a:prstGeom>
          <a:noFill/>
          <a:ln w="9525">
            <a:solidFill>
              <a:srgbClr val="DFE6E9"/>
            </a:solidFill>
            <a:prstDash val="solid"/>
          </a:ln>
        </p:spPr>
      </p:sp>
      <p:sp>
        <p:nvSpPr>
          <p:cNvPr id="9" name="Shape 7"/>
          <p:cNvSpPr/>
          <p:nvPr/>
        </p:nvSpPr>
        <p:spPr>
          <a:xfrm>
            <a:off x="742950" y="1371600"/>
            <a:ext cx="0" cy="2667000"/>
          </a:xfrm>
          <a:prstGeom prst="line">
            <a:avLst/>
          </a:prstGeom>
          <a:noFill/>
          <a:ln w="38100">
            <a:solidFill>
              <a:srgbClr val="1B3A5C"/>
            </a:solidFill>
            <a:prstDash val="solid"/>
          </a:ln>
        </p:spPr>
      </p:sp>
      <p:sp>
        <p:nvSpPr>
          <p:cNvPr id="10" name="Text 8"/>
          <p:cNvSpPr/>
          <p:nvPr/>
        </p:nvSpPr>
        <p:spPr>
          <a:xfrm>
            <a:off x="1538288" y="1584275"/>
            <a:ext cx="406301" cy="406301"/>
          </a:xfrm>
          <a:prstGeom prst="roundRect">
            <a:avLst>
              <a:gd name="adj" fmla="val 225055"/>
            </a:avLst>
          </a:prstGeom>
          <a:solidFill>
            <a:srgbClr val="E85D3A"/>
          </a:solidFill>
          <a:ln/>
        </p:spPr>
        <p:txBody>
          <a:bodyPr wrap="square" rtlCol="0" anchor="ctr"/>
          <a:lstStyle/>
          <a:p>
            <a:pPr indent="0" marL="0">
              <a:buNone/>
            </a:pPr>
            <a:endParaRPr lang="en-US" dirty="0"/>
          </a:p>
        </p:txBody>
      </p:sp>
      <p:sp>
        <p:nvSpPr>
          <p:cNvPr id="11" name="Text 9"/>
          <p:cNvSpPr/>
          <p:nvPr/>
        </p:nvSpPr>
        <p:spPr>
          <a:xfrm>
            <a:off x="1643222" y="1654076"/>
            <a:ext cx="196283" cy="266700"/>
          </a:xfrm>
          <a:prstGeom prst="rect">
            <a:avLst/>
          </a:prstGeom>
          <a:noFill/>
          <a:ln/>
        </p:spPr>
        <p:txBody>
          <a:bodyPr wrap="square" lIns="0" tIns="0" rIns="0" bIns="0" rtlCol="0" anchor="t"/>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01</a:t>
            </a:r>
            <a:endParaRPr lang="en-US" sz="1500" dirty="0"/>
          </a:p>
        </p:txBody>
      </p:sp>
      <p:sp>
        <p:nvSpPr>
          <p:cNvPr id="12" name="Text 10"/>
          <p:cNvSpPr/>
          <p:nvPr/>
        </p:nvSpPr>
        <p:spPr>
          <a:xfrm>
            <a:off x="871901" y="2142976"/>
            <a:ext cx="1739075" cy="209550"/>
          </a:xfrm>
          <a:prstGeom prst="rect">
            <a:avLst/>
          </a:prstGeom>
          <a:noFill/>
          <a:ln/>
        </p:spPr>
        <p:txBody>
          <a:bodyPr wrap="square" lIns="0" tIns="0" rIns="0" bIns="0" rtlCol="0" anchor="t"/>
          <a:lstStyle/>
          <a:p>
            <a:pPr algn="ctr" indent="0" marL="0">
              <a:spcAft>
                <a:spcPts val="1000"/>
              </a:spcAft>
              <a:buNone/>
            </a:pPr>
            <a:r>
              <a:rPr lang="en-US" sz="1200" b="1" dirty="0">
                <a:solidFill>
                  <a:srgbClr val="1B3A5C"/>
                </a:solidFill>
                <a:latin typeface="Microsoft YaHei" pitchFamily="34" charset="0"/>
                <a:ea typeface="Microsoft YaHei" pitchFamily="34" charset="-122"/>
                <a:cs typeface="Microsoft YaHei" pitchFamily="34" charset="-120"/>
              </a:rPr>
              <a:t>数据来源与工艺背景</a:t>
            </a:r>
            <a:endParaRPr lang="en-US" sz="1200" dirty="0"/>
          </a:p>
        </p:txBody>
      </p:sp>
      <p:sp>
        <p:nvSpPr>
          <p:cNvPr id="13" name="Text 11"/>
          <p:cNvSpPr/>
          <p:nvPr/>
        </p:nvSpPr>
        <p:spPr>
          <a:xfrm>
            <a:off x="871901" y="2479477"/>
            <a:ext cx="1739075" cy="365522"/>
          </a:xfrm>
          <a:prstGeom prst="rect">
            <a:avLst/>
          </a:prstGeom>
          <a:noFill/>
          <a:ln/>
        </p:spPr>
        <p:txBody>
          <a:bodyPr wrap="square" lIns="0" tIns="0" rIns="0" bIns="0" rtlCol="0" anchor="t"/>
          <a:lstStyle/>
          <a:p>
            <a:pPr algn="ctr" indent="0" marL="0">
              <a:lnSpc>
                <a:spcPts val="1440"/>
              </a:lnSpc>
              <a:buNone/>
            </a:pPr>
            <a:r>
              <a:rPr lang="en-US" sz="900" dirty="0">
                <a:solidFill>
                  <a:srgbClr val="636E72"/>
                </a:solidFill>
                <a:latin typeface="Microsoft YaHei" pitchFamily="34" charset="0"/>
                <a:ea typeface="Microsoft YaHei" pitchFamily="34" charset="-122"/>
                <a:cs typeface="Microsoft YaHei" pitchFamily="34" charset="-120"/>
              </a:rPr>
              <a:t>了解诊断数据来源及BOPET纵拉工艺全过程</a:t>
            </a:r>
            <a:endParaRPr lang="en-US" sz="900" dirty="0"/>
          </a:p>
        </p:txBody>
      </p:sp>
      <p:sp>
        <p:nvSpPr>
          <p:cNvPr id="14" name="Text 12"/>
          <p:cNvSpPr/>
          <p:nvPr/>
        </p:nvSpPr>
        <p:spPr>
          <a:xfrm>
            <a:off x="2908250" y="1371600"/>
            <a:ext cx="2006501" cy="2667000"/>
          </a:xfrm>
          <a:prstGeom prst="roundRect">
            <a:avLst>
              <a:gd name="adj" fmla="val 2532"/>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2908250" y="1376363"/>
            <a:ext cx="2006501" cy="0"/>
          </a:xfrm>
          <a:prstGeom prst="line">
            <a:avLst/>
          </a:prstGeom>
          <a:noFill/>
          <a:ln w="9525">
            <a:solidFill>
              <a:srgbClr val="DFE6E9"/>
            </a:solidFill>
            <a:prstDash val="solid"/>
          </a:ln>
        </p:spPr>
      </p:sp>
      <p:sp>
        <p:nvSpPr>
          <p:cNvPr id="16" name="Shape 14"/>
          <p:cNvSpPr/>
          <p:nvPr/>
        </p:nvSpPr>
        <p:spPr>
          <a:xfrm>
            <a:off x="4909989" y="1371600"/>
            <a:ext cx="0" cy="2667000"/>
          </a:xfrm>
          <a:prstGeom prst="line">
            <a:avLst/>
          </a:prstGeom>
          <a:noFill/>
          <a:ln w="9525">
            <a:solidFill>
              <a:srgbClr val="DFE6E9"/>
            </a:solidFill>
            <a:prstDash val="solid"/>
          </a:ln>
        </p:spPr>
      </p:sp>
      <p:sp>
        <p:nvSpPr>
          <p:cNvPr id="17" name="Shape 15"/>
          <p:cNvSpPr/>
          <p:nvPr/>
        </p:nvSpPr>
        <p:spPr>
          <a:xfrm>
            <a:off x="2908250" y="4033837"/>
            <a:ext cx="2006501" cy="0"/>
          </a:xfrm>
          <a:prstGeom prst="line">
            <a:avLst/>
          </a:prstGeom>
          <a:noFill/>
          <a:ln w="9525">
            <a:solidFill>
              <a:srgbClr val="DFE6E9"/>
            </a:solidFill>
            <a:prstDash val="solid"/>
          </a:ln>
        </p:spPr>
      </p:sp>
      <p:sp>
        <p:nvSpPr>
          <p:cNvPr id="18" name="Shape 16"/>
          <p:cNvSpPr/>
          <p:nvPr/>
        </p:nvSpPr>
        <p:spPr>
          <a:xfrm>
            <a:off x="2927300" y="1371600"/>
            <a:ext cx="0" cy="2667000"/>
          </a:xfrm>
          <a:prstGeom prst="line">
            <a:avLst/>
          </a:prstGeom>
          <a:noFill/>
          <a:ln w="38100">
            <a:solidFill>
              <a:srgbClr val="1B3A5C"/>
            </a:solidFill>
            <a:prstDash val="solid"/>
          </a:ln>
        </p:spPr>
      </p:sp>
      <p:sp>
        <p:nvSpPr>
          <p:cNvPr id="19" name="Text 17"/>
          <p:cNvSpPr/>
          <p:nvPr/>
        </p:nvSpPr>
        <p:spPr>
          <a:xfrm>
            <a:off x="3722638" y="1584275"/>
            <a:ext cx="406301" cy="406301"/>
          </a:xfrm>
          <a:prstGeom prst="roundRect">
            <a:avLst>
              <a:gd name="adj" fmla="val 225055"/>
            </a:avLst>
          </a:prstGeom>
          <a:solidFill>
            <a:srgbClr val="E85D3A"/>
          </a:solidFill>
          <a:ln/>
        </p:spPr>
        <p:txBody>
          <a:bodyPr wrap="square" rtlCol="0" anchor="ctr"/>
          <a:lstStyle/>
          <a:p>
            <a:pPr indent="0" marL="0">
              <a:buNone/>
            </a:pPr>
            <a:endParaRPr lang="en-US" dirty="0"/>
          </a:p>
        </p:txBody>
      </p:sp>
      <p:sp>
        <p:nvSpPr>
          <p:cNvPr id="20" name="Text 18"/>
          <p:cNvSpPr/>
          <p:nvPr/>
        </p:nvSpPr>
        <p:spPr>
          <a:xfrm>
            <a:off x="3809202" y="1654076"/>
            <a:ext cx="233172" cy="266700"/>
          </a:xfrm>
          <a:prstGeom prst="rect">
            <a:avLst/>
          </a:prstGeom>
          <a:noFill/>
          <a:ln/>
        </p:spPr>
        <p:txBody>
          <a:bodyPr wrap="square" lIns="0" tIns="0" rIns="0" bIns="0" rtlCol="0" anchor="t"/>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02</a:t>
            </a:r>
            <a:endParaRPr lang="en-US" sz="1500" dirty="0"/>
          </a:p>
        </p:txBody>
      </p:sp>
      <p:sp>
        <p:nvSpPr>
          <p:cNvPr id="21" name="Text 19"/>
          <p:cNvSpPr/>
          <p:nvPr/>
        </p:nvSpPr>
        <p:spPr>
          <a:xfrm>
            <a:off x="3056251" y="2142976"/>
            <a:ext cx="1739075" cy="209550"/>
          </a:xfrm>
          <a:prstGeom prst="rect">
            <a:avLst/>
          </a:prstGeom>
          <a:noFill/>
          <a:ln/>
        </p:spPr>
        <p:txBody>
          <a:bodyPr wrap="square" lIns="0" tIns="0" rIns="0" bIns="0" rtlCol="0" anchor="t"/>
          <a:lstStyle/>
          <a:p>
            <a:pPr algn="ctr" indent="0" marL="0">
              <a:spcAft>
                <a:spcPts val="1000"/>
              </a:spcAft>
              <a:buNone/>
            </a:pPr>
            <a:r>
              <a:rPr lang="en-US" sz="1200" b="1" dirty="0">
                <a:solidFill>
                  <a:srgbClr val="1B3A5C"/>
                </a:solidFill>
                <a:latin typeface="Microsoft YaHei" pitchFamily="34" charset="0"/>
                <a:ea typeface="Microsoft YaHei" pitchFamily="34" charset="-122"/>
                <a:cs typeface="Microsoft YaHei" pitchFamily="34" charset="-120"/>
              </a:rPr>
              <a:t>参数本体解读</a:t>
            </a:r>
            <a:endParaRPr lang="en-US" sz="1200" dirty="0"/>
          </a:p>
        </p:txBody>
      </p:sp>
      <p:sp>
        <p:nvSpPr>
          <p:cNvPr id="22" name="Text 20"/>
          <p:cNvSpPr/>
          <p:nvPr/>
        </p:nvSpPr>
        <p:spPr>
          <a:xfrm>
            <a:off x="3056251" y="2479477"/>
            <a:ext cx="1739075" cy="365522"/>
          </a:xfrm>
          <a:prstGeom prst="rect">
            <a:avLst/>
          </a:prstGeom>
          <a:noFill/>
          <a:ln/>
        </p:spPr>
        <p:txBody>
          <a:bodyPr wrap="square" lIns="0" tIns="0" rIns="0" bIns="0" rtlCol="0" anchor="t"/>
          <a:lstStyle/>
          <a:p>
            <a:pPr algn="ctr" indent="0" marL="0">
              <a:lnSpc>
                <a:spcPts val="1440"/>
              </a:lnSpc>
              <a:buNone/>
            </a:pPr>
            <a:r>
              <a:rPr lang="en-US" sz="900" dirty="0">
                <a:solidFill>
                  <a:srgbClr val="636E72"/>
                </a:solidFill>
                <a:latin typeface="Microsoft YaHei" pitchFamily="34" charset="0"/>
                <a:ea typeface="Microsoft YaHei" pitchFamily="34" charset="-122"/>
                <a:cs typeface="Microsoft YaHei" pitchFamily="34" charset="-120"/>
              </a:rPr>
              <a:t>18辊温度·扭矩·速度·挤出参数的物理意义</a:t>
            </a:r>
            <a:endParaRPr lang="en-US" sz="900" dirty="0"/>
          </a:p>
        </p:txBody>
      </p:sp>
      <p:sp>
        <p:nvSpPr>
          <p:cNvPr id="23" name="Text 21"/>
          <p:cNvSpPr/>
          <p:nvPr/>
        </p:nvSpPr>
        <p:spPr>
          <a:xfrm>
            <a:off x="5092601" y="1371600"/>
            <a:ext cx="2006501" cy="2667000"/>
          </a:xfrm>
          <a:prstGeom prst="roundRect">
            <a:avLst>
              <a:gd name="adj" fmla="val 2532"/>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5092601" y="1376363"/>
            <a:ext cx="2006501" cy="0"/>
          </a:xfrm>
          <a:prstGeom prst="line">
            <a:avLst/>
          </a:prstGeom>
          <a:noFill/>
          <a:ln w="9525">
            <a:solidFill>
              <a:srgbClr val="DFE6E9"/>
            </a:solidFill>
            <a:prstDash val="solid"/>
          </a:ln>
        </p:spPr>
      </p:sp>
      <p:sp>
        <p:nvSpPr>
          <p:cNvPr id="25" name="Shape 23"/>
          <p:cNvSpPr/>
          <p:nvPr/>
        </p:nvSpPr>
        <p:spPr>
          <a:xfrm>
            <a:off x="7094339" y="1371600"/>
            <a:ext cx="0" cy="2667000"/>
          </a:xfrm>
          <a:prstGeom prst="line">
            <a:avLst/>
          </a:prstGeom>
          <a:noFill/>
          <a:ln w="9525">
            <a:solidFill>
              <a:srgbClr val="DFE6E9"/>
            </a:solidFill>
            <a:prstDash val="solid"/>
          </a:ln>
        </p:spPr>
      </p:sp>
      <p:sp>
        <p:nvSpPr>
          <p:cNvPr id="26" name="Shape 24"/>
          <p:cNvSpPr/>
          <p:nvPr/>
        </p:nvSpPr>
        <p:spPr>
          <a:xfrm>
            <a:off x="5092601" y="4033837"/>
            <a:ext cx="2006501" cy="0"/>
          </a:xfrm>
          <a:prstGeom prst="line">
            <a:avLst/>
          </a:prstGeom>
          <a:noFill/>
          <a:ln w="9525">
            <a:solidFill>
              <a:srgbClr val="DFE6E9"/>
            </a:solidFill>
            <a:prstDash val="solid"/>
          </a:ln>
        </p:spPr>
      </p:sp>
      <p:sp>
        <p:nvSpPr>
          <p:cNvPr id="27" name="Shape 25"/>
          <p:cNvSpPr/>
          <p:nvPr/>
        </p:nvSpPr>
        <p:spPr>
          <a:xfrm>
            <a:off x="5111651" y="1371600"/>
            <a:ext cx="0" cy="2667000"/>
          </a:xfrm>
          <a:prstGeom prst="line">
            <a:avLst/>
          </a:prstGeom>
          <a:noFill/>
          <a:ln w="38100">
            <a:solidFill>
              <a:srgbClr val="1B3A5C"/>
            </a:solidFill>
            <a:prstDash val="solid"/>
          </a:ln>
        </p:spPr>
      </p:sp>
      <p:sp>
        <p:nvSpPr>
          <p:cNvPr id="28" name="Text 26"/>
          <p:cNvSpPr/>
          <p:nvPr/>
        </p:nvSpPr>
        <p:spPr>
          <a:xfrm>
            <a:off x="5906988" y="1584275"/>
            <a:ext cx="406301" cy="406301"/>
          </a:xfrm>
          <a:prstGeom prst="roundRect">
            <a:avLst>
              <a:gd name="adj" fmla="val 225055"/>
            </a:avLst>
          </a:prstGeom>
          <a:solidFill>
            <a:srgbClr val="E85D3A"/>
          </a:solidFill>
          <a:ln/>
        </p:spPr>
        <p:txBody>
          <a:bodyPr wrap="square" rtlCol="0" anchor="ctr"/>
          <a:lstStyle/>
          <a:p>
            <a:pPr indent="0" marL="0">
              <a:buNone/>
            </a:pPr>
            <a:endParaRPr lang="en-US" dirty="0"/>
          </a:p>
        </p:txBody>
      </p:sp>
      <p:sp>
        <p:nvSpPr>
          <p:cNvPr id="29" name="Text 27"/>
          <p:cNvSpPr/>
          <p:nvPr/>
        </p:nvSpPr>
        <p:spPr>
          <a:xfrm>
            <a:off x="5993553" y="1654076"/>
            <a:ext cx="233172" cy="266700"/>
          </a:xfrm>
          <a:prstGeom prst="rect">
            <a:avLst/>
          </a:prstGeom>
          <a:noFill/>
          <a:ln/>
        </p:spPr>
        <p:txBody>
          <a:bodyPr wrap="square" lIns="0" tIns="0" rIns="0" bIns="0" rtlCol="0" anchor="t"/>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03</a:t>
            </a:r>
            <a:endParaRPr lang="en-US" sz="1500" dirty="0"/>
          </a:p>
        </p:txBody>
      </p:sp>
      <p:sp>
        <p:nvSpPr>
          <p:cNvPr id="30" name="Text 28"/>
          <p:cNvSpPr/>
          <p:nvPr/>
        </p:nvSpPr>
        <p:spPr>
          <a:xfrm>
            <a:off x="5240601" y="2142976"/>
            <a:ext cx="1739075" cy="209550"/>
          </a:xfrm>
          <a:prstGeom prst="rect">
            <a:avLst/>
          </a:prstGeom>
          <a:noFill/>
          <a:ln/>
        </p:spPr>
        <p:txBody>
          <a:bodyPr wrap="square" lIns="0" tIns="0" rIns="0" bIns="0" rtlCol="0" anchor="t"/>
          <a:lstStyle/>
          <a:p>
            <a:pPr algn="ctr" indent="0" marL="0">
              <a:spcAft>
                <a:spcPts val="1000"/>
              </a:spcAft>
              <a:buNone/>
            </a:pPr>
            <a:r>
              <a:rPr lang="en-US" sz="1200" b="1" dirty="0">
                <a:solidFill>
                  <a:srgbClr val="1B3A5C"/>
                </a:solidFill>
                <a:latin typeface="Microsoft YaHei" pitchFamily="34" charset="0"/>
                <a:ea typeface="Microsoft YaHei" pitchFamily="34" charset="-122"/>
                <a:cs typeface="Microsoft YaHei" pitchFamily="34" charset="-120"/>
              </a:rPr>
              <a:t>专业名词解释</a:t>
            </a:r>
            <a:endParaRPr lang="en-US" sz="1200" dirty="0"/>
          </a:p>
        </p:txBody>
      </p:sp>
      <p:sp>
        <p:nvSpPr>
          <p:cNvPr id="31" name="Text 29"/>
          <p:cNvSpPr/>
          <p:nvPr/>
        </p:nvSpPr>
        <p:spPr>
          <a:xfrm>
            <a:off x="5240601" y="2479477"/>
            <a:ext cx="1739075" cy="365522"/>
          </a:xfrm>
          <a:prstGeom prst="rect">
            <a:avLst/>
          </a:prstGeom>
          <a:noFill/>
          <a:ln/>
        </p:spPr>
        <p:txBody>
          <a:bodyPr wrap="square" lIns="0" tIns="0" rIns="0" bIns="0" rtlCol="0" anchor="t"/>
          <a:lstStyle/>
          <a:p>
            <a:pPr algn="ctr" indent="0" marL="0">
              <a:lnSpc>
                <a:spcPts val="1440"/>
              </a:lnSpc>
              <a:buNone/>
            </a:pPr>
            <a:r>
              <a:rPr lang="en-US" sz="900" dirty="0">
                <a:solidFill>
                  <a:srgbClr val="636E72"/>
                </a:solidFill>
                <a:latin typeface="Microsoft YaHei" pitchFamily="34" charset="0"/>
                <a:ea typeface="Microsoft YaHei" pitchFamily="34" charset="-122"/>
                <a:cs typeface="Microsoft YaHei" pitchFamily="34" charset="-120"/>
              </a:rPr>
              <a:t>Simpson悖论·Pearson相关·竞争假说等核心概念</a:t>
            </a:r>
            <a:endParaRPr lang="en-US" sz="900" dirty="0"/>
          </a:p>
        </p:txBody>
      </p:sp>
      <p:sp>
        <p:nvSpPr>
          <p:cNvPr id="32" name="Text 30"/>
          <p:cNvSpPr/>
          <p:nvPr/>
        </p:nvSpPr>
        <p:spPr>
          <a:xfrm>
            <a:off x="7277100" y="1371600"/>
            <a:ext cx="2006501" cy="2667000"/>
          </a:xfrm>
          <a:prstGeom prst="roundRect">
            <a:avLst>
              <a:gd name="adj" fmla="val 2532"/>
            </a:avLst>
          </a:prstGeom>
          <a:solidFill>
            <a:srgbClr val="FFFFFF"/>
          </a:solidFill>
          <a:ln/>
        </p:spPr>
        <p:txBody>
          <a:bodyPr wrap="square" rtlCol="0" anchor="ctr"/>
          <a:lstStyle/>
          <a:p>
            <a:pPr indent="0" marL="0">
              <a:buNone/>
            </a:pPr>
            <a:endParaRPr lang="en-US" dirty="0"/>
          </a:p>
        </p:txBody>
      </p:sp>
      <p:sp>
        <p:nvSpPr>
          <p:cNvPr id="33" name="Shape 31"/>
          <p:cNvSpPr/>
          <p:nvPr/>
        </p:nvSpPr>
        <p:spPr>
          <a:xfrm>
            <a:off x="7277100" y="1376363"/>
            <a:ext cx="2006501" cy="0"/>
          </a:xfrm>
          <a:prstGeom prst="line">
            <a:avLst/>
          </a:prstGeom>
          <a:noFill/>
          <a:ln w="9525">
            <a:solidFill>
              <a:srgbClr val="DFE6E9"/>
            </a:solidFill>
            <a:prstDash val="solid"/>
          </a:ln>
        </p:spPr>
      </p:sp>
      <p:sp>
        <p:nvSpPr>
          <p:cNvPr id="34" name="Shape 32"/>
          <p:cNvSpPr/>
          <p:nvPr/>
        </p:nvSpPr>
        <p:spPr>
          <a:xfrm>
            <a:off x="9278838" y="1371600"/>
            <a:ext cx="0" cy="2667000"/>
          </a:xfrm>
          <a:prstGeom prst="line">
            <a:avLst/>
          </a:prstGeom>
          <a:noFill/>
          <a:ln w="9525">
            <a:solidFill>
              <a:srgbClr val="DFE6E9"/>
            </a:solidFill>
            <a:prstDash val="solid"/>
          </a:ln>
        </p:spPr>
      </p:sp>
      <p:sp>
        <p:nvSpPr>
          <p:cNvPr id="35" name="Shape 33"/>
          <p:cNvSpPr/>
          <p:nvPr/>
        </p:nvSpPr>
        <p:spPr>
          <a:xfrm>
            <a:off x="7277100" y="4033837"/>
            <a:ext cx="2006501" cy="0"/>
          </a:xfrm>
          <a:prstGeom prst="line">
            <a:avLst/>
          </a:prstGeom>
          <a:noFill/>
          <a:ln w="9525">
            <a:solidFill>
              <a:srgbClr val="DFE6E9"/>
            </a:solidFill>
            <a:prstDash val="solid"/>
          </a:ln>
        </p:spPr>
      </p:sp>
      <p:sp>
        <p:nvSpPr>
          <p:cNvPr id="36" name="Shape 34"/>
          <p:cNvSpPr/>
          <p:nvPr/>
        </p:nvSpPr>
        <p:spPr>
          <a:xfrm>
            <a:off x="7296150" y="1371600"/>
            <a:ext cx="0" cy="2667000"/>
          </a:xfrm>
          <a:prstGeom prst="line">
            <a:avLst/>
          </a:prstGeom>
          <a:noFill/>
          <a:ln w="38100">
            <a:solidFill>
              <a:srgbClr val="1B3A5C"/>
            </a:solidFill>
            <a:prstDash val="solid"/>
          </a:ln>
        </p:spPr>
      </p:sp>
      <p:sp>
        <p:nvSpPr>
          <p:cNvPr id="37" name="Text 35"/>
          <p:cNvSpPr/>
          <p:nvPr/>
        </p:nvSpPr>
        <p:spPr>
          <a:xfrm>
            <a:off x="8091488" y="1584275"/>
            <a:ext cx="406301" cy="406301"/>
          </a:xfrm>
          <a:prstGeom prst="roundRect">
            <a:avLst>
              <a:gd name="adj" fmla="val 225055"/>
            </a:avLst>
          </a:prstGeom>
          <a:solidFill>
            <a:srgbClr val="E85D3A"/>
          </a:solidFill>
          <a:ln/>
        </p:spPr>
        <p:txBody>
          <a:bodyPr wrap="square" rtlCol="0" anchor="ctr"/>
          <a:lstStyle/>
          <a:p>
            <a:pPr indent="0" marL="0">
              <a:buNone/>
            </a:pPr>
            <a:endParaRPr lang="en-US" dirty="0"/>
          </a:p>
        </p:txBody>
      </p:sp>
      <p:sp>
        <p:nvSpPr>
          <p:cNvPr id="38" name="Text 36"/>
          <p:cNvSpPr/>
          <p:nvPr/>
        </p:nvSpPr>
        <p:spPr>
          <a:xfrm>
            <a:off x="8178052" y="1654076"/>
            <a:ext cx="233172" cy="266700"/>
          </a:xfrm>
          <a:prstGeom prst="rect">
            <a:avLst/>
          </a:prstGeom>
          <a:noFill/>
          <a:ln/>
        </p:spPr>
        <p:txBody>
          <a:bodyPr wrap="square" lIns="0" tIns="0" rIns="0" bIns="0" rtlCol="0" anchor="t"/>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04</a:t>
            </a:r>
            <a:endParaRPr lang="en-US" sz="1500" dirty="0"/>
          </a:p>
        </p:txBody>
      </p:sp>
      <p:sp>
        <p:nvSpPr>
          <p:cNvPr id="39" name="Text 37"/>
          <p:cNvSpPr/>
          <p:nvPr/>
        </p:nvSpPr>
        <p:spPr>
          <a:xfrm>
            <a:off x="7425101" y="2142976"/>
            <a:ext cx="1739075" cy="419100"/>
          </a:xfrm>
          <a:prstGeom prst="rect">
            <a:avLst/>
          </a:prstGeom>
          <a:noFill/>
          <a:ln/>
        </p:spPr>
        <p:txBody>
          <a:bodyPr wrap="square" lIns="0" tIns="0" rIns="0" bIns="0" rtlCol="0" anchor="t"/>
          <a:lstStyle/>
          <a:p>
            <a:pPr algn="ctr" indent="0" marL="0">
              <a:spcAft>
                <a:spcPts val="1000"/>
              </a:spcAft>
              <a:buNone/>
            </a:pPr>
            <a:r>
              <a:rPr lang="en-US" sz="1200" b="1" dirty="0">
                <a:solidFill>
                  <a:srgbClr val="1B3A5C"/>
                </a:solidFill>
                <a:latin typeface="Microsoft YaHei" pitchFamily="34" charset="0"/>
                <a:ea typeface="Microsoft YaHei" pitchFamily="34" charset="-122"/>
                <a:cs typeface="Microsoft YaHei" pitchFamily="34" charset="-120"/>
              </a:rPr>
              <a:t>核心发现——Simpson悖论</a:t>
            </a:r>
            <a:endParaRPr lang="en-US" sz="1200" dirty="0"/>
          </a:p>
        </p:txBody>
      </p:sp>
      <p:sp>
        <p:nvSpPr>
          <p:cNvPr id="40" name="Text 38"/>
          <p:cNvSpPr/>
          <p:nvPr/>
        </p:nvSpPr>
        <p:spPr>
          <a:xfrm>
            <a:off x="7425101" y="2689027"/>
            <a:ext cx="1739075" cy="365522"/>
          </a:xfrm>
          <a:prstGeom prst="rect">
            <a:avLst/>
          </a:prstGeom>
          <a:noFill/>
          <a:ln/>
        </p:spPr>
        <p:txBody>
          <a:bodyPr wrap="square" lIns="0" tIns="0" rIns="0" bIns="0" rtlCol="0" anchor="t"/>
          <a:lstStyle/>
          <a:p>
            <a:pPr algn="ctr" indent="0" marL="0">
              <a:lnSpc>
                <a:spcPts val="1440"/>
              </a:lnSpc>
              <a:buNone/>
            </a:pPr>
            <a:r>
              <a:rPr lang="en-US" sz="900" dirty="0">
                <a:solidFill>
                  <a:srgbClr val="636E72"/>
                </a:solidFill>
                <a:latin typeface="Microsoft YaHei" pitchFamily="34" charset="0"/>
                <a:ea typeface="Microsoft YaHei" pitchFamily="34" charset="-122"/>
                <a:cs typeface="Microsoft YaHei" pitchFamily="34" charset="-120"/>
              </a:rPr>
              <a:t>全局强相关在型号分组后反转或衰减</a:t>
            </a:r>
            <a:endParaRPr lang="en-US" sz="900" dirty="0"/>
          </a:p>
        </p:txBody>
      </p:sp>
      <p:sp>
        <p:nvSpPr>
          <p:cNvPr id="41" name="Text 39"/>
          <p:cNvSpPr/>
          <p:nvPr/>
        </p:nvSpPr>
        <p:spPr>
          <a:xfrm>
            <a:off x="9461450" y="1371600"/>
            <a:ext cx="2006501" cy="2667000"/>
          </a:xfrm>
          <a:prstGeom prst="roundRect">
            <a:avLst>
              <a:gd name="adj" fmla="val 2532"/>
            </a:avLst>
          </a:prstGeom>
          <a:solidFill>
            <a:srgbClr val="FFFFFF"/>
          </a:solidFill>
          <a:ln/>
        </p:spPr>
        <p:txBody>
          <a:bodyPr wrap="square" rtlCol="0" anchor="ctr"/>
          <a:lstStyle/>
          <a:p>
            <a:pPr indent="0" marL="0">
              <a:buNone/>
            </a:pPr>
            <a:endParaRPr lang="en-US" dirty="0"/>
          </a:p>
        </p:txBody>
      </p:sp>
      <p:sp>
        <p:nvSpPr>
          <p:cNvPr id="42" name="Shape 40"/>
          <p:cNvSpPr/>
          <p:nvPr/>
        </p:nvSpPr>
        <p:spPr>
          <a:xfrm>
            <a:off x="9461450" y="1376363"/>
            <a:ext cx="2006501" cy="0"/>
          </a:xfrm>
          <a:prstGeom prst="line">
            <a:avLst/>
          </a:prstGeom>
          <a:noFill/>
          <a:ln w="9525">
            <a:solidFill>
              <a:srgbClr val="DFE6E9"/>
            </a:solidFill>
            <a:prstDash val="solid"/>
          </a:ln>
        </p:spPr>
      </p:sp>
      <p:sp>
        <p:nvSpPr>
          <p:cNvPr id="43" name="Shape 41"/>
          <p:cNvSpPr/>
          <p:nvPr/>
        </p:nvSpPr>
        <p:spPr>
          <a:xfrm>
            <a:off x="11463189" y="1371600"/>
            <a:ext cx="0" cy="2667000"/>
          </a:xfrm>
          <a:prstGeom prst="line">
            <a:avLst/>
          </a:prstGeom>
          <a:noFill/>
          <a:ln w="9525">
            <a:solidFill>
              <a:srgbClr val="DFE6E9"/>
            </a:solidFill>
            <a:prstDash val="solid"/>
          </a:ln>
        </p:spPr>
      </p:sp>
      <p:sp>
        <p:nvSpPr>
          <p:cNvPr id="44" name="Shape 42"/>
          <p:cNvSpPr/>
          <p:nvPr/>
        </p:nvSpPr>
        <p:spPr>
          <a:xfrm>
            <a:off x="9461450" y="4033837"/>
            <a:ext cx="2006501" cy="0"/>
          </a:xfrm>
          <a:prstGeom prst="line">
            <a:avLst/>
          </a:prstGeom>
          <a:noFill/>
          <a:ln w="9525">
            <a:solidFill>
              <a:srgbClr val="DFE6E9"/>
            </a:solidFill>
            <a:prstDash val="solid"/>
          </a:ln>
        </p:spPr>
      </p:sp>
      <p:sp>
        <p:nvSpPr>
          <p:cNvPr id="45" name="Shape 43"/>
          <p:cNvSpPr/>
          <p:nvPr/>
        </p:nvSpPr>
        <p:spPr>
          <a:xfrm>
            <a:off x="9480500" y="1371600"/>
            <a:ext cx="0" cy="2667000"/>
          </a:xfrm>
          <a:prstGeom prst="line">
            <a:avLst/>
          </a:prstGeom>
          <a:noFill/>
          <a:ln w="38100">
            <a:solidFill>
              <a:srgbClr val="1B3A5C"/>
            </a:solidFill>
            <a:prstDash val="solid"/>
          </a:ln>
        </p:spPr>
      </p:sp>
      <p:sp>
        <p:nvSpPr>
          <p:cNvPr id="46" name="Text 44"/>
          <p:cNvSpPr/>
          <p:nvPr/>
        </p:nvSpPr>
        <p:spPr>
          <a:xfrm>
            <a:off x="10275838" y="1584275"/>
            <a:ext cx="406301" cy="406301"/>
          </a:xfrm>
          <a:prstGeom prst="roundRect">
            <a:avLst>
              <a:gd name="adj" fmla="val 225055"/>
            </a:avLst>
          </a:prstGeom>
          <a:solidFill>
            <a:srgbClr val="E85D3A"/>
          </a:solidFill>
          <a:ln/>
        </p:spPr>
        <p:txBody>
          <a:bodyPr wrap="square" rtlCol="0" anchor="ctr"/>
          <a:lstStyle/>
          <a:p>
            <a:pPr indent="0" marL="0">
              <a:buNone/>
            </a:pPr>
            <a:endParaRPr lang="en-US" dirty="0"/>
          </a:p>
        </p:txBody>
      </p:sp>
      <p:sp>
        <p:nvSpPr>
          <p:cNvPr id="47" name="Text 45"/>
          <p:cNvSpPr/>
          <p:nvPr/>
        </p:nvSpPr>
        <p:spPr>
          <a:xfrm>
            <a:off x="10362402" y="1654076"/>
            <a:ext cx="233172" cy="266700"/>
          </a:xfrm>
          <a:prstGeom prst="rect">
            <a:avLst/>
          </a:prstGeom>
          <a:noFill/>
          <a:ln/>
        </p:spPr>
        <p:txBody>
          <a:bodyPr wrap="square" lIns="0" tIns="0" rIns="0" bIns="0" rtlCol="0" anchor="t"/>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05</a:t>
            </a:r>
            <a:endParaRPr lang="en-US" sz="1500" dirty="0"/>
          </a:p>
        </p:txBody>
      </p:sp>
      <p:sp>
        <p:nvSpPr>
          <p:cNvPr id="48" name="Text 46"/>
          <p:cNvSpPr/>
          <p:nvPr/>
        </p:nvSpPr>
        <p:spPr>
          <a:xfrm>
            <a:off x="9609451" y="2142976"/>
            <a:ext cx="1739075" cy="209550"/>
          </a:xfrm>
          <a:prstGeom prst="rect">
            <a:avLst/>
          </a:prstGeom>
          <a:noFill/>
          <a:ln/>
        </p:spPr>
        <p:txBody>
          <a:bodyPr wrap="square" lIns="0" tIns="0" rIns="0" bIns="0" rtlCol="0" anchor="t"/>
          <a:lstStyle/>
          <a:p>
            <a:pPr algn="ctr" indent="0" marL="0">
              <a:spcAft>
                <a:spcPts val="1000"/>
              </a:spcAft>
              <a:buNone/>
            </a:pPr>
            <a:r>
              <a:rPr lang="en-US" sz="1200" b="1" dirty="0">
                <a:solidFill>
                  <a:srgbClr val="1B3A5C"/>
                </a:solidFill>
                <a:latin typeface="Microsoft YaHei" pitchFamily="34" charset="0"/>
                <a:ea typeface="Microsoft YaHei" pitchFamily="34" charset="-122"/>
                <a:cs typeface="Microsoft YaHei" pitchFamily="34" charset="-120"/>
              </a:rPr>
              <a:t>诊断结论与建议</a:t>
            </a:r>
            <a:endParaRPr lang="en-US" sz="1200" dirty="0"/>
          </a:p>
        </p:txBody>
      </p:sp>
      <p:sp>
        <p:nvSpPr>
          <p:cNvPr id="49" name="Text 47"/>
          <p:cNvSpPr/>
          <p:nvPr/>
        </p:nvSpPr>
        <p:spPr>
          <a:xfrm>
            <a:off x="9609451" y="2479477"/>
            <a:ext cx="1739075" cy="365522"/>
          </a:xfrm>
          <a:prstGeom prst="rect">
            <a:avLst/>
          </a:prstGeom>
          <a:noFill/>
          <a:ln/>
        </p:spPr>
        <p:txBody>
          <a:bodyPr wrap="square" lIns="0" tIns="0" rIns="0" bIns="0" rtlCol="0" anchor="t"/>
          <a:lstStyle/>
          <a:p>
            <a:pPr algn="ctr" indent="0" marL="0">
              <a:lnSpc>
                <a:spcPts val="1440"/>
              </a:lnSpc>
              <a:buNone/>
            </a:pPr>
            <a:r>
              <a:rPr lang="en-US" sz="900" dirty="0">
                <a:solidFill>
                  <a:srgbClr val="636E72"/>
                </a:solidFill>
                <a:latin typeface="Microsoft YaHei" pitchFamily="34" charset="0"/>
                <a:ea typeface="Microsoft YaHei" pitchFamily="34" charset="-122"/>
                <a:cs typeface="Microsoft YaHei" pitchFamily="34" charset="-120"/>
              </a:rPr>
              <a:t>竞争假说评估·置信度判断及改进行动方案</a:t>
            </a:r>
            <a:endParaRPr lang="en-US" sz="900" dirty="0"/>
          </a:p>
        </p:txBody>
      </p:sp>
      <p:sp>
        <p:nvSpPr>
          <p:cNvPr id="50" name="Text 48"/>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51" name="Shape 49"/>
          <p:cNvSpPr/>
          <p:nvPr/>
        </p:nvSpPr>
        <p:spPr>
          <a:xfrm>
            <a:off x="0" y="6608862"/>
            <a:ext cx="12192000" cy="0"/>
          </a:xfrm>
          <a:prstGeom prst="line">
            <a:avLst/>
          </a:prstGeom>
          <a:noFill/>
          <a:ln w="9525">
            <a:solidFill>
              <a:srgbClr val="DFE6E9"/>
            </a:solidFill>
            <a:prstDash val="solid"/>
          </a:ln>
        </p:spPr>
      </p:sp>
      <p:sp>
        <p:nvSpPr>
          <p:cNvPr id="52" name="Text 50"/>
          <p:cNvSpPr/>
          <p:nvPr/>
        </p:nvSpPr>
        <p:spPr>
          <a:xfrm>
            <a:off x="11570791" y="6670774"/>
            <a:ext cx="322737"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304800" y="304800"/>
            <a:ext cx="3799064" cy="390525"/>
          </a:xfrm>
          <a:prstGeom prst="rect">
            <a:avLst/>
          </a:prstGeom>
          <a:noFill/>
          <a:ln/>
        </p:spPr>
        <p:txBody>
          <a:bodyPr wrap="square" lIns="0" tIns="0" rIns="0" bIns="0" rtlCol="0" anchor="t"/>
          <a:lstStyle/>
          <a:p>
            <a:pPr algn="l" indent="0" marL="0">
              <a:buNone/>
            </a:pPr>
            <a:r>
              <a:rPr lang="en-US" sz="2200" b="1" dirty="0">
                <a:solidFill>
                  <a:srgbClr val="1B3A5C"/>
                </a:solidFill>
                <a:latin typeface="Microsoft YaHei" pitchFamily="34" charset="0"/>
                <a:ea typeface="Microsoft YaHei" pitchFamily="34" charset="-122"/>
                <a:cs typeface="Microsoft YaHei" pitchFamily="34" charset="-120"/>
              </a:rPr>
              <a:t>数据来源与BOPET纵拉工艺</a:t>
            </a:r>
            <a:endParaRPr lang="en-US" sz="2200" dirty="0"/>
          </a:p>
        </p:txBody>
      </p:sp>
      <p:sp>
        <p:nvSpPr>
          <p:cNvPr id="4" name="Text 2"/>
          <p:cNvSpPr/>
          <p:nvPr/>
        </p:nvSpPr>
        <p:spPr>
          <a:xfrm>
            <a:off x="304800" y="736550"/>
            <a:ext cx="634901"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304800" y="1066800"/>
            <a:ext cx="4317950" cy="1371600"/>
          </a:xfrm>
          <a:prstGeom prst="roundRect">
            <a:avLst>
              <a:gd name="adj" fmla="val 3704"/>
            </a:avLst>
          </a:prstGeom>
          <a:solidFill>
            <a:srgbClr val="FFFFFF"/>
          </a:solidFill>
          <a:ln/>
        </p:spPr>
        <p:txBody>
          <a:bodyPr wrap="square" rtlCol="0" anchor="ctr"/>
          <a:lstStyle/>
          <a:p>
            <a:pPr indent="0" marL="0">
              <a:buNone/>
            </a:pPr>
            <a:endParaRPr lang="en-US" dirty="0"/>
          </a:p>
        </p:txBody>
      </p:sp>
      <p:sp>
        <p:nvSpPr>
          <p:cNvPr id="6" name="Shape 4"/>
          <p:cNvSpPr/>
          <p:nvPr/>
        </p:nvSpPr>
        <p:spPr>
          <a:xfrm>
            <a:off x="304800" y="1071563"/>
            <a:ext cx="4317950" cy="0"/>
          </a:xfrm>
          <a:prstGeom prst="line">
            <a:avLst/>
          </a:prstGeom>
          <a:noFill/>
          <a:ln w="9525">
            <a:solidFill>
              <a:srgbClr val="DFE6E9"/>
            </a:solidFill>
            <a:prstDash val="solid"/>
          </a:ln>
        </p:spPr>
      </p:sp>
      <p:sp>
        <p:nvSpPr>
          <p:cNvPr id="7" name="Shape 5"/>
          <p:cNvSpPr/>
          <p:nvPr/>
        </p:nvSpPr>
        <p:spPr>
          <a:xfrm>
            <a:off x="4617988" y="1066800"/>
            <a:ext cx="0" cy="1371600"/>
          </a:xfrm>
          <a:prstGeom prst="line">
            <a:avLst/>
          </a:prstGeom>
          <a:noFill/>
          <a:ln w="9525">
            <a:solidFill>
              <a:srgbClr val="DFE6E9"/>
            </a:solidFill>
            <a:prstDash val="solid"/>
          </a:ln>
        </p:spPr>
      </p:sp>
      <p:sp>
        <p:nvSpPr>
          <p:cNvPr id="8" name="Shape 6"/>
          <p:cNvSpPr/>
          <p:nvPr/>
        </p:nvSpPr>
        <p:spPr>
          <a:xfrm>
            <a:off x="304800" y="2433638"/>
            <a:ext cx="4317950" cy="0"/>
          </a:xfrm>
          <a:prstGeom prst="line">
            <a:avLst/>
          </a:prstGeom>
          <a:noFill/>
          <a:ln w="9525">
            <a:solidFill>
              <a:srgbClr val="DFE6E9"/>
            </a:solidFill>
            <a:prstDash val="solid"/>
          </a:ln>
        </p:spPr>
      </p:sp>
      <p:sp>
        <p:nvSpPr>
          <p:cNvPr id="9" name="Shape 7"/>
          <p:cNvSpPr/>
          <p:nvPr/>
        </p:nvSpPr>
        <p:spPr>
          <a:xfrm>
            <a:off x="323850" y="1066800"/>
            <a:ext cx="0" cy="1371600"/>
          </a:xfrm>
          <a:prstGeom prst="line">
            <a:avLst/>
          </a:prstGeom>
          <a:noFill/>
          <a:ln w="38100">
            <a:solidFill>
              <a:srgbClr val="1B3A5C"/>
            </a:solidFill>
            <a:prstDash val="solid"/>
          </a:ln>
        </p:spPr>
      </p:sp>
      <p:sp>
        <p:nvSpPr>
          <p:cNvPr id="10" name="Text 8"/>
          <p:cNvSpPr/>
          <p:nvPr/>
        </p:nvSpPr>
        <p:spPr>
          <a:xfrm>
            <a:off x="317599" y="949375"/>
            <a:ext cx="304800" cy="304800"/>
          </a:xfrm>
          <a:prstGeom prst="roundRect">
            <a:avLst>
              <a:gd name="adj" fmla="val 300000"/>
            </a:avLst>
          </a:prstGeom>
          <a:solidFill>
            <a:srgbClr val="E85D3A"/>
          </a:solidFill>
          <a:ln/>
        </p:spPr>
        <p:txBody>
          <a:bodyPr wrap="square" rtlCol="0" anchor="ctr"/>
          <a:lstStyle/>
          <a:p>
            <a:pPr indent="0" marL="0">
              <a:buNone/>
            </a:pPr>
            <a:endParaRPr lang="en-US" dirty="0"/>
          </a:p>
        </p:txBody>
      </p:sp>
      <p:sp>
        <p:nvSpPr>
          <p:cNvPr id="11" name="Text 9"/>
          <p:cNvSpPr/>
          <p:nvPr/>
        </p:nvSpPr>
        <p:spPr>
          <a:xfrm>
            <a:off x="438120" y="997000"/>
            <a:ext cx="63758" cy="209550"/>
          </a:xfrm>
          <a:prstGeom prst="rect">
            <a:avLst/>
          </a:prstGeom>
          <a:noFill/>
          <a:ln/>
        </p:spPr>
        <p:txBody>
          <a:bodyPr wrap="square" lIns="0" tIns="0" rIns="0" bIns="0" rtlCol="0" anchor="t"/>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1</a:t>
            </a:r>
            <a:endParaRPr lang="en-US" sz="1200" dirty="0"/>
          </a:p>
        </p:txBody>
      </p:sp>
      <p:sp>
        <p:nvSpPr>
          <p:cNvPr id="12" name="Text 10"/>
          <p:cNvSpPr/>
          <p:nvPr/>
        </p:nvSpPr>
        <p:spPr>
          <a:xfrm>
            <a:off x="520601" y="1330226"/>
            <a:ext cx="3993222" cy="200025"/>
          </a:xfrm>
          <a:prstGeom prst="rect">
            <a:avLst/>
          </a:prstGeom>
          <a:noFill/>
          <a:ln/>
        </p:spPr>
        <p:txBody>
          <a:bodyPr wrap="square" lIns="0" tIns="0" rIns="0" bIns="0" rtlCol="0" anchor="t"/>
          <a:lstStyle/>
          <a:p>
            <a:pPr algn="l" indent="0" marL="0">
              <a:spcBef>
                <a:spcPts val="800"/>
              </a:spcBef>
              <a:buNone/>
            </a:pPr>
            <a:r>
              <a:rPr lang="en-US" sz="1100" b="1" dirty="0">
                <a:solidFill>
                  <a:srgbClr val="1B3A5C"/>
                </a:solidFill>
                <a:latin typeface="Microsoft YaHei" pitchFamily="34" charset="0"/>
                <a:ea typeface="Microsoft YaHei" pitchFamily="34" charset="-122"/>
                <a:cs typeface="Microsoft YaHei" pitchFamily="34" charset="-120"/>
              </a:rPr>
              <a:t>aligned_scratch_process.csv</a:t>
            </a:r>
            <a:endParaRPr lang="en-US" sz="1100" dirty="0"/>
          </a:p>
        </p:txBody>
      </p:sp>
      <p:sp>
        <p:nvSpPr>
          <p:cNvPr id="13" name="Text 11"/>
          <p:cNvSpPr/>
          <p:nvPr/>
        </p:nvSpPr>
        <p:spPr>
          <a:xfrm>
            <a:off x="520601" y="1581001"/>
            <a:ext cx="3993222" cy="342900"/>
          </a:xfrm>
          <a:prstGeom prst="rect">
            <a:avLst/>
          </a:prstGeom>
          <a:noFill/>
          <a:ln/>
        </p:spPr>
        <p:txBody>
          <a:bodyPr wrap="square" lIns="0" tIns="0" rIns="0" bIns="0" rtlCol="0" anchor="t"/>
          <a:lstStyle/>
          <a:p>
            <a:pPr algn="l" indent="0" marL="0">
              <a:lnSpc>
                <a:spcPts val="1350"/>
              </a:lnSpc>
              <a:spcBef>
                <a:spcPts val="400"/>
              </a:spcBef>
              <a:buNone/>
            </a:pPr>
            <a:r>
              <a:rPr lang="en-US" sz="900" dirty="0">
                <a:solidFill>
                  <a:srgbClr val="636E72"/>
                </a:solidFill>
                <a:latin typeface="Microsoft YaHei" pitchFamily="34" charset="0"/>
                <a:ea typeface="Microsoft YaHei" pitchFamily="34" charset="-122"/>
                <a:cs typeface="Microsoft YaHei" pitchFamily="34" charset="-120"/>
              </a:rPr>
              <a:t>55批次 x 182列过程参数，含完整产品型号标签。是诊断分析的核心数据集，覆盖全部8种产品型号的运行窗口。</a:t>
            </a:r>
            <a:endParaRPr lang="en-US" sz="900" dirty="0"/>
          </a:p>
        </p:txBody>
      </p:sp>
      <p:sp>
        <p:nvSpPr>
          <p:cNvPr id="14" name="Text 12"/>
          <p:cNvSpPr/>
          <p:nvPr/>
        </p:nvSpPr>
        <p:spPr>
          <a:xfrm>
            <a:off x="304800" y="2590800"/>
            <a:ext cx="4317950" cy="1371600"/>
          </a:xfrm>
          <a:prstGeom prst="roundRect">
            <a:avLst>
              <a:gd name="adj" fmla="val 3704"/>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304800" y="2595563"/>
            <a:ext cx="4317950" cy="0"/>
          </a:xfrm>
          <a:prstGeom prst="line">
            <a:avLst/>
          </a:prstGeom>
          <a:noFill/>
          <a:ln w="9525">
            <a:solidFill>
              <a:srgbClr val="DFE6E9"/>
            </a:solidFill>
            <a:prstDash val="solid"/>
          </a:ln>
        </p:spPr>
      </p:sp>
      <p:sp>
        <p:nvSpPr>
          <p:cNvPr id="16" name="Shape 14"/>
          <p:cNvSpPr/>
          <p:nvPr/>
        </p:nvSpPr>
        <p:spPr>
          <a:xfrm>
            <a:off x="4617988" y="2590800"/>
            <a:ext cx="0" cy="1371600"/>
          </a:xfrm>
          <a:prstGeom prst="line">
            <a:avLst/>
          </a:prstGeom>
          <a:noFill/>
          <a:ln w="9525">
            <a:solidFill>
              <a:srgbClr val="DFE6E9"/>
            </a:solidFill>
            <a:prstDash val="solid"/>
          </a:ln>
        </p:spPr>
      </p:sp>
      <p:sp>
        <p:nvSpPr>
          <p:cNvPr id="17" name="Shape 15"/>
          <p:cNvSpPr/>
          <p:nvPr/>
        </p:nvSpPr>
        <p:spPr>
          <a:xfrm>
            <a:off x="304800" y="3957638"/>
            <a:ext cx="4317950" cy="0"/>
          </a:xfrm>
          <a:prstGeom prst="line">
            <a:avLst/>
          </a:prstGeom>
          <a:noFill/>
          <a:ln w="9525">
            <a:solidFill>
              <a:srgbClr val="DFE6E9"/>
            </a:solidFill>
            <a:prstDash val="solid"/>
          </a:ln>
        </p:spPr>
      </p:sp>
      <p:sp>
        <p:nvSpPr>
          <p:cNvPr id="18" name="Shape 16"/>
          <p:cNvSpPr/>
          <p:nvPr/>
        </p:nvSpPr>
        <p:spPr>
          <a:xfrm>
            <a:off x="323850" y="2590800"/>
            <a:ext cx="0" cy="1371600"/>
          </a:xfrm>
          <a:prstGeom prst="line">
            <a:avLst/>
          </a:prstGeom>
          <a:noFill/>
          <a:ln w="38100">
            <a:solidFill>
              <a:srgbClr val="1B3A5C"/>
            </a:solidFill>
            <a:prstDash val="solid"/>
          </a:ln>
        </p:spPr>
      </p:sp>
      <p:sp>
        <p:nvSpPr>
          <p:cNvPr id="19" name="Text 17"/>
          <p:cNvSpPr/>
          <p:nvPr/>
        </p:nvSpPr>
        <p:spPr>
          <a:xfrm>
            <a:off x="317599" y="2473375"/>
            <a:ext cx="304800" cy="304800"/>
          </a:xfrm>
          <a:prstGeom prst="roundRect">
            <a:avLst>
              <a:gd name="adj" fmla="val 300000"/>
            </a:avLst>
          </a:prstGeom>
          <a:solidFill>
            <a:srgbClr val="E85D3A"/>
          </a:solidFill>
          <a:ln/>
        </p:spPr>
        <p:txBody>
          <a:bodyPr wrap="square" rtlCol="0" anchor="ctr"/>
          <a:lstStyle/>
          <a:p>
            <a:pPr indent="0" marL="0">
              <a:buNone/>
            </a:pPr>
            <a:endParaRPr lang="en-US" dirty="0"/>
          </a:p>
        </p:txBody>
      </p:sp>
      <p:sp>
        <p:nvSpPr>
          <p:cNvPr id="20" name="Text 18"/>
          <p:cNvSpPr/>
          <p:nvPr/>
        </p:nvSpPr>
        <p:spPr>
          <a:xfrm>
            <a:off x="423245" y="2521000"/>
            <a:ext cx="93360" cy="209550"/>
          </a:xfrm>
          <a:prstGeom prst="rect">
            <a:avLst/>
          </a:prstGeom>
          <a:noFill/>
          <a:ln/>
        </p:spPr>
        <p:txBody>
          <a:bodyPr wrap="square" lIns="0" tIns="0" rIns="0" bIns="0" rtlCol="0" anchor="t"/>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2</a:t>
            </a:r>
            <a:endParaRPr lang="en-US" sz="1200" dirty="0"/>
          </a:p>
        </p:txBody>
      </p:sp>
      <p:sp>
        <p:nvSpPr>
          <p:cNvPr id="21" name="Text 19"/>
          <p:cNvSpPr/>
          <p:nvPr/>
        </p:nvSpPr>
        <p:spPr>
          <a:xfrm>
            <a:off x="520601" y="2854226"/>
            <a:ext cx="3993222" cy="200025"/>
          </a:xfrm>
          <a:prstGeom prst="rect">
            <a:avLst/>
          </a:prstGeom>
          <a:noFill/>
          <a:ln/>
        </p:spPr>
        <p:txBody>
          <a:bodyPr wrap="square" lIns="0" tIns="0" rIns="0" bIns="0" rtlCol="0" anchor="t"/>
          <a:lstStyle/>
          <a:p>
            <a:pPr algn="l" indent="0" marL="0">
              <a:spcBef>
                <a:spcPts val="800"/>
              </a:spcBef>
              <a:buNone/>
            </a:pPr>
            <a:r>
              <a:rPr lang="en-US" sz="1100" b="1" dirty="0">
                <a:solidFill>
                  <a:srgbClr val="1B3A5C"/>
                </a:solidFill>
                <a:latin typeface="Microsoft YaHei" pitchFamily="34" charset="0"/>
                <a:ea typeface="Microsoft YaHei" pitchFamily="34" charset="-122"/>
                <a:cs typeface="Microsoft YaHei" pitchFamily="34" charset="-120"/>
              </a:rPr>
              <a:t>scratch_defects.csv</a:t>
            </a:r>
            <a:endParaRPr lang="en-US" sz="1100" dirty="0"/>
          </a:p>
        </p:txBody>
      </p:sp>
      <p:sp>
        <p:nvSpPr>
          <p:cNvPr id="22" name="Text 20"/>
          <p:cNvSpPr/>
          <p:nvPr/>
        </p:nvSpPr>
        <p:spPr>
          <a:xfrm>
            <a:off x="520601" y="3105001"/>
            <a:ext cx="3993222" cy="342900"/>
          </a:xfrm>
          <a:prstGeom prst="rect">
            <a:avLst/>
          </a:prstGeom>
          <a:noFill/>
          <a:ln/>
        </p:spPr>
        <p:txBody>
          <a:bodyPr wrap="square" lIns="0" tIns="0" rIns="0" bIns="0" rtlCol="0" anchor="t"/>
          <a:lstStyle/>
          <a:p>
            <a:pPr algn="l" indent="0" marL="0">
              <a:lnSpc>
                <a:spcPts val="1350"/>
              </a:lnSpc>
              <a:spcBef>
                <a:spcPts val="400"/>
              </a:spcBef>
              <a:buNone/>
            </a:pPr>
            <a:r>
              <a:rPr lang="en-US" sz="900" dirty="0">
                <a:solidFill>
                  <a:srgbClr val="636E72"/>
                </a:solidFill>
                <a:latin typeface="Microsoft YaHei" pitchFamily="34" charset="0"/>
                <a:ea typeface="Microsoft YaHei" pitchFamily="34" charset="-122"/>
                <a:cs typeface="Microsoft YaHei" pitchFamily="34" charset="-120"/>
              </a:rPr>
              <a:t>1729条划伤缺陷记录，按批次统计的缺陷计数。逐批划伤率差异高达15倍（PG32D vs PG22C），是诊断的因变量。</a:t>
            </a:r>
            <a:endParaRPr lang="en-US" sz="900" dirty="0"/>
          </a:p>
        </p:txBody>
      </p:sp>
      <p:sp>
        <p:nvSpPr>
          <p:cNvPr id="23" name="Text 21"/>
          <p:cNvSpPr/>
          <p:nvPr/>
        </p:nvSpPr>
        <p:spPr>
          <a:xfrm>
            <a:off x="304800" y="4114800"/>
            <a:ext cx="4317950" cy="1371600"/>
          </a:xfrm>
          <a:prstGeom prst="roundRect">
            <a:avLst>
              <a:gd name="adj" fmla="val 3704"/>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304800" y="4119562"/>
            <a:ext cx="4317950" cy="0"/>
          </a:xfrm>
          <a:prstGeom prst="line">
            <a:avLst/>
          </a:prstGeom>
          <a:noFill/>
          <a:ln w="9525">
            <a:solidFill>
              <a:srgbClr val="DFE6E9"/>
            </a:solidFill>
            <a:prstDash val="solid"/>
          </a:ln>
        </p:spPr>
      </p:sp>
      <p:sp>
        <p:nvSpPr>
          <p:cNvPr id="25" name="Shape 23"/>
          <p:cNvSpPr/>
          <p:nvPr/>
        </p:nvSpPr>
        <p:spPr>
          <a:xfrm>
            <a:off x="4617988" y="4114800"/>
            <a:ext cx="0" cy="1371600"/>
          </a:xfrm>
          <a:prstGeom prst="line">
            <a:avLst/>
          </a:prstGeom>
          <a:noFill/>
          <a:ln w="9525">
            <a:solidFill>
              <a:srgbClr val="DFE6E9"/>
            </a:solidFill>
            <a:prstDash val="solid"/>
          </a:ln>
        </p:spPr>
      </p:sp>
      <p:sp>
        <p:nvSpPr>
          <p:cNvPr id="26" name="Shape 24"/>
          <p:cNvSpPr/>
          <p:nvPr/>
        </p:nvSpPr>
        <p:spPr>
          <a:xfrm>
            <a:off x="304800" y="5481638"/>
            <a:ext cx="4317950" cy="0"/>
          </a:xfrm>
          <a:prstGeom prst="line">
            <a:avLst/>
          </a:prstGeom>
          <a:noFill/>
          <a:ln w="9525">
            <a:solidFill>
              <a:srgbClr val="DFE6E9"/>
            </a:solidFill>
            <a:prstDash val="solid"/>
          </a:ln>
        </p:spPr>
      </p:sp>
      <p:sp>
        <p:nvSpPr>
          <p:cNvPr id="27" name="Shape 25"/>
          <p:cNvSpPr/>
          <p:nvPr/>
        </p:nvSpPr>
        <p:spPr>
          <a:xfrm>
            <a:off x="323850" y="4114800"/>
            <a:ext cx="0" cy="1371600"/>
          </a:xfrm>
          <a:prstGeom prst="line">
            <a:avLst/>
          </a:prstGeom>
          <a:noFill/>
          <a:ln w="38100">
            <a:solidFill>
              <a:srgbClr val="1B3A5C"/>
            </a:solidFill>
            <a:prstDash val="solid"/>
          </a:ln>
        </p:spPr>
      </p:sp>
      <p:sp>
        <p:nvSpPr>
          <p:cNvPr id="28" name="Text 26"/>
          <p:cNvSpPr/>
          <p:nvPr/>
        </p:nvSpPr>
        <p:spPr>
          <a:xfrm>
            <a:off x="317599" y="3997375"/>
            <a:ext cx="304800" cy="304800"/>
          </a:xfrm>
          <a:prstGeom prst="roundRect">
            <a:avLst>
              <a:gd name="adj" fmla="val 300000"/>
            </a:avLst>
          </a:prstGeom>
          <a:solidFill>
            <a:srgbClr val="E85D3A"/>
          </a:solidFill>
          <a:ln/>
        </p:spPr>
        <p:txBody>
          <a:bodyPr wrap="square" rtlCol="0" anchor="ctr"/>
          <a:lstStyle/>
          <a:p>
            <a:pPr indent="0" marL="0">
              <a:buNone/>
            </a:pPr>
            <a:endParaRPr lang="en-US" dirty="0"/>
          </a:p>
        </p:txBody>
      </p:sp>
      <p:sp>
        <p:nvSpPr>
          <p:cNvPr id="29" name="Text 27"/>
          <p:cNvSpPr/>
          <p:nvPr/>
        </p:nvSpPr>
        <p:spPr>
          <a:xfrm>
            <a:off x="423245" y="4045000"/>
            <a:ext cx="93360" cy="209550"/>
          </a:xfrm>
          <a:prstGeom prst="rect">
            <a:avLst/>
          </a:prstGeom>
          <a:noFill/>
          <a:ln/>
        </p:spPr>
        <p:txBody>
          <a:bodyPr wrap="square" lIns="0" tIns="0" rIns="0" bIns="0" rtlCol="0" anchor="t"/>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3</a:t>
            </a:r>
            <a:endParaRPr lang="en-US" sz="1200" dirty="0"/>
          </a:p>
        </p:txBody>
      </p:sp>
      <p:sp>
        <p:nvSpPr>
          <p:cNvPr id="30" name="Text 28"/>
          <p:cNvSpPr/>
          <p:nvPr/>
        </p:nvSpPr>
        <p:spPr>
          <a:xfrm>
            <a:off x="520601" y="4378226"/>
            <a:ext cx="3993222" cy="200025"/>
          </a:xfrm>
          <a:prstGeom prst="rect">
            <a:avLst/>
          </a:prstGeom>
          <a:noFill/>
          <a:ln/>
        </p:spPr>
        <p:txBody>
          <a:bodyPr wrap="square" lIns="0" tIns="0" rIns="0" bIns="0" rtlCol="0" anchor="t"/>
          <a:lstStyle/>
          <a:p>
            <a:pPr algn="l" indent="0" marL="0">
              <a:spcBef>
                <a:spcPts val="800"/>
              </a:spcBef>
              <a:buNone/>
            </a:pPr>
            <a:r>
              <a:rPr lang="en-US" sz="1100" b="1" dirty="0">
                <a:solidFill>
                  <a:srgbClr val="1B3A5C"/>
                </a:solidFill>
                <a:latin typeface="Microsoft YaHei" pitchFamily="34" charset="0"/>
                <a:ea typeface="Microsoft YaHei" pitchFamily="34" charset="-122"/>
                <a:cs typeface="Microsoft YaHei" pitchFamily="34" charset="-120"/>
              </a:rPr>
              <a:t>merged_process_data + mapping</a:t>
            </a:r>
            <a:endParaRPr lang="en-US" sz="1100" dirty="0"/>
          </a:p>
        </p:txBody>
      </p:sp>
      <p:sp>
        <p:nvSpPr>
          <p:cNvPr id="31" name="Text 29"/>
          <p:cNvSpPr/>
          <p:nvPr/>
        </p:nvSpPr>
        <p:spPr>
          <a:xfrm>
            <a:off x="520601" y="4629001"/>
            <a:ext cx="3993222" cy="342900"/>
          </a:xfrm>
          <a:prstGeom prst="rect">
            <a:avLst/>
          </a:prstGeom>
          <a:noFill/>
          <a:ln/>
        </p:spPr>
        <p:txBody>
          <a:bodyPr wrap="square" lIns="0" tIns="0" rIns="0" bIns="0" rtlCol="0" anchor="t"/>
          <a:lstStyle/>
          <a:p>
            <a:pPr algn="l" indent="0" marL="0">
              <a:lnSpc>
                <a:spcPts val="1350"/>
              </a:lnSpc>
              <a:spcBef>
                <a:spcPts val="400"/>
              </a:spcBef>
              <a:buNone/>
            </a:pPr>
            <a:r>
              <a:rPr lang="en-US" sz="900" dirty="0">
                <a:solidFill>
                  <a:srgbClr val="636E72"/>
                </a:solidFill>
                <a:latin typeface="Microsoft YaHei" pitchFamily="34" charset="0"/>
                <a:ea typeface="Microsoft YaHei" pitchFamily="34" charset="-122"/>
                <a:cs typeface="Microsoft YaHei" pitchFamily="34" charset="-120"/>
              </a:rPr>
              <a:t>8640行30秒间隔时序数据，配parameter_mapping.json解释每个参数含义，确保数据解读的物理准确性。</a:t>
            </a:r>
            <a:endParaRPr lang="en-US" sz="900" dirty="0"/>
          </a:p>
        </p:txBody>
      </p:sp>
      <p:sp>
        <p:nvSpPr>
          <p:cNvPr id="32" name="Text 30"/>
          <p:cNvSpPr/>
          <p:nvPr/>
        </p:nvSpPr>
        <p:spPr>
          <a:xfrm>
            <a:off x="4978301" y="1015901"/>
            <a:ext cx="997053" cy="200025"/>
          </a:xfrm>
          <a:prstGeom prst="rect">
            <a:avLst/>
          </a:prstGeom>
          <a:noFill/>
          <a:ln/>
        </p:spPr>
        <p:txBody>
          <a:bodyPr wrap="square" lIns="0" tIns="0" rIns="0" bIns="0" rtlCol="0" anchor="t"/>
          <a:lstStyle/>
          <a:p>
            <a:pPr algn="l" indent="0" marL="0">
              <a:buNone/>
            </a:pPr>
            <a:r>
              <a:rPr lang="en-US" sz="1100" b="1" dirty="0">
                <a:solidFill>
                  <a:srgbClr val="1B3A5C"/>
                </a:solidFill>
                <a:latin typeface="Microsoft YaHei" pitchFamily="34" charset="0"/>
                <a:ea typeface="Microsoft YaHei" pitchFamily="34" charset="-122"/>
                <a:cs typeface="Microsoft YaHei" pitchFamily="34" charset="-120"/>
              </a:rPr>
              <a:t>纵拉工艺示意图</a:t>
            </a:r>
            <a:endParaRPr lang="en-US" sz="1100" dirty="0"/>
          </a:p>
        </p:txBody>
      </p:sp>
      <p:sp>
        <p:nvSpPr>
          <p:cNvPr id="33" name="Text 31"/>
          <p:cNvSpPr/>
          <p:nvPr/>
        </p:nvSpPr>
        <p:spPr>
          <a:xfrm>
            <a:off x="4978301" y="4825901"/>
            <a:ext cx="6730901" cy="914400"/>
          </a:xfrm>
          <a:prstGeom prst="roundRect">
            <a:avLst>
              <a:gd name="adj" fmla="val 5556"/>
            </a:avLst>
          </a:prstGeom>
          <a:solidFill>
            <a:srgbClr val="FFFFFF"/>
          </a:solidFill>
          <a:ln w="9525">
            <a:solidFill>
              <a:srgbClr val="DFE6E9"/>
            </a:solidFill>
          </a:ln>
        </p:spPr>
        <p:txBody>
          <a:bodyPr wrap="square" rtlCol="0" anchor="ctr"/>
          <a:lstStyle/>
          <a:p>
            <a:pPr indent="0" marL="0">
              <a:buNone/>
            </a:pPr>
            <a:endParaRPr lang="en-US" dirty="0"/>
          </a:p>
        </p:txBody>
      </p:sp>
      <p:sp>
        <p:nvSpPr>
          <p:cNvPr id="34" name="Text 32"/>
          <p:cNvSpPr/>
          <p:nvPr/>
        </p:nvSpPr>
        <p:spPr>
          <a:xfrm>
            <a:off x="5165527" y="4962376"/>
            <a:ext cx="6483578" cy="388441"/>
          </a:xfrm>
          <a:prstGeom prst="rect">
            <a:avLst/>
          </a:prstGeom>
          <a:noFill/>
          <a:ln/>
        </p:spPr>
        <p:txBody>
          <a:bodyPr wrap="square" lIns="0" tIns="0" rIns="0" bIns="0" rtlCol="0" anchor="t"/>
          <a:lstStyle/>
          <a:p>
            <a:pPr algn="l" indent="0" marL="0">
              <a:lnSpc>
                <a:spcPts val="1530"/>
              </a:lnSpc>
              <a:buNone/>
            </a:pPr>
            <a:r>
              <a:rPr lang="en-US" sz="900" b="1" dirty="0">
                <a:solidFill>
                  <a:srgbClr val="1B3A5C"/>
                </a:solidFill>
                <a:latin typeface="Microsoft YaHei" pitchFamily="34" charset="0"/>
                <a:ea typeface="Microsoft YaHei" pitchFamily="34" charset="-122"/>
                <a:cs typeface="Microsoft YaHei" pitchFamily="34" charset="-120"/>
              </a:rPr>
              <a:t>BOPET纵拉三温区工艺：</a:t>
            </a:r>
            <a:pPr algn="l" indent="0" marL="0">
              <a:lnSpc>
                <a:spcPts val="1530"/>
              </a:lnSpc>
              <a:buNone/>
            </a:pPr>
            <a:r>
              <a:rPr lang="en-US" sz="900" dirty="0">
                <a:solidFill>
                  <a:srgbClr val="2D3436"/>
                </a:solidFill>
                <a:latin typeface="Microsoft YaHei" pitchFamily="34" charset="0"/>
                <a:ea typeface="Microsoft YaHei" pitchFamily="34" charset="-122"/>
                <a:cs typeface="Microsoft YaHei" pitchFamily="34" charset="-120"/>
              </a:rPr>
              <a:t>挤出基材 → 预加热区(75-76 C, near Tg)使PET软化 → 拉伸区(82-84 C)沿MD方向拉伸约3倍 → 急冷区(30-36 C)冻结分子取向。全程18辊系统，各辊独立温控。</a:t>
            </a:r>
            <a:endParaRPr lang="en-US" sz="900" dirty="0"/>
          </a:p>
        </p:txBody>
      </p:sp>
      <p:sp>
        <p:nvSpPr>
          <p:cNvPr id="35" name="Text 33"/>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36" name="Shape 34"/>
          <p:cNvSpPr/>
          <p:nvPr/>
        </p:nvSpPr>
        <p:spPr>
          <a:xfrm>
            <a:off x="0" y="6608862"/>
            <a:ext cx="12192000" cy="0"/>
          </a:xfrm>
          <a:prstGeom prst="line">
            <a:avLst/>
          </a:prstGeom>
          <a:noFill/>
          <a:ln w="9525">
            <a:solidFill>
              <a:srgbClr val="DFE6E9"/>
            </a:solidFill>
            <a:prstDash val="solid"/>
          </a:ln>
        </p:spPr>
      </p:sp>
      <p:sp>
        <p:nvSpPr>
          <p:cNvPr id="37" name="Text 35"/>
          <p:cNvSpPr/>
          <p:nvPr/>
        </p:nvSpPr>
        <p:spPr>
          <a:xfrm>
            <a:off x="11570791" y="6670774"/>
            <a:ext cx="322737"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3 / 10</a:t>
            </a:r>
            <a:endParaRPr lang="en-US" sz="900" dirty="0"/>
          </a:p>
        </p:txBody>
      </p:sp>
      <p:pic>
        <p:nvPicPr>
          <p:cNvPr id="38" name="Image 0" descr="/Volumes/laxer/codes/skills/ industrial-deep-diagnostic/ppt_workspace/garden-gpt-image-2/image/fig7_md_stretcher_layout.png">    </p:cNvPr>
          <p:cNvPicPr>
            <a:picLocks noChangeAspect="1"/>
          </p:cNvPicPr>
          <p:nvPr/>
        </p:nvPicPr>
        <p:blipFill>
          <a:blip r:embed="rId1"/>
          <a:stretch>
            <a:fillRect/>
          </a:stretch>
        </p:blipFill>
        <p:spPr>
          <a:xfrm>
            <a:off x="4978301" y="1269950"/>
            <a:ext cx="6730901" cy="3365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304800" y="304800"/>
            <a:ext cx="4565830" cy="390525"/>
          </a:xfrm>
          <a:prstGeom prst="rect">
            <a:avLst/>
          </a:prstGeom>
          <a:noFill/>
          <a:ln/>
        </p:spPr>
        <p:txBody>
          <a:bodyPr wrap="square" lIns="0" tIns="0" rIns="0" bIns="0" rtlCol="0" anchor="t"/>
          <a:lstStyle/>
          <a:p>
            <a:pPr algn="l" indent="0" marL="0">
              <a:buNone/>
            </a:pPr>
            <a:r>
              <a:rPr lang="en-US" sz="2200" b="1" dirty="0">
                <a:solidFill>
                  <a:srgbClr val="1B3A5C"/>
                </a:solidFill>
                <a:latin typeface="Microsoft YaHei" pitchFamily="34" charset="0"/>
                <a:ea typeface="Microsoft YaHei" pitchFamily="34" charset="-122"/>
                <a:cs typeface="Microsoft YaHei" pitchFamily="34" charset="-120"/>
              </a:rPr>
              <a:t>参数本体——每个数据的物理含义</a:t>
            </a:r>
            <a:endParaRPr lang="en-US" sz="2200" dirty="0"/>
          </a:p>
        </p:txBody>
      </p:sp>
      <p:sp>
        <p:nvSpPr>
          <p:cNvPr id="4" name="Text 2"/>
          <p:cNvSpPr/>
          <p:nvPr/>
        </p:nvSpPr>
        <p:spPr>
          <a:xfrm>
            <a:off x="304800" y="736550"/>
            <a:ext cx="634901"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304800" y="1041350"/>
            <a:ext cx="5638800" cy="2603450"/>
          </a:xfrm>
          <a:prstGeom prst="roundRect">
            <a:avLst>
              <a:gd name="adj" fmla="val 1951"/>
            </a:avLst>
          </a:prstGeom>
          <a:solidFill>
            <a:srgbClr val="FFFFFF"/>
          </a:solidFill>
          <a:ln/>
        </p:spPr>
        <p:txBody>
          <a:bodyPr wrap="square" rtlCol="0" anchor="ctr"/>
          <a:lstStyle/>
          <a:p>
            <a:pPr indent="0" marL="0">
              <a:buNone/>
            </a:pPr>
            <a:endParaRPr lang="en-US" dirty="0"/>
          </a:p>
        </p:txBody>
      </p:sp>
      <p:sp>
        <p:nvSpPr>
          <p:cNvPr id="6" name="Shape 4"/>
          <p:cNvSpPr/>
          <p:nvPr/>
        </p:nvSpPr>
        <p:spPr>
          <a:xfrm>
            <a:off x="304800" y="1046113"/>
            <a:ext cx="5638800" cy="0"/>
          </a:xfrm>
          <a:prstGeom prst="line">
            <a:avLst/>
          </a:prstGeom>
          <a:noFill/>
          <a:ln w="9525">
            <a:solidFill>
              <a:srgbClr val="DFE6E9"/>
            </a:solidFill>
            <a:prstDash val="solid"/>
          </a:ln>
        </p:spPr>
      </p:sp>
      <p:sp>
        <p:nvSpPr>
          <p:cNvPr id="7" name="Shape 5"/>
          <p:cNvSpPr/>
          <p:nvPr/>
        </p:nvSpPr>
        <p:spPr>
          <a:xfrm>
            <a:off x="5938838" y="1041350"/>
            <a:ext cx="0" cy="2603450"/>
          </a:xfrm>
          <a:prstGeom prst="line">
            <a:avLst/>
          </a:prstGeom>
          <a:noFill/>
          <a:ln w="9525">
            <a:solidFill>
              <a:srgbClr val="DFE6E9"/>
            </a:solidFill>
            <a:prstDash val="solid"/>
          </a:ln>
        </p:spPr>
      </p:sp>
      <p:sp>
        <p:nvSpPr>
          <p:cNvPr id="8" name="Shape 6"/>
          <p:cNvSpPr/>
          <p:nvPr/>
        </p:nvSpPr>
        <p:spPr>
          <a:xfrm>
            <a:off x="304800" y="3640038"/>
            <a:ext cx="5638800" cy="0"/>
          </a:xfrm>
          <a:prstGeom prst="line">
            <a:avLst/>
          </a:prstGeom>
          <a:noFill/>
          <a:ln w="9525">
            <a:solidFill>
              <a:srgbClr val="DFE6E9"/>
            </a:solidFill>
            <a:prstDash val="solid"/>
          </a:ln>
        </p:spPr>
      </p:sp>
      <p:sp>
        <p:nvSpPr>
          <p:cNvPr id="9" name="Shape 7"/>
          <p:cNvSpPr/>
          <p:nvPr/>
        </p:nvSpPr>
        <p:spPr>
          <a:xfrm>
            <a:off x="328613" y="1041350"/>
            <a:ext cx="0" cy="2603450"/>
          </a:xfrm>
          <a:prstGeom prst="line">
            <a:avLst/>
          </a:prstGeom>
          <a:noFill/>
          <a:ln w="47625">
            <a:solidFill>
              <a:srgbClr val="1B3A5C"/>
            </a:solidFill>
            <a:prstDash val="solid"/>
          </a:ln>
        </p:spPr>
      </p:sp>
      <p:sp>
        <p:nvSpPr>
          <p:cNvPr id="10" name="Text 8"/>
          <p:cNvSpPr/>
          <p:nvPr/>
        </p:nvSpPr>
        <p:spPr>
          <a:xfrm>
            <a:off x="555575" y="1228576"/>
            <a:ext cx="1013371" cy="257175"/>
          </a:xfrm>
          <a:prstGeom prst="roundRect">
            <a:avLst>
              <a:gd name="adj" fmla="val 14815"/>
            </a:avLst>
          </a:prstGeom>
          <a:solidFill>
            <a:srgbClr val="1B3A5C"/>
          </a:solidFill>
          <a:ln/>
        </p:spPr>
        <p:txBody>
          <a:bodyPr wrap="square" rtlCol="0" anchor="ctr"/>
          <a:lstStyle/>
          <a:p>
            <a:pPr indent="0" marL="0">
              <a:buNone/>
            </a:pPr>
            <a:endParaRPr lang="en-US" dirty="0"/>
          </a:p>
        </p:txBody>
      </p:sp>
      <p:sp>
        <p:nvSpPr>
          <p:cNvPr id="11" name="Text 9"/>
          <p:cNvSpPr/>
          <p:nvPr/>
        </p:nvSpPr>
        <p:spPr>
          <a:xfrm>
            <a:off x="682526" y="1266676"/>
            <a:ext cx="774659" cy="180975"/>
          </a:xfrm>
          <a:prstGeom prst="rect">
            <a:avLst/>
          </a:prstGeom>
          <a:noFill/>
          <a:ln/>
        </p:spPr>
        <p:txBody>
          <a:bodyPr wrap="square" lIns="0" tIns="0" rIns="0" bIns="0" rtlCol="0" anchor="t"/>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温度 · TEMP</a:t>
            </a:r>
            <a:endParaRPr lang="en-US" sz="1000" dirty="0"/>
          </a:p>
        </p:txBody>
      </p:sp>
      <p:sp>
        <p:nvSpPr>
          <p:cNvPr id="12" name="Text 10"/>
          <p:cNvSpPr/>
          <p:nvPr/>
        </p:nvSpPr>
        <p:spPr>
          <a:xfrm>
            <a:off x="555575" y="1612702"/>
            <a:ext cx="5278856" cy="863203"/>
          </a:xfrm>
          <a:prstGeom prst="rect">
            <a:avLst/>
          </a:prstGeom>
          <a:noFill/>
          <a:ln/>
        </p:spPr>
        <p:txBody>
          <a:bodyPr wrap="square" lIns="0" tIns="0" rIns="0" bIns="0" rtlCol="0" anchor="t"/>
          <a:lstStyle/>
          <a:p>
            <a:pPr algn="l" indent="0" marL="0">
              <a:lnSpc>
                <a:spcPts val="1700"/>
              </a:lnSpc>
              <a:buNone/>
            </a:pPr>
            <a:r>
              <a:rPr lang="en-US" sz="1000" dirty="0">
                <a:solidFill>
                  <a:srgbClr val="2D3436"/>
                </a:solidFill>
                <a:latin typeface="Microsoft YaHei" pitchFamily="34" charset="0"/>
                <a:ea typeface="Microsoft YaHei" pitchFamily="34" charset="-122"/>
                <a:cs typeface="Microsoft YaHei" pitchFamily="34" charset="-120"/>
              </a:rPr>
              <a:t>18组传感器 (MD_TH001-018) 监测每根纵拉辊表面温度。18辊分为三个温区：1-6号辊预热区维持在 75-76 C (接近 PET 玻璃化转变温度 Tg，使非晶区分子链段获得运动能力)；7-12号辊拉伸区加热至 82-84 C (在 Tg 以上约 10 C 实现分子链沿 MD 方向取向)；13-18号辊急冷区快速冷却至 30-36 C (冻结取向结构防止收缩)。</a:t>
            </a:r>
            <a:endParaRPr lang="en-US" sz="1000" dirty="0"/>
          </a:p>
        </p:txBody>
      </p:sp>
      <p:sp>
        <p:nvSpPr>
          <p:cNvPr id="13" name="Text 11"/>
          <p:cNvSpPr/>
          <p:nvPr/>
        </p:nvSpPr>
        <p:spPr>
          <a:xfrm>
            <a:off x="555575" y="2526655"/>
            <a:ext cx="5278856" cy="431602"/>
          </a:xfrm>
          <a:prstGeom prst="rect">
            <a:avLst/>
          </a:prstGeom>
          <a:noFill/>
          <a:ln/>
        </p:spPr>
        <p:txBody>
          <a:bodyPr wrap="square" lIns="0" tIns="0" rIns="0" bIns="0" rtlCol="0" anchor="t"/>
          <a:lstStyle/>
          <a:p>
            <a:pPr algn="l" indent="0" marL="0">
              <a:lnSpc>
                <a:spcPts val="1700"/>
              </a:lnSpc>
              <a:spcBef>
                <a:spcPts val="400"/>
              </a:spcBef>
              <a:buNone/>
            </a:pPr>
            <a:r>
              <a:rPr lang="en-US" sz="1000" dirty="0">
                <a:solidFill>
                  <a:srgbClr val="636E72"/>
                </a:solidFill>
                <a:latin typeface="Microsoft YaHei" pitchFamily="34" charset="0"/>
                <a:ea typeface="Microsoft YaHei" pitchFamily="34" charset="-122"/>
                <a:cs typeface="Microsoft YaHei" pitchFamily="34" charset="-120"/>
              </a:rPr>
              <a:t>各型号温度设定差异小于 1 C，所有辊的跨批次波动 stdev &lt; 0.1 C。如此极端的稳定性意味着温度波动几乎不可能解释划伤率的显著差异——18辊的极低变异是排除 H4 的第一证据。</a:t>
            </a:r>
            <a:endParaRPr lang="en-US" sz="1000" dirty="0"/>
          </a:p>
        </p:txBody>
      </p:sp>
      <p:sp>
        <p:nvSpPr>
          <p:cNvPr id="14" name="Text 12"/>
          <p:cNvSpPr/>
          <p:nvPr/>
        </p:nvSpPr>
        <p:spPr>
          <a:xfrm>
            <a:off x="555575" y="3034457"/>
            <a:ext cx="5278856" cy="161925"/>
          </a:xfrm>
          <a:prstGeom prst="rect">
            <a:avLst/>
          </a:prstGeom>
          <a:noFill/>
          <a:ln/>
        </p:spPr>
        <p:txBody>
          <a:bodyPr wrap="square" lIns="0" tIns="0" rIns="0" bIns="0" rtlCol="0" anchor="t"/>
          <a:lstStyle/>
          <a:p>
            <a:pPr algn="l" indent="0" marL="0">
              <a:spcBef>
                <a:spcPts val="600"/>
              </a:spcBef>
              <a:buNone/>
            </a:pPr>
            <a:r>
              <a:rPr lang="en-US" sz="900" dirty="0">
                <a:solidFill>
                  <a:srgbClr val="E85D3A"/>
                </a:solidFill>
                <a:latin typeface="Microsoft YaHei" pitchFamily="34" charset="0"/>
                <a:ea typeface="Microsoft YaHei" pitchFamily="34" charset="-122"/>
                <a:cs typeface="Microsoft YaHei" pitchFamily="34" charset="-120"/>
              </a:rPr>
              <a:t>参数前缀：MD_TH（温度），物理范围：30-85 C，采样：批次均值+标准差</a:t>
            </a:r>
            <a:endParaRPr lang="en-US" sz="900" dirty="0"/>
          </a:p>
        </p:txBody>
      </p:sp>
      <p:sp>
        <p:nvSpPr>
          <p:cNvPr id="15" name="Text 13"/>
          <p:cNvSpPr/>
          <p:nvPr/>
        </p:nvSpPr>
        <p:spPr>
          <a:xfrm>
            <a:off x="6248400" y="1041350"/>
            <a:ext cx="5638800" cy="2603450"/>
          </a:xfrm>
          <a:prstGeom prst="roundRect">
            <a:avLst>
              <a:gd name="adj" fmla="val 1951"/>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6248400" y="1046113"/>
            <a:ext cx="5638800" cy="0"/>
          </a:xfrm>
          <a:prstGeom prst="line">
            <a:avLst/>
          </a:prstGeom>
          <a:noFill/>
          <a:ln w="9525">
            <a:solidFill>
              <a:srgbClr val="DFE6E9"/>
            </a:solidFill>
            <a:prstDash val="solid"/>
          </a:ln>
        </p:spPr>
      </p:sp>
      <p:sp>
        <p:nvSpPr>
          <p:cNvPr id="17" name="Shape 15"/>
          <p:cNvSpPr/>
          <p:nvPr/>
        </p:nvSpPr>
        <p:spPr>
          <a:xfrm>
            <a:off x="11882438" y="1041350"/>
            <a:ext cx="0" cy="2603450"/>
          </a:xfrm>
          <a:prstGeom prst="line">
            <a:avLst/>
          </a:prstGeom>
          <a:noFill/>
          <a:ln w="9525">
            <a:solidFill>
              <a:srgbClr val="DFE6E9"/>
            </a:solidFill>
            <a:prstDash val="solid"/>
          </a:ln>
        </p:spPr>
      </p:sp>
      <p:sp>
        <p:nvSpPr>
          <p:cNvPr id="18" name="Shape 16"/>
          <p:cNvSpPr/>
          <p:nvPr/>
        </p:nvSpPr>
        <p:spPr>
          <a:xfrm>
            <a:off x="6248400" y="3640038"/>
            <a:ext cx="5638800" cy="0"/>
          </a:xfrm>
          <a:prstGeom prst="line">
            <a:avLst/>
          </a:prstGeom>
          <a:noFill/>
          <a:ln w="9525">
            <a:solidFill>
              <a:srgbClr val="DFE6E9"/>
            </a:solidFill>
            <a:prstDash val="solid"/>
          </a:ln>
        </p:spPr>
      </p:sp>
      <p:sp>
        <p:nvSpPr>
          <p:cNvPr id="19" name="Shape 17"/>
          <p:cNvSpPr/>
          <p:nvPr/>
        </p:nvSpPr>
        <p:spPr>
          <a:xfrm>
            <a:off x="6272213" y="1041350"/>
            <a:ext cx="0" cy="2603450"/>
          </a:xfrm>
          <a:prstGeom prst="line">
            <a:avLst/>
          </a:prstGeom>
          <a:noFill/>
          <a:ln w="47625">
            <a:solidFill>
              <a:srgbClr val="E85D3A"/>
            </a:solidFill>
            <a:prstDash val="solid"/>
          </a:ln>
        </p:spPr>
      </p:sp>
      <p:sp>
        <p:nvSpPr>
          <p:cNvPr id="20" name="Text 18"/>
          <p:cNvSpPr/>
          <p:nvPr/>
        </p:nvSpPr>
        <p:spPr>
          <a:xfrm>
            <a:off x="6499175" y="1228576"/>
            <a:ext cx="1194048" cy="257175"/>
          </a:xfrm>
          <a:prstGeom prst="roundRect">
            <a:avLst>
              <a:gd name="adj" fmla="val 14815"/>
            </a:avLst>
          </a:prstGeom>
          <a:solidFill>
            <a:srgbClr val="E85D3A"/>
          </a:solidFill>
          <a:ln/>
        </p:spPr>
        <p:txBody>
          <a:bodyPr wrap="square" rtlCol="0" anchor="ctr"/>
          <a:lstStyle/>
          <a:p>
            <a:pPr indent="0" marL="0">
              <a:buNone/>
            </a:pPr>
            <a:endParaRPr lang="en-US" dirty="0"/>
          </a:p>
        </p:txBody>
      </p:sp>
      <p:sp>
        <p:nvSpPr>
          <p:cNvPr id="21" name="Text 19"/>
          <p:cNvSpPr/>
          <p:nvPr/>
        </p:nvSpPr>
        <p:spPr>
          <a:xfrm>
            <a:off x="6626126" y="1266676"/>
            <a:ext cx="958950" cy="180975"/>
          </a:xfrm>
          <a:prstGeom prst="rect">
            <a:avLst/>
          </a:prstGeom>
          <a:noFill/>
          <a:ln/>
        </p:spPr>
        <p:txBody>
          <a:bodyPr wrap="square" lIns="0" tIns="0" rIns="0" bIns="0" rtlCol="0" anchor="t"/>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扭矩 · TORQUE</a:t>
            </a:r>
            <a:endParaRPr lang="en-US" sz="1000" dirty="0"/>
          </a:p>
        </p:txBody>
      </p:sp>
      <p:sp>
        <p:nvSpPr>
          <p:cNvPr id="22" name="Text 20"/>
          <p:cNvSpPr/>
          <p:nvPr/>
        </p:nvSpPr>
        <p:spPr>
          <a:xfrm>
            <a:off x="6499175" y="1612702"/>
            <a:ext cx="5278856" cy="647402"/>
          </a:xfrm>
          <a:prstGeom prst="rect">
            <a:avLst/>
          </a:prstGeom>
          <a:noFill/>
          <a:ln/>
        </p:spPr>
        <p:txBody>
          <a:bodyPr wrap="square" lIns="0" tIns="0" rIns="0" bIns="0" rtlCol="0" anchor="t"/>
          <a:lstStyle/>
          <a:p>
            <a:pPr algn="l" indent="0" marL="0">
              <a:lnSpc>
                <a:spcPts val="1700"/>
              </a:lnSpc>
              <a:buNone/>
            </a:pPr>
            <a:r>
              <a:rPr lang="en-US" sz="1000" dirty="0">
                <a:solidFill>
                  <a:srgbClr val="2D3436"/>
                </a:solidFill>
                <a:latin typeface="Microsoft YaHei" pitchFamily="34" charset="0"/>
                <a:ea typeface="Microsoft YaHei" pitchFamily="34" charset="-122"/>
                <a:cs typeface="Microsoft YaHei" pitchFamily="34" charset="-120"/>
              </a:rPr>
              <a:t>18组传感器 (W1C7C-8D 系列) 监测每根纵拉辊的驱动扭矩，直接反映薄膜与辊面之间的接触力和摩擦力状态。正值表示该辊处于电机牵引状态（主动驱动薄膜），负值表示该辊处于制动状态（被薄膜拖动旋转）。</a:t>
            </a:r>
            <a:endParaRPr lang="en-US" sz="1000" dirty="0"/>
          </a:p>
        </p:txBody>
      </p:sp>
      <p:sp>
        <p:nvSpPr>
          <p:cNvPr id="23" name="Text 21"/>
          <p:cNvSpPr/>
          <p:nvPr/>
        </p:nvSpPr>
        <p:spPr>
          <a:xfrm>
            <a:off x="6499175" y="2310854"/>
            <a:ext cx="5278856" cy="647402"/>
          </a:xfrm>
          <a:prstGeom prst="rect">
            <a:avLst/>
          </a:prstGeom>
          <a:noFill/>
          <a:ln/>
        </p:spPr>
        <p:txBody>
          <a:bodyPr wrap="square" lIns="0" tIns="0" rIns="0" bIns="0" rtlCol="0" anchor="t"/>
          <a:lstStyle/>
          <a:p>
            <a:pPr algn="l" indent="0" marL="0">
              <a:lnSpc>
                <a:spcPts val="1700"/>
              </a:lnSpc>
              <a:spcBef>
                <a:spcPts val="400"/>
              </a:spcBef>
              <a:buNone/>
            </a:pPr>
            <a:r>
              <a:rPr lang="en-US" sz="1000" dirty="0">
                <a:solidFill>
                  <a:srgbClr val="636E72"/>
                </a:solidFill>
                <a:latin typeface="Microsoft YaHei" pitchFamily="34" charset="0"/>
                <a:ea typeface="Microsoft YaHei" pitchFamily="34" charset="-122"/>
                <a:cs typeface="Microsoft YaHei" pitchFamily="34" charset="-120"/>
              </a:rPr>
              <a:t>关键发现：11号辊扭矩均值约 -67%（强制动状态），而在高划伤批次中 5号、6号、11号辊的扭矩偏离基线幅度最大。高划伤 vs 零划伤批次的扭矩波动中位数差异约 6%，最大值差异约 30%，提示薄膜-辊面接触力的异常变化可能触发划伤。</a:t>
            </a:r>
            <a:endParaRPr lang="en-US" sz="1000" dirty="0"/>
          </a:p>
        </p:txBody>
      </p:sp>
      <p:sp>
        <p:nvSpPr>
          <p:cNvPr id="24" name="Text 22"/>
          <p:cNvSpPr/>
          <p:nvPr/>
        </p:nvSpPr>
        <p:spPr>
          <a:xfrm>
            <a:off x="6499175" y="3034457"/>
            <a:ext cx="5278856" cy="161925"/>
          </a:xfrm>
          <a:prstGeom prst="rect">
            <a:avLst/>
          </a:prstGeom>
          <a:noFill/>
          <a:ln/>
        </p:spPr>
        <p:txBody>
          <a:bodyPr wrap="square" lIns="0" tIns="0" rIns="0" bIns="0" rtlCol="0" anchor="t"/>
          <a:lstStyle/>
          <a:p>
            <a:pPr algn="l" indent="0" marL="0">
              <a:spcBef>
                <a:spcPts val="600"/>
              </a:spcBef>
              <a:buNone/>
            </a:pPr>
            <a:r>
              <a:rPr lang="en-US" sz="900" dirty="0">
                <a:solidFill>
                  <a:srgbClr val="E85D3A"/>
                </a:solidFill>
                <a:latin typeface="Microsoft YaHei" pitchFamily="34" charset="0"/>
                <a:ea typeface="Microsoft YaHei" pitchFamily="34" charset="-122"/>
                <a:cs typeface="Microsoft YaHei" pitchFamily="34" charset="-120"/>
              </a:rPr>
              <a:t>参数前缀：W1C7C-8D，量纲：%，正值=牵引 / 负值=制动</a:t>
            </a:r>
            <a:endParaRPr lang="en-US" sz="900" dirty="0"/>
          </a:p>
        </p:txBody>
      </p:sp>
      <p:sp>
        <p:nvSpPr>
          <p:cNvPr id="25" name="Text 23"/>
          <p:cNvSpPr/>
          <p:nvPr/>
        </p:nvSpPr>
        <p:spPr>
          <a:xfrm>
            <a:off x="304800" y="3873401"/>
            <a:ext cx="5638800" cy="2476500"/>
          </a:xfrm>
          <a:prstGeom prst="roundRect">
            <a:avLst>
              <a:gd name="adj" fmla="val 2051"/>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304800" y="3878163"/>
            <a:ext cx="5638800" cy="0"/>
          </a:xfrm>
          <a:prstGeom prst="line">
            <a:avLst/>
          </a:prstGeom>
          <a:noFill/>
          <a:ln w="9525">
            <a:solidFill>
              <a:srgbClr val="DFE6E9"/>
            </a:solidFill>
            <a:prstDash val="solid"/>
          </a:ln>
        </p:spPr>
      </p:sp>
      <p:sp>
        <p:nvSpPr>
          <p:cNvPr id="27" name="Shape 25"/>
          <p:cNvSpPr/>
          <p:nvPr/>
        </p:nvSpPr>
        <p:spPr>
          <a:xfrm>
            <a:off x="5938838" y="3873401"/>
            <a:ext cx="0" cy="2476500"/>
          </a:xfrm>
          <a:prstGeom prst="line">
            <a:avLst/>
          </a:prstGeom>
          <a:noFill/>
          <a:ln w="9525">
            <a:solidFill>
              <a:srgbClr val="DFE6E9"/>
            </a:solidFill>
            <a:prstDash val="solid"/>
          </a:ln>
        </p:spPr>
      </p:sp>
      <p:sp>
        <p:nvSpPr>
          <p:cNvPr id="28" name="Shape 26"/>
          <p:cNvSpPr/>
          <p:nvPr/>
        </p:nvSpPr>
        <p:spPr>
          <a:xfrm>
            <a:off x="304800" y="6345138"/>
            <a:ext cx="5638800" cy="0"/>
          </a:xfrm>
          <a:prstGeom prst="line">
            <a:avLst/>
          </a:prstGeom>
          <a:noFill/>
          <a:ln w="9525">
            <a:solidFill>
              <a:srgbClr val="DFE6E9"/>
            </a:solidFill>
            <a:prstDash val="solid"/>
          </a:ln>
        </p:spPr>
      </p:sp>
      <p:sp>
        <p:nvSpPr>
          <p:cNvPr id="29" name="Shape 27"/>
          <p:cNvSpPr/>
          <p:nvPr/>
        </p:nvSpPr>
        <p:spPr>
          <a:xfrm>
            <a:off x="328613" y="3873401"/>
            <a:ext cx="0" cy="2476500"/>
          </a:xfrm>
          <a:prstGeom prst="line">
            <a:avLst/>
          </a:prstGeom>
          <a:noFill/>
          <a:ln w="47625">
            <a:solidFill>
              <a:srgbClr val="1B3A5C"/>
            </a:solidFill>
            <a:prstDash val="solid"/>
          </a:ln>
        </p:spPr>
      </p:sp>
      <p:sp>
        <p:nvSpPr>
          <p:cNvPr id="30" name="Text 28"/>
          <p:cNvSpPr/>
          <p:nvPr/>
        </p:nvSpPr>
        <p:spPr>
          <a:xfrm>
            <a:off x="555575" y="4060627"/>
            <a:ext cx="1076176" cy="257175"/>
          </a:xfrm>
          <a:prstGeom prst="roundRect">
            <a:avLst>
              <a:gd name="adj" fmla="val 14815"/>
            </a:avLst>
          </a:prstGeom>
          <a:solidFill>
            <a:srgbClr val="1B3A5C"/>
          </a:solidFill>
          <a:ln/>
        </p:spPr>
        <p:txBody>
          <a:bodyPr wrap="square" rtlCol="0" anchor="ctr"/>
          <a:lstStyle/>
          <a:p>
            <a:pPr indent="0" marL="0">
              <a:buNone/>
            </a:pPr>
            <a:endParaRPr lang="en-US" dirty="0"/>
          </a:p>
        </p:txBody>
      </p:sp>
      <p:sp>
        <p:nvSpPr>
          <p:cNvPr id="31" name="Text 29"/>
          <p:cNvSpPr/>
          <p:nvPr/>
        </p:nvSpPr>
        <p:spPr>
          <a:xfrm>
            <a:off x="682526" y="4098727"/>
            <a:ext cx="838721" cy="180975"/>
          </a:xfrm>
          <a:prstGeom prst="rect">
            <a:avLst/>
          </a:prstGeom>
          <a:noFill/>
          <a:ln/>
        </p:spPr>
        <p:txBody>
          <a:bodyPr wrap="square" lIns="0" tIns="0" rIns="0" bIns="0" rtlCol="0" anchor="t"/>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速度 · SPEED</a:t>
            </a:r>
            <a:endParaRPr lang="en-US" sz="1000" dirty="0"/>
          </a:p>
        </p:txBody>
      </p:sp>
      <p:sp>
        <p:nvSpPr>
          <p:cNvPr id="32" name="Text 30"/>
          <p:cNvSpPr/>
          <p:nvPr/>
        </p:nvSpPr>
        <p:spPr>
          <a:xfrm>
            <a:off x="555575" y="4444752"/>
            <a:ext cx="5278856" cy="863203"/>
          </a:xfrm>
          <a:prstGeom prst="rect">
            <a:avLst/>
          </a:prstGeom>
          <a:noFill/>
          <a:ln/>
        </p:spPr>
        <p:txBody>
          <a:bodyPr wrap="square" lIns="0" tIns="0" rIns="0" bIns="0" rtlCol="0" anchor="t"/>
          <a:lstStyle/>
          <a:p>
            <a:pPr algn="l" indent="0" marL="0">
              <a:lnSpc>
                <a:spcPts val="1700"/>
              </a:lnSpc>
              <a:buNone/>
            </a:pPr>
            <a:r>
              <a:rPr lang="en-US" sz="1000" dirty="0">
                <a:solidFill>
                  <a:srgbClr val="2D3436"/>
                </a:solidFill>
                <a:latin typeface="Microsoft YaHei" pitchFamily="34" charset="0"/>
                <a:ea typeface="Microsoft YaHei" pitchFamily="34" charset="-122"/>
                <a:cs typeface="Microsoft YaHei" pitchFamily="34" charset="-120"/>
              </a:rPr>
              <a:t>慢辊 W1C40 / 快辊 W1C4B 两个关键线速度传感器。MD 拉伸比由快辊线速度除以慢辊线速度计算。拉伸比恒定在约 3.0 倍（变异系数 CV 约 1%），但不同产品型号的绝对速度基准值差异显著——PG32D 等高划伤型号的运行速度约为低划伤型号的 2 倍。较高的运行速度意味着更高的摩擦功率密度，可能增大薄膜表面剪切应力。</a:t>
            </a:r>
            <a:endParaRPr lang="en-US" sz="1000" dirty="0"/>
          </a:p>
        </p:txBody>
      </p:sp>
      <p:sp>
        <p:nvSpPr>
          <p:cNvPr id="33" name="Text 31"/>
          <p:cNvSpPr/>
          <p:nvPr/>
        </p:nvSpPr>
        <p:spPr>
          <a:xfrm>
            <a:off x="555575" y="5358705"/>
            <a:ext cx="5278856" cy="431602"/>
          </a:xfrm>
          <a:prstGeom prst="rect">
            <a:avLst/>
          </a:prstGeom>
          <a:noFill/>
          <a:ln/>
        </p:spPr>
        <p:txBody>
          <a:bodyPr wrap="square" lIns="0" tIns="0" rIns="0" bIns="0" rtlCol="0" anchor="t"/>
          <a:lstStyle/>
          <a:p>
            <a:pPr algn="l" indent="0" marL="0">
              <a:lnSpc>
                <a:spcPts val="1700"/>
              </a:lnSpc>
              <a:spcBef>
                <a:spcPts val="400"/>
              </a:spcBef>
              <a:buNone/>
            </a:pPr>
            <a:r>
              <a:rPr lang="en-US" sz="1000" dirty="0">
                <a:solidFill>
                  <a:srgbClr val="636E72"/>
                </a:solidFill>
                <a:latin typeface="Microsoft YaHei" pitchFamily="34" charset="0"/>
                <a:ea typeface="Microsoft YaHei" pitchFamily="34" charset="-122"/>
                <a:cs typeface="Microsoft YaHei" pitchFamily="34" charset="-120"/>
              </a:rPr>
              <a:t>型号之间的速度基准差异是后续所有聚合相关假象的根本驱动力——这是 Simpson 悖论的核心机制。</a:t>
            </a:r>
            <a:endParaRPr lang="en-US" sz="1000" dirty="0"/>
          </a:p>
        </p:txBody>
      </p:sp>
      <p:sp>
        <p:nvSpPr>
          <p:cNvPr id="34" name="Text 32"/>
          <p:cNvSpPr/>
          <p:nvPr/>
        </p:nvSpPr>
        <p:spPr>
          <a:xfrm>
            <a:off x="6248400" y="3873401"/>
            <a:ext cx="5638800" cy="2476500"/>
          </a:xfrm>
          <a:prstGeom prst="roundRect">
            <a:avLst>
              <a:gd name="adj" fmla="val 2051"/>
            </a:avLst>
          </a:prstGeom>
          <a:solidFill>
            <a:srgbClr val="FFFFFF"/>
          </a:solidFill>
          <a:ln/>
        </p:spPr>
        <p:txBody>
          <a:bodyPr wrap="square" rtlCol="0" anchor="ctr"/>
          <a:lstStyle/>
          <a:p>
            <a:pPr indent="0" marL="0">
              <a:buNone/>
            </a:pPr>
            <a:endParaRPr lang="en-US" dirty="0"/>
          </a:p>
        </p:txBody>
      </p:sp>
      <p:sp>
        <p:nvSpPr>
          <p:cNvPr id="35" name="Shape 33"/>
          <p:cNvSpPr/>
          <p:nvPr/>
        </p:nvSpPr>
        <p:spPr>
          <a:xfrm>
            <a:off x="6248400" y="3878163"/>
            <a:ext cx="5638800" cy="0"/>
          </a:xfrm>
          <a:prstGeom prst="line">
            <a:avLst/>
          </a:prstGeom>
          <a:noFill/>
          <a:ln w="9525">
            <a:solidFill>
              <a:srgbClr val="DFE6E9"/>
            </a:solidFill>
            <a:prstDash val="solid"/>
          </a:ln>
        </p:spPr>
      </p:sp>
      <p:sp>
        <p:nvSpPr>
          <p:cNvPr id="36" name="Shape 34"/>
          <p:cNvSpPr/>
          <p:nvPr/>
        </p:nvSpPr>
        <p:spPr>
          <a:xfrm>
            <a:off x="11882438" y="3873401"/>
            <a:ext cx="0" cy="2476500"/>
          </a:xfrm>
          <a:prstGeom prst="line">
            <a:avLst/>
          </a:prstGeom>
          <a:noFill/>
          <a:ln w="9525">
            <a:solidFill>
              <a:srgbClr val="DFE6E9"/>
            </a:solidFill>
            <a:prstDash val="solid"/>
          </a:ln>
        </p:spPr>
      </p:sp>
      <p:sp>
        <p:nvSpPr>
          <p:cNvPr id="37" name="Shape 35"/>
          <p:cNvSpPr/>
          <p:nvPr/>
        </p:nvSpPr>
        <p:spPr>
          <a:xfrm>
            <a:off x="6248400" y="6345138"/>
            <a:ext cx="5638800" cy="0"/>
          </a:xfrm>
          <a:prstGeom prst="line">
            <a:avLst/>
          </a:prstGeom>
          <a:noFill/>
          <a:ln w="9525">
            <a:solidFill>
              <a:srgbClr val="DFE6E9"/>
            </a:solidFill>
            <a:prstDash val="solid"/>
          </a:ln>
        </p:spPr>
      </p:sp>
      <p:sp>
        <p:nvSpPr>
          <p:cNvPr id="38" name="Shape 36"/>
          <p:cNvSpPr/>
          <p:nvPr/>
        </p:nvSpPr>
        <p:spPr>
          <a:xfrm>
            <a:off x="6272213" y="3873401"/>
            <a:ext cx="0" cy="2476500"/>
          </a:xfrm>
          <a:prstGeom prst="line">
            <a:avLst/>
          </a:prstGeom>
          <a:noFill/>
          <a:ln w="47625">
            <a:solidFill>
              <a:srgbClr val="636E72"/>
            </a:solidFill>
            <a:prstDash val="solid"/>
          </a:ln>
        </p:spPr>
      </p:sp>
      <p:sp>
        <p:nvSpPr>
          <p:cNvPr id="39" name="Text 37"/>
          <p:cNvSpPr/>
          <p:nvPr/>
        </p:nvSpPr>
        <p:spPr>
          <a:xfrm>
            <a:off x="6499175" y="4060627"/>
            <a:ext cx="1388120" cy="257175"/>
          </a:xfrm>
          <a:prstGeom prst="roundRect">
            <a:avLst>
              <a:gd name="adj" fmla="val 14815"/>
            </a:avLst>
          </a:prstGeom>
          <a:solidFill>
            <a:srgbClr val="636E72"/>
          </a:solidFill>
          <a:ln/>
        </p:spPr>
        <p:txBody>
          <a:bodyPr wrap="square" rtlCol="0" anchor="ctr"/>
          <a:lstStyle/>
          <a:p>
            <a:pPr indent="0" marL="0">
              <a:buNone/>
            </a:pPr>
            <a:endParaRPr lang="en-US" dirty="0"/>
          </a:p>
        </p:txBody>
      </p:sp>
      <p:sp>
        <p:nvSpPr>
          <p:cNvPr id="40" name="Text 38"/>
          <p:cNvSpPr/>
          <p:nvPr/>
        </p:nvSpPr>
        <p:spPr>
          <a:xfrm>
            <a:off x="6626126" y="4098727"/>
            <a:ext cx="1156904" cy="180975"/>
          </a:xfrm>
          <a:prstGeom prst="rect">
            <a:avLst/>
          </a:prstGeom>
          <a:noFill/>
          <a:ln/>
        </p:spPr>
        <p:txBody>
          <a:bodyPr wrap="square" lIns="0" tIns="0" rIns="0" bIns="0" rtlCol="0" anchor="t"/>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挤出 · EXTRUSION</a:t>
            </a:r>
            <a:endParaRPr lang="en-US" sz="1000" dirty="0"/>
          </a:p>
        </p:txBody>
      </p:sp>
      <p:sp>
        <p:nvSpPr>
          <p:cNvPr id="41" name="Text 39"/>
          <p:cNvSpPr/>
          <p:nvPr/>
        </p:nvSpPr>
        <p:spPr>
          <a:xfrm>
            <a:off x="6499175" y="4444752"/>
            <a:ext cx="5278856" cy="863203"/>
          </a:xfrm>
          <a:prstGeom prst="rect">
            <a:avLst/>
          </a:prstGeom>
          <a:noFill/>
          <a:ln/>
        </p:spPr>
        <p:txBody>
          <a:bodyPr wrap="square" lIns="0" tIns="0" rIns="0" bIns="0" rtlCol="0" anchor="t"/>
          <a:lstStyle/>
          <a:p>
            <a:pPr algn="l" indent="0" marL="0">
              <a:lnSpc>
                <a:spcPts val="1700"/>
              </a:lnSpc>
              <a:buNone/>
            </a:pPr>
            <a:r>
              <a:rPr lang="en-US" sz="1000" dirty="0">
                <a:solidFill>
                  <a:srgbClr val="2D3436"/>
                </a:solidFill>
                <a:latin typeface="Microsoft YaHei" pitchFamily="34" charset="0"/>
                <a:ea typeface="Microsoft YaHei" pitchFamily="34" charset="-122"/>
                <a:cs typeface="Microsoft YaHei" pitchFamily="34" charset="-120"/>
              </a:rPr>
              <a:t>上游挤出段参数，包括螺杆转速（决定挤出量）和熔体压力（反映熔体粘度和滤网状态）。这些参数位于纵拉段之前，不直接参与纵拉划伤的物理过程。挤出参数通过影响基材膜厚（高划伤型号膜厚约 2.6 倍于低划伤型号）间接影响纵拉段划伤行为——基材越厚，纵拉时局部应力集中越明显，越容易触发划伤。</a:t>
            </a:r>
            <a:endParaRPr lang="en-US" sz="1000" dirty="0"/>
          </a:p>
        </p:txBody>
      </p:sp>
      <p:sp>
        <p:nvSpPr>
          <p:cNvPr id="42" name="Text 40"/>
          <p:cNvSpPr/>
          <p:nvPr/>
        </p:nvSpPr>
        <p:spPr>
          <a:xfrm>
            <a:off x="6499175" y="5358705"/>
            <a:ext cx="5278856" cy="431602"/>
          </a:xfrm>
          <a:prstGeom prst="rect">
            <a:avLst/>
          </a:prstGeom>
          <a:noFill/>
          <a:ln/>
        </p:spPr>
        <p:txBody>
          <a:bodyPr wrap="square" lIns="0" tIns="0" rIns="0" bIns="0" rtlCol="0" anchor="t"/>
          <a:lstStyle/>
          <a:p>
            <a:pPr algn="l" indent="0" marL="0">
              <a:lnSpc>
                <a:spcPts val="1700"/>
              </a:lnSpc>
              <a:spcBef>
                <a:spcPts val="400"/>
              </a:spcBef>
              <a:buNone/>
            </a:pPr>
            <a:r>
              <a:rPr lang="en-US" sz="1000" dirty="0">
                <a:solidFill>
                  <a:srgbClr val="636E72"/>
                </a:solidFill>
                <a:latin typeface="Microsoft YaHei" pitchFamily="34" charset="0"/>
                <a:ea typeface="Microsoft YaHei" pitchFamily="34" charset="-122"/>
                <a:cs typeface="Microsoft YaHei" pitchFamily="34" charset="-120"/>
              </a:rPr>
              <a:t>与纵拉段划伤为间接关系而非直接因果路径，但其与产品型号的高度共线增加了统计拆解的难度。</a:t>
            </a:r>
            <a:endParaRPr lang="en-US" sz="1000" dirty="0"/>
          </a:p>
        </p:txBody>
      </p:sp>
      <p:sp>
        <p:nvSpPr>
          <p:cNvPr id="43" name="Text 41"/>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44" name="Shape 42"/>
          <p:cNvSpPr/>
          <p:nvPr/>
        </p:nvSpPr>
        <p:spPr>
          <a:xfrm>
            <a:off x="0" y="6608862"/>
            <a:ext cx="12192000" cy="0"/>
          </a:xfrm>
          <a:prstGeom prst="line">
            <a:avLst/>
          </a:prstGeom>
          <a:noFill/>
          <a:ln w="9525">
            <a:solidFill>
              <a:srgbClr val="DFE6E9"/>
            </a:solidFill>
            <a:prstDash val="solid"/>
          </a:ln>
        </p:spPr>
      </p:sp>
      <p:sp>
        <p:nvSpPr>
          <p:cNvPr id="45" name="Text 43"/>
          <p:cNvSpPr/>
          <p:nvPr/>
        </p:nvSpPr>
        <p:spPr>
          <a:xfrm>
            <a:off x="11570791" y="6670774"/>
            <a:ext cx="322737"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304800" y="253901"/>
            <a:ext cx="3062963" cy="352425"/>
          </a:xfrm>
          <a:prstGeom prst="rect">
            <a:avLst/>
          </a:prstGeom>
          <a:noFill/>
          <a:ln/>
        </p:spPr>
        <p:txBody>
          <a:bodyPr wrap="square" lIns="0" tIns="0" rIns="0" bIns="0" rtlCol="0" anchor="t"/>
          <a:lstStyle/>
          <a:p>
            <a:pPr algn="l" indent="0" marL="0">
              <a:buNone/>
            </a:pPr>
            <a:r>
              <a:rPr lang="en-US" sz="2000" b="1" dirty="0">
                <a:solidFill>
                  <a:srgbClr val="1B3A5C"/>
                </a:solidFill>
                <a:latin typeface="Microsoft YaHei" pitchFamily="34" charset="0"/>
                <a:ea typeface="Microsoft YaHei" pitchFamily="34" charset="-122"/>
                <a:cs typeface="Microsoft YaHei" pitchFamily="34" charset="-120"/>
              </a:rPr>
              <a:t>看懂诊断报告的关键概念</a:t>
            </a:r>
            <a:endParaRPr lang="en-US" sz="2000" dirty="0"/>
          </a:p>
        </p:txBody>
      </p:sp>
      <p:sp>
        <p:nvSpPr>
          <p:cNvPr id="4" name="Text 2"/>
          <p:cNvSpPr/>
          <p:nvPr/>
        </p:nvSpPr>
        <p:spPr>
          <a:xfrm>
            <a:off x="304800" y="634901"/>
            <a:ext cx="634901"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304800" y="888950"/>
            <a:ext cx="5638800" cy="834926"/>
          </a:xfrm>
          <a:prstGeom prst="roundRect">
            <a:avLst>
              <a:gd name="adj" fmla="val 6084"/>
            </a:avLst>
          </a:prstGeom>
          <a:solidFill>
            <a:srgbClr val="FFFFFF"/>
          </a:solidFill>
          <a:ln w="9525">
            <a:solidFill>
              <a:srgbClr val="DFE6E9"/>
            </a:solidFill>
          </a:ln>
        </p:spPr>
        <p:txBody>
          <a:bodyPr wrap="square" rtlCol="0" anchor="ctr"/>
          <a:lstStyle/>
          <a:p>
            <a:pPr indent="0" marL="0">
              <a:buNone/>
            </a:pPr>
            <a:endParaRPr lang="en-US" dirty="0"/>
          </a:p>
        </p:txBody>
      </p:sp>
      <p:sp>
        <p:nvSpPr>
          <p:cNvPr id="6" name="Text 4"/>
          <p:cNvSpPr/>
          <p:nvPr/>
        </p:nvSpPr>
        <p:spPr>
          <a:xfrm>
            <a:off x="466725" y="1025426"/>
            <a:ext cx="5421249" cy="180975"/>
          </a:xfrm>
          <a:prstGeom prst="rect">
            <a:avLst/>
          </a:prstGeom>
          <a:noFill/>
          <a:ln/>
        </p:spPr>
        <p:txBody>
          <a:bodyPr wrap="square" lIns="0" tIns="0" rIns="0" bIns="0" rtlCol="0" anchor="t"/>
          <a:lstStyle/>
          <a:p>
            <a:pPr algn="l" indent="0" marL="0">
              <a:buNone/>
            </a:pPr>
            <a:r>
              <a:rPr lang="en-US" sz="1000" b="1" dirty="0">
                <a:solidFill>
                  <a:srgbClr val="1B3A5C"/>
                </a:solidFill>
                <a:latin typeface="Microsoft YaHei" pitchFamily="34" charset="0"/>
                <a:ea typeface="Microsoft YaHei" pitchFamily="34" charset="-122"/>
                <a:cs typeface="Microsoft YaHei" pitchFamily="34" charset="-120"/>
              </a:rPr>
              <a:t>Simpson悖论</a:t>
            </a:r>
            <a:endParaRPr lang="en-US" sz="1000" dirty="0"/>
          </a:p>
        </p:txBody>
      </p:sp>
      <p:sp>
        <p:nvSpPr>
          <p:cNvPr id="7" name="Text 5"/>
          <p:cNvSpPr/>
          <p:nvPr/>
        </p:nvSpPr>
        <p:spPr>
          <a:xfrm>
            <a:off x="466725" y="1244501"/>
            <a:ext cx="5421249" cy="342900"/>
          </a:xfrm>
          <a:prstGeom prst="rect">
            <a:avLst/>
          </a:prstGeom>
          <a:noFill/>
          <a:ln/>
        </p:spPr>
        <p:txBody>
          <a:bodyPr wrap="square" lIns="0" tIns="0" rIns="0" bIns="0" rtlCol="0" anchor="t"/>
          <a:lstStyle/>
          <a:p>
            <a:pPr algn="l" indent="0" marL="0">
              <a:lnSpc>
                <a:spcPts val="1350"/>
              </a:lnSpc>
              <a:spcBef>
                <a:spcPts val="300"/>
              </a:spcBef>
              <a:buNone/>
            </a:pPr>
            <a:r>
              <a:rPr lang="en-US" sz="900" dirty="0">
                <a:solidFill>
                  <a:srgbClr val="636E72"/>
                </a:solidFill>
                <a:latin typeface="Microsoft YaHei" pitchFamily="34" charset="0"/>
                <a:ea typeface="Microsoft YaHei" pitchFamily="34" charset="-122"/>
                <a:cs typeface="Microsoft YaHei" pitchFamily="34" charset="-120"/>
              </a:rPr>
              <a:t>全局趋势在按型号分组后消失或反转。如 W1C80_std 全局 r= +0.469 变成 PG31DS 型号内 r= -0.364——方向完全反转。</a:t>
            </a:r>
            <a:endParaRPr lang="en-US" sz="900" dirty="0"/>
          </a:p>
        </p:txBody>
      </p:sp>
      <p:sp>
        <p:nvSpPr>
          <p:cNvPr id="8" name="Text 6"/>
          <p:cNvSpPr/>
          <p:nvPr/>
        </p:nvSpPr>
        <p:spPr>
          <a:xfrm>
            <a:off x="304800" y="1825377"/>
            <a:ext cx="5638800" cy="834926"/>
          </a:xfrm>
          <a:prstGeom prst="roundRect">
            <a:avLst>
              <a:gd name="adj" fmla="val 6084"/>
            </a:avLst>
          </a:prstGeom>
          <a:solidFill>
            <a:srgbClr val="FFFFFF"/>
          </a:solidFill>
          <a:ln w="9525">
            <a:solidFill>
              <a:srgbClr val="DFE6E9"/>
            </a:solidFill>
          </a:ln>
        </p:spPr>
        <p:txBody>
          <a:bodyPr wrap="square" rtlCol="0" anchor="ctr"/>
          <a:lstStyle/>
          <a:p>
            <a:pPr indent="0" marL="0">
              <a:buNone/>
            </a:pPr>
            <a:endParaRPr lang="en-US" dirty="0"/>
          </a:p>
        </p:txBody>
      </p:sp>
      <p:sp>
        <p:nvSpPr>
          <p:cNvPr id="9" name="Text 7"/>
          <p:cNvSpPr/>
          <p:nvPr/>
        </p:nvSpPr>
        <p:spPr>
          <a:xfrm>
            <a:off x="466725" y="1961852"/>
            <a:ext cx="5421249" cy="180975"/>
          </a:xfrm>
          <a:prstGeom prst="rect">
            <a:avLst/>
          </a:prstGeom>
          <a:noFill/>
          <a:ln/>
        </p:spPr>
        <p:txBody>
          <a:bodyPr wrap="square" lIns="0" tIns="0" rIns="0" bIns="0" rtlCol="0" anchor="t"/>
          <a:lstStyle/>
          <a:p>
            <a:pPr algn="l" indent="0" marL="0">
              <a:buNone/>
            </a:pPr>
            <a:r>
              <a:rPr lang="en-US" sz="1000" b="1" dirty="0">
                <a:solidFill>
                  <a:srgbClr val="1B3A5C"/>
                </a:solidFill>
                <a:latin typeface="Microsoft YaHei" pitchFamily="34" charset="0"/>
                <a:ea typeface="Microsoft YaHei" pitchFamily="34" charset="-122"/>
                <a:cs typeface="Microsoft YaHei" pitchFamily="34" charset="-120"/>
              </a:rPr>
              <a:t>Pearson r</a:t>
            </a:r>
            <a:endParaRPr lang="en-US" sz="1000" dirty="0"/>
          </a:p>
        </p:txBody>
      </p:sp>
      <p:sp>
        <p:nvSpPr>
          <p:cNvPr id="10" name="Text 8"/>
          <p:cNvSpPr/>
          <p:nvPr/>
        </p:nvSpPr>
        <p:spPr>
          <a:xfrm>
            <a:off x="466725" y="2180927"/>
            <a:ext cx="5421249" cy="342900"/>
          </a:xfrm>
          <a:prstGeom prst="rect">
            <a:avLst/>
          </a:prstGeom>
          <a:noFill/>
          <a:ln/>
        </p:spPr>
        <p:txBody>
          <a:bodyPr wrap="square" lIns="0" tIns="0" rIns="0" bIns="0" rtlCol="0" anchor="t"/>
          <a:lstStyle/>
          <a:p>
            <a:pPr algn="l" indent="0" marL="0">
              <a:lnSpc>
                <a:spcPts val="1350"/>
              </a:lnSpc>
              <a:spcBef>
                <a:spcPts val="300"/>
              </a:spcBef>
              <a:buNone/>
            </a:pPr>
            <a:r>
              <a:rPr lang="en-US" sz="900" dirty="0">
                <a:solidFill>
                  <a:srgbClr val="636E72"/>
                </a:solidFill>
                <a:latin typeface="Microsoft YaHei" pitchFamily="34" charset="0"/>
                <a:ea typeface="Microsoft YaHei" pitchFamily="34" charset="-122"/>
                <a:cs typeface="Microsoft YaHei" pitchFamily="34" charset="-120"/>
              </a:rPr>
              <a:t>线性相关系数，取值范围 -1 到 +1。绝对值大于 0.5 为强相关，0.3-0.5 为中等相关。正值代表同向变化，负值代表反向变化。</a:t>
            </a:r>
            <a:endParaRPr lang="en-US" sz="900" dirty="0"/>
          </a:p>
        </p:txBody>
      </p:sp>
      <p:sp>
        <p:nvSpPr>
          <p:cNvPr id="11" name="Text 9"/>
          <p:cNvSpPr/>
          <p:nvPr/>
        </p:nvSpPr>
        <p:spPr>
          <a:xfrm>
            <a:off x="304800" y="2761804"/>
            <a:ext cx="5638800" cy="834926"/>
          </a:xfrm>
          <a:prstGeom prst="roundRect">
            <a:avLst>
              <a:gd name="adj" fmla="val 6084"/>
            </a:avLst>
          </a:prstGeom>
          <a:solidFill>
            <a:srgbClr val="FFFFFF"/>
          </a:solidFill>
          <a:ln w="9525">
            <a:solidFill>
              <a:srgbClr val="DFE6E9"/>
            </a:solidFill>
          </a:ln>
        </p:spPr>
        <p:txBody>
          <a:bodyPr wrap="square" rtlCol="0" anchor="ctr"/>
          <a:lstStyle/>
          <a:p>
            <a:pPr indent="0" marL="0">
              <a:buNone/>
            </a:pPr>
            <a:endParaRPr lang="en-US" dirty="0"/>
          </a:p>
        </p:txBody>
      </p:sp>
      <p:sp>
        <p:nvSpPr>
          <p:cNvPr id="12" name="Text 10"/>
          <p:cNvSpPr/>
          <p:nvPr/>
        </p:nvSpPr>
        <p:spPr>
          <a:xfrm>
            <a:off x="466725" y="2898279"/>
            <a:ext cx="5421249" cy="180975"/>
          </a:xfrm>
          <a:prstGeom prst="rect">
            <a:avLst/>
          </a:prstGeom>
          <a:noFill/>
          <a:ln/>
        </p:spPr>
        <p:txBody>
          <a:bodyPr wrap="square" lIns="0" tIns="0" rIns="0" bIns="0" rtlCol="0" anchor="t"/>
          <a:lstStyle/>
          <a:p>
            <a:pPr algn="l" indent="0" marL="0">
              <a:buNone/>
            </a:pPr>
            <a:r>
              <a:rPr lang="en-US" sz="1000" b="1" dirty="0">
                <a:solidFill>
                  <a:srgbClr val="1B3A5C"/>
                </a:solidFill>
                <a:latin typeface="Microsoft YaHei" pitchFamily="34" charset="0"/>
                <a:ea typeface="Microsoft YaHei" pitchFamily="34" charset="-122"/>
                <a:cs typeface="Microsoft YaHei" pitchFamily="34" charset="-120"/>
              </a:rPr>
              <a:t>COMPETING_SET</a:t>
            </a:r>
            <a:endParaRPr lang="en-US" sz="1000" dirty="0"/>
          </a:p>
        </p:txBody>
      </p:sp>
      <p:sp>
        <p:nvSpPr>
          <p:cNvPr id="13" name="Text 11"/>
          <p:cNvSpPr/>
          <p:nvPr/>
        </p:nvSpPr>
        <p:spPr>
          <a:xfrm>
            <a:off x="466725" y="3117354"/>
            <a:ext cx="5421249" cy="342900"/>
          </a:xfrm>
          <a:prstGeom prst="rect">
            <a:avLst/>
          </a:prstGeom>
          <a:noFill/>
          <a:ln/>
        </p:spPr>
        <p:txBody>
          <a:bodyPr wrap="square" lIns="0" tIns="0" rIns="0" bIns="0" rtlCol="0" anchor="t"/>
          <a:lstStyle/>
          <a:p>
            <a:pPr algn="l" indent="0" marL="0">
              <a:lnSpc>
                <a:spcPts val="1350"/>
              </a:lnSpc>
              <a:spcBef>
                <a:spcPts val="300"/>
              </a:spcBef>
              <a:buNone/>
            </a:pPr>
            <a:r>
              <a:rPr lang="en-US" sz="900" dirty="0">
                <a:solidFill>
                  <a:srgbClr val="636E72"/>
                </a:solidFill>
                <a:latin typeface="Microsoft YaHei" pitchFamily="34" charset="0"/>
                <a:ea typeface="Microsoft YaHei" pitchFamily="34" charset="-122"/>
                <a:cs typeface="Microsoft YaHei" pitchFamily="34" charset="-120"/>
              </a:rPr>
              <a:t>竞争假说集。当多个假说都无法被现有数据排除时，将它们并列列出并分配各自置信度上限。诊断管线最终判定为 DETERMINED（唯一确定）、COMPETING_SET（多个竞争）或 NEEDS_DATA（数据不足）。</a:t>
            </a:r>
            <a:endParaRPr lang="en-US" sz="900" dirty="0"/>
          </a:p>
        </p:txBody>
      </p:sp>
      <p:sp>
        <p:nvSpPr>
          <p:cNvPr id="14" name="Text 12"/>
          <p:cNvSpPr/>
          <p:nvPr/>
        </p:nvSpPr>
        <p:spPr>
          <a:xfrm>
            <a:off x="6248400" y="888950"/>
            <a:ext cx="5638800" cy="834926"/>
          </a:xfrm>
          <a:prstGeom prst="roundRect">
            <a:avLst>
              <a:gd name="adj" fmla="val 6084"/>
            </a:avLst>
          </a:prstGeom>
          <a:solidFill>
            <a:srgbClr val="FFFFFF"/>
          </a:solidFill>
          <a:ln w="9525">
            <a:solidFill>
              <a:srgbClr val="DFE6E9"/>
            </a:solidFill>
          </a:ln>
        </p:spPr>
        <p:txBody>
          <a:bodyPr wrap="square" rtlCol="0" anchor="ctr"/>
          <a:lstStyle/>
          <a:p>
            <a:pPr indent="0" marL="0">
              <a:buNone/>
            </a:pPr>
            <a:endParaRPr lang="en-US" dirty="0"/>
          </a:p>
        </p:txBody>
      </p:sp>
      <p:sp>
        <p:nvSpPr>
          <p:cNvPr id="15" name="Text 13"/>
          <p:cNvSpPr/>
          <p:nvPr/>
        </p:nvSpPr>
        <p:spPr>
          <a:xfrm>
            <a:off x="6410325" y="1025426"/>
            <a:ext cx="5421249" cy="180975"/>
          </a:xfrm>
          <a:prstGeom prst="rect">
            <a:avLst/>
          </a:prstGeom>
          <a:noFill/>
          <a:ln/>
        </p:spPr>
        <p:txBody>
          <a:bodyPr wrap="square" lIns="0" tIns="0" rIns="0" bIns="0" rtlCol="0" anchor="t"/>
          <a:lstStyle/>
          <a:p>
            <a:pPr algn="l" indent="0" marL="0">
              <a:buNone/>
            </a:pPr>
            <a:r>
              <a:rPr lang="en-US" sz="1000" b="1" dirty="0">
                <a:solidFill>
                  <a:srgbClr val="1B3A5C"/>
                </a:solidFill>
                <a:latin typeface="Microsoft YaHei" pitchFamily="34" charset="0"/>
                <a:ea typeface="Microsoft YaHei" pitchFamily="34" charset="-122"/>
                <a:cs typeface="Microsoft YaHei" pitchFamily="34" charset="-120"/>
              </a:rPr>
              <a:t>聚合 vs 分层相关</a:t>
            </a:r>
            <a:endParaRPr lang="en-US" sz="1000" dirty="0"/>
          </a:p>
        </p:txBody>
      </p:sp>
      <p:sp>
        <p:nvSpPr>
          <p:cNvPr id="16" name="Text 14"/>
          <p:cNvSpPr/>
          <p:nvPr/>
        </p:nvSpPr>
        <p:spPr>
          <a:xfrm>
            <a:off x="6410325" y="1244501"/>
            <a:ext cx="5421249" cy="342900"/>
          </a:xfrm>
          <a:prstGeom prst="rect">
            <a:avLst/>
          </a:prstGeom>
          <a:noFill/>
          <a:ln/>
        </p:spPr>
        <p:txBody>
          <a:bodyPr wrap="square" lIns="0" tIns="0" rIns="0" bIns="0" rtlCol="0" anchor="t"/>
          <a:lstStyle/>
          <a:p>
            <a:pPr algn="l" indent="0" marL="0">
              <a:lnSpc>
                <a:spcPts val="1350"/>
              </a:lnSpc>
              <a:spcBef>
                <a:spcPts val="300"/>
              </a:spcBef>
              <a:buNone/>
            </a:pPr>
            <a:r>
              <a:rPr lang="en-US" sz="900" dirty="0">
                <a:solidFill>
                  <a:srgbClr val="636E72"/>
                </a:solidFill>
                <a:latin typeface="Microsoft YaHei" pitchFamily="34" charset="0"/>
                <a:ea typeface="Microsoft YaHei" pitchFamily="34" charset="-122"/>
                <a:cs typeface="Microsoft YaHei" pitchFamily="34" charset="-120"/>
              </a:rPr>
              <a:t>全体数据计算的相关性（聚合）与按型号分组后分别计算（分层）。差异揭示是否存在混杂变量。本项目中聚合与分层差异是核心发现。</a:t>
            </a:r>
            <a:endParaRPr lang="en-US" sz="900" dirty="0"/>
          </a:p>
        </p:txBody>
      </p:sp>
      <p:sp>
        <p:nvSpPr>
          <p:cNvPr id="17" name="Text 15"/>
          <p:cNvSpPr/>
          <p:nvPr/>
        </p:nvSpPr>
        <p:spPr>
          <a:xfrm>
            <a:off x="6248400" y="1825377"/>
            <a:ext cx="5638800" cy="834926"/>
          </a:xfrm>
          <a:prstGeom prst="roundRect">
            <a:avLst>
              <a:gd name="adj" fmla="val 6084"/>
            </a:avLst>
          </a:prstGeom>
          <a:solidFill>
            <a:srgbClr val="FFFFFF"/>
          </a:solidFill>
          <a:ln w="9525">
            <a:solidFill>
              <a:srgbClr val="DFE6E9"/>
            </a:solidFill>
          </a:ln>
        </p:spPr>
        <p:txBody>
          <a:bodyPr wrap="square" rtlCol="0" anchor="ctr"/>
          <a:lstStyle/>
          <a:p>
            <a:pPr indent="0" marL="0">
              <a:buNone/>
            </a:pPr>
            <a:endParaRPr lang="en-US" dirty="0"/>
          </a:p>
        </p:txBody>
      </p:sp>
      <p:sp>
        <p:nvSpPr>
          <p:cNvPr id="18" name="Text 16"/>
          <p:cNvSpPr/>
          <p:nvPr/>
        </p:nvSpPr>
        <p:spPr>
          <a:xfrm>
            <a:off x="6410325" y="1961852"/>
            <a:ext cx="5421249" cy="180975"/>
          </a:xfrm>
          <a:prstGeom prst="rect">
            <a:avLst/>
          </a:prstGeom>
          <a:noFill/>
          <a:ln/>
        </p:spPr>
        <p:txBody>
          <a:bodyPr wrap="square" lIns="0" tIns="0" rIns="0" bIns="0" rtlCol="0" anchor="t"/>
          <a:lstStyle/>
          <a:p>
            <a:pPr algn="l" indent="0" marL="0">
              <a:buNone/>
            </a:pPr>
            <a:r>
              <a:rPr lang="en-US" sz="1000" b="1" dirty="0">
                <a:solidFill>
                  <a:srgbClr val="1B3A5C"/>
                </a:solidFill>
                <a:latin typeface="Microsoft YaHei" pitchFamily="34" charset="0"/>
                <a:ea typeface="Microsoft YaHei" pitchFamily="34" charset="-122"/>
                <a:cs typeface="Microsoft YaHei" pitchFamily="34" charset="-120"/>
              </a:rPr>
              <a:t>Tg (~75 C)</a:t>
            </a:r>
            <a:endParaRPr lang="en-US" sz="1000" dirty="0"/>
          </a:p>
        </p:txBody>
      </p:sp>
      <p:sp>
        <p:nvSpPr>
          <p:cNvPr id="19" name="Text 17"/>
          <p:cNvSpPr/>
          <p:nvPr/>
        </p:nvSpPr>
        <p:spPr>
          <a:xfrm>
            <a:off x="6410325" y="2180927"/>
            <a:ext cx="5421249" cy="342900"/>
          </a:xfrm>
          <a:prstGeom prst="rect">
            <a:avLst/>
          </a:prstGeom>
          <a:noFill/>
          <a:ln/>
        </p:spPr>
        <p:txBody>
          <a:bodyPr wrap="square" lIns="0" tIns="0" rIns="0" bIns="0" rtlCol="0" anchor="t"/>
          <a:lstStyle/>
          <a:p>
            <a:pPr algn="l" indent="0" marL="0">
              <a:lnSpc>
                <a:spcPts val="1350"/>
              </a:lnSpc>
              <a:spcBef>
                <a:spcPts val="300"/>
              </a:spcBef>
              <a:buNone/>
            </a:pPr>
            <a:r>
              <a:rPr lang="en-US" sz="900" dirty="0">
                <a:solidFill>
                  <a:srgbClr val="636E72"/>
                </a:solidFill>
                <a:latin typeface="Microsoft YaHei" pitchFamily="34" charset="0"/>
                <a:ea typeface="Microsoft YaHei" pitchFamily="34" charset="-122"/>
                <a:cs typeface="Microsoft YaHei" pitchFamily="34" charset="-120"/>
              </a:rPr>
              <a:t>PET 的玻璃化转变温度（Glass Transition Temp），从玻璃态硬脆变为高弹态的临界点。纵拉预加热需达到此温度才能进行拉伸取向。低于 Tg 拉伸会导致薄膜断裂。</a:t>
            </a:r>
            <a:endParaRPr lang="en-US" sz="900" dirty="0"/>
          </a:p>
        </p:txBody>
      </p:sp>
      <p:sp>
        <p:nvSpPr>
          <p:cNvPr id="20" name="Text 18"/>
          <p:cNvSpPr/>
          <p:nvPr/>
        </p:nvSpPr>
        <p:spPr>
          <a:xfrm>
            <a:off x="6248400" y="2761804"/>
            <a:ext cx="5638800" cy="834926"/>
          </a:xfrm>
          <a:prstGeom prst="roundRect">
            <a:avLst>
              <a:gd name="adj" fmla="val 6084"/>
            </a:avLst>
          </a:prstGeom>
          <a:solidFill>
            <a:srgbClr val="FFFFFF"/>
          </a:solidFill>
          <a:ln w="9525">
            <a:solidFill>
              <a:srgbClr val="DFE6E9"/>
            </a:solidFill>
          </a:ln>
        </p:spPr>
        <p:txBody>
          <a:bodyPr wrap="square" rtlCol="0" anchor="ctr"/>
          <a:lstStyle/>
          <a:p>
            <a:pPr indent="0" marL="0">
              <a:buNone/>
            </a:pPr>
            <a:endParaRPr lang="en-US" dirty="0"/>
          </a:p>
        </p:txBody>
      </p:sp>
      <p:sp>
        <p:nvSpPr>
          <p:cNvPr id="21" name="Text 19"/>
          <p:cNvSpPr/>
          <p:nvPr/>
        </p:nvSpPr>
        <p:spPr>
          <a:xfrm>
            <a:off x="6410325" y="2898279"/>
            <a:ext cx="5421249" cy="180975"/>
          </a:xfrm>
          <a:prstGeom prst="rect">
            <a:avLst/>
          </a:prstGeom>
          <a:noFill/>
          <a:ln/>
        </p:spPr>
        <p:txBody>
          <a:bodyPr wrap="square" lIns="0" tIns="0" rIns="0" bIns="0" rtlCol="0" anchor="t"/>
          <a:lstStyle/>
          <a:p>
            <a:pPr algn="l" indent="0" marL="0">
              <a:buNone/>
            </a:pPr>
            <a:r>
              <a:rPr lang="en-US" sz="1000" b="1" dirty="0">
                <a:solidFill>
                  <a:srgbClr val="1B3A5C"/>
                </a:solidFill>
                <a:latin typeface="Microsoft YaHei" pitchFamily="34" charset="0"/>
                <a:ea typeface="Microsoft YaHei" pitchFamily="34" charset="-122"/>
                <a:cs typeface="Microsoft YaHei" pitchFamily="34" charset="-120"/>
              </a:rPr>
              <a:t>CCF 交叉相关</a:t>
            </a:r>
            <a:endParaRPr lang="en-US" sz="1000" dirty="0"/>
          </a:p>
        </p:txBody>
      </p:sp>
      <p:sp>
        <p:nvSpPr>
          <p:cNvPr id="22" name="Text 20"/>
          <p:cNvSpPr/>
          <p:nvPr/>
        </p:nvSpPr>
        <p:spPr>
          <a:xfrm>
            <a:off x="6410325" y="3117354"/>
            <a:ext cx="5421249" cy="342900"/>
          </a:xfrm>
          <a:prstGeom prst="rect">
            <a:avLst/>
          </a:prstGeom>
          <a:noFill/>
          <a:ln/>
        </p:spPr>
        <p:txBody>
          <a:bodyPr wrap="square" lIns="0" tIns="0" rIns="0" bIns="0" rtlCol="0" anchor="t"/>
          <a:lstStyle/>
          <a:p>
            <a:pPr algn="l" indent="0" marL="0">
              <a:lnSpc>
                <a:spcPts val="1350"/>
              </a:lnSpc>
              <a:spcBef>
                <a:spcPts val="300"/>
              </a:spcBef>
              <a:buNone/>
            </a:pPr>
            <a:r>
              <a:rPr lang="en-US" sz="900" dirty="0">
                <a:solidFill>
                  <a:srgbClr val="636E72"/>
                </a:solidFill>
                <a:latin typeface="Microsoft YaHei" pitchFamily="34" charset="0"/>
                <a:ea typeface="Microsoft YaHei" pitchFamily="34" charset="-122"/>
                <a:cs typeface="Microsoft YaHei" pitchFamily="34" charset="-120"/>
              </a:rPr>
              <a:t>Cross-Correlation Function，分析两个时间序列之间的滞后相关关系。可识别一个变量的变化是否在时间上领先于另一个变量，推断因果方向。</a:t>
            </a:r>
            <a:endParaRPr lang="en-US" sz="900" dirty="0"/>
          </a:p>
        </p:txBody>
      </p:sp>
      <p:sp>
        <p:nvSpPr>
          <p:cNvPr id="23" name="Text 21"/>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24" name="Shape 22"/>
          <p:cNvSpPr/>
          <p:nvPr/>
        </p:nvSpPr>
        <p:spPr>
          <a:xfrm>
            <a:off x="0" y="6608862"/>
            <a:ext cx="12192000" cy="0"/>
          </a:xfrm>
          <a:prstGeom prst="line">
            <a:avLst/>
          </a:prstGeom>
          <a:noFill/>
          <a:ln w="9525">
            <a:solidFill>
              <a:srgbClr val="DFE6E9"/>
            </a:solidFill>
            <a:prstDash val="solid"/>
          </a:ln>
        </p:spPr>
      </p:sp>
      <p:sp>
        <p:nvSpPr>
          <p:cNvPr id="25" name="Text 23"/>
          <p:cNvSpPr/>
          <p:nvPr/>
        </p:nvSpPr>
        <p:spPr>
          <a:xfrm>
            <a:off x="11570791" y="6670774"/>
            <a:ext cx="322737"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5 / 10</a:t>
            </a:r>
            <a:endParaRPr lang="en-US" sz="900" dirty="0"/>
          </a:p>
        </p:txBody>
      </p:sp>
      <p:pic>
        <p:nvPicPr>
          <p:cNvPr id="26" name="Image 0" descr="/Volumes/laxer/codes/skills/ industrial-deep-diagnostic/ppt_workspace/garden-gpt-image-2/image/p05_simpson_explain.png">    </p:cNvPr>
          <p:cNvPicPr>
            <a:picLocks noChangeAspect="1"/>
          </p:cNvPicPr>
          <p:nvPr/>
        </p:nvPicPr>
        <p:blipFill>
          <a:blip r:embed="rId1"/>
          <a:stretch>
            <a:fillRect/>
          </a:stretch>
        </p:blipFill>
        <p:spPr>
          <a:xfrm>
            <a:off x="1524000" y="3810000"/>
            <a:ext cx="9144000" cy="25399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304800" y="177701"/>
            <a:ext cx="5481212" cy="314325"/>
          </a:xfrm>
          <a:prstGeom prst="rect">
            <a:avLst/>
          </a:prstGeom>
          <a:noFill/>
          <a:ln/>
        </p:spPr>
        <p:txBody>
          <a:bodyPr wrap="square" lIns="0" tIns="0" rIns="0" bIns="0" rtlCol="0" anchor="t"/>
          <a:lstStyle/>
          <a:p>
            <a:pPr algn="l" indent="0" marL="0">
              <a:buNone/>
            </a:pPr>
            <a:r>
              <a:rPr lang="en-US" sz="1800" b="1" dirty="0">
                <a:solidFill>
                  <a:srgbClr val="1B3A5C"/>
                </a:solidFill>
                <a:latin typeface="Microsoft YaHei" pitchFamily="34" charset="0"/>
                <a:ea typeface="Microsoft YaHei" pitchFamily="34" charset="-122"/>
                <a:cs typeface="Microsoft YaHei" pitchFamily="34" charset="-120"/>
              </a:rPr>
              <a:t>Simpson悖论确认——全局相关性是型号混杂假象</a:t>
            </a:r>
            <a:endParaRPr lang="en-US" sz="1800" dirty="0"/>
          </a:p>
        </p:txBody>
      </p:sp>
      <p:sp>
        <p:nvSpPr>
          <p:cNvPr id="4" name="Text 2"/>
          <p:cNvSpPr/>
          <p:nvPr/>
        </p:nvSpPr>
        <p:spPr>
          <a:xfrm>
            <a:off x="304800" y="507950"/>
            <a:ext cx="571500"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304800" y="736550"/>
            <a:ext cx="5079950" cy="3746450"/>
          </a:xfrm>
          <a:prstGeom prst="roundRect">
            <a:avLst>
              <a:gd name="adj" fmla="val 1356"/>
            </a:avLst>
          </a:prstGeom>
          <a:solidFill>
            <a:srgbClr val="FFFFFF"/>
          </a:solidFill>
          <a:ln w="9525">
            <a:solidFill>
              <a:srgbClr val="DFE6E9"/>
            </a:solidFill>
          </a:ln>
        </p:spPr>
        <p:txBody>
          <a:bodyPr wrap="square" rtlCol="0" anchor="ctr"/>
          <a:lstStyle/>
          <a:p>
            <a:pPr indent="0" marL="0">
              <a:buNone/>
            </a:pPr>
            <a:endParaRPr lang="en-US" dirty="0"/>
          </a:p>
        </p:txBody>
      </p:sp>
      <p:sp>
        <p:nvSpPr>
          <p:cNvPr id="6" name="Text 4"/>
          <p:cNvSpPr/>
          <p:nvPr/>
        </p:nvSpPr>
        <p:spPr>
          <a:xfrm>
            <a:off x="492026" y="898475"/>
            <a:ext cx="4799609" cy="180975"/>
          </a:xfrm>
          <a:prstGeom prst="rect">
            <a:avLst/>
          </a:prstGeom>
          <a:noFill/>
          <a:ln/>
        </p:spPr>
        <p:txBody>
          <a:bodyPr wrap="square" lIns="0" tIns="0" rIns="0" bIns="0" rtlCol="0" anchor="t"/>
          <a:lstStyle/>
          <a:p>
            <a:pPr algn="l" indent="0" marL="0">
              <a:spcAft>
                <a:spcPts val="800"/>
              </a:spcAft>
              <a:buNone/>
            </a:pPr>
            <a:r>
              <a:rPr lang="en-US" sz="1000" b="1" dirty="0">
                <a:solidFill>
                  <a:srgbClr val="1B3A5C"/>
                </a:solidFill>
                <a:latin typeface="Microsoft YaHei" pitchFamily="34" charset="0"/>
                <a:ea typeface="Microsoft YaHei" pitchFamily="34" charset="-122"/>
                <a:cs typeface="Microsoft YaHei" pitchFamily="34" charset="-120"/>
              </a:rPr>
              <a:t>全局相关 vs 型号内相关对比</a:t>
            </a:r>
            <a:endParaRPr lang="en-US" sz="1000" dirty="0"/>
          </a:p>
        </p:txBody>
      </p:sp>
      <p:sp>
        <p:nvSpPr>
          <p:cNvPr id="7" name="Text 5"/>
          <p:cNvSpPr/>
          <p:nvPr/>
        </p:nvSpPr>
        <p:spPr>
          <a:xfrm>
            <a:off x="492026" y="1180951"/>
            <a:ext cx="4705499" cy="269677"/>
          </a:xfrm>
          <a:prstGeom prst="roundRect">
            <a:avLst>
              <a:gd name="adj" fmla="val 9419"/>
            </a:avLst>
          </a:prstGeom>
          <a:solidFill>
            <a:srgbClr val="1B3A5C"/>
          </a:solidFill>
          <a:ln/>
        </p:spPr>
        <p:txBody>
          <a:bodyPr wrap="square" rtlCol="0" anchor="ctr"/>
          <a:lstStyle/>
          <a:p>
            <a:pPr indent="0" marL="0">
              <a:buNone/>
            </a:pPr>
            <a:endParaRPr lang="en-US" dirty="0"/>
          </a:p>
        </p:txBody>
      </p:sp>
      <p:sp>
        <p:nvSpPr>
          <p:cNvPr id="8" name="Text 6"/>
          <p:cNvSpPr/>
          <p:nvPr/>
        </p:nvSpPr>
        <p:spPr>
          <a:xfrm>
            <a:off x="568226" y="1244352"/>
            <a:ext cx="1923821" cy="142875"/>
          </a:xfrm>
          <a:prstGeom prst="rect">
            <a:avLst/>
          </a:prstGeom>
          <a:noFill/>
          <a:ln/>
        </p:spPr>
        <p:txBody>
          <a:bodyPr wrap="square" lIns="0" tIns="0" rIns="0" bIns="0" rtlCol="0" anchor="t"/>
          <a:lstStyle/>
          <a:p>
            <a:pPr algn="l" indent="0" marL="0">
              <a:buNone/>
            </a:pPr>
            <a:r>
              <a:rPr lang="en-US" sz="800" b="1" dirty="0">
                <a:solidFill>
                  <a:srgbClr val="FFFFFF"/>
                </a:solidFill>
                <a:latin typeface="Microsoft YaHei" pitchFamily="34" charset="0"/>
                <a:ea typeface="Microsoft YaHei" pitchFamily="34" charset="-122"/>
                <a:cs typeface="Microsoft YaHei" pitchFamily="34" charset="-120"/>
              </a:rPr>
              <a:t>参数</a:t>
            </a:r>
            <a:endParaRPr lang="en-US" sz="800" dirty="0"/>
          </a:p>
        </p:txBody>
      </p:sp>
      <p:sp>
        <p:nvSpPr>
          <p:cNvPr id="9" name="Text 7"/>
          <p:cNvSpPr/>
          <p:nvPr/>
        </p:nvSpPr>
        <p:spPr>
          <a:xfrm>
            <a:off x="2445181" y="1244352"/>
            <a:ext cx="932688" cy="142875"/>
          </a:xfrm>
          <a:prstGeom prst="rect">
            <a:avLst/>
          </a:prstGeom>
          <a:noFill/>
          <a:ln/>
        </p:spPr>
        <p:txBody>
          <a:bodyPr wrap="square" lIns="0" tIns="0" rIns="0" bIns="0" rtlCol="0" anchor="t"/>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全局 r</a:t>
            </a:r>
            <a:endParaRPr lang="en-US" sz="800" dirty="0"/>
          </a:p>
        </p:txBody>
      </p:sp>
      <p:sp>
        <p:nvSpPr>
          <p:cNvPr id="10" name="Text 8"/>
          <p:cNvSpPr/>
          <p:nvPr/>
        </p:nvSpPr>
        <p:spPr>
          <a:xfrm>
            <a:off x="3358819" y="1244352"/>
            <a:ext cx="1010412" cy="142875"/>
          </a:xfrm>
          <a:prstGeom prst="rect">
            <a:avLst/>
          </a:prstGeom>
          <a:noFill/>
          <a:ln/>
        </p:spPr>
        <p:txBody>
          <a:bodyPr wrap="square" lIns="0" tIns="0" rIns="0" bIns="0" rtlCol="0" anchor="t"/>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型号内 r</a:t>
            </a:r>
            <a:endParaRPr lang="en-US" sz="800" dirty="0"/>
          </a:p>
        </p:txBody>
      </p:sp>
      <p:sp>
        <p:nvSpPr>
          <p:cNvPr id="11" name="Text 9"/>
          <p:cNvSpPr/>
          <p:nvPr/>
        </p:nvSpPr>
        <p:spPr>
          <a:xfrm>
            <a:off x="4351705" y="1244352"/>
            <a:ext cx="777240" cy="142875"/>
          </a:xfrm>
          <a:prstGeom prst="rect">
            <a:avLst/>
          </a:prstGeom>
          <a:noFill/>
          <a:ln/>
        </p:spPr>
        <p:txBody>
          <a:bodyPr wrap="square" lIns="0" tIns="0" rIns="0" bIns="0" rtlCol="0" anchor="t"/>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变化</a:t>
            </a:r>
            <a:endParaRPr lang="en-US" sz="800" dirty="0"/>
          </a:p>
        </p:txBody>
      </p:sp>
      <p:sp>
        <p:nvSpPr>
          <p:cNvPr id="12" name="Shape 10"/>
          <p:cNvSpPr/>
          <p:nvPr/>
        </p:nvSpPr>
        <p:spPr>
          <a:xfrm>
            <a:off x="492026" y="1794867"/>
            <a:ext cx="4705499" cy="0"/>
          </a:xfrm>
          <a:prstGeom prst="line">
            <a:avLst/>
          </a:prstGeom>
          <a:noFill/>
          <a:ln w="9525">
            <a:solidFill>
              <a:srgbClr val="DFE6E9"/>
            </a:solidFill>
            <a:prstDash val="solid"/>
          </a:ln>
        </p:spPr>
      </p:sp>
      <p:sp>
        <p:nvSpPr>
          <p:cNvPr id="13" name="Text 11"/>
          <p:cNvSpPr/>
          <p:nvPr/>
        </p:nvSpPr>
        <p:spPr>
          <a:xfrm>
            <a:off x="568226" y="1564779"/>
            <a:ext cx="1923821" cy="161925"/>
          </a:xfrm>
          <a:prstGeom prst="rect">
            <a:avLst/>
          </a:prstGeom>
          <a:noFill/>
          <a:ln/>
        </p:spPr>
        <p:txBody>
          <a:bodyPr wrap="square" lIns="0" tIns="0" rIns="0" bIns="0" rtlCol="0" anchor="t"/>
          <a:lstStyle/>
          <a:p>
            <a:pPr algn="l" indent="0" marL="0">
              <a:buNone/>
            </a:pPr>
            <a:r>
              <a:rPr lang="en-US" sz="900" dirty="0">
                <a:solidFill>
                  <a:srgbClr val="2D3436"/>
                </a:solidFill>
                <a:latin typeface="Microsoft YaHei" pitchFamily="34" charset="0"/>
                <a:ea typeface="Microsoft YaHei" pitchFamily="34" charset="-122"/>
                <a:cs typeface="Microsoft YaHei" pitchFamily="34" charset="-120"/>
              </a:rPr>
              <a:t>W1C86 温度 std</a:t>
            </a:r>
            <a:endParaRPr lang="en-US" sz="900" dirty="0"/>
          </a:p>
        </p:txBody>
      </p:sp>
      <p:sp>
        <p:nvSpPr>
          <p:cNvPr id="14" name="Text 12"/>
          <p:cNvSpPr/>
          <p:nvPr/>
        </p:nvSpPr>
        <p:spPr>
          <a:xfrm>
            <a:off x="2445181" y="1564779"/>
            <a:ext cx="932688" cy="161925"/>
          </a:xfrm>
          <a:prstGeom prst="rect">
            <a:avLst/>
          </a:prstGeom>
          <a:noFill/>
          <a:ln/>
        </p:spPr>
        <p:txBody>
          <a:bodyPr wrap="square" lIns="0" tIns="0" rIns="0" bIns="0" rtlCol="0" anchor="t"/>
          <a:lstStyle/>
          <a:p>
            <a:pPr algn="ctr" indent="0" marL="0">
              <a:buNone/>
            </a:pPr>
            <a:r>
              <a:rPr lang="en-US" sz="900" dirty="0">
                <a:solidFill>
                  <a:srgbClr val="2D3436"/>
                </a:solidFill>
                <a:latin typeface="Microsoft YaHei" pitchFamily="34" charset="0"/>
                <a:ea typeface="Microsoft YaHei" pitchFamily="34" charset="-122"/>
                <a:cs typeface="Microsoft YaHei" pitchFamily="34" charset="-120"/>
              </a:rPr>
              <a:t>+0.487</a:t>
            </a:r>
            <a:endParaRPr lang="en-US" sz="900" dirty="0"/>
          </a:p>
        </p:txBody>
      </p:sp>
      <p:sp>
        <p:nvSpPr>
          <p:cNvPr id="15" name="Text 13"/>
          <p:cNvSpPr/>
          <p:nvPr/>
        </p:nvSpPr>
        <p:spPr>
          <a:xfrm>
            <a:off x="3358819" y="1564779"/>
            <a:ext cx="1010412" cy="161925"/>
          </a:xfrm>
          <a:prstGeom prst="rect">
            <a:avLst/>
          </a:prstGeom>
          <a:noFill/>
          <a:ln/>
        </p:spPr>
        <p:txBody>
          <a:bodyPr wrap="square" lIns="0" tIns="0" rIns="0" bIns="0" rtlCol="0" anchor="t"/>
          <a:lstStyle/>
          <a:p>
            <a:pPr algn="ctr" indent="0" marL="0">
              <a:buNone/>
            </a:pPr>
            <a:r>
              <a:rPr lang="en-US" sz="900" dirty="0">
                <a:solidFill>
                  <a:srgbClr val="E85D3A"/>
                </a:solidFill>
                <a:latin typeface="Microsoft YaHei" pitchFamily="34" charset="0"/>
                <a:ea typeface="Microsoft YaHei" pitchFamily="34" charset="-122"/>
                <a:cs typeface="Microsoft YaHei" pitchFamily="34" charset="-120"/>
              </a:rPr>
              <a:t>+0.044</a:t>
            </a:r>
            <a:endParaRPr lang="en-US" sz="900" dirty="0"/>
          </a:p>
        </p:txBody>
      </p:sp>
      <p:sp>
        <p:nvSpPr>
          <p:cNvPr id="16" name="Text 14"/>
          <p:cNvSpPr/>
          <p:nvPr/>
        </p:nvSpPr>
        <p:spPr>
          <a:xfrm>
            <a:off x="4351705" y="1564779"/>
            <a:ext cx="777240" cy="161925"/>
          </a:xfrm>
          <a:prstGeom prst="rect">
            <a:avLst/>
          </a:prstGeom>
          <a:noFill/>
          <a:ln/>
        </p:spPr>
        <p:txBody>
          <a:bodyPr wrap="square" lIns="0" tIns="0" rIns="0" bIns="0" rtlCol="0" anchor="t"/>
          <a:lstStyle/>
          <a:p>
            <a:pPr algn="ctr" indent="0" marL="0">
              <a:buNone/>
            </a:pPr>
            <a:r>
              <a:rPr lang="en-US" sz="900" dirty="0">
                <a:solidFill>
                  <a:srgbClr val="E85D3A"/>
                </a:solidFill>
                <a:latin typeface="Microsoft YaHei" pitchFamily="34" charset="0"/>
                <a:ea typeface="Microsoft YaHei" pitchFamily="34" charset="-122"/>
                <a:cs typeface="Microsoft YaHei" pitchFamily="34" charset="-120"/>
              </a:rPr>
              <a:t>衰减91%</a:t>
            </a:r>
            <a:endParaRPr lang="en-US" sz="900" dirty="0"/>
          </a:p>
        </p:txBody>
      </p:sp>
      <p:sp>
        <p:nvSpPr>
          <p:cNvPr id="17" name="Shape 15"/>
          <p:cNvSpPr/>
          <p:nvPr/>
        </p:nvSpPr>
        <p:spPr>
          <a:xfrm>
            <a:off x="492026" y="2093119"/>
            <a:ext cx="4705499" cy="0"/>
          </a:xfrm>
          <a:prstGeom prst="line">
            <a:avLst/>
          </a:prstGeom>
          <a:noFill/>
          <a:ln w="9525">
            <a:solidFill>
              <a:srgbClr val="DFE6E9"/>
            </a:solidFill>
            <a:prstDash val="solid"/>
          </a:ln>
        </p:spPr>
      </p:sp>
      <p:sp>
        <p:nvSpPr>
          <p:cNvPr id="18" name="Text 16"/>
          <p:cNvSpPr/>
          <p:nvPr/>
        </p:nvSpPr>
        <p:spPr>
          <a:xfrm>
            <a:off x="568226" y="1863030"/>
            <a:ext cx="1923821" cy="161925"/>
          </a:xfrm>
          <a:prstGeom prst="rect">
            <a:avLst/>
          </a:prstGeom>
          <a:noFill/>
          <a:ln/>
        </p:spPr>
        <p:txBody>
          <a:bodyPr wrap="square" lIns="0" tIns="0" rIns="0" bIns="0" rtlCol="0" anchor="t"/>
          <a:lstStyle/>
          <a:p>
            <a:pPr algn="l" indent="0" marL="0">
              <a:buNone/>
            </a:pPr>
            <a:r>
              <a:rPr lang="en-US" sz="900" dirty="0">
                <a:solidFill>
                  <a:srgbClr val="2D3436"/>
                </a:solidFill>
                <a:latin typeface="Microsoft YaHei" pitchFamily="34" charset="0"/>
                <a:ea typeface="Microsoft YaHei" pitchFamily="34" charset="-122"/>
                <a:cs typeface="Microsoft YaHei" pitchFamily="34" charset="-120"/>
              </a:rPr>
              <a:t>W1C80 速度 std</a:t>
            </a:r>
            <a:endParaRPr lang="en-US" sz="900" dirty="0"/>
          </a:p>
        </p:txBody>
      </p:sp>
      <p:sp>
        <p:nvSpPr>
          <p:cNvPr id="19" name="Text 17"/>
          <p:cNvSpPr/>
          <p:nvPr/>
        </p:nvSpPr>
        <p:spPr>
          <a:xfrm>
            <a:off x="2445181" y="1863030"/>
            <a:ext cx="932688" cy="161925"/>
          </a:xfrm>
          <a:prstGeom prst="rect">
            <a:avLst/>
          </a:prstGeom>
          <a:noFill/>
          <a:ln/>
        </p:spPr>
        <p:txBody>
          <a:bodyPr wrap="square" lIns="0" tIns="0" rIns="0" bIns="0" rtlCol="0" anchor="t"/>
          <a:lstStyle/>
          <a:p>
            <a:pPr algn="ctr" indent="0" marL="0">
              <a:buNone/>
            </a:pPr>
            <a:r>
              <a:rPr lang="en-US" sz="900" dirty="0">
                <a:solidFill>
                  <a:srgbClr val="2D3436"/>
                </a:solidFill>
                <a:latin typeface="Microsoft YaHei" pitchFamily="34" charset="0"/>
                <a:ea typeface="Microsoft YaHei" pitchFamily="34" charset="-122"/>
                <a:cs typeface="Microsoft YaHei" pitchFamily="34" charset="-120"/>
              </a:rPr>
              <a:t>+0.469</a:t>
            </a:r>
            <a:endParaRPr lang="en-US" sz="900" dirty="0"/>
          </a:p>
        </p:txBody>
      </p:sp>
      <p:sp>
        <p:nvSpPr>
          <p:cNvPr id="20" name="Text 18"/>
          <p:cNvSpPr/>
          <p:nvPr/>
        </p:nvSpPr>
        <p:spPr>
          <a:xfrm>
            <a:off x="3358819" y="1863030"/>
            <a:ext cx="1010412" cy="161925"/>
          </a:xfrm>
          <a:prstGeom prst="rect">
            <a:avLst/>
          </a:prstGeom>
          <a:noFill/>
          <a:ln/>
        </p:spPr>
        <p:txBody>
          <a:bodyPr wrap="square" lIns="0" tIns="0" rIns="0" bIns="0" rtlCol="0" anchor="t"/>
          <a:lstStyle/>
          <a:p>
            <a:pPr algn="ctr" indent="0" marL="0">
              <a:buNone/>
            </a:pPr>
            <a:r>
              <a:rPr lang="en-US" sz="900" dirty="0">
                <a:solidFill>
                  <a:srgbClr val="C0392B"/>
                </a:solidFill>
                <a:latin typeface="Microsoft YaHei" pitchFamily="34" charset="0"/>
                <a:ea typeface="Microsoft YaHei" pitchFamily="34" charset="-122"/>
                <a:cs typeface="Microsoft YaHei" pitchFamily="34" charset="-120"/>
              </a:rPr>
              <a:t>-0.364</a:t>
            </a:r>
            <a:endParaRPr lang="en-US" sz="900" dirty="0"/>
          </a:p>
        </p:txBody>
      </p:sp>
      <p:sp>
        <p:nvSpPr>
          <p:cNvPr id="21" name="Text 19"/>
          <p:cNvSpPr/>
          <p:nvPr/>
        </p:nvSpPr>
        <p:spPr>
          <a:xfrm>
            <a:off x="4351705" y="1863030"/>
            <a:ext cx="777240" cy="161925"/>
          </a:xfrm>
          <a:prstGeom prst="rect">
            <a:avLst/>
          </a:prstGeom>
          <a:noFill/>
          <a:ln/>
        </p:spPr>
        <p:txBody>
          <a:bodyPr wrap="square" lIns="0" tIns="0" rIns="0" bIns="0" rtlCol="0" anchor="t"/>
          <a:lstStyle/>
          <a:p>
            <a:pPr algn="ctr" indent="0" marL="0">
              <a:buNone/>
            </a:pPr>
            <a:r>
              <a:rPr lang="en-US" sz="900" b="1" dirty="0">
                <a:solidFill>
                  <a:srgbClr val="C0392B"/>
                </a:solidFill>
                <a:latin typeface="Microsoft YaHei" pitchFamily="34" charset="0"/>
                <a:ea typeface="Microsoft YaHei" pitchFamily="34" charset="-122"/>
                <a:cs typeface="Microsoft YaHei" pitchFamily="34" charset="-120"/>
              </a:rPr>
              <a:t>反转!</a:t>
            </a:r>
            <a:endParaRPr lang="en-US" sz="900" dirty="0"/>
          </a:p>
        </p:txBody>
      </p:sp>
      <p:sp>
        <p:nvSpPr>
          <p:cNvPr id="22" name="Shape 20"/>
          <p:cNvSpPr/>
          <p:nvPr/>
        </p:nvSpPr>
        <p:spPr>
          <a:xfrm>
            <a:off x="492026" y="2391370"/>
            <a:ext cx="4705499" cy="0"/>
          </a:xfrm>
          <a:prstGeom prst="line">
            <a:avLst/>
          </a:prstGeom>
          <a:noFill/>
          <a:ln w="9525">
            <a:solidFill>
              <a:srgbClr val="DFE6E9"/>
            </a:solidFill>
            <a:prstDash val="solid"/>
          </a:ln>
        </p:spPr>
      </p:sp>
      <p:sp>
        <p:nvSpPr>
          <p:cNvPr id="23" name="Text 21"/>
          <p:cNvSpPr/>
          <p:nvPr/>
        </p:nvSpPr>
        <p:spPr>
          <a:xfrm>
            <a:off x="568226" y="2161282"/>
            <a:ext cx="1923821" cy="161925"/>
          </a:xfrm>
          <a:prstGeom prst="rect">
            <a:avLst/>
          </a:prstGeom>
          <a:noFill/>
          <a:ln/>
        </p:spPr>
        <p:txBody>
          <a:bodyPr wrap="square" lIns="0" tIns="0" rIns="0" bIns="0" rtlCol="0" anchor="t"/>
          <a:lstStyle/>
          <a:p>
            <a:pPr algn="l" indent="0" marL="0">
              <a:buNone/>
            </a:pPr>
            <a:r>
              <a:rPr lang="en-US" sz="900" dirty="0">
                <a:solidFill>
                  <a:srgbClr val="2D3436"/>
                </a:solidFill>
                <a:latin typeface="Microsoft YaHei" pitchFamily="34" charset="0"/>
                <a:ea typeface="Microsoft YaHei" pitchFamily="34" charset="-122"/>
                <a:cs typeface="Microsoft YaHei" pitchFamily="34" charset="-120"/>
              </a:rPr>
              <a:t>W1C81 速度 std</a:t>
            </a:r>
            <a:endParaRPr lang="en-US" sz="900" dirty="0"/>
          </a:p>
        </p:txBody>
      </p:sp>
      <p:sp>
        <p:nvSpPr>
          <p:cNvPr id="24" name="Text 22"/>
          <p:cNvSpPr/>
          <p:nvPr/>
        </p:nvSpPr>
        <p:spPr>
          <a:xfrm>
            <a:off x="2445181" y="2161282"/>
            <a:ext cx="932688" cy="161925"/>
          </a:xfrm>
          <a:prstGeom prst="rect">
            <a:avLst/>
          </a:prstGeom>
          <a:noFill/>
          <a:ln/>
        </p:spPr>
        <p:txBody>
          <a:bodyPr wrap="square" lIns="0" tIns="0" rIns="0" bIns="0" rtlCol="0" anchor="t"/>
          <a:lstStyle/>
          <a:p>
            <a:pPr algn="ctr" indent="0" marL="0">
              <a:buNone/>
            </a:pPr>
            <a:r>
              <a:rPr lang="en-US" sz="900" dirty="0">
                <a:solidFill>
                  <a:srgbClr val="2D3436"/>
                </a:solidFill>
                <a:latin typeface="Microsoft YaHei" pitchFamily="34" charset="0"/>
                <a:ea typeface="Microsoft YaHei" pitchFamily="34" charset="-122"/>
                <a:cs typeface="Microsoft YaHei" pitchFamily="34" charset="-120"/>
              </a:rPr>
              <a:t>+0.468</a:t>
            </a:r>
            <a:endParaRPr lang="en-US" sz="900" dirty="0"/>
          </a:p>
        </p:txBody>
      </p:sp>
      <p:sp>
        <p:nvSpPr>
          <p:cNvPr id="25" name="Text 23"/>
          <p:cNvSpPr/>
          <p:nvPr/>
        </p:nvSpPr>
        <p:spPr>
          <a:xfrm>
            <a:off x="3358819" y="2161282"/>
            <a:ext cx="1010412" cy="161925"/>
          </a:xfrm>
          <a:prstGeom prst="rect">
            <a:avLst/>
          </a:prstGeom>
          <a:noFill/>
          <a:ln/>
        </p:spPr>
        <p:txBody>
          <a:bodyPr wrap="square" lIns="0" tIns="0" rIns="0" bIns="0" rtlCol="0" anchor="t"/>
          <a:lstStyle/>
          <a:p>
            <a:pPr algn="ctr" indent="0" marL="0">
              <a:buNone/>
            </a:pPr>
            <a:r>
              <a:rPr lang="en-US" sz="900" dirty="0">
                <a:solidFill>
                  <a:srgbClr val="C0392B"/>
                </a:solidFill>
                <a:latin typeface="Microsoft YaHei" pitchFamily="34" charset="0"/>
                <a:ea typeface="Microsoft YaHei" pitchFamily="34" charset="-122"/>
                <a:cs typeface="Microsoft YaHei" pitchFamily="34" charset="-120"/>
              </a:rPr>
              <a:t>-0.278</a:t>
            </a:r>
            <a:endParaRPr lang="en-US" sz="900" dirty="0"/>
          </a:p>
        </p:txBody>
      </p:sp>
      <p:sp>
        <p:nvSpPr>
          <p:cNvPr id="26" name="Text 24"/>
          <p:cNvSpPr/>
          <p:nvPr/>
        </p:nvSpPr>
        <p:spPr>
          <a:xfrm>
            <a:off x="4351705" y="2161282"/>
            <a:ext cx="777240" cy="161925"/>
          </a:xfrm>
          <a:prstGeom prst="rect">
            <a:avLst/>
          </a:prstGeom>
          <a:noFill/>
          <a:ln/>
        </p:spPr>
        <p:txBody>
          <a:bodyPr wrap="square" lIns="0" tIns="0" rIns="0" bIns="0" rtlCol="0" anchor="t"/>
          <a:lstStyle/>
          <a:p>
            <a:pPr algn="ctr" indent="0" marL="0">
              <a:buNone/>
            </a:pPr>
            <a:r>
              <a:rPr lang="en-US" sz="900" b="1" dirty="0">
                <a:solidFill>
                  <a:srgbClr val="C0392B"/>
                </a:solidFill>
                <a:latin typeface="Microsoft YaHei" pitchFamily="34" charset="0"/>
                <a:ea typeface="Microsoft YaHei" pitchFamily="34" charset="-122"/>
                <a:cs typeface="Microsoft YaHei" pitchFamily="34" charset="-120"/>
              </a:rPr>
              <a:t>反转!</a:t>
            </a:r>
            <a:endParaRPr lang="en-US" sz="900" dirty="0"/>
          </a:p>
        </p:txBody>
      </p:sp>
      <p:sp>
        <p:nvSpPr>
          <p:cNvPr id="27" name="Text 25"/>
          <p:cNvSpPr/>
          <p:nvPr/>
        </p:nvSpPr>
        <p:spPr>
          <a:xfrm>
            <a:off x="568226" y="2459534"/>
            <a:ext cx="1923821" cy="161925"/>
          </a:xfrm>
          <a:prstGeom prst="rect">
            <a:avLst/>
          </a:prstGeom>
          <a:noFill/>
          <a:ln/>
        </p:spPr>
        <p:txBody>
          <a:bodyPr wrap="square" lIns="0" tIns="0" rIns="0" bIns="0" rtlCol="0" anchor="t"/>
          <a:lstStyle/>
          <a:p>
            <a:pPr algn="l" indent="0" marL="0">
              <a:buNone/>
            </a:pPr>
            <a:r>
              <a:rPr lang="en-US" sz="900" dirty="0">
                <a:solidFill>
                  <a:srgbClr val="2D3436"/>
                </a:solidFill>
                <a:latin typeface="Microsoft YaHei" pitchFamily="34" charset="0"/>
                <a:ea typeface="Microsoft YaHei" pitchFamily="34" charset="-122"/>
                <a:cs typeface="Microsoft YaHei" pitchFamily="34" charset="-120"/>
              </a:rPr>
              <a:t>速度波动</a:t>
            </a:r>
            <a:endParaRPr lang="en-US" sz="900" dirty="0"/>
          </a:p>
        </p:txBody>
      </p:sp>
      <p:sp>
        <p:nvSpPr>
          <p:cNvPr id="28" name="Text 26"/>
          <p:cNvSpPr/>
          <p:nvPr/>
        </p:nvSpPr>
        <p:spPr>
          <a:xfrm>
            <a:off x="2445181" y="2459534"/>
            <a:ext cx="932688" cy="161925"/>
          </a:xfrm>
          <a:prstGeom prst="rect">
            <a:avLst/>
          </a:prstGeom>
          <a:noFill/>
          <a:ln/>
        </p:spPr>
        <p:txBody>
          <a:bodyPr wrap="square" lIns="0" tIns="0" rIns="0" bIns="0" rtlCol="0" anchor="t"/>
          <a:lstStyle/>
          <a:p>
            <a:pPr algn="ctr" indent="0" marL="0">
              <a:buNone/>
            </a:pPr>
            <a:r>
              <a:rPr lang="en-US" sz="900" dirty="0">
                <a:solidFill>
                  <a:srgbClr val="2D3436"/>
                </a:solidFill>
                <a:latin typeface="Microsoft YaHei" pitchFamily="34" charset="0"/>
                <a:ea typeface="Microsoft YaHei" pitchFamily="34" charset="-122"/>
                <a:cs typeface="Microsoft YaHei" pitchFamily="34" charset="-120"/>
              </a:rPr>
              <a:t>8.9x</a:t>
            </a:r>
            <a:endParaRPr lang="en-US" sz="900" dirty="0"/>
          </a:p>
        </p:txBody>
      </p:sp>
      <p:sp>
        <p:nvSpPr>
          <p:cNvPr id="29" name="Text 27"/>
          <p:cNvSpPr/>
          <p:nvPr/>
        </p:nvSpPr>
        <p:spPr>
          <a:xfrm>
            <a:off x="3358819" y="2459534"/>
            <a:ext cx="1010412" cy="161925"/>
          </a:xfrm>
          <a:prstGeom prst="rect">
            <a:avLst/>
          </a:prstGeom>
          <a:noFill/>
          <a:ln/>
        </p:spPr>
        <p:txBody>
          <a:bodyPr wrap="square" lIns="0" tIns="0" rIns="0" bIns="0" rtlCol="0" anchor="t"/>
          <a:lstStyle/>
          <a:p>
            <a:pPr algn="ctr" indent="0" marL="0">
              <a:buNone/>
            </a:pPr>
            <a:r>
              <a:rPr lang="en-US" sz="900" dirty="0">
                <a:solidFill>
                  <a:srgbClr val="636E72"/>
                </a:solidFill>
                <a:latin typeface="Microsoft YaHei" pitchFamily="34" charset="0"/>
                <a:ea typeface="Microsoft YaHei" pitchFamily="34" charset="-122"/>
                <a:cs typeface="Microsoft YaHei" pitchFamily="34" charset="-120"/>
              </a:rPr>
              <a:t>0.16-0.19</a:t>
            </a:r>
            <a:endParaRPr lang="en-US" sz="900" dirty="0"/>
          </a:p>
        </p:txBody>
      </p:sp>
      <p:sp>
        <p:nvSpPr>
          <p:cNvPr id="30" name="Text 28"/>
          <p:cNvSpPr/>
          <p:nvPr/>
        </p:nvSpPr>
        <p:spPr>
          <a:xfrm>
            <a:off x="4351705" y="2459534"/>
            <a:ext cx="777240" cy="161925"/>
          </a:xfrm>
          <a:prstGeom prst="rect">
            <a:avLst/>
          </a:prstGeom>
          <a:noFill/>
          <a:ln/>
        </p:spPr>
        <p:txBody>
          <a:bodyPr wrap="square" lIns="0" tIns="0" rIns="0" bIns="0" rtlCol="0" anchor="t"/>
          <a:lstStyle/>
          <a:p>
            <a:pPr algn="ctr" indent="0" marL="0">
              <a:buNone/>
            </a:pPr>
            <a:r>
              <a:rPr lang="en-US" sz="900" dirty="0">
                <a:solidFill>
                  <a:srgbClr val="E85D3A"/>
                </a:solidFill>
                <a:latin typeface="Microsoft YaHei" pitchFamily="34" charset="0"/>
                <a:ea typeface="Microsoft YaHei" pitchFamily="34" charset="-122"/>
                <a:cs typeface="Microsoft YaHei" pitchFamily="34" charset="-120"/>
              </a:rPr>
              <a:t>归零</a:t>
            </a:r>
            <a:endParaRPr lang="en-US" sz="900" dirty="0"/>
          </a:p>
        </p:txBody>
      </p:sp>
      <p:sp>
        <p:nvSpPr>
          <p:cNvPr id="31" name="Text 29"/>
          <p:cNvSpPr/>
          <p:nvPr/>
        </p:nvSpPr>
        <p:spPr>
          <a:xfrm>
            <a:off x="492026" y="2786360"/>
            <a:ext cx="4799609" cy="304800"/>
          </a:xfrm>
          <a:prstGeom prst="rect">
            <a:avLst/>
          </a:prstGeom>
          <a:noFill/>
          <a:ln/>
        </p:spPr>
        <p:txBody>
          <a:bodyPr wrap="square" lIns="0" tIns="0" rIns="0" bIns="0" rtlCol="0" anchor="t"/>
          <a:lstStyle/>
          <a:p>
            <a:pPr algn="l" indent="0" marL="0">
              <a:lnSpc>
                <a:spcPts val="1200"/>
              </a:lnSpc>
              <a:spcBef>
                <a:spcPts val="800"/>
              </a:spcBef>
              <a:buNone/>
            </a:pPr>
            <a:r>
              <a:rPr lang="en-US" sz="800" dirty="0">
                <a:solidFill>
                  <a:srgbClr val="636E72"/>
                </a:solidFill>
                <a:latin typeface="Microsoft YaHei" pitchFamily="34" charset="0"/>
                <a:ea typeface="Microsoft YaHei" pitchFamily="34" charset="-122"/>
                <a:cs typeface="Microsoft YaHei" pitchFamily="34" charset="-120"/>
              </a:rPr>
              <a:t>※ 上表数据以 PG31DS 型号内计算。W1C80_std 和 W1C81_std 出现了方向反转——从全局正相关变为型号内负相关，是典型的 Simpson 悖论特征。</a:t>
            </a:r>
            <a:endParaRPr lang="en-US" sz="800" dirty="0"/>
          </a:p>
        </p:txBody>
      </p:sp>
      <p:sp>
        <p:nvSpPr>
          <p:cNvPr id="32" name="Text 30"/>
          <p:cNvSpPr/>
          <p:nvPr/>
        </p:nvSpPr>
        <p:spPr>
          <a:xfrm>
            <a:off x="8966150" y="736550"/>
            <a:ext cx="2920901" cy="4902101"/>
          </a:xfrm>
          <a:prstGeom prst="roundRect">
            <a:avLst>
              <a:gd name="adj" fmla="val 1739"/>
            </a:avLst>
          </a:prstGeom>
          <a:solidFill>
            <a:srgbClr val="FFFFFF"/>
          </a:solidFill>
          <a:ln w="9525">
            <a:solidFill>
              <a:srgbClr val="DFE6E9"/>
            </a:solidFill>
          </a:ln>
        </p:spPr>
        <p:txBody>
          <a:bodyPr wrap="square" rtlCol="0" anchor="ctr"/>
          <a:lstStyle/>
          <a:p>
            <a:pPr indent="0" marL="0">
              <a:buNone/>
            </a:pPr>
            <a:endParaRPr lang="en-US" dirty="0"/>
          </a:p>
        </p:txBody>
      </p:sp>
      <p:sp>
        <p:nvSpPr>
          <p:cNvPr id="33" name="Text 31"/>
          <p:cNvSpPr/>
          <p:nvPr/>
        </p:nvSpPr>
        <p:spPr>
          <a:xfrm>
            <a:off x="9128075" y="898475"/>
            <a:ext cx="2648992" cy="180975"/>
          </a:xfrm>
          <a:prstGeom prst="rect">
            <a:avLst/>
          </a:prstGeom>
          <a:noFill/>
          <a:ln/>
        </p:spPr>
        <p:txBody>
          <a:bodyPr wrap="square" lIns="0" tIns="0" rIns="0" bIns="0" rtlCol="0" anchor="t"/>
          <a:lstStyle/>
          <a:p>
            <a:pPr algn="l" indent="0" marL="0">
              <a:spcAft>
                <a:spcPts val="800"/>
              </a:spcAft>
              <a:buNone/>
            </a:pPr>
            <a:r>
              <a:rPr lang="en-US" sz="1000" b="1" dirty="0">
                <a:solidFill>
                  <a:srgbClr val="1B3A5C"/>
                </a:solidFill>
                <a:latin typeface="Microsoft YaHei" pitchFamily="34" charset="0"/>
                <a:ea typeface="Microsoft YaHei" pitchFamily="34" charset="-122"/>
                <a:cs typeface="Microsoft YaHei" pitchFamily="34" charset="-120"/>
              </a:rPr>
              <a:t>关键数据速览</a:t>
            </a:r>
            <a:endParaRPr lang="en-US" sz="1000" dirty="0"/>
          </a:p>
        </p:txBody>
      </p:sp>
      <p:sp>
        <p:nvSpPr>
          <p:cNvPr id="34" name="Text 32"/>
          <p:cNvSpPr/>
          <p:nvPr/>
        </p:nvSpPr>
        <p:spPr>
          <a:xfrm>
            <a:off x="9128075" y="1180951"/>
            <a:ext cx="2597051" cy="312390"/>
          </a:xfrm>
          <a:prstGeom prst="rect">
            <a:avLst/>
          </a:prstGeom>
          <a:solidFill>
            <a:srgbClr val="F8F9FA"/>
          </a:solidFill>
          <a:ln/>
        </p:spPr>
        <p:txBody>
          <a:bodyPr wrap="square" rtlCol="0" anchor="ctr"/>
          <a:lstStyle/>
          <a:p>
            <a:pPr indent="0" marL="0">
              <a:buNone/>
            </a:pPr>
            <a:endParaRPr lang="en-US" dirty="0"/>
          </a:p>
        </p:txBody>
      </p:sp>
      <p:sp>
        <p:nvSpPr>
          <p:cNvPr id="35" name="Shape 33"/>
          <p:cNvSpPr/>
          <p:nvPr/>
        </p:nvSpPr>
        <p:spPr>
          <a:xfrm>
            <a:off x="9137600" y="1180951"/>
            <a:ext cx="0" cy="312390"/>
          </a:xfrm>
          <a:prstGeom prst="line">
            <a:avLst/>
          </a:prstGeom>
          <a:noFill/>
          <a:ln w="19050">
            <a:solidFill>
              <a:srgbClr val="E85D3A"/>
            </a:solidFill>
            <a:prstDash val="solid"/>
          </a:ln>
        </p:spPr>
      </p:sp>
      <p:sp>
        <p:nvSpPr>
          <p:cNvPr id="36" name="Text 34"/>
          <p:cNvSpPr/>
          <p:nvPr/>
        </p:nvSpPr>
        <p:spPr>
          <a:xfrm>
            <a:off x="9248626" y="1257151"/>
            <a:ext cx="2422499" cy="159990"/>
          </a:xfrm>
          <a:prstGeom prst="rect">
            <a:avLst/>
          </a:prstGeom>
          <a:noFill/>
          <a:ln/>
        </p:spPr>
        <p:txBody>
          <a:bodyPr wrap="square" lIns="0" tIns="0" rIns="0" bIns="0" rtlCol="0" anchor="t"/>
          <a:lstStyle/>
          <a:p>
            <a:pPr algn="l" indent="0" marL="0">
              <a:lnSpc>
                <a:spcPts val="1260"/>
              </a:lnSpc>
              <a:buNone/>
            </a:pPr>
            <a:r>
              <a:rPr lang="en-US" sz="900" b="1" dirty="0">
                <a:solidFill>
                  <a:srgbClr val="2D3436"/>
                </a:solidFill>
                <a:latin typeface="Microsoft YaHei" pitchFamily="34" charset="0"/>
                <a:ea typeface="Microsoft YaHei" pitchFamily="34" charset="-122"/>
                <a:cs typeface="Microsoft YaHei" pitchFamily="34" charset="-120"/>
              </a:rPr>
              <a:t>8.9x</a:t>
            </a:r>
            <a:pPr algn="l" indent="0" marL="0">
              <a:lnSpc>
                <a:spcPts val="1260"/>
              </a:lnSpc>
              <a:buNone/>
            </a:pPr>
            <a:r>
              <a:rPr lang="en-US" sz="900" dirty="0">
                <a:solidFill>
                  <a:srgbClr val="2D3436"/>
                </a:solidFill>
                <a:latin typeface="Microsoft YaHei" pitchFamily="34" charset="0"/>
                <a:ea typeface="Microsoft YaHei" pitchFamily="34" charset="-122"/>
                <a:cs typeface="Microsoft YaHei" pitchFamily="34" charset="-120"/>
              </a:rPr>
              <a:t> 高划伤 vs 零划伤批次的速度波动差异</a:t>
            </a:r>
            <a:endParaRPr lang="en-US" sz="900" dirty="0"/>
          </a:p>
        </p:txBody>
      </p:sp>
      <p:sp>
        <p:nvSpPr>
          <p:cNvPr id="37" name="Text 35"/>
          <p:cNvSpPr/>
          <p:nvPr/>
        </p:nvSpPr>
        <p:spPr>
          <a:xfrm>
            <a:off x="9128075" y="1569541"/>
            <a:ext cx="2597051" cy="312390"/>
          </a:xfrm>
          <a:prstGeom prst="rect">
            <a:avLst/>
          </a:prstGeom>
          <a:solidFill>
            <a:srgbClr val="F8F9FA"/>
          </a:solidFill>
          <a:ln/>
        </p:spPr>
        <p:txBody>
          <a:bodyPr wrap="square" rtlCol="0" anchor="ctr"/>
          <a:lstStyle/>
          <a:p>
            <a:pPr indent="0" marL="0">
              <a:buNone/>
            </a:pPr>
            <a:endParaRPr lang="en-US" dirty="0"/>
          </a:p>
        </p:txBody>
      </p:sp>
      <p:sp>
        <p:nvSpPr>
          <p:cNvPr id="38" name="Shape 36"/>
          <p:cNvSpPr/>
          <p:nvPr/>
        </p:nvSpPr>
        <p:spPr>
          <a:xfrm>
            <a:off x="9137600" y="1569541"/>
            <a:ext cx="0" cy="312390"/>
          </a:xfrm>
          <a:prstGeom prst="line">
            <a:avLst/>
          </a:prstGeom>
          <a:noFill/>
          <a:ln w="19050">
            <a:solidFill>
              <a:srgbClr val="1B3A5C"/>
            </a:solidFill>
            <a:prstDash val="solid"/>
          </a:ln>
        </p:spPr>
      </p:sp>
      <p:sp>
        <p:nvSpPr>
          <p:cNvPr id="39" name="Text 37"/>
          <p:cNvSpPr/>
          <p:nvPr/>
        </p:nvSpPr>
        <p:spPr>
          <a:xfrm>
            <a:off x="9248626" y="1645741"/>
            <a:ext cx="2422499" cy="159990"/>
          </a:xfrm>
          <a:prstGeom prst="rect">
            <a:avLst/>
          </a:prstGeom>
          <a:noFill/>
          <a:ln/>
        </p:spPr>
        <p:txBody>
          <a:bodyPr wrap="square" lIns="0" tIns="0" rIns="0" bIns="0" rtlCol="0" anchor="t"/>
          <a:lstStyle/>
          <a:p>
            <a:pPr algn="l" indent="0" marL="0">
              <a:lnSpc>
                <a:spcPts val="1260"/>
              </a:lnSpc>
              <a:buNone/>
            </a:pPr>
            <a:r>
              <a:rPr lang="en-US" sz="900" dirty="0">
                <a:solidFill>
                  <a:srgbClr val="2D3436"/>
                </a:solidFill>
                <a:latin typeface="Microsoft YaHei" pitchFamily="34" charset="0"/>
                <a:ea typeface="Microsoft YaHei" pitchFamily="34" charset="-122"/>
                <a:cs typeface="Microsoft YaHei" pitchFamily="34" charset="-120"/>
              </a:rPr>
              <a:t>型号内平均 r 仅 </a:t>
            </a:r>
            <a:pPr algn="l" indent="0" marL="0">
              <a:lnSpc>
                <a:spcPts val="1260"/>
              </a:lnSpc>
              <a:buNone/>
            </a:pPr>
            <a:r>
              <a:rPr lang="en-US" sz="900" b="1" dirty="0">
                <a:solidFill>
                  <a:srgbClr val="2D3436"/>
                </a:solidFill>
                <a:latin typeface="Microsoft YaHei" pitchFamily="34" charset="0"/>
                <a:ea typeface="Microsoft YaHei" pitchFamily="34" charset="-122"/>
                <a:cs typeface="Microsoft YaHei" pitchFamily="34" charset="-120"/>
              </a:rPr>
              <a:t>0.16-0.19</a:t>
            </a:r>
            <a:pPr algn="l" indent="0" marL="0">
              <a:lnSpc>
                <a:spcPts val="1260"/>
              </a:lnSpc>
              <a:buNone/>
            </a:pPr>
            <a:r>
              <a:rPr lang="en-US" sz="900" dirty="0">
                <a:solidFill>
                  <a:srgbClr val="2D3436"/>
                </a:solidFill>
                <a:latin typeface="Microsoft YaHei" pitchFamily="34" charset="0"/>
                <a:ea typeface="Microsoft YaHei" pitchFamily="34" charset="-122"/>
                <a:cs typeface="Microsoft YaHei" pitchFamily="34" charset="-120"/>
              </a:rPr>
              <a:t>，接近零相关</a:t>
            </a:r>
            <a:endParaRPr lang="en-US" sz="900" dirty="0"/>
          </a:p>
        </p:txBody>
      </p:sp>
      <p:sp>
        <p:nvSpPr>
          <p:cNvPr id="40" name="Text 38"/>
          <p:cNvSpPr/>
          <p:nvPr/>
        </p:nvSpPr>
        <p:spPr>
          <a:xfrm>
            <a:off x="9128075" y="1958132"/>
            <a:ext cx="2597051" cy="312390"/>
          </a:xfrm>
          <a:prstGeom prst="rect">
            <a:avLst/>
          </a:prstGeom>
          <a:solidFill>
            <a:srgbClr val="F8F9FA"/>
          </a:solidFill>
          <a:ln/>
        </p:spPr>
        <p:txBody>
          <a:bodyPr wrap="square" rtlCol="0" anchor="ctr"/>
          <a:lstStyle/>
          <a:p>
            <a:pPr indent="0" marL="0">
              <a:buNone/>
            </a:pPr>
            <a:endParaRPr lang="en-US" dirty="0"/>
          </a:p>
        </p:txBody>
      </p:sp>
      <p:sp>
        <p:nvSpPr>
          <p:cNvPr id="41" name="Shape 39"/>
          <p:cNvSpPr/>
          <p:nvPr/>
        </p:nvSpPr>
        <p:spPr>
          <a:xfrm>
            <a:off x="9137600" y="1958132"/>
            <a:ext cx="0" cy="312390"/>
          </a:xfrm>
          <a:prstGeom prst="line">
            <a:avLst/>
          </a:prstGeom>
          <a:noFill/>
          <a:ln w="19050">
            <a:solidFill>
              <a:srgbClr val="1B3A5C"/>
            </a:solidFill>
            <a:prstDash val="solid"/>
          </a:ln>
        </p:spPr>
      </p:sp>
      <p:sp>
        <p:nvSpPr>
          <p:cNvPr id="42" name="Text 40"/>
          <p:cNvSpPr/>
          <p:nvPr/>
        </p:nvSpPr>
        <p:spPr>
          <a:xfrm>
            <a:off x="9248626" y="2034332"/>
            <a:ext cx="2422499" cy="159990"/>
          </a:xfrm>
          <a:prstGeom prst="rect">
            <a:avLst/>
          </a:prstGeom>
          <a:noFill/>
          <a:ln/>
        </p:spPr>
        <p:txBody>
          <a:bodyPr wrap="square" lIns="0" tIns="0" rIns="0" bIns="0" rtlCol="0" anchor="t"/>
          <a:lstStyle/>
          <a:p>
            <a:pPr algn="l" indent="0" marL="0">
              <a:lnSpc>
                <a:spcPts val="1260"/>
              </a:lnSpc>
              <a:buNone/>
            </a:pPr>
            <a:r>
              <a:rPr lang="en-US" sz="900" dirty="0">
                <a:solidFill>
                  <a:srgbClr val="2D3436"/>
                </a:solidFill>
                <a:latin typeface="Microsoft YaHei" pitchFamily="34" charset="0"/>
                <a:ea typeface="Microsoft YaHei" pitchFamily="34" charset="-122"/>
                <a:cs typeface="Microsoft YaHei" pitchFamily="34" charset="-120"/>
              </a:rPr>
              <a:t>PG32D 划伤率是 PG22C 的 </a:t>
            </a:r>
            <a:pPr algn="l" indent="0" marL="0">
              <a:lnSpc>
                <a:spcPts val="1260"/>
              </a:lnSpc>
              <a:buNone/>
            </a:pPr>
            <a:r>
              <a:rPr lang="en-US" sz="900" b="1" dirty="0">
                <a:solidFill>
                  <a:srgbClr val="2D3436"/>
                </a:solidFill>
                <a:latin typeface="Microsoft YaHei" pitchFamily="34" charset="0"/>
                <a:ea typeface="Microsoft YaHei" pitchFamily="34" charset="-122"/>
                <a:cs typeface="Microsoft YaHei" pitchFamily="34" charset="-120"/>
              </a:rPr>
              <a:t>15 倍</a:t>
            </a:r>
            <a:endParaRPr lang="en-US" sz="900" dirty="0"/>
          </a:p>
        </p:txBody>
      </p:sp>
      <p:sp>
        <p:nvSpPr>
          <p:cNvPr id="43" name="Text 41"/>
          <p:cNvSpPr/>
          <p:nvPr/>
        </p:nvSpPr>
        <p:spPr>
          <a:xfrm>
            <a:off x="9128075" y="2346722"/>
            <a:ext cx="2597051" cy="472380"/>
          </a:xfrm>
          <a:prstGeom prst="rect">
            <a:avLst/>
          </a:prstGeom>
          <a:solidFill>
            <a:srgbClr val="F8F9FA"/>
          </a:solidFill>
          <a:ln/>
        </p:spPr>
        <p:txBody>
          <a:bodyPr wrap="square" rtlCol="0" anchor="ctr"/>
          <a:lstStyle/>
          <a:p>
            <a:pPr indent="0" marL="0">
              <a:buNone/>
            </a:pPr>
            <a:endParaRPr lang="en-US" dirty="0"/>
          </a:p>
        </p:txBody>
      </p:sp>
      <p:sp>
        <p:nvSpPr>
          <p:cNvPr id="44" name="Shape 42"/>
          <p:cNvSpPr/>
          <p:nvPr/>
        </p:nvSpPr>
        <p:spPr>
          <a:xfrm>
            <a:off x="9137600" y="2346722"/>
            <a:ext cx="0" cy="472380"/>
          </a:xfrm>
          <a:prstGeom prst="line">
            <a:avLst/>
          </a:prstGeom>
          <a:noFill/>
          <a:ln w="19050">
            <a:solidFill>
              <a:srgbClr val="1B3A5C"/>
            </a:solidFill>
            <a:prstDash val="solid"/>
          </a:ln>
        </p:spPr>
      </p:sp>
      <p:sp>
        <p:nvSpPr>
          <p:cNvPr id="45" name="Text 43"/>
          <p:cNvSpPr/>
          <p:nvPr/>
        </p:nvSpPr>
        <p:spPr>
          <a:xfrm>
            <a:off x="9248626" y="2422922"/>
            <a:ext cx="2422499" cy="319980"/>
          </a:xfrm>
          <a:prstGeom prst="rect">
            <a:avLst/>
          </a:prstGeom>
          <a:noFill/>
          <a:ln/>
        </p:spPr>
        <p:txBody>
          <a:bodyPr wrap="square" lIns="0" tIns="0" rIns="0" bIns="0" rtlCol="0" anchor="t"/>
          <a:lstStyle/>
          <a:p>
            <a:pPr algn="l" indent="0" marL="0">
              <a:lnSpc>
                <a:spcPts val="1260"/>
              </a:lnSpc>
              <a:buNone/>
            </a:pPr>
            <a:r>
              <a:rPr lang="en-US" sz="900" dirty="0">
                <a:solidFill>
                  <a:srgbClr val="2D3436"/>
                </a:solidFill>
                <a:latin typeface="Microsoft YaHei" pitchFamily="34" charset="0"/>
                <a:ea typeface="Microsoft YaHei" pitchFamily="34" charset="-122"/>
                <a:cs typeface="Microsoft YaHei" pitchFamily="34" charset="-120"/>
              </a:rPr>
              <a:t>不同型号速度设定差异约 </a:t>
            </a:r>
            <a:pPr algn="l" indent="0" marL="0">
              <a:lnSpc>
                <a:spcPts val="1260"/>
              </a:lnSpc>
              <a:buNone/>
            </a:pPr>
            <a:r>
              <a:rPr lang="en-US" sz="900" b="1" dirty="0">
                <a:solidFill>
                  <a:srgbClr val="2D3436"/>
                </a:solidFill>
                <a:latin typeface="Microsoft YaHei" pitchFamily="34" charset="0"/>
                <a:ea typeface="Microsoft YaHei" pitchFamily="34" charset="-122"/>
                <a:cs typeface="Microsoft YaHei" pitchFamily="34" charset="-120"/>
              </a:rPr>
              <a:t>2 倍</a:t>
            </a:r>
            <a:pPr algn="l" indent="0" marL="0">
              <a:lnSpc>
                <a:spcPts val="1260"/>
              </a:lnSpc>
              <a:buNone/>
            </a:pPr>
            <a:r>
              <a:rPr lang="en-US" sz="900" dirty="0">
                <a:solidFill>
                  <a:srgbClr val="2D3436"/>
                </a:solidFill>
                <a:latin typeface="Microsoft YaHei" pitchFamily="34" charset="0"/>
                <a:ea typeface="Microsoft YaHei" pitchFamily="34" charset="-122"/>
                <a:cs typeface="Microsoft YaHei" pitchFamily="34" charset="-120"/>
              </a:rPr>
              <a:t>，膜厚差异约 </a:t>
            </a:r>
            <a:pPr algn="l" indent="0" marL="0">
              <a:lnSpc>
                <a:spcPts val="1260"/>
              </a:lnSpc>
              <a:buNone/>
            </a:pPr>
            <a:r>
              <a:rPr lang="en-US" sz="900" b="1" dirty="0">
                <a:solidFill>
                  <a:srgbClr val="2D3436"/>
                </a:solidFill>
                <a:latin typeface="Microsoft YaHei" pitchFamily="34" charset="0"/>
                <a:ea typeface="Microsoft YaHei" pitchFamily="34" charset="-122"/>
                <a:cs typeface="Microsoft YaHei" pitchFamily="34" charset="-120"/>
              </a:rPr>
              <a:t>2.6 倍</a:t>
            </a:r>
            <a:endParaRPr lang="en-US" sz="900" dirty="0"/>
          </a:p>
        </p:txBody>
      </p:sp>
      <p:sp>
        <p:nvSpPr>
          <p:cNvPr id="46" name="Text 44"/>
          <p:cNvSpPr/>
          <p:nvPr/>
        </p:nvSpPr>
        <p:spPr>
          <a:xfrm>
            <a:off x="9128075" y="2895302"/>
            <a:ext cx="2597051" cy="472380"/>
          </a:xfrm>
          <a:prstGeom prst="rect">
            <a:avLst/>
          </a:prstGeom>
          <a:solidFill>
            <a:srgbClr val="F8F9FA"/>
          </a:solidFill>
          <a:ln/>
        </p:spPr>
        <p:txBody>
          <a:bodyPr wrap="square" rtlCol="0" anchor="ctr"/>
          <a:lstStyle/>
          <a:p>
            <a:pPr indent="0" marL="0">
              <a:buNone/>
            </a:pPr>
            <a:endParaRPr lang="en-US" dirty="0"/>
          </a:p>
        </p:txBody>
      </p:sp>
      <p:sp>
        <p:nvSpPr>
          <p:cNvPr id="47" name="Shape 45"/>
          <p:cNvSpPr/>
          <p:nvPr/>
        </p:nvSpPr>
        <p:spPr>
          <a:xfrm>
            <a:off x="9137600" y="2895302"/>
            <a:ext cx="0" cy="472380"/>
          </a:xfrm>
          <a:prstGeom prst="line">
            <a:avLst/>
          </a:prstGeom>
          <a:noFill/>
          <a:ln w="19050">
            <a:solidFill>
              <a:srgbClr val="1B3A5C"/>
            </a:solidFill>
            <a:prstDash val="solid"/>
          </a:ln>
        </p:spPr>
      </p:sp>
      <p:sp>
        <p:nvSpPr>
          <p:cNvPr id="48" name="Text 46"/>
          <p:cNvSpPr/>
          <p:nvPr/>
        </p:nvSpPr>
        <p:spPr>
          <a:xfrm>
            <a:off x="9248626" y="2971502"/>
            <a:ext cx="2422499" cy="319980"/>
          </a:xfrm>
          <a:prstGeom prst="rect">
            <a:avLst/>
          </a:prstGeom>
          <a:noFill/>
          <a:ln/>
        </p:spPr>
        <p:txBody>
          <a:bodyPr wrap="square" lIns="0" tIns="0" rIns="0" bIns="0" rtlCol="0" anchor="t"/>
          <a:lstStyle/>
          <a:p>
            <a:pPr algn="l" indent="0" marL="0">
              <a:lnSpc>
                <a:spcPts val="1260"/>
              </a:lnSpc>
              <a:buNone/>
            </a:pPr>
            <a:r>
              <a:rPr lang="en-US" sz="900" dirty="0">
                <a:solidFill>
                  <a:srgbClr val="2D3436"/>
                </a:solidFill>
                <a:latin typeface="Microsoft YaHei" pitchFamily="34" charset="0"/>
                <a:ea typeface="Microsoft YaHei" pitchFamily="34" charset="-122"/>
                <a:cs typeface="Microsoft YaHei" pitchFamily="34" charset="-120"/>
              </a:rPr>
              <a:t>扭矩波动中位数差异约 </a:t>
            </a:r>
            <a:pPr algn="l" indent="0" marL="0">
              <a:lnSpc>
                <a:spcPts val="1260"/>
              </a:lnSpc>
              <a:buNone/>
            </a:pPr>
            <a:r>
              <a:rPr lang="en-US" sz="900" b="1" dirty="0">
                <a:solidFill>
                  <a:srgbClr val="2D3436"/>
                </a:solidFill>
                <a:latin typeface="Microsoft YaHei" pitchFamily="34" charset="0"/>
                <a:ea typeface="Microsoft YaHei" pitchFamily="34" charset="-122"/>
                <a:cs typeface="Microsoft YaHei" pitchFamily="34" charset="-120"/>
              </a:rPr>
              <a:t>6%</a:t>
            </a:r>
            <a:pPr algn="l" indent="0" marL="0">
              <a:lnSpc>
                <a:spcPts val="1260"/>
              </a:lnSpc>
              <a:buNone/>
            </a:pPr>
            <a:r>
              <a:rPr lang="en-US" sz="900" dirty="0">
                <a:solidFill>
                  <a:srgbClr val="2D3436"/>
                </a:solidFill>
                <a:latin typeface="Microsoft YaHei" pitchFamily="34" charset="0"/>
                <a:ea typeface="Microsoft YaHei" pitchFamily="34" charset="-122"/>
                <a:cs typeface="Microsoft YaHei" pitchFamily="34" charset="-120"/>
              </a:rPr>
              <a:t>，最大值差异约 </a:t>
            </a:r>
            <a:pPr algn="l" indent="0" marL="0">
              <a:lnSpc>
                <a:spcPts val="1260"/>
              </a:lnSpc>
              <a:buNone/>
            </a:pPr>
            <a:r>
              <a:rPr lang="en-US" sz="900" b="1" dirty="0">
                <a:solidFill>
                  <a:srgbClr val="2D3436"/>
                </a:solidFill>
                <a:latin typeface="Microsoft YaHei" pitchFamily="34" charset="0"/>
                <a:ea typeface="Microsoft YaHei" pitchFamily="34" charset="-122"/>
                <a:cs typeface="Microsoft YaHei" pitchFamily="34" charset="-120"/>
              </a:rPr>
              <a:t>30%</a:t>
            </a:r>
            <a:endParaRPr lang="en-US" sz="900" dirty="0"/>
          </a:p>
        </p:txBody>
      </p:sp>
      <p:sp>
        <p:nvSpPr>
          <p:cNvPr id="49" name="Text 47"/>
          <p:cNvSpPr/>
          <p:nvPr/>
        </p:nvSpPr>
        <p:spPr>
          <a:xfrm>
            <a:off x="304800" y="5791200"/>
            <a:ext cx="11582400" cy="660350"/>
          </a:xfrm>
          <a:prstGeom prst="roundRect">
            <a:avLst>
              <a:gd name="adj" fmla="val 7693"/>
            </a:avLst>
          </a:prstGeom>
          <a:solidFill>
            <a:srgbClr val="1B3A5C"/>
          </a:solidFill>
          <a:ln/>
        </p:spPr>
        <p:txBody>
          <a:bodyPr wrap="square" rtlCol="0" anchor="ctr"/>
          <a:lstStyle/>
          <a:p>
            <a:pPr indent="0" marL="0">
              <a:buNone/>
            </a:pPr>
            <a:endParaRPr lang="en-US" dirty="0"/>
          </a:p>
        </p:txBody>
      </p:sp>
      <p:sp>
        <p:nvSpPr>
          <p:cNvPr id="50" name="Text 48"/>
          <p:cNvSpPr/>
          <p:nvPr/>
        </p:nvSpPr>
        <p:spPr>
          <a:xfrm>
            <a:off x="454256" y="6026200"/>
            <a:ext cx="8072670" cy="190351"/>
          </a:xfrm>
          <a:prstGeom prst="rect">
            <a:avLst/>
          </a:prstGeom>
          <a:noFill/>
          <a:ln/>
        </p:spPr>
        <p:txBody>
          <a:bodyPr wrap="square" lIns="0" tIns="0" rIns="0" bIns="0" rtlCol="0" anchor="t"/>
          <a:lstStyle/>
          <a:p>
            <a:pPr algn="ctr" indent="0" marL="0">
              <a:lnSpc>
                <a:spcPts val="1500"/>
              </a:lnSpc>
              <a:buNone/>
            </a:pPr>
            <a:r>
              <a:rPr lang="en-US" sz="1000" b="1" dirty="0">
                <a:solidFill>
                  <a:srgbClr val="E85D3A"/>
                </a:solidFill>
                <a:latin typeface="Microsoft YaHei" pitchFamily="34" charset="0"/>
                <a:ea typeface="Microsoft YaHei" pitchFamily="34" charset="-122"/>
                <a:cs typeface="Microsoft YaHei" pitchFamily="34" charset="-120"/>
              </a:rPr>
              <a:t>结论：</a:t>
            </a:r>
            <a:pPr algn="ctr" indent="0" marL="0">
              <a:lnSpc>
                <a:spcPts val="1500"/>
              </a:lnSpc>
              <a:buNone/>
            </a:pPr>
            <a:r>
              <a:rPr lang="en-US" sz="1000" dirty="0">
                <a:solidFill>
                  <a:srgbClr val="FFFFFF"/>
                </a:solidFill>
                <a:latin typeface="Microsoft YaHei" pitchFamily="34" charset="0"/>
                <a:ea typeface="Microsoft YaHei" pitchFamily="34" charset="-122"/>
                <a:cs typeface="Microsoft YaHei" pitchFamily="34" charset="-120"/>
              </a:rPr>
              <a:t>所有聚合相关是型号间差异假象。型号 → 速度设定 → 摩擦功率决定划伤基线。系统本身未出故障，参数差异是产品规格的自然反映。</a:t>
            </a:r>
            <a:endParaRPr lang="en-US" sz="1000" dirty="0"/>
          </a:p>
        </p:txBody>
      </p:sp>
      <p:sp>
        <p:nvSpPr>
          <p:cNvPr id="51" name="Text 49"/>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52" name="Shape 50"/>
          <p:cNvSpPr/>
          <p:nvPr/>
        </p:nvSpPr>
        <p:spPr>
          <a:xfrm>
            <a:off x="0" y="6608862"/>
            <a:ext cx="12192000" cy="0"/>
          </a:xfrm>
          <a:prstGeom prst="line">
            <a:avLst/>
          </a:prstGeom>
          <a:noFill/>
          <a:ln w="9525">
            <a:solidFill>
              <a:srgbClr val="DFE6E9"/>
            </a:solidFill>
            <a:prstDash val="solid"/>
          </a:ln>
        </p:spPr>
      </p:sp>
      <p:sp>
        <p:nvSpPr>
          <p:cNvPr id="53" name="Text 51"/>
          <p:cNvSpPr/>
          <p:nvPr/>
        </p:nvSpPr>
        <p:spPr>
          <a:xfrm>
            <a:off x="11570791" y="6670774"/>
            <a:ext cx="322737"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6 / 10</a:t>
            </a:r>
            <a:endParaRPr lang="en-US" sz="900" dirty="0"/>
          </a:p>
        </p:txBody>
      </p:sp>
      <p:pic>
        <p:nvPicPr>
          <p:cNvPr id="54" name="Image 0" descr="/Volumes/laxer/codes/skills/ industrial-deep-diagnostic/ppt_workspace/garden-gpt-image-2/image/fig_vlm_simpson_torque.png">    </p:cNvPr>
          <p:cNvPicPr>
            <a:picLocks noChangeAspect="1"/>
          </p:cNvPicPr>
          <p:nvPr/>
        </p:nvPicPr>
        <p:blipFill>
          <a:blip r:embed="rId1"/>
          <a:stretch>
            <a:fillRect/>
          </a:stretch>
        </p:blipFill>
        <p:spPr>
          <a:xfrm>
            <a:off x="5613350" y="736550"/>
            <a:ext cx="3149501" cy="2362200"/>
          </a:xfrm>
          <a:prstGeom prst="rect">
            <a:avLst/>
          </a:prstGeom>
        </p:spPr>
      </p:pic>
      <p:pic>
        <p:nvPicPr>
          <p:cNvPr id="55" name="Image 1" descr="/Volumes/laxer/codes/skills/ industrial-deep-diagnostic/ppt_workspace/garden-gpt-image-2/image/fig3_speed_scratch_by_model.png">    </p:cNvPr>
          <p:cNvPicPr>
            <a:picLocks noChangeAspect="1"/>
          </p:cNvPicPr>
          <p:nvPr/>
        </p:nvPicPr>
        <p:blipFill>
          <a:blip r:embed="rId2"/>
          <a:stretch>
            <a:fillRect/>
          </a:stretch>
        </p:blipFill>
        <p:spPr>
          <a:xfrm>
            <a:off x="5613350" y="3276600"/>
            <a:ext cx="3149501" cy="2362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304800" y="279350"/>
            <a:ext cx="4455164" cy="352425"/>
          </a:xfrm>
          <a:prstGeom prst="rect">
            <a:avLst/>
          </a:prstGeom>
          <a:noFill/>
          <a:ln/>
        </p:spPr>
        <p:txBody>
          <a:bodyPr wrap="square" lIns="0" tIns="0" rIns="0" bIns="0" rtlCol="0" anchor="t"/>
          <a:lstStyle/>
          <a:p>
            <a:pPr algn="l" indent="0" marL="0">
              <a:buNone/>
            </a:pPr>
            <a:r>
              <a:rPr lang="en-US" sz="2000" b="1" dirty="0">
                <a:solidFill>
                  <a:srgbClr val="1B3A5C"/>
                </a:solidFill>
                <a:latin typeface="Microsoft YaHei" pitchFamily="34" charset="0"/>
                <a:ea typeface="Microsoft YaHei" pitchFamily="34" charset="-122"/>
                <a:cs typeface="Microsoft YaHei" pitchFamily="34" charset="-120"/>
              </a:rPr>
              <a:t>什么驱动了划伤？——竞争假说分析</a:t>
            </a:r>
            <a:endParaRPr lang="en-US" sz="2000" dirty="0"/>
          </a:p>
        </p:txBody>
      </p:sp>
      <p:sp>
        <p:nvSpPr>
          <p:cNvPr id="4" name="Text 2"/>
          <p:cNvSpPr/>
          <p:nvPr/>
        </p:nvSpPr>
        <p:spPr>
          <a:xfrm>
            <a:off x="304800" y="660350"/>
            <a:ext cx="634901"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304800" y="914400"/>
            <a:ext cx="6349901" cy="978098"/>
          </a:xfrm>
          <a:prstGeom prst="roundRect">
            <a:avLst>
              <a:gd name="adj" fmla="val 5194"/>
            </a:avLst>
          </a:prstGeom>
          <a:solidFill>
            <a:srgbClr val="FFFFFF"/>
          </a:solidFill>
          <a:ln/>
        </p:spPr>
        <p:txBody>
          <a:bodyPr wrap="square" rtlCol="0" anchor="ctr"/>
          <a:lstStyle/>
          <a:p>
            <a:pPr indent="0" marL="0">
              <a:buNone/>
            </a:pPr>
            <a:endParaRPr lang="en-US" dirty="0"/>
          </a:p>
        </p:txBody>
      </p:sp>
      <p:sp>
        <p:nvSpPr>
          <p:cNvPr id="6" name="Shape 4"/>
          <p:cNvSpPr/>
          <p:nvPr/>
        </p:nvSpPr>
        <p:spPr>
          <a:xfrm>
            <a:off x="304800" y="919162"/>
            <a:ext cx="6349901" cy="0"/>
          </a:xfrm>
          <a:prstGeom prst="line">
            <a:avLst/>
          </a:prstGeom>
          <a:noFill/>
          <a:ln w="9525">
            <a:solidFill>
              <a:srgbClr val="DFE6E9"/>
            </a:solidFill>
            <a:prstDash val="solid"/>
          </a:ln>
        </p:spPr>
      </p:sp>
      <p:sp>
        <p:nvSpPr>
          <p:cNvPr id="7" name="Shape 5"/>
          <p:cNvSpPr/>
          <p:nvPr/>
        </p:nvSpPr>
        <p:spPr>
          <a:xfrm>
            <a:off x="6649938" y="914400"/>
            <a:ext cx="0" cy="978098"/>
          </a:xfrm>
          <a:prstGeom prst="line">
            <a:avLst/>
          </a:prstGeom>
          <a:noFill/>
          <a:ln w="9525">
            <a:solidFill>
              <a:srgbClr val="DFE6E9"/>
            </a:solidFill>
            <a:prstDash val="solid"/>
          </a:ln>
        </p:spPr>
      </p:sp>
      <p:sp>
        <p:nvSpPr>
          <p:cNvPr id="8" name="Shape 6"/>
          <p:cNvSpPr/>
          <p:nvPr/>
        </p:nvSpPr>
        <p:spPr>
          <a:xfrm>
            <a:off x="304800" y="1887736"/>
            <a:ext cx="6349901" cy="0"/>
          </a:xfrm>
          <a:prstGeom prst="line">
            <a:avLst/>
          </a:prstGeom>
          <a:noFill/>
          <a:ln w="9525">
            <a:solidFill>
              <a:srgbClr val="DFE6E9"/>
            </a:solidFill>
            <a:prstDash val="solid"/>
          </a:ln>
        </p:spPr>
      </p:sp>
      <p:sp>
        <p:nvSpPr>
          <p:cNvPr id="9" name="Shape 7"/>
          <p:cNvSpPr/>
          <p:nvPr/>
        </p:nvSpPr>
        <p:spPr>
          <a:xfrm>
            <a:off x="328613" y="914400"/>
            <a:ext cx="0" cy="978098"/>
          </a:xfrm>
          <a:prstGeom prst="line">
            <a:avLst/>
          </a:prstGeom>
          <a:noFill/>
          <a:ln w="47625">
            <a:solidFill>
              <a:srgbClr val="27AE60"/>
            </a:solidFill>
            <a:prstDash val="solid"/>
          </a:ln>
        </p:spPr>
      </p:sp>
      <p:sp>
        <p:nvSpPr>
          <p:cNvPr id="10" name="Text 8"/>
          <p:cNvSpPr/>
          <p:nvPr/>
        </p:nvSpPr>
        <p:spPr>
          <a:xfrm>
            <a:off x="530126" y="1082576"/>
            <a:ext cx="875458" cy="200025"/>
          </a:xfrm>
          <a:prstGeom prst="rect">
            <a:avLst/>
          </a:prstGeom>
          <a:noFill/>
          <a:ln/>
        </p:spPr>
        <p:txBody>
          <a:bodyPr wrap="square" lIns="0" tIns="0" rIns="0" bIns="0" rtlCol="0" anchor="t"/>
          <a:lstStyle/>
          <a:p>
            <a:pPr algn="l" indent="0" marL="0">
              <a:buNone/>
            </a:pPr>
            <a:r>
              <a:rPr lang="en-US" sz="1100" b="1" dirty="0">
                <a:solidFill>
                  <a:srgbClr val="1B3A5C"/>
                </a:solidFill>
                <a:latin typeface="Microsoft YaHei" pitchFamily="34" charset="0"/>
                <a:ea typeface="Microsoft YaHei" pitchFamily="34" charset="-122"/>
                <a:cs typeface="Microsoft YaHei" pitchFamily="34" charset="-120"/>
              </a:rPr>
              <a:t>H1：型号驱动</a:t>
            </a:r>
            <a:endParaRPr lang="en-US" sz="1100" dirty="0"/>
          </a:p>
        </p:txBody>
      </p:sp>
      <p:sp>
        <p:nvSpPr>
          <p:cNvPr id="11" name="Text 9"/>
          <p:cNvSpPr/>
          <p:nvPr/>
        </p:nvSpPr>
        <p:spPr>
          <a:xfrm>
            <a:off x="5695801" y="1076325"/>
            <a:ext cx="771674" cy="212527"/>
          </a:xfrm>
          <a:prstGeom prst="roundRect">
            <a:avLst>
              <a:gd name="adj" fmla="val 17927"/>
            </a:avLst>
          </a:prstGeom>
          <a:solidFill>
            <a:srgbClr val="27AE60"/>
          </a:solidFill>
          <a:ln/>
        </p:spPr>
        <p:txBody>
          <a:bodyPr wrap="square" rtlCol="0" anchor="ctr"/>
          <a:lstStyle/>
          <a:p>
            <a:pPr indent="0" marL="0">
              <a:buNone/>
            </a:pPr>
            <a:endParaRPr lang="en-US" dirty="0"/>
          </a:p>
        </p:txBody>
      </p:sp>
      <p:sp>
        <p:nvSpPr>
          <p:cNvPr id="12" name="Text 10"/>
          <p:cNvSpPr/>
          <p:nvPr/>
        </p:nvSpPr>
        <p:spPr>
          <a:xfrm>
            <a:off x="5822752" y="1101626"/>
            <a:ext cx="528129" cy="161925"/>
          </a:xfrm>
          <a:prstGeom prst="rect">
            <a:avLst/>
          </a:prstGeom>
          <a:noFill/>
          <a:ln/>
        </p:spPr>
        <p:txBody>
          <a:bodyPr wrap="square" lIns="0" tIns="0" rIns="0" bIns="0" rtlCol="0" anchor="t"/>
          <a:lstStyle/>
          <a:p>
            <a:pPr algn="l" indent="0" marL="0">
              <a:buNone/>
            </a:pPr>
            <a:r>
              <a:rPr lang="en-US" sz="900" b="1" dirty="0">
                <a:solidFill>
                  <a:srgbClr val="FFFFFF"/>
                </a:solidFill>
                <a:latin typeface="Microsoft YaHei" pitchFamily="34" charset="0"/>
                <a:ea typeface="Microsoft YaHei" pitchFamily="34" charset="-122"/>
                <a:cs typeface="Microsoft YaHei" pitchFamily="34" charset="-120"/>
              </a:rPr>
              <a:t>存续 65%</a:t>
            </a:r>
            <a:endParaRPr lang="en-US" sz="900" dirty="0"/>
          </a:p>
        </p:txBody>
      </p:sp>
      <p:sp>
        <p:nvSpPr>
          <p:cNvPr id="13" name="Text 11"/>
          <p:cNvSpPr/>
          <p:nvPr/>
        </p:nvSpPr>
        <p:spPr>
          <a:xfrm>
            <a:off x="530126" y="1365052"/>
            <a:ext cx="6056096" cy="365522"/>
          </a:xfrm>
          <a:prstGeom prst="rect">
            <a:avLst/>
          </a:prstGeom>
          <a:noFill/>
          <a:ln/>
        </p:spPr>
        <p:txBody>
          <a:bodyPr wrap="square" lIns="0" tIns="0" rIns="0" bIns="0" rtlCol="0" anchor="t"/>
          <a:lstStyle/>
          <a:p>
            <a:pPr algn="l" indent="0" marL="0">
              <a:lnSpc>
                <a:spcPts val="1440"/>
              </a:lnSpc>
              <a:buNone/>
            </a:pPr>
            <a:r>
              <a:rPr lang="en-US" sz="900" dirty="0">
                <a:solidFill>
                  <a:srgbClr val="2D3436"/>
                </a:solidFill>
                <a:latin typeface="Microsoft YaHei" pitchFamily="34" charset="0"/>
                <a:ea typeface="Microsoft YaHei" pitchFamily="34" charset="-122"/>
                <a:cs typeface="Microsoft YaHei" pitchFamily="34" charset="-120"/>
              </a:rPr>
              <a:t>15倍划伤率密度差、速度设定差异2倍、膜厚差异2.6倍。PG31DS 型号内划伤率 0-36 的变异未完全解释，残留部分可能与其他微观因素有关。</a:t>
            </a:r>
            <a:endParaRPr lang="en-US" sz="900" dirty="0"/>
          </a:p>
        </p:txBody>
      </p:sp>
      <p:sp>
        <p:nvSpPr>
          <p:cNvPr id="14" name="Text 12"/>
          <p:cNvSpPr/>
          <p:nvPr/>
        </p:nvSpPr>
        <p:spPr>
          <a:xfrm>
            <a:off x="304800" y="1993999"/>
            <a:ext cx="6349901" cy="978098"/>
          </a:xfrm>
          <a:prstGeom prst="roundRect">
            <a:avLst>
              <a:gd name="adj" fmla="val 5194"/>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304800" y="1998762"/>
            <a:ext cx="6349901" cy="0"/>
          </a:xfrm>
          <a:prstGeom prst="line">
            <a:avLst/>
          </a:prstGeom>
          <a:noFill/>
          <a:ln w="9525">
            <a:solidFill>
              <a:srgbClr val="DFE6E9"/>
            </a:solidFill>
            <a:prstDash val="solid"/>
          </a:ln>
        </p:spPr>
      </p:sp>
      <p:sp>
        <p:nvSpPr>
          <p:cNvPr id="16" name="Shape 14"/>
          <p:cNvSpPr/>
          <p:nvPr/>
        </p:nvSpPr>
        <p:spPr>
          <a:xfrm>
            <a:off x="6649938" y="1993999"/>
            <a:ext cx="0" cy="978098"/>
          </a:xfrm>
          <a:prstGeom prst="line">
            <a:avLst/>
          </a:prstGeom>
          <a:noFill/>
          <a:ln w="9525">
            <a:solidFill>
              <a:srgbClr val="DFE6E9"/>
            </a:solidFill>
            <a:prstDash val="solid"/>
          </a:ln>
        </p:spPr>
      </p:sp>
      <p:sp>
        <p:nvSpPr>
          <p:cNvPr id="17" name="Shape 15"/>
          <p:cNvSpPr/>
          <p:nvPr/>
        </p:nvSpPr>
        <p:spPr>
          <a:xfrm>
            <a:off x="304800" y="2967335"/>
            <a:ext cx="6349901" cy="0"/>
          </a:xfrm>
          <a:prstGeom prst="line">
            <a:avLst/>
          </a:prstGeom>
          <a:noFill/>
          <a:ln w="9525">
            <a:solidFill>
              <a:srgbClr val="DFE6E9"/>
            </a:solidFill>
            <a:prstDash val="solid"/>
          </a:ln>
        </p:spPr>
      </p:sp>
      <p:sp>
        <p:nvSpPr>
          <p:cNvPr id="18" name="Shape 16"/>
          <p:cNvSpPr/>
          <p:nvPr/>
        </p:nvSpPr>
        <p:spPr>
          <a:xfrm>
            <a:off x="328613" y="1993999"/>
            <a:ext cx="0" cy="978098"/>
          </a:xfrm>
          <a:prstGeom prst="line">
            <a:avLst/>
          </a:prstGeom>
          <a:noFill/>
          <a:ln w="47625">
            <a:solidFill>
              <a:srgbClr val="F39C12"/>
            </a:solidFill>
            <a:prstDash val="solid"/>
          </a:ln>
        </p:spPr>
      </p:sp>
      <p:sp>
        <p:nvSpPr>
          <p:cNvPr id="19" name="Text 17"/>
          <p:cNvSpPr/>
          <p:nvPr/>
        </p:nvSpPr>
        <p:spPr>
          <a:xfrm>
            <a:off x="530126" y="2162175"/>
            <a:ext cx="1187416" cy="200025"/>
          </a:xfrm>
          <a:prstGeom prst="rect">
            <a:avLst/>
          </a:prstGeom>
          <a:noFill/>
          <a:ln/>
        </p:spPr>
        <p:txBody>
          <a:bodyPr wrap="square" lIns="0" tIns="0" rIns="0" bIns="0" rtlCol="0" anchor="t"/>
          <a:lstStyle/>
          <a:p>
            <a:pPr algn="l" indent="0" marL="0">
              <a:buNone/>
            </a:pPr>
            <a:r>
              <a:rPr lang="en-US" sz="1100" b="1" dirty="0">
                <a:solidFill>
                  <a:srgbClr val="1B3A5C"/>
                </a:solidFill>
                <a:latin typeface="Microsoft YaHei" pitchFamily="34" charset="0"/>
                <a:ea typeface="Microsoft YaHei" pitchFamily="34" charset="-122"/>
                <a:cs typeface="Microsoft YaHei" pitchFamily="34" charset="-120"/>
              </a:rPr>
              <a:t>H2：扭矩波动残留</a:t>
            </a:r>
            <a:endParaRPr lang="en-US" sz="1100" dirty="0"/>
          </a:p>
        </p:txBody>
      </p:sp>
      <p:sp>
        <p:nvSpPr>
          <p:cNvPr id="20" name="Text 18"/>
          <p:cNvSpPr/>
          <p:nvPr/>
        </p:nvSpPr>
        <p:spPr>
          <a:xfrm>
            <a:off x="5695801" y="2155924"/>
            <a:ext cx="771674" cy="212527"/>
          </a:xfrm>
          <a:prstGeom prst="roundRect">
            <a:avLst>
              <a:gd name="adj" fmla="val 17927"/>
            </a:avLst>
          </a:prstGeom>
          <a:solidFill>
            <a:srgbClr val="F39C12"/>
          </a:solidFill>
          <a:ln/>
        </p:spPr>
        <p:txBody>
          <a:bodyPr wrap="square" rtlCol="0" anchor="ctr"/>
          <a:lstStyle/>
          <a:p>
            <a:pPr indent="0" marL="0">
              <a:buNone/>
            </a:pPr>
            <a:endParaRPr lang="en-US" dirty="0"/>
          </a:p>
        </p:txBody>
      </p:sp>
      <p:sp>
        <p:nvSpPr>
          <p:cNvPr id="21" name="Text 19"/>
          <p:cNvSpPr/>
          <p:nvPr/>
        </p:nvSpPr>
        <p:spPr>
          <a:xfrm>
            <a:off x="5822752" y="2181225"/>
            <a:ext cx="528129" cy="161925"/>
          </a:xfrm>
          <a:prstGeom prst="rect">
            <a:avLst/>
          </a:prstGeom>
          <a:noFill/>
          <a:ln/>
        </p:spPr>
        <p:txBody>
          <a:bodyPr wrap="square" lIns="0" tIns="0" rIns="0" bIns="0" rtlCol="0" anchor="t"/>
          <a:lstStyle/>
          <a:p>
            <a:pPr algn="l" indent="0" marL="0">
              <a:buNone/>
            </a:pPr>
            <a:r>
              <a:rPr lang="en-US" sz="900" b="1" dirty="0">
                <a:solidFill>
                  <a:srgbClr val="FFFFFF"/>
                </a:solidFill>
                <a:latin typeface="Microsoft YaHei" pitchFamily="34" charset="0"/>
                <a:ea typeface="Microsoft YaHei" pitchFamily="34" charset="-122"/>
                <a:cs typeface="Microsoft YaHei" pitchFamily="34" charset="-120"/>
              </a:rPr>
              <a:t>残留 35%</a:t>
            </a:r>
            <a:endParaRPr lang="en-US" sz="900" dirty="0"/>
          </a:p>
        </p:txBody>
      </p:sp>
      <p:sp>
        <p:nvSpPr>
          <p:cNvPr id="22" name="Text 20"/>
          <p:cNvSpPr/>
          <p:nvPr/>
        </p:nvSpPr>
        <p:spPr>
          <a:xfrm>
            <a:off x="530126" y="2444651"/>
            <a:ext cx="6056096" cy="365522"/>
          </a:xfrm>
          <a:prstGeom prst="rect">
            <a:avLst/>
          </a:prstGeom>
          <a:noFill/>
          <a:ln/>
        </p:spPr>
        <p:txBody>
          <a:bodyPr wrap="square" lIns="0" tIns="0" rIns="0" bIns="0" rtlCol="0" anchor="t"/>
          <a:lstStyle/>
          <a:p>
            <a:pPr algn="l" indent="0" marL="0">
              <a:lnSpc>
                <a:spcPts val="1440"/>
              </a:lnSpc>
              <a:buNone/>
            </a:pPr>
            <a:r>
              <a:rPr lang="en-US" sz="900" dirty="0">
                <a:solidFill>
                  <a:srgbClr val="2D3436"/>
                </a:solidFill>
                <a:latin typeface="Microsoft YaHei" pitchFamily="34" charset="0"/>
                <a:ea typeface="Microsoft YaHei" pitchFamily="34" charset="-122"/>
                <a:cs typeface="Microsoft YaHei" pitchFamily="34" charset="-120"/>
              </a:rPr>
              <a:t>FP21 型号内 5号辊扭矩与划伤 r=0.442 但方向不一致（其他型号显示相反趋势）。小样本型号(n le; 10) 难以确认方向稳定性。</a:t>
            </a:r>
            <a:endParaRPr lang="en-US" sz="900" dirty="0"/>
          </a:p>
        </p:txBody>
      </p:sp>
      <p:sp>
        <p:nvSpPr>
          <p:cNvPr id="23" name="Text 21"/>
          <p:cNvSpPr/>
          <p:nvPr/>
        </p:nvSpPr>
        <p:spPr>
          <a:xfrm>
            <a:off x="304800" y="3073598"/>
            <a:ext cx="6349901" cy="978098"/>
          </a:xfrm>
          <a:prstGeom prst="roundRect">
            <a:avLst>
              <a:gd name="adj" fmla="val 5194"/>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304800" y="3078361"/>
            <a:ext cx="6349901" cy="0"/>
          </a:xfrm>
          <a:prstGeom prst="line">
            <a:avLst/>
          </a:prstGeom>
          <a:noFill/>
          <a:ln w="9525">
            <a:solidFill>
              <a:srgbClr val="DFE6E9"/>
            </a:solidFill>
            <a:prstDash val="solid"/>
          </a:ln>
        </p:spPr>
      </p:sp>
      <p:sp>
        <p:nvSpPr>
          <p:cNvPr id="25" name="Shape 23"/>
          <p:cNvSpPr/>
          <p:nvPr/>
        </p:nvSpPr>
        <p:spPr>
          <a:xfrm>
            <a:off x="6649938" y="3073598"/>
            <a:ext cx="0" cy="978098"/>
          </a:xfrm>
          <a:prstGeom prst="line">
            <a:avLst/>
          </a:prstGeom>
          <a:noFill/>
          <a:ln w="9525">
            <a:solidFill>
              <a:srgbClr val="DFE6E9"/>
            </a:solidFill>
            <a:prstDash val="solid"/>
          </a:ln>
        </p:spPr>
      </p:sp>
      <p:sp>
        <p:nvSpPr>
          <p:cNvPr id="26" name="Shape 24"/>
          <p:cNvSpPr/>
          <p:nvPr/>
        </p:nvSpPr>
        <p:spPr>
          <a:xfrm>
            <a:off x="304800" y="4046934"/>
            <a:ext cx="6349901" cy="0"/>
          </a:xfrm>
          <a:prstGeom prst="line">
            <a:avLst/>
          </a:prstGeom>
          <a:noFill/>
          <a:ln w="9525">
            <a:solidFill>
              <a:srgbClr val="DFE6E9"/>
            </a:solidFill>
            <a:prstDash val="solid"/>
          </a:ln>
        </p:spPr>
      </p:sp>
      <p:sp>
        <p:nvSpPr>
          <p:cNvPr id="27" name="Shape 25"/>
          <p:cNvSpPr/>
          <p:nvPr/>
        </p:nvSpPr>
        <p:spPr>
          <a:xfrm>
            <a:off x="328613" y="3073598"/>
            <a:ext cx="0" cy="978098"/>
          </a:xfrm>
          <a:prstGeom prst="line">
            <a:avLst/>
          </a:prstGeom>
          <a:noFill/>
          <a:ln w="47625">
            <a:solidFill>
              <a:srgbClr val="E74C3C"/>
            </a:solidFill>
            <a:prstDash val="solid"/>
          </a:ln>
        </p:spPr>
      </p:sp>
      <p:sp>
        <p:nvSpPr>
          <p:cNvPr id="28" name="Text 26"/>
          <p:cNvSpPr/>
          <p:nvPr/>
        </p:nvSpPr>
        <p:spPr>
          <a:xfrm>
            <a:off x="530126" y="3241774"/>
            <a:ext cx="1472202" cy="200025"/>
          </a:xfrm>
          <a:prstGeom prst="rect">
            <a:avLst/>
          </a:prstGeom>
          <a:noFill/>
          <a:ln/>
        </p:spPr>
        <p:txBody>
          <a:bodyPr wrap="square" lIns="0" tIns="0" rIns="0" bIns="0" rtlCol="0" anchor="t"/>
          <a:lstStyle/>
          <a:p>
            <a:pPr algn="l" indent="0" marL="0">
              <a:buNone/>
            </a:pPr>
            <a:r>
              <a:rPr lang="en-US" sz="1100" b="1" dirty="0">
                <a:solidFill>
                  <a:srgbClr val="1B3A5C"/>
                </a:solidFill>
                <a:latin typeface="Microsoft YaHei" pitchFamily="34" charset="0"/>
                <a:ea typeface="Microsoft YaHei" pitchFamily="34" charset="-122"/>
                <a:cs typeface="Microsoft YaHei" pitchFamily="34" charset="-120"/>
              </a:rPr>
              <a:t>H3：速度波动虚假相关</a:t>
            </a:r>
            <a:endParaRPr lang="en-US" sz="1100" dirty="0"/>
          </a:p>
        </p:txBody>
      </p:sp>
      <p:sp>
        <p:nvSpPr>
          <p:cNvPr id="29" name="Text 27"/>
          <p:cNvSpPr/>
          <p:nvPr/>
        </p:nvSpPr>
        <p:spPr>
          <a:xfrm>
            <a:off x="5695801" y="3235523"/>
            <a:ext cx="771674" cy="212527"/>
          </a:xfrm>
          <a:prstGeom prst="roundRect">
            <a:avLst>
              <a:gd name="adj" fmla="val 17927"/>
            </a:avLst>
          </a:prstGeom>
          <a:solidFill>
            <a:srgbClr val="E74C3C"/>
          </a:solidFill>
          <a:ln/>
        </p:spPr>
        <p:txBody>
          <a:bodyPr wrap="square" rtlCol="0" anchor="ctr"/>
          <a:lstStyle/>
          <a:p>
            <a:pPr indent="0" marL="0">
              <a:buNone/>
            </a:pPr>
            <a:endParaRPr lang="en-US" dirty="0"/>
          </a:p>
        </p:txBody>
      </p:sp>
      <p:sp>
        <p:nvSpPr>
          <p:cNvPr id="30" name="Text 28"/>
          <p:cNvSpPr/>
          <p:nvPr/>
        </p:nvSpPr>
        <p:spPr>
          <a:xfrm>
            <a:off x="5822752" y="3260824"/>
            <a:ext cx="528129" cy="161925"/>
          </a:xfrm>
          <a:prstGeom prst="rect">
            <a:avLst/>
          </a:prstGeom>
          <a:noFill/>
          <a:ln/>
        </p:spPr>
        <p:txBody>
          <a:bodyPr wrap="square" lIns="0" tIns="0" rIns="0" bIns="0" rtlCol="0" anchor="t"/>
          <a:lstStyle/>
          <a:p>
            <a:pPr algn="l" indent="0" marL="0">
              <a:buNone/>
            </a:pPr>
            <a:r>
              <a:rPr lang="en-US" sz="900" b="1" dirty="0">
                <a:solidFill>
                  <a:srgbClr val="FFFFFF"/>
                </a:solidFill>
                <a:latin typeface="Microsoft YaHei" pitchFamily="34" charset="0"/>
                <a:ea typeface="Microsoft YaHei" pitchFamily="34" charset="-122"/>
                <a:cs typeface="Microsoft YaHei" pitchFamily="34" charset="-120"/>
              </a:rPr>
              <a:t>排除 95%</a:t>
            </a:r>
            <a:endParaRPr lang="en-US" sz="900" dirty="0"/>
          </a:p>
        </p:txBody>
      </p:sp>
      <p:sp>
        <p:nvSpPr>
          <p:cNvPr id="31" name="Text 29"/>
          <p:cNvSpPr/>
          <p:nvPr/>
        </p:nvSpPr>
        <p:spPr>
          <a:xfrm>
            <a:off x="530126" y="3524250"/>
            <a:ext cx="6056096" cy="365522"/>
          </a:xfrm>
          <a:prstGeom prst="rect">
            <a:avLst/>
          </a:prstGeom>
          <a:noFill/>
          <a:ln/>
        </p:spPr>
        <p:txBody>
          <a:bodyPr wrap="square" lIns="0" tIns="0" rIns="0" bIns="0" rtlCol="0" anchor="t"/>
          <a:lstStyle/>
          <a:p>
            <a:pPr algn="l" indent="0" marL="0">
              <a:lnSpc>
                <a:spcPts val="1440"/>
              </a:lnSpc>
              <a:buNone/>
            </a:pPr>
            <a:r>
              <a:rPr lang="en-US" sz="900" dirty="0">
                <a:solidFill>
                  <a:srgbClr val="2D3436"/>
                </a:solidFill>
                <a:latin typeface="Microsoft YaHei" pitchFamily="34" charset="0"/>
                <a:ea typeface="Microsoft YaHei" pitchFamily="34" charset="-122"/>
                <a:cs typeface="Microsoft YaHei" pitchFamily="34" charset="-120"/>
              </a:rPr>
              <a:t>全局显示高划伤批次速度为低划伤批次的 8.9 倍。但型号内平均相关 r &lt; 0.20，说明这是型号间差异造成的假象，并非真实因果。</a:t>
            </a:r>
            <a:endParaRPr lang="en-US" sz="900" dirty="0"/>
          </a:p>
        </p:txBody>
      </p:sp>
      <p:sp>
        <p:nvSpPr>
          <p:cNvPr id="32" name="Text 30"/>
          <p:cNvSpPr/>
          <p:nvPr/>
        </p:nvSpPr>
        <p:spPr>
          <a:xfrm>
            <a:off x="304800" y="4153198"/>
            <a:ext cx="6349901" cy="978098"/>
          </a:xfrm>
          <a:prstGeom prst="roundRect">
            <a:avLst>
              <a:gd name="adj" fmla="val 5194"/>
            </a:avLst>
          </a:prstGeom>
          <a:solidFill>
            <a:srgbClr val="FFFFFF"/>
          </a:solidFill>
          <a:ln/>
        </p:spPr>
        <p:txBody>
          <a:bodyPr wrap="square" rtlCol="0" anchor="ctr"/>
          <a:lstStyle/>
          <a:p>
            <a:pPr indent="0" marL="0">
              <a:buNone/>
            </a:pPr>
            <a:endParaRPr lang="en-US" dirty="0"/>
          </a:p>
        </p:txBody>
      </p:sp>
      <p:sp>
        <p:nvSpPr>
          <p:cNvPr id="33" name="Shape 31"/>
          <p:cNvSpPr/>
          <p:nvPr/>
        </p:nvSpPr>
        <p:spPr>
          <a:xfrm>
            <a:off x="304800" y="4157960"/>
            <a:ext cx="6349901" cy="0"/>
          </a:xfrm>
          <a:prstGeom prst="line">
            <a:avLst/>
          </a:prstGeom>
          <a:noFill/>
          <a:ln w="9525">
            <a:solidFill>
              <a:srgbClr val="DFE6E9"/>
            </a:solidFill>
            <a:prstDash val="solid"/>
          </a:ln>
        </p:spPr>
      </p:sp>
      <p:sp>
        <p:nvSpPr>
          <p:cNvPr id="34" name="Shape 32"/>
          <p:cNvSpPr/>
          <p:nvPr/>
        </p:nvSpPr>
        <p:spPr>
          <a:xfrm>
            <a:off x="6649938" y="4153198"/>
            <a:ext cx="0" cy="978098"/>
          </a:xfrm>
          <a:prstGeom prst="line">
            <a:avLst/>
          </a:prstGeom>
          <a:noFill/>
          <a:ln w="9525">
            <a:solidFill>
              <a:srgbClr val="DFE6E9"/>
            </a:solidFill>
            <a:prstDash val="solid"/>
          </a:ln>
        </p:spPr>
      </p:sp>
      <p:sp>
        <p:nvSpPr>
          <p:cNvPr id="35" name="Shape 33"/>
          <p:cNvSpPr/>
          <p:nvPr/>
        </p:nvSpPr>
        <p:spPr>
          <a:xfrm>
            <a:off x="304800" y="5126534"/>
            <a:ext cx="6349901" cy="0"/>
          </a:xfrm>
          <a:prstGeom prst="line">
            <a:avLst/>
          </a:prstGeom>
          <a:noFill/>
          <a:ln w="9525">
            <a:solidFill>
              <a:srgbClr val="DFE6E9"/>
            </a:solidFill>
            <a:prstDash val="solid"/>
          </a:ln>
        </p:spPr>
      </p:sp>
      <p:sp>
        <p:nvSpPr>
          <p:cNvPr id="36" name="Shape 34"/>
          <p:cNvSpPr/>
          <p:nvPr/>
        </p:nvSpPr>
        <p:spPr>
          <a:xfrm>
            <a:off x="328613" y="4153198"/>
            <a:ext cx="0" cy="978098"/>
          </a:xfrm>
          <a:prstGeom prst="line">
            <a:avLst/>
          </a:prstGeom>
          <a:noFill/>
          <a:ln w="47625">
            <a:solidFill>
              <a:srgbClr val="E74C3C"/>
            </a:solidFill>
            <a:prstDash val="solid"/>
          </a:ln>
        </p:spPr>
      </p:sp>
      <p:sp>
        <p:nvSpPr>
          <p:cNvPr id="37" name="Text 35"/>
          <p:cNvSpPr/>
          <p:nvPr/>
        </p:nvSpPr>
        <p:spPr>
          <a:xfrm>
            <a:off x="530126" y="4321373"/>
            <a:ext cx="902479" cy="200025"/>
          </a:xfrm>
          <a:prstGeom prst="rect">
            <a:avLst/>
          </a:prstGeom>
          <a:noFill/>
          <a:ln/>
        </p:spPr>
        <p:txBody>
          <a:bodyPr wrap="square" lIns="0" tIns="0" rIns="0" bIns="0" rtlCol="0" anchor="t"/>
          <a:lstStyle/>
          <a:p>
            <a:pPr algn="l" indent="0" marL="0">
              <a:buNone/>
            </a:pPr>
            <a:r>
              <a:rPr lang="en-US" sz="1100" b="1" dirty="0">
                <a:solidFill>
                  <a:srgbClr val="1B3A5C"/>
                </a:solidFill>
                <a:latin typeface="Microsoft YaHei" pitchFamily="34" charset="0"/>
                <a:ea typeface="Microsoft YaHei" pitchFamily="34" charset="-122"/>
                <a:cs typeface="Microsoft YaHei" pitchFamily="34" charset="-120"/>
              </a:rPr>
              <a:t>H4：温度波动</a:t>
            </a:r>
            <a:endParaRPr lang="en-US" sz="1100" dirty="0"/>
          </a:p>
        </p:txBody>
      </p:sp>
      <p:sp>
        <p:nvSpPr>
          <p:cNvPr id="38" name="Text 36"/>
          <p:cNvSpPr/>
          <p:nvPr/>
        </p:nvSpPr>
        <p:spPr>
          <a:xfrm>
            <a:off x="5695801" y="4315123"/>
            <a:ext cx="771674" cy="212527"/>
          </a:xfrm>
          <a:prstGeom prst="roundRect">
            <a:avLst>
              <a:gd name="adj" fmla="val 17927"/>
            </a:avLst>
          </a:prstGeom>
          <a:solidFill>
            <a:srgbClr val="E74C3C"/>
          </a:solidFill>
          <a:ln/>
        </p:spPr>
        <p:txBody>
          <a:bodyPr wrap="square" rtlCol="0" anchor="ctr"/>
          <a:lstStyle/>
          <a:p>
            <a:pPr indent="0" marL="0">
              <a:buNone/>
            </a:pPr>
            <a:endParaRPr lang="en-US" dirty="0"/>
          </a:p>
        </p:txBody>
      </p:sp>
      <p:sp>
        <p:nvSpPr>
          <p:cNvPr id="39" name="Text 37"/>
          <p:cNvSpPr/>
          <p:nvPr/>
        </p:nvSpPr>
        <p:spPr>
          <a:xfrm>
            <a:off x="5822752" y="4340423"/>
            <a:ext cx="528129" cy="161925"/>
          </a:xfrm>
          <a:prstGeom prst="rect">
            <a:avLst/>
          </a:prstGeom>
          <a:noFill/>
          <a:ln/>
        </p:spPr>
        <p:txBody>
          <a:bodyPr wrap="square" lIns="0" tIns="0" rIns="0" bIns="0" rtlCol="0" anchor="t"/>
          <a:lstStyle/>
          <a:p>
            <a:pPr algn="l" indent="0" marL="0">
              <a:buNone/>
            </a:pPr>
            <a:r>
              <a:rPr lang="en-US" sz="900" b="1" dirty="0">
                <a:solidFill>
                  <a:srgbClr val="FFFFFF"/>
                </a:solidFill>
                <a:latin typeface="Microsoft YaHei" pitchFamily="34" charset="0"/>
                <a:ea typeface="Microsoft YaHei" pitchFamily="34" charset="-122"/>
                <a:cs typeface="Microsoft YaHei" pitchFamily="34" charset="-120"/>
              </a:rPr>
              <a:t>排除 99%</a:t>
            </a:r>
            <a:endParaRPr lang="en-US" sz="900" dirty="0"/>
          </a:p>
        </p:txBody>
      </p:sp>
      <p:sp>
        <p:nvSpPr>
          <p:cNvPr id="40" name="Text 38"/>
          <p:cNvSpPr/>
          <p:nvPr/>
        </p:nvSpPr>
        <p:spPr>
          <a:xfrm>
            <a:off x="530126" y="4603849"/>
            <a:ext cx="6056096" cy="365522"/>
          </a:xfrm>
          <a:prstGeom prst="rect">
            <a:avLst/>
          </a:prstGeom>
          <a:noFill/>
          <a:ln/>
        </p:spPr>
        <p:txBody>
          <a:bodyPr wrap="square" lIns="0" tIns="0" rIns="0" bIns="0" rtlCol="0" anchor="t"/>
          <a:lstStyle/>
          <a:p>
            <a:pPr algn="l" indent="0" marL="0">
              <a:lnSpc>
                <a:spcPts val="1440"/>
              </a:lnSpc>
              <a:buNone/>
            </a:pPr>
            <a:r>
              <a:rPr lang="en-US" sz="900" dirty="0">
                <a:solidFill>
                  <a:srgbClr val="2D3436"/>
                </a:solidFill>
                <a:latin typeface="Microsoft YaHei" pitchFamily="34" charset="0"/>
                <a:ea typeface="Microsoft YaHei" pitchFamily="34" charset="-122"/>
                <a:cs typeface="Microsoft YaHei" pitchFamily="34" charset="-120"/>
              </a:rPr>
              <a:t>18辊温度全部 stdev &lt; 0.1 C。在如此窄的波动范围内，温度不可能成为划伤差异的解释变量。物理上，3 C 的温差不足以改变 PET 流变行为。</a:t>
            </a:r>
            <a:endParaRPr lang="en-US" sz="900" dirty="0"/>
          </a:p>
        </p:txBody>
      </p:sp>
      <p:sp>
        <p:nvSpPr>
          <p:cNvPr id="41" name="Text 39"/>
          <p:cNvSpPr/>
          <p:nvPr/>
        </p:nvSpPr>
        <p:spPr>
          <a:xfrm>
            <a:off x="6934200" y="914400"/>
            <a:ext cx="1905756" cy="180975"/>
          </a:xfrm>
          <a:prstGeom prst="rect">
            <a:avLst/>
          </a:prstGeom>
          <a:noFill/>
          <a:ln/>
        </p:spPr>
        <p:txBody>
          <a:bodyPr wrap="square" lIns="0" tIns="0" rIns="0" bIns="0" rtlCol="0" anchor="t"/>
          <a:lstStyle/>
          <a:p>
            <a:pPr algn="l" indent="0" marL="0">
              <a:buNone/>
            </a:pPr>
            <a:r>
              <a:rPr lang="en-US" sz="1000" b="1" dirty="0">
                <a:solidFill>
                  <a:srgbClr val="1B3A5C"/>
                </a:solidFill>
                <a:latin typeface="Microsoft YaHei" pitchFamily="34" charset="0"/>
                <a:ea typeface="Microsoft YaHei" pitchFamily="34" charset="-122"/>
                <a:cs typeface="Microsoft YaHei" pitchFamily="34" charset="-120"/>
              </a:rPr>
              <a:t>高划伤 vs 低划伤扭矩profile对比</a:t>
            </a:r>
            <a:endParaRPr lang="en-US" sz="1000" dirty="0"/>
          </a:p>
        </p:txBody>
      </p:sp>
      <p:sp>
        <p:nvSpPr>
          <p:cNvPr id="42" name="Text 40"/>
          <p:cNvSpPr/>
          <p:nvPr/>
        </p:nvSpPr>
        <p:spPr>
          <a:xfrm>
            <a:off x="6934200" y="4419600"/>
            <a:ext cx="4953000" cy="1269950"/>
          </a:xfrm>
          <a:prstGeom prst="roundRect">
            <a:avLst>
              <a:gd name="adj" fmla="val 4000"/>
            </a:avLst>
          </a:prstGeom>
          <a:solidFill>
            <a:srgbClr val="FFFFFF"/>
          </a:solidFill>
          <a:ln w="9525">
            <a:solidFill>
              <a:srgbClr val="DFE6E9"/>
            </a:solidFill>
          </a:ln>
        </p:spPr>
        <p:txBody>
          <a:bodyPr wrap="square" rtlCol="0" anchor="ctr"/>
          <a:lstStyle/>
          <a:p>
            <a:pPr indent="0" marL="0">
              <a:buNone/>
            </a:pPr>
            <a:endParaRPr lang="en-US" dirty="0"/>
          </a:p>
        </p:txBody>
      </p:sp>
      <p:sp>
        <p:nvSpPr>
          <p:cNvPr id="43" name="Text 41"/>
          <p:cNvSpPr/>
          <p:nvPr/>
        </p:nvSpPr>
        <p:spPr>
          <a:xfrm>
            <a:off x="7121426" y="4556075"/>
            <a:ext cx="4670119" cy="161925"/>
          </a:xfrm>
          <a:prstGeom prst="rect">
            <a:avLst/>
          </a:prstGeom>
          <a:noFill/>
          <a:ln/>
        </p:spPr>
        <p:txBody>
          <a:bodyPr wrap="square" lIns="0" tIns="0" rIns="0" bIns="0" rtlCol="0" anchor="t"/>
          <a:lstStyle/>
          <a:p>
            <a:pPr algn="l" indent="0" marL="0">
              <a:spcAft>
                <a:spcPts val="600"/>
              </a:spcAft>
              <a:buNone/>
            </a:pPr>
            <a:r>
              <a:rPr lang="en-US" sz="900" b="1" dirty="0">
                <a:solidFill>
                  <a:srgbClr val="1B3A5C"/>
                </a:solidFill>
                <a:latin typeface="Microsoft YaHei" pitchFamily="34" charset="0"/>
                <a:ea typeface="Microsoft YaHei" pitchFamily="34" charset="-122"/>
                <a:cs typeface="Microsoft YaHei" pitchFamily="34" charset="-120"/>
              </a:rPr>
              <a:t>扭矩 profile 分析说明</a:t>
            </a:r>
            <a:endParaRPr lang="en-US" sz="900" dirty="0"/>
          </a:p>
        </p:txBody>
      </p:sp>
      <p:sp>
        <p:nvSpPr>
          <p:cNvPr id="44" name="Text 42"/>
          <p:cNvSpPr/>
          <p:nvPr/>
        </p:nvSpPr>
        <p:spPr>
          <a:xfrm>
            <a:off x="7121426" y="4794200"/>
            <a:ext cx="4670119" cy="548283"/>
          </a:xfrm>
          <a:prstGeom prst="rect">
            <a:avLst/>
          </a:prstGeom>
          <a:noFill/>
          <a:ln/>
        </p:spPr>
        <p:txBody>
          <a:bodyPr wrap="square" lIns="0" tIns="0" rIns="0" bIns="0" rtlCol="0" anchor="t"/>
          <a:lstStyle/>
          <a:p>
            <a:pPr algn="l" indent="0" marL="0">
              <a:lnSpc>
                <a:spcPts val="1440"/>
              </a:lnSpc>
              <a:buNone/>
            </a:pPr>
            <a:r>
              <a:rPr lang="en-US" sz="900" dirty="0">
                <a:solidFill>
                  <a:srgbClr val="2D3436"/>
                </a:solidFill>
                <a:latin typeface="Microsoft YaHei" pitchFamily="34" charset="0"/>
                <a:ea typeface="Microsoft YaHei" pitchFamily="34" charset="-122"/>
                <a:cs typeface="Microsoft YaHei" pitchFamily="34" charset="-120"/>
              </a:rPr>
              <a:t>图示显示高划伤批次与低划伤批次的 18辊扭矩分布差异。高划伤批次的 5号、6号、11号制动辊扭矩偏离基准值最大，提示这些辊的薄膜-辊面接触状态与划伤存在关联。但该模式在不同型号中未完全一致，需更多数据验证。</a:t>
            </a:r>
            <a:endParaRPr lang="en-US" sz="900" dirty="0"/>
          </a:p>
        </p:txBody>
      </p:sp>
      <p:sp>
        <p:nvSpPr>
          <p:cNvPr id="45" name="Text 43"/>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46" name="Shape 44"/>
          <p:cNvSpPr/>
          <p:nvPr/>
        </p:nvSpPr>
        <p:spPr>
          <a:xfrm>
            <a:off x="0" y="6608862"/>
            <a:ext cx="12192000" cy="0"/>
          </a:xfrm>
          <a:prstGeom prst="line">
            <a:avLst/>
          </a:prstGeom>
          <a:noFill/>
          <a:ln w="9525">
            <a:solidFill>
              <a:srgbClr val="DFE6E9"/>
            </a:solidFill>
            <a:prstDash val="solid"/>
          </a:ln>
        </p:spPr>
      </p:sp>
      <p:sp>
        <p:nvSpPr>
          <p:cNvPr id="47" name="Text 45"/>
          <p:cNvSpPr/>
          <p:nvPr/>
        </p:nvSpPr>
        <p:spPr>
          <a:xfrm>
            <a:off x="11576893" y="6670774"/>
            <a:ext cx="316513"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7 / 10</a:t>
            </a:r>
            <a:endParaRPr lang="en-US" sz="900" dirty="0"/>
          </a:p>
        </p:txBody>
      </p:sp>
      <p:pic>
        <p:nvPicPr>
          <p:cNvPr id="48" name="Image 0" descr="/Volumes/laxer/codes/skills/ industrial-deep-diagnostic/ppt_workspace/garden-gpt-image-2/image/fig6_torque_profile_high_vs_low.png">    </p:cNvPr>
          <p:cNvPicPr>
            <a:picLocks noChangeAspect="1"/>
          </p:cNvPicPr>
          <p:nvPr/>
        </p:nvPicPr>
        <p:blipFill>
          <a:blip r:embed="rId1"/>
          <a:stretch>
            <a:fillRect/>
          </a:stretch>
        </p:blipFill>
        <p:spPr>
          <a:xfrm>
            <a:off x="6934200" y="1168301"/>
            <a:ext cx="4953000" cy="304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304800" y="304800"/>
            <a:ext cx="3043988" cy="390525"/>
          </a:xfrm>
          <a:prstGeom prst="rect">
            <a:avLst/>
          </a:prstGeom>
          <a:noFill/>
          <a:ln/>
        </p:spPr>
        <p:txBody>
          <a:bodyPr wrap="square" lIns="0" tIns="0" rIns="0" bIns="0" rtlCol="0" anchor="t"/>
          <a:lstStyle/>
          <a:p>
            <a:pPr algn="l" indent="0" marL="0">
              <a:buNone/>
            </a:pPr>
            <a:r>
              <a:rPr lang="en-US" sz="2200" b="1" dirty="0">
                <a:solidFill>
                  <a:srgbClr val="1B3A5C"/>
                </a:solidFill>
                <a:latin typeface="Microsoft YaHei" pitchFamily="34" charset="0"/>
                <a:ea typeface="Microsoft YaHei" pitchFamily="34" charset="-122"/>
                <a:cs typeface="Microsoft YaHei" pitchFamily="34" charset="-120"/>
              </a:rPr>
              <a:t>诊断结论与置信度评估</a:t>
            </a:r>
            <a:endParaRPr lang="en-US" sz="2200" dirty="0"/>
          </a:p>
        </p:txBody>
      </p:sp>
      <p:sp>
        <p:nvSpPr>
          <p:cNvPr id="4" name="Text 2"/>
          <p:cNvSpPr/>
          <p:nvPr/>
        </p:nvSpPr>
        <p:spPr>
          <a:xfrm>
            <a:off x="304800" y="736550"/>
            <a:ext cx="634901"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304800" y="1041350"/>
            <a:ext cx="6858000" cy="2667000"/>
          </a:xfrm>
          <a:prstGeom prst="roundRect">
            <a:avLst>
              <a:gd name="adj" fmla="val 2857"/>
            </a:avLst>
          </a:prstGeom>
          <a:solidFill>
            <a:srgbClr val="FFFFFF"/>
          </a:solidFill>
          <a:ln w="9525">
            <a:solidFill>
              <a:srgbClr val="DFE6E9"/>
            </a:solidFill>
          </a:ln>
        </p:spPr>
        <p:txBody>
          <a:bodyPr wrap="square" rtlCol="0" anchor="ctr"/>
          <a:lstStyle/>
          <a:p>
            <a:pPr indent="0" marL="0">
              <a:buNone/>
            </a:pPr>
            <a:endParaRPr lang="en-US" dirty="0"/>
          </a:p>
        </p:txBody>
      </p:sp>
      <p:sp>
        <p:nvSpPr>
          <p:cNvPr id="6" name="Text 4"/>
          <p:cNvSpPr/>
          <p:nvPr/>
        </p:nvSpPr>
        <p:spPr>
          <a:xfrm>
            <a:off x="619125" y="1304776"/>
            <a:ext cx="2237036" cy="301526"/>
          </a:xfrm>
          <a:prstGeom prst="roundRect">
            <a:avLst>
              <a:gd name="adj" fmla="val 12636"/>
            </a:avLst>
          </a:prstGeom>
          <a:solidFill>
            <a:srgbClr val="1B3A5C"/>
          </a:solidFill>
          <a:ln/>
        </p:spPr>
        <p:txBody>
          <a:bodyPr wrap="square" rtlCol="0" anchor="ctr"/>
          <a:lstStyle/>
          <a:p>
            <a:pPr indent="0" marL="0">
              <a:buNone/>
            </a:pPr>
            <a:endParaRPr lang="en-US" dirty="0"/>
          </a:p>
        </p:txBody>
      </p:sp>
      <p:sp>
        <p:nvSpPr>
          <p:cNvPr id="7" name="Text 5"/>
          <p:cNvSpPr/>
          <p:nvPr/>
        </p:nvSpPr>
        <p:spPr>
          <a:xfrm>
            <a:off x="796826" y="1355527"/>
            <a:ext cx="1919267" cy="200025"/>
          </a:xfrm>
          <a:prstGeom prst="rect">
            <a:avLst/>
          </a:prstGeom>
          <a:noFill/>
          <a:ln/>
        </p:spPr>
        <p:txBody>
          <a:bodyPr wrap="square" lIns="0" tIns="0" rIns="0" bIns="0" rtlCol="0" anchor="t"/>
          <a:lstStyle/>
          <a:p>
            <a:pPr algn="l" indent="0" marL="0">
              <a:buNone/>
            </a:pPr>
            <a:r>
              <a:rPr lang="en-US" sz="1100" b="1" dirty="0">
                <a:solidFill>
                  <a:srgbClr val="FFFFFF"/>
                </a:solidFill>
                <a:latin typeface="Microsoft YaHei" pitchFamily="34" charset="0"/>
                <a:ea typeface="Microsoft YaHei" pitchFamily="34" charset="-122"/>
                <a:cs typeface="Microsoft YaHei" pitchFamily="34" charset="-120"/>
              </a:rPr>
              <a:t>诊断类型：COMPETING_SET</a:t>
            </a:r>
            <a:endParaRPr lang="en-US" sz="1100" dirty="0"/>
          </a:p>
        </p:txBody>
      </p:sp>
      <p:sp>
        <p:nvSpPr>
          <p:cNvPr id="8" name="Text 6"/>
          <p:cNvSpPr/>
          <p:nvPr/>
        </p:nvSpPr>
        <p:spPr>
          <a:xfrm>
            <a:off x="619125" y="1784003"/>
            <a:ext cx="6229350" cy="777627"/>
          </a:xfrm>
          <a:prstGeom prst="rect">
            <a:avLst/>
          </a:prstGeom>
          <a:solidFill>
            <a:srgbClr val="E8F8F0"/>
          </a:solidFill>
          <a:ln/>
        </p:spPr>
        <p:txBody>
          <a:bodyPr wrap="square" rtlCol="0" anchor="ctr"/>
          <a:lstStyle/>
          <a:p>
            <a:pPr indent="0" marL="0">
              <a:buNone/>
            </a:pPr>
            <a:endParaRPr lang="en-US" dirty="0"/>
          </a:p>
        </p:txBody>
      </p:sp>
      <p:sp>
        <p:nvSpPr>
          <p:cNvPr id="9" name="Shape 7"/>
          <p:cNvSpPr/>
          <p:nvPr/>
        </p:nvSpPr>
        <p:spPr>
          <a:xfrm>
            <a:off x="638175" y="1784003"/>
            <a:ext cx="0" cy="777627"/>
          </a:xfrm>
          <a:prstGeom prst="line">
            <a:avLst/>
          </a:prstGeom>
          <a:noFill/>
          <a:ln w="38100">
            <a:solidFill>
              <a:srgbClr val="27AE60"/>
            </a:solidFill>
            <a:prstDash val="solid"/>
          </a:ln>
        </p:spPr>
      </p:sp>
      <p:sp>
        <p:nvSpPr>
          <p:cNvPr id="10" name="Text 8"/>
          <p:cNvSpPr/>
          <p:nvPr/>
        </p:nvSpPr>
        <p:spPr>
          <a:xfrm>
            <a:off x="809625" y="1885504"/>
            <a:ext cx="875458" cy="200025"/>
          </a:xfrm>
          <a:prstGeom prst="rect">
            <a:avLst/>
          </a:prstGeom>
          <a:noFill/>
          <a:ln/>
        </p:spPr>
        <p:txBody>
          <a:bodyPr wrap="square" lIns="0" tIns="0" rIns="0" bIns="0" rtlCol="0" anchor="t"/>
          <a:lstStyle/>
          <a:p>
            <a:pPr algn="l" indent="0" marL="0">
              <a:buNone/>
            </a:pPr>
            <a:r>
              <a:rPr lang="en-US" sz="1100" b="1" dirty="0">
                <a:solidFill>
                  <a:srgbClr val="1B3A5C"/>
                </a:solidFill>
                <a:latin typeface="Microsoft YaHei" pitchFamily="34" charset="0"/>
                <a:ea typeface="Microsoft YaHei" pitchFamily="34" charset="-122"/>
                <a:cs typeface="Microsoft YaHei" pitchFamily="34" charset="-120"/>
              </a:rPr>
              <a:t>H1：型号主导</a:t>
            </a:r>
            <a:endParaRPr lang="en-US" sz="1100" dirty="0"/>
          </a:p>
        </p:txBody>
      </p:sp>
      <p:sp>
        <p:nvSpPr>
          <p:cNvPr id="11" name="Text 9"/>
          <p:cNvSpPr/>
          <p:nvPr/>
        </p:nvSpPr>
        <p:spPr>
          <a:xfrm>
            <a:off x="5644604" y="1885504"/>
            <a:ext cx="1072500" cy="200025"/>
          </a:xfrm>
          <a:prstGeom prst="rect">
            <a:avLst/>
          </a:prstGeom>
          <a:noFill/>
          <a:ln/>
        </p:spPr>
        <p:txBody>
          <a:bodyPr wrap="square" lIns="0" tIns="0" rIns="0" bIns="0" rtlCol="0" anchor="t"/>
          <a:lstStyle/>
          <a:p>
            <a:pPr algn="l" indent="0" marL="0">
              <a:buNone/>
            </a:pPr>
            <a:r>
              <a:rPr lang="en-US" sz="1100" b="1" dirty="0">
                <a:solidFill>
                  <a:srgbClr val="27AE60"/>
                </a:solidFill>
                <a:latin typeface="Microsoft YaHei" pitchFamily="34" charset="0"/>
                <a:ea typeface="Microsoft YaHei" pitchFamily="34" charset="-122"/>
                <a:cs typeface="Microsoft YaHei" pitchFamily="34" charset="-120"/>
              </a:rPr>
              <a:t>置信度上限 65%</a:t>
            </a:r>
            <a:endParaRPr lang="en-US" sz="1100" dirty="0"/>
          </a:p>
        </p:txBody>
      </p:sp>
      <p:sp>
        <p:nvSpPr>
          <p:cNvPr id="12" name="Text 10"/>
          <p:cNvSpPr/>
          <p:nvPr/>
        </p:nvSpPr>
        <p:spPr>
          <a:xfrm>
            <a:off x="809625" y="2136279"/>
            <a:ext cx="6004179" cy="323850"/>
          </a:xfrm>
          <a:prstGeom prst="rect">
            <a:avLst/>
          </a:prstGeom>
          <a:noFill/>
          <a:ln/>
        </p:spPr>
        <p:txBody>
          <a:bodyPr wrap="square" lIns="0" tIns="0" rIns="0" bIns="0" rtlCol="0" anchor="t"/>
          <a:lstStyle/>
          <a:p>
            <a:pPr algn="l" indent="0" marL="0">
              <a:spcBef>
                <a:spcPts val="400"/>
              </a:spcBef>
              <a:buNone/>
            </a:pPr>
            <a:r>
              <a:rPr lang="en-US" sz="900" dirty="0">
                <a:solidFill>
                  <a:srgbClr val="636E72"/>
                </a:solidFill>
                <a:latin typeface="Microsoft YaHei" pitchFamily="34" charset="0"/>
                <a:ea typeface="Microsoft YaHei" pitchFamily="34" charset="-122"/>
                <a:cs typeface="Microsoft YaHei" pitchFamily="34" charset="-120"/>
              </a:rPr>
              <a:t>推测型号差异通过速度设定 → 摩擦功率路径决定划伤基线。PG32D vs PG22C 划伤率差15倍，速度设定差2倍，膜厚差2.6倍。但 PG31DS 内 0-36 的残留变异未被完全解释。</a:t>
            </a:r>
            <a:endParaRPr lang="en-US" sz="900" dirty="0"/>
          </a:p>
        </p:txBody>
      </p:sp>
      <p:sp>
        <p:nvSpPr>
          <p:cNvPr id="13" name="Text 11"/>
          <p:cNvSpPr/>
          <p:nvPr/>
        </p:nvSpPr>
        <p:spPr>
          <a:xfrm>
            <a:off x="619125" y="2739330"/>
            <a:ext cx="6229350" cy="615702"/>
          </a:xfrm>
          <a:prstGeom prst="rect">
            <a:avLst/>
          </a:prstGeom>
          <a:solidFill>
            <a:srgbClr val="FEF5E7"/>
          </a:solidFill>
          <a:ln/>
        </p:spPr>
        <p:txBody>
          <a:bodyPr wrap="square" rtlCol="0" anchor="ctr"/>
          <a:lstStyle/>
          <a:p>
            <a:pPr indent="0" marL="0">
              <a:buNone/>
            </a:pPr>
            <a:endParaRPr lang="en-US" dirty="0"/>
          </a:p>
        </p:txBody>
      </p:sp>
      <p:sp>
        <p:nvSpPr>
          <p:cNvPr id="14" name="Shape 12"/>
          <p:cNvSpPr/>
          <p:nvPr/>
        </p:nvSpPr>
        <p:spPr>
          <a:xfrm>
            <a:off x="638175" y="2739330"/>
            <a:ext cx="0" cy="615702"/>
          </a:xfrm>
          <a:prstGeom prst="line">
            <a:avLst/>
          </a:prstGeom>
          <a:noFill/>
          <a:ln w="38100">
            <a:solidFill>
              <a:srgbClr val="F39C12"/>
            </a:solidFill>
            <a:prstDash val="solid"/>
          </a:ln>
        </p:spPr>
      </p:sp>
      <p:sp>
        <p:nvSpPr>
          <p:cNvPr id="15" name="Text 13"/>
          <p:cNvSpPr/>
          <p:nvPr/>
        </p:nvSpPr>
        <p:spPr>
          <a:xfrm>
            <a:off x="809625" y="2840831"/>
            <a:ext cx="902479" cy="200025"/>
          </a:xfrm>
          <a:prstGeom prst="rect">
            <a:avLst/>
          </a:prstGeom>
          <a:noFill/>
          <a:ln/>
        </p:spPr>
        <p:txBody>
          <a:bodyPr wrap="square" lIns="0" tIns="0" rIns="0" bIns="0" rtlCol="0" anchor="t"/>
          <a:lstStyle/>
          <a:p>
            <a:pPr algn="l" indent="0" marL="0">
              <a:buNone/>
            </a:pPr>
            <a:r>
              <a:rPr lang="en-US" sz="1100" b="1" dirty="0">
                <a:solidFill>
                  <a:srgbClr val="1B3A5C"/>
                </a:solidFill>
                <a:latin typeface="Microsoft YaHei" pitchFamily="34" charset="0"/>
                <a:ea typeface="Microsoft YaHei" pitchFamily="34" charset="-122"/>
                <a:cs typeface="Microsoft YaHei" pitchFamily="34" charset="-120"/>
              </a:rPr>
              <a:t>H2：扭矩残留</a:t>
            </a:r>
            <a:endParaRPr lang="en-US" sz="1100" dirty="0"/>
          </a:p>
        </p:txBody>
      </p:sp>
      <p:sp>
        <p:nvSpPr>
          <p:cNvPr id="16" name="Text 14"/>
          <p:cNvSpPr/>
          <p:nvPr/>
        </p:nvSpPr>
        <p:spPr>
          <a:xfrm>
            <a:off x="5923955" y="2840831"/>
            <a:ext cx="787563" cy="200025"/>
          </a:xfrm>
          <a:prstGeom prst="rect">
            <a:avLst/>
          </a:prstGeom>
          <a:noFill/>
          <a:ln/>
        </p:spPr>
        <p:txBody>
          <a:bodyPr wrap="square" lIns="0" tIns="0" rIns="0" bIns="0" rtlCol="0" anchor="t"/>
          <a:lstStyle/>
          <a:p>
            <a:pPr algn="l" indent="0" marL="0">
              <a:buNone/>
            </a:pPr>
            <a:r>
              <a:rPr lang="en-US" sz="1100" b="1" dirty="0">
                <a:solidFill>
                  <a:srgbClr val="F39C12"/>
                </a:solidFill>
                <a:latin typeface="Microsoft YaHei" pitchFamily="34" charset="0"/>
                <a:ea typeface="Microsoft YaHei" pitchFamily="34" charset="-122"/>
                <a:cs typeface="Microsoft YaHei" pitchFamily="34" charset="-120"/>
              </a:rPr>
              <a:t>置信度 35%</a:t>
            </a:r>
            <a:endParaRPr lang="en-US" sz="1100" dirty="0"/>
          </a:p>
        </p:txBody>
      </p:sp>
      <p:sp>
        <p:nvSpPr>
          <p:cNvPr id="17" name="Text 15"/>
          <p:cNvSpPr/>
          <p:nvPr/>
        </p:nvSpPr>
        <p:spPr>
          <a:xfrm>
            <a:off x="809625" y="3091607"/>
            <a:ext cx="6004179" cy="161925"/>
          </a:xfrm>
          <a:prstGeom prst="rect">
            <a:avLst/>
          </a:prstGeom>
          <a:noFill/>
          <a:ln/>
        </p:spPr>
        <p:txBody>
          <a:bodyPr wrap="square" lIns="0" tIns="0" rIns="0" bIns="0" rtlCol="0" anchor="t"/>
          <a:lstStyle/>
          <a:p>
            <a:pPr algn="l" indent="0" marL="0">
              <a:spcBef>
                <a:spcPts val="400"/>
              </a:spcBef>
              <a:buNone/>
            </a:pPr>
            <a:r>
              <a:rPr lang="en-US" sz="900" dirty="0">
                <a:solidFill>
                  <a:srgbClr val="636E72"/>
                </a:solidFill>
                <a:latin typeface="Microsoft YaHei" pitchFamily="34" charset="0"/>
                <a:ea typeface="Microsoft YaHei" pitchFamily="34" charset="-122"/>
                <a:cs typeface="Microsoft YaHei" pitchFamily="34" charset="-120"/>
              </a:rPr>
              <a:t>FP21 内5号辊 r=0.442 提示扭矩波动可能对划伤有微弱影响，但方向不一致且小样本(n le; 10) 限制结论可靠性。</a:t>
            </a:r>
            <a:endParaRPr lang="en-US" sz="900" dirty="0"/>
          </a:p>
        </p:txBody>
      </p:sp>
      <p:sp>
        <p:nvSpPr>
          <p:cNvPr id="18" name="Text 16"/>
          <p:cNvSpPr/>
          <p:nvPr/>
        </p:nvSpPr>
        <p:spPr>
          <a:xfrm>
            <a:off x="7467600" y="1041350"/>
            <a:ext cx="4419600" cy="2667000"/>
          </a:xfrm>
          <a:prstGeom prst="roundRect">
            <a:avLst>
              <a:gd name="adj" fmla="val 2857"/>
            </a:avLst>
          </a:prstGeom>
          <a:solidFill>
            <a:srgbClr val="FFFFFF"/>
          </a:solidFill>
          <a:ln w="9525">
            <a:solidFill>
              <a:srgbClr val="DFE6E9"/>
            </a:solidFill>
          </a:ln>
        </p:spPr>
        <p:txBody>
          <a:bodyPr wrap="square" rtlCol="0" anchor="ctr"/>
          <a:lstStyle/>
          <a:p>
            <a:pPr indent="0" marL="0">
              <a:buNone/>
            </a:pPr>
            <a:endParaRPr lang="en-US" dirty="0"/>
          </a:p>
        </p:txBody>
      </p:sp>
      <p:sp>
        <p:nvSpPr>
          <p:cNvPr id="19" name="Text 17"/>
          <p:cNvSpPr/>
          <p:nvPr/>
        </p:nvSpPr>
        <p:spPr>
          <a:xfrm>
            <a:off x="9179936" y="1374725"/>
            <a:ext cx="994928" cy="1133475"/>
          </a:xfrm>
          <a:prstGeom prst="rect">
            <a:avLst/>
          </a:prstGeom>
          <a:noFill/>
          <a:ln/>
        </p:spPr>
        <p:txBody>
          <a:bodyPr wrap="square" lIns="0" tIns="0" rIns="0" bIns="0" rtlCol="0" anchor="t"/>
          <a:lstStyle/>
          <a:p>
            <a:pPr algn="ctr" indent="0" marL="0">
              <a:buNone/>
            </a:pPr>
            <a:r>
              <a:rPr lang="en-US" sz="6400" b="1" dirty="0">
                <a:solidFill>
                  <a:srgbClr val="E85D3A"/>
                </a:solidFill>
                <a:latin typeface="Microsoft YaHei" pitchFamily="34" charset="0"/>
                <a:ea typeface="Microsoft YaHei" pitchFamily="34" charset="-122"/>
                <a:cs typeface="Microsoft YaHei" pitchFamily="34" charset="-120"/>
              </a:rPr>
              <a:t>65</a:t>
            </a:r>
            <a:endParaRPr lang="en-US" sz="6400" dirty="0"/>
          </a:p>
        </p:txBody>
      </p:sp>
      <p:sp>
        <p:nvSpPr>
          <p:cNvPr id="20" name="Text 18"/>
          <p:cNvSpPr/>
          <p:nvPr/>
        </p:nvSpPr>
        <p:spPr>
          <a:xfrm>
            <a:off x="8965134" y="2558951"/>
            <a:ext cx="1424383" cy="200025"/>
          </a:xfrm>
          <a:prstGeom prst="rect">
            <a:avLst/>
          </a:prstGeom>
          <a:noFill/>
          <a:ln/>
        </p:spPr>
        <p:txBody>
          <a:bodyPr wrap="square" lIns="0" tIns="0" rIns="0" bIns="0" rtlCol="0" anchor="t"/>
          <a:lstStyle/>
          <a:p>
            <a:pPr algn="ctr" indent="0" marL="0">
              <a:spcBef>
                <a:spcPts val="400"/>
              </a:spcBef>
              <a:buNone/>
            </a:pPr>
            <a:r>
              <a:rPr lang="en-US" sz="1100" dirty="0">
                <a:solidFill>
                  <a:srgbClr val="636E72"/>
                </a:solidFill>
                <a:latin typeface="Microsoft YaHei" pitchFamily="34" charset="0"/>
                <a:ea typeface="Microsoft YaHei" pitchFamily="34" charset="-122"/>
                <a:cs typeface="Microsoft YaHei" pitchFamily="34" charset="-120"/>
              </a:rPr>
              <a:t>当前最高置信度（分）</a:t>
            </a:r>
            <a:endParaRPr lang="en-US" sz="1100" dirty="0"/>
          </a:p>
        </p:txBody>
      </p:sp>
      <p:sp>
        <p:nvSpPr>
          <p:cNvPr id="21" name="Text 19"/>
          <p:cNvSpPr/>
          <p:nvPr/>
        </p:nvSpPr>
        <p:spPr>
          <a:xfrm>
            <a:off x="8407450" y="2911376"/>
            <a:ext cx="2539901" cy="38100"/>
          </a:xfrm>
          <a:prstGeom prst="roundRect">
            <a:avLst>
              <a:gd name="adj" fmla="val 66667"/>
            </a:avLst>
          </a:prstGeom>
          <a:solidFill>
            <a:srgbClr val="DFE6E9"/>
          </a:solidFill>
          <a:ln/>
        </p:spPr>
        <p:txBody>
          <a:bodyPr wrap="square" rtlCol="0" anchor="ctr"/>
          <a:lstStyle/>
          <a:p>
            <a:pPr indent="0" marL="0">
              <a:buNone/>
            </a:pPr>
            <a:endParaRPr lang="en-US" dirty="0"/>
          </a:p>
        </p:txBody>
      </p:sp>
      <p:sp>
        <p:nvSpPr>
          <p:cNvPr id="22" name="Text 20"/>
          <p:cNvSpPr/>
          <p:nvPr/>
        </p:nvSpPr>
        <p:spPr>
          <a:xfrm>
            <a:off x="8407450" y="2911376"/>
            <a:ext cx="1650950" cy="38100"/>
          </a:xfrm>
          <a:prstGeom prst="roundRect">
            <a:avLst>
              <a:gd name="adj" fmla="val 66667"/>
            </a:avLst>
          </a:prstGeom>
          <a:solidFill>
            <a:srgbClr val="E85D3A"/>
          </a:solidFill>
          <a:ln/>
        </p:spPr>
        <p:txBody>
          <a:bodyPr wrap="square" rtlCol="0" anchor="ctr"/>
          <a:lstStyle/>
          <a:p>
            <a:pPr indent="0" marL="0">
              <a:buNone/>
            </a:pPr>
            <a:endParaRPr lang="en-US" dirty="0"/>
          </a:p>
        </p:txBody>
      </p:sp>
      <p:sp>
        <p:nvSpPr>
          <p:cNvPr id="23" name="Text 21"/>
          <p:cNvSpPr/>
          <p:nvPr/>
        </p:nvSpPr>
        <p:spPr>
          <a:xfrm>
            <a:off x="7744016" y="3050977"/>
            <a:ext cx="3866769" cy="323850"/>
          </a:xfrm>
          <a:prstGeom prst="rect">
            <a:avLst/>
          </a:prstGeom>
          <a:noFill/>
          <a:ln/>
        </p:spPr>
        <p:txBody>
          <a:bodyPr wrap="square" lIns="0" tIns="0" rIns="0" bIns="0" rtlCol="0" anchor="t"/>
          <a:lstStyle/>
          <a:p>
            <a:pPr algn="ctr" indent="0" marL="0">
              <a:spcBef>
                <a:spcPts val="800"/>
              </a:spcBef>
              <a:buNone/>
            </a:pPr>
            <a:r>
              <a:rPr lang="en-US" sz="900" dirty="0">
                <a:solidFill>
                  <a:srgbClr val="636E72"/>
                </a:solidFill>
                <a:latin typeface="Microsoft YaHei" pitchFamily="34" charset="0"/>
                <a:ea typeface="Microsoft YaHei" pitchFamily="34" charset="-122"/>
                <a:cs typeface="Microsoft YaHei" pitchFamily="34" charset="-120"/>
              </a:rPr>
              <a:t>受 COMPETING_SET 场景约束，置信度上限受限。H1(65%) 与 H2(35%) 合计 100%，无法进一步区分。</a:t>
            </a:r>
            <a:endParaRPr lang="en-US" sz="900" dirty="0"/>
          </a:p>
        </p:txBody>
      </p:sp>
      <p:sp>
        <p:nvSpPr>
          <p:cNvPr id="24" name="Text 22"/>
          <p:cNvSpPr/>
          <p:nvPr/>
        </p:nvSpPr>
        <p:spPr>
          <a:xfrm>
            <a:off x="304800" y="3936950"/>
            <a:ext cx="3657600" cy="2349401"/>
          </a:xfrm>
          <a:prstGeom prst="roundRect">
            <a:avLst>
              <a:gd name="adj" fmla="val 2162"/>
            </a:avLst>
          </a:prstGeom>
          <a:solidFill>
            <a:srgbClr val="FFFFFF"/>
          </a:solidFill>
          <a:ln/>
        </p:spPr>
        <p:txBody>
          <a:bodyPr wrap="square" rtlCol="0" anchor="ctr"/>
          <a:lstStyle/>
          <a:p>
            <a:pPr indent="0" marL="0">
              <a:buNone/>
            </a:pPr>
            <a:endParaRPr lang="en-US" dirty="0"/>
          </a:p>
        </p:txBody>
      </p:sp>
      <p:sp>
        <p:nvSpPr>
          <p:cNvPr id="25" name="Shape 23"/>
          <p:cNvSpPr/>
          <p:nvPr/>
        </p:nvSpPr>
        <p:spPr>
          <a:xfrm>
            <a:off x="304800" y="3956000"/>
            <a:ext cx="3657600" cy="0"/>
          </a:xfrm>
          <a:prstGeom prst="line">
            <a:avLst/>
          </a:prstGeom>
          <a:noFill/>
          <a:ln w="38100">
            <a:solidFill>
              <a:srgbClr val="1B3A5C"/>
            </a:solidFill>
            <a:prstDash val="solid"/>
          </a:ln>
        </p:spPr>
      </p:sp>
      <p:sp>
        <p:nvSpPr>
          <p:cNvPr id="26" name="Shape 24"/>
          <p:cNvSpPr/>
          <p:nvPr/>
        </p:nvSpPr>
        <p:spPr>
          <a:xfrm>
            <a:off x="3957638" y="3936950"/>
            <a:ext cx="0" cy="2349401"/>
          </a:xfrm>
          <a:prstGeom prst="line">
            <a:avLst/>
          </a:prstGeom>
          <a:noFill/>
          <a:ln w="9525">
            <a:solidFill>
              <a:srgbClr val="DFE6E9"/>
            </a:solidFill>
            <a:prstDash val="solid"/>
          </a:ln>
        </p:spPr>
      </p:sp>
      <p:sp>
        <p:nvSpPr>
          <p:cNvPr id="27" name="Shape 25"/>
          <p:cNvSpPr/>
          <p:nvPr/>
        </p:nvSpPr>
        <p:spPr>
          <a:xfrm>
            <a:off x="304800" y="6281589"/>
            <a:ext cx="3657600" cy="0"/>
          </a:xfrm>
          <a:prstGeom prst="line">
            <a:avLst/>
          </a:prstGeom>
          <a:noFill/>
          <a:ln w="9525">
            <a:solidFill>
              <a:srgbClr val="DFE6E9"/>
            </a:solidFill>
            <a:prstDash val="solid"/>
          </a:ln>
        </p:spPr>
      </p:sp>
      <p:sp>
        <p:nvSpPr>
          <p:cNvPr id="28" name="Shape 26"/>
          <p:cNvSpPr/>
          <p:nvPr/>
        </p:nvSpPr>
        <p:spPr>
          <a:xfrm>
            <a:off x="309562" y="3936950"/>
            <a:ext cx="0" cy="2349401"/>
          </a:xfrm>
          <a:prstGeom prst="line">
            <a:avLst/>
          </a:prstGeom>
          <a:noFill/>
          <a:ln w="9525">
            <a:solidFill>
              <a:srgbClr val="DFE6E9"/>
            </a:solidFill>
            <a:prstDash val="solid"/>
          </a:ln>
        </p:spPr>
      </p:sp>
      <p:sp>
        <p:nvSpPr>
          <p:cNvPr id="29" name="Text 27"/>
          <p:cNvSpPr/>
          <p:nvPr/>
        </p:nvSpPr>
        <p:spPr>
          <a:xfrm>
            <a:off x="492026" y="4152751"/>
            <a:ext cx="3348811" cy="180975"/>
          </a:xfrm>
          <a:prstGeom prst="rect">
            <a:avLst/>
          </a:prstGeom>
          <a:noFill/>
          <a:ln/>
        </p:spPr>
        <p:txBody>
          <a:bodyPr wrap="square" lIns="0" tIns="0" rIns="0" bIns="0" rtlCol="0" anchor="t"/>
          <a:lstStyle/>
          <a:p>
            <a:pPr algn="l" indent="0" marL="0">
              <a:spcAft>
                <a:spcPts val="800"/>
              </a:spcAft>
              <a:buNone/>
            </a:pPr>
            <a:r>
              <a:rPr lang="en-US" sz="1000" b="1" dirty="0">
                <a:solidFill>
                  <a:srgbClr val="1B3A5C"/>
                </a:solidFill>
                <a:latin typeface="Microsoft YaHei" pitchFamily="34" charset="0"/>
                <a:ea typeface="Microsoft YaHei" pitchFamily="34" charset="-122"/>
                <a:cs typeface="Microsoft YaHei" pitchFamily="34" charset="-120"/>
              </a:rPr>
              <a:t>数据限制 1</a:t>
            </a:r>
            <a:endParaRPr lang="en-US" sz="1000" dirty="0"/>
          </a:p>
        </p:txBody>
      </p:sp>
      <p:sp>
        <p:nvSpPr>
          <p:cNvPr id="30" name="Text 28"/>
          <p:cNvSpPr/>
          <p:nvPr/>
        </p:nvSpPr>
        <p:spPr>
          <a:xfrm>
            <a:off x="492026" y="4435227"/>
            <a:ext cx="3283148" cy="971104"/>
          </a:xfrm>
          <a:prstGeom prst="roundRect">
            <a:avLst>
              <a:gd name="adj" fmla="val 3923"/>
            </a:avLst>
          </a:prstGeom>
          <a:solidFill>
            <a:srgbClr val="F8F9FA"/>
          </a:solidFill>
          <a:ln/>
        </p:spPr>
        <p:txBody>
          <a:bodyPr wrap="square" rtlCol="0" anchor="ctr"/>
          <a:lstStyle/>
          <a:p>
            <a:pPr indent="0" marL="0">
              <a:buNone/>
            </a:pPr>
            <a:endParaRPr lang="en-US" dirty="0"/>
          </a:p>
        </p:txBody>
      </p:sp>
      <p:sp>
        <p:nvSpPr>
          <p:cNvPr id="31" name="Text 29"/>
          <p:cNvSpPr/>
          <p:nvPr/>
        </p:nvSpPr>
        <p:spPr>
          <a:xfrm>
            <a:off x="618976" y="4536728"/>
            <a:ext cx="3089833" cy="203002"/>
          </a:xfrm>
          <a:prstGeom prst="rect">
            <a:avLst/>
          </a:prstGeom>
          <a:noFill/>
          <a:ln/>
        </p:spPr>
        <p:txBody>
          <a:bodyPr wrap="square" lIns="0" tIns="0" rIns="0" bIns="0" rtlCol="0" anchor="t"/>
          <a:lstStyle/>
          <a:p>
            <a:pPr algn="l" indent="0" marL="0">
              <a:lnSpc>
                <a:spcPts val="1600"/>
              </a:lnSpc>
              <a:buNone/>
            </a:pPr>
            <a:r>
              <a:rPr lang="en-US" sz="1000" b="1" dirty="0">
                <a:solidFill>
                  <a:srgbClr val="2D3436"/>
                </a:solidFill>
                <a:latin typeface="Microsoft YaHei" pitchFamily="34" charset="0"/>
                <a:ea typeface="Microsoft YaHei" pitchFamily="34" charset="-122"/>
                <a:cs typeface="Microsoft YaHei" pitchFamily="34" charset="-120"/>
              </a:rPr>
              <a:t>批次级数据丢失秒级信息</a:t>
            </a:r>
            <a:endParaRPr lang="en-US" sz="1000" dirty="0"/>
          </a:p>
        </p:txBody>
      </p:sp>
      <p:sp>
        <p:nvSpPr>
          <p:cNvPr id="32" name="Text 30"/>
          <p:cNvSpPr/>
          <p:nvPr/>
        </p:nvSpPr>
        <p:spPr>
          <a:xfrm>
            <a:off x="618976" y="4790480"/>
            <a:ext cx="3089833" cy="514350"/>
          </a:xfrm>
          <a:prstGeom prst="rect">
            <a:avLst/>
          </a:prstGeom>
          <a:noFill/>
          <a:ln/>
        </p:spPr>
        <p:txBody>
          <a:bodyPr wrap="square" lIns="0" tIns="0" rIns="0" bIns="0" rtlCol="0" anchor="t"/>
          <a:lstStyle/>
          <a:p>
            <a:pPr algn="l" indent="0" marL="0">
              <a:lnSpc>
                <a:spcPts val="1350"/>
              </a:lnSpc>
              <a:spcBef>
                <a:spcPts val="400"/>
              </a:spcBef>
              <a:buNone/>
            </a:pPr>
            <a:r>
              <a:rPr lang="en-US" sz="900" dirty="0">
                <a:solidFill>
                  <a:srgbClr val="636E72"/>
                </a:solidFill>
                <a:latin typeface="Microsoft YaHei" pitchFamily="34" charset="0"/>
                <a:ea typeface="Microsoft YaHei" pitchFamily="34" charset="-122"/>
                <a:cs typeface="Microsoft YaHei" pitchFamily="34" charset="-120"/>
              </a:rPr>
              <a:t>当前数据是批次级别聚合统计（均值/标准差）。划伤事件发生在秒级时间尺度，批次级聚合可能平滑掉了关键的瞬态信号。</a:t>
            </a:r>
            <a:endParaRPr lang="en-US" sz="900" dirty="0"/>
          </a:p>
        </p:txBody>
      </p:sp>
      <p:sp>
        <p:nvSpPr>
          <p:cNvPr id="33" name="Text 31"/>
          <p:cNvSpPr/>
          <p:nvPr/>
        </p:nvSpPr>
        <p:spPr>
          <a:xfrm>
            <a:off x="4267200" y="3936950"/>
            <a:ext cx="3657600" cy="2349401"/>
          </a:xfrm>
          <a:prstGeom prst="roundRect">
            <a:avLst>
              <a:gd name="adj" fmla="val 2162"/>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4267200" y="3956000"/>
            <a:ext cx="3657600" cy="0"/>
          </a:xfrm>
          <a:prstGeom prst="line">
            <a:avLst/>
          </a:prstGeom>
          <a:noFill/>
          <a:ln w="38100">
            <a:solidFill>
              <a:srgbClr val="1B3A5C"/>
            </a:solidFill>
            <a:prstDash val="solid"/>
          </a:ln>
        </p:spPr>
      </p:sp>
      <p:sp>
        <p:nvSpPr>
          <p:cNvPr id="35" name="Shape 33"/>
          <p:cNvSpPr/>
          <p:nvPr/>
        </p:nvSpPr>
        <p:spPr>
          <a:xfrm>
            <a:off x="7920038" y="3936950"/>
            <a:ext cx="0" cy="2349401"/>
          </a:xfrm>
          <a:prstGeom prst="line">
            <a:avLst/>
          </a:prstGeom>
          <a:noFill/>
          <a:ln w="9525">
            <a:solidFill>
              <a:srgbClr val="DFE6E9"/>
            </a:solidFill>
            <a:prstDash val="solid"/>
          </a:ln>
        </p:spPr>
      </p:sp>
      <p:sp>
        <p:nvSpPr>
          <p:cNvPr id="36" name="Shape 34"/>
          <p:cNvSpPr/>
          <p:nvPr/>
        </p:nvSpPr>
        <p:spPr>
          <a:xfrm>
            <a:off x="4267200" y="6281589"/>
            <a:ext cx="3657600" cy="0"/>
          </a:xfrm>
          <a:prstGeom prst="line">
            <a:avLst/>
          </a:prstGeom>
          <a:noFill/>
          <a:ln w="9525">
            <a:solidFill>
              <a:srgbClr val="DFE6E9"/>
            </a:solidFill>
            <a:prstDash val="solid"/>
          </a:ln>
        </p:spPr>
      </p:sp>
      <p:sp>
        <p:nvSpPr>
          <p:cNvPr id="37" name="Shape 35"/>
          <p:cNvSpPr/>
          <p:nvPr/>
        </p:nvSpPr>
        <p:spPr>
          <a:xfrm>
            <a:off x="4271963" y="3936950"/>
            <a:ext cx="0" cy="2349401"/>
          </a:xfrm>
          <a:prstGeom prst="line">
            <a:avLst/>
          </a:prstGeom>
          <a:noFill/>
          <a:ln w="9525">
            <a:solidFill>
              <a:srgbClr val="DFE6E9"/>
            </a:solidFill>
            <a:prstDash val="solid"/>
          </a:ln>
        </p:spPr>
      </p:sp>
      <p:sp>
        <p:nvSpPr>
          <p:cNvPr id="38" name="Text 36"/>
          <p:cNvSpPr/>
          <p:nvPr/>
        </p:nvSpPr>
        <p:spPr>
          <a:xfrm>
            <a:off x="4454426" y="4152751"/>
            <a:ext cx="3348811" cy="180975"/>
          </a:xfrm>
          <a:prstGeom prst="rect">
            <a:avLst/>
          </a:prstGeom>
          <a:noFill/>
          <a:ln/>
        </p:spPr>
        <p:txBody>
          <a:bodyPr wrap="square" lIns="0" tIns="0" rIns="0" bIns="0" rtlCol="0" anchor="t"/>
          <a:lstStyle/>
          <a:p>
            <a:pPr algn="l" indent="0" marL="0">
              <a:spcAft>
                <a:spcPts val="800"/>
              </a:spcAft>
              <a:buNone/>
            </a:pPr>
            <a:r>
              <a:rPr lang="en-US" sz="1000" b="1" dirty="0">
                <a:solidFill>
                  <a:srgbClr val="1B3A5C"/>
                </a:solidFill>
                <a:latin typeface="Microsoft YaHei" pitchFamily="34" charset="0"/>
                <a:ea typeface="Microsoft YaHei" pitchFamily="34" charset="-122"/>
                <a:cs typeface="Microsoft YaHei" pitchFamily="34" charset="-120"/>
              </a:rPr>
              <a:t>数据限制 2</a:t>
            </a:r>
            <a:endParaRPr lang="en-US" sz="1000" dirty="0"/>
          </a:p>
        </p:txBody>
      </p:sp>
      <p:sp>
        <p:nvSpPr>
          <p:cNvPr id="39" name="Text 37"/>
          <p:cNvSpPr/>
          <p:nvPr/>
        </p:nvSpPr>
        <p:spPr>
          <a:xfrm>
            <a:off x="4454426" y="4435227"/>
            <a:ext cx="3283148" cy="971104"/>
          </a:xfrm>
          <a:prstGeom prst="roundRect">
            <a:avLst>
              <a:gd name="adj" fmla="val 3923"/>
            </a:avLst>
          </a:prstGeom>
          <a:solidFill>
            <a:srgbClr val="F8F9FA"/>
          </a:solidFill>
          <a:ln/>
        </p:spPr>
        <p:txBody>
          <a:bodyPr wrap="square" rtlCol="0" anchor="ctr"/>
          <a:lstStyle/>
          <a:p>
            <a:pPr indent="0" marL="0">
              <a:buNone/>
            </a:pPr>
            <a:endParaRPr lang="en-US" dirty="0"/>
          </a:p>
        </p:txBody>
      </p:sp>
      <p:sp>
        <p:nvSpPr>
          <p:cNvPr id="40" name="Text 38"/>
          <p:cNvSpPr/>
          <p:nvPr/>
        </p:nvSpPr>
        <p:spPr>
          <a:xfrm>
            <a:off x="4581376" y="4536728"/>
            <a:ext cx="3089833" cy="203002"/>
          </a:xfrm>
          <a:prstGeom prst="rect">
            <a:avLst/>
          </a:prstGeom>
          <a:noFill/>
          <a:ln/>
        </p:spPr>
        <p:txBody>
          <a:bodyPr wrap="square" lIns="0" tIns="0" rIns="0" bIns="0" rtlCol="0" anchor="t"/>
          <a:lstStyle/>
          <a:p>
            <a:pPr algn="l" indent="0" marL="0">
              <a:lnSpc>
                <a:spcPts val="1600"/>
              </a:lnSpc>
              <a:buNone/>
            </a:pPr>
            <a:r>
              <a:rPr lang="en-US" sz="1000" b="1" dirty="0">
                <a:solidFill>
                  <a:srgbClr val="2D3436"/>
                </a:solidFill>
                <a:latin typeface="Microsoft YaHei" pitchFamily="34" charset="0"/>
                <a:ea typeface="Microsoft YaHei" pitchFamily="34" charset="-122"/>
                <a:cs typeface="Microsoft YaHei" pitchFamily="34" charset="-120"/>
              </a:rPr>
              <a:t>型号共线无法完全拆解</a:t>
            </a:r>
            <a:endParaRPr lang="en-US" sz="1000" dirty="0"/>
          </a:p>
        </p:txBody>
      </p:sp>
      <p:sp>
        <p:nvSpPr>
          <p:cNvPr id="41" name="Text 39"/>
          <p:cNvSpPr/>
          <p:nvPr/>
        </p:nvSpPr>
        <p:spPr>
          <a:xfrm>
            <a:off x="4581376" y="4790480"/>
            <a:ext cx="3089833" cy="514350"/>
          </a:xfrm>
          <a:prstGeom prst="rect">
            <a:avLst/>
          </a:prstGeom>
          <a:noFill/>
          <a:ln/>
        </p:spPr>
        <p:txBody>
          <a:bodyPr wrap="square" lIns="0" tIns="0" rIns="0" bIns="0" rtlCol="0" anchor="t"/>
          <a:lstStyle/>
          <a:p>
            <a:pPr algn="l" indent="0" marL="0">
              <a:lnSpc>
                <a:spcPts val="1350"/>
              </a:lnSpc>
              <a:spcBef>
                <a:spcPts val="400"/>
              </a:spcBef>
              <a:buNone/>
            </a:pPr>
            <a:r>
              <a:rPr lang="en-US" sz="900" dirty="0">
                <a:solidFill>
                  <a:srgbClr val="636E72"/>
                </a:solidFill>
                <a:latin typeface="Microsoft YaHei" pitchFamily="34" charset="0"/>
                <a:ea typeface="Microsoft YaHei" pitchFamily="34" charset="-122"/>
                <a:cs typeface="Microsoft YaHei" pitchFamily="34" charset="-120"/>
              </a:rPr>
              <a:t>型号与工艺设定高度共线：不同型号有专门的速度、温度设定。无法通过统计方法完全分离"型号本身"与"型号的工艺设定"效应。</a:t>
            </a:r>
            <a:endParaRPr lang="en-US" sz="900" dirty="0"/>
          </a:p>
        </p:txBody>
      </p:sp>
      <p:sp>
        <p:nvSpPr>
          <p:cNvPr id="42" name="Text 40"/>
          <p:cNvSpPr/>
          <p:nvPr/>
        </p:nvSpPr>
        <p:spPr>
          <a:xfrm>
            <a:off x="8229600" y="3936950"/>
            <a:ext cx="3657600" cy="2349401"/>
          </a:xfrm>
          <a:prstGeom prst="roundRect">
            <a:avLst>
              <a:gd name="adj" fmla="val 2162"/>
            </a:avLst>
          </a:prstGeom>
          <a:solidFill>
            <a:srgbClr val="FFFFFF"/>
          </a:solidFill>
          <a:ln/>
        </p:spPr>
        <p:txBody>
          <a:bodyPr wrap="square" rtlCol="0" anchor="ctr"/>
          <a:lstStyle/>
          <a:p>
            <a:pPr indent="0" marL="0">
              <a:buNone/>
            </a:pPr>
            <a:endParaRPr lang="en-US" dirty="0"/>
          </a:p>
        </p:txBody>
      </p:sp>
      <p:sp>
        <p:nvSpPr>
          <p:cNvPr id="43" name="Shape 41"/>
          <p:cNvSpPr/>
          <p:nvPr/>
        </p:nvSpPr>
        <p:spPr>
          <a:xfrm>
            <a:off x="8229600" y="3956000"/>
            <a:ext cx="3657600" cy="0"/>
          </a:xfrm>
          <a:prstGeom prst="line">
            <a:avLst/>
          </a:prstGeom>
          <a:noFill/>
          <a:ln w="38100">
            <a:solidFill>
              <a:srgbClr val="1B3A5C"/>
            </a:solidFill>
            <a:prstDash val="solid"/>
          </a:ln>
        </p:spPr>
      </p:sp>
      <p:sp>
        <p:nvSpPr>
          <p:cNvPr id="44" name="Shape 42"/>
          <p:cNvSpPr/>
          <p:nvPr/>
        </p:nvSpPr>
        <p:spPr>
          <a:xfrm>
            <a:off x="11882438" y="3936950"/>
            <a:ext cx="0" cy="2349401"/>
          </a:xfrm>
          <a:prstGeom prst="line">
            <a:avLst/>
          </a:prstGeom>
          <a:noFill/>
          <a:ln w="9525">
            <a:solidFill>
              <a:srgbClr val="DFE6E9"/>
            </a:solidFill>
            <a:prstDash val="solid"/>
          </a:ln>
        </p:spPr>
      </p:sp>
      <p:sp>
        <p:nvSpPr>
          <p:cNvPr id="45" name="Shape 43"/>
          <p:cNvSpPr/>
          <p:nvPr/>
        </p:nvSpPr>
        <p:spPr>
          <a:xfrm>
            <a:off x="8229600" y="6281589"/>
            <a:ext cx="3657600" cy="0"/>
          </a:xfrm>
          <a:prstGeom prst="line">
            <a:avLst/>
          </a:prstGeom>
          <a:noFill/>
          <a:ln w="9525">
            <a:solidFill>
              <a:srgbClr val="DFE6E9"/>
            </a:solidFill>
            <a:prstDash val="solid"/>
          </a:ln>
        </p:spPr>
      </p:sp>
      <p:sp>
        <p:nvSpPr>
          <p:cNvPr id="46" name="Shape 44"/>
          <p:cNvSpPr/>
          <p:nvPr/>
        </p:nvSpPr>
        <p:spPr>
          <a:xfrm>
            <a:off x="8234363" y="3936950"/>
            <a:ext cx="0" cy="2349401"/>
          </a:xfrm>
          <a:prstGeom prst="line">
            <a:avLst/>
          </a:prstGeom>
          <a:noFill/>
          <a:ln w="9525">
            <a:solidFill>
              <a:srgbClr val="DFE6E9"/>
            </a:solidFill>
            <a:prstDash val="solid"/>
          </a:ln>
        </p:spPr>
      </p:sp>
      <p:sp>
        <p:nvSpPr>
          <p:cNvPr id="47" name="Text 45"/>
          <p:cNvSpPr/>
          <p:nvPr/>
        </p:nvSpPr>
        <p:spPr>
          <a:xfrm>
            <a:off x="8416826" y="4152751"/>
            <a:ext cx="3348811" cy="180975"/>
          </a:xfrm>
          <a:prstGeom prst="rect">
            <a:avLst/>
          </a:prstGeom>
          <a:noFill/>
          <a:ln/>
        </p:spPr>
        <p:txBody>
          <a:bodyPr wrap="square" lIns="0" tIns="0" rIns="0" bIns="0" rtlCol="0" anchor="t"/>
          <a:lstStyle/>
          <a:p>
            <a:pPr algn="l" indent="0" marL="0">
              <a:spcAft>
                <a:spcPts val="800"/>
              </a:spcAft>
              <a:buNone/>
            </a:pPr>
            <a:r>
              <a:rPr lang="en-US" sz="1000" b="1" dirty="0">
                <a:solidFill>
                  <a:srgbClr val="1B3A5C"/>
                </a:solidFill>
                <a:latin typeface="Microsoft YaHei" pitchFamily="34" charset="0"/>
                <a:ea typeface="Microsoft YaHei" pitchFamily="34" charset="-122"/>
                <a:cs typeface="Microsoft YaHei" pitchFamily="34" charset="-120"/>
              </a:rPr>
              <a:t>数据限制 3</a:t>
            </a:r>
            <a:endParaRPr lang="en-US" sz="1000" dirty="0"/>
          </a:p>
        </p:txBody>
      </p:sp>
      <p:sp>
        <p:nvSpPr>
          <p:cNvPr id="48" name="Text 46"/>
          <p:cNvSpPr/>
          <p:nvPr/>
        </p:nvSpPr>
        <p:spPr>
          <a:xfrm>
            <a:off x="8416826" y="4435227"/>
            <a:ext cx="3283148" cy="799654"/>
          </a:xfrm>
          <a:prstGeom prst="roundRect">
            <a:avLst>
              <a:gd name="adj" fmla="val 4765"/>
            </a:avLst>
          </a:prstGeom>
          <a:solidFill>
            <a:srgbClr val="F8F9FA"/>
          </a:solidFill>
          <a:ln/>
        </p:spPr>
        <p:txBody>
          <a:bodyPr wrap="square" rtlCol="0" anchor="ctr"/>
          <a:lstStyle/>
          <a:p>
            <a:pPr indent="0" marL="0">
              <a:buNone/>
            </a:pPr>
            <a:endParaRPr lang="en-US" dirty="0"/>
          </a:p>
        </p:txBody>
      </p:sp>
      <p:sp>
        <p:nvSpPr>
          <p:cNvPr id="49" name="Text 47"/>
          <p:cNvSpPr/>
          <p:nvPr/>
        </p:nvSpPr>
        <p:spPr>
          <a:xfrm>
            <a:off x="8543776" y="4536728"/>
            <a:ext cx="3089833" cy="203002"/>
          </a:xfrm>
          <a:prstGeom prst="rect">
            <a:avLst/>
          </a:prstGeom>
          <a:noFill/>
          <a:ln/>
        </p:spPr>
        <p:txBody>
          <a:bodyPr wrap="square" lIns="0" tIns="0" rIns="0" bIns="0" rtlCol="0" anchor="t"/>
          <a:lstStyle/>
          <a:p>
            <a:pPr algn="l" indent="0" marL="0">
              <a:lnSpc>
                <a:spcPts val="1600"/>
              </a:lnSpc>
              <a:buNone/>
            </a:pPr>
            <a:r>
              <a:rPr lang="en-US" sz="1000" b="1" dirty="0">
                <a:solidFill>
                  <a:srgbClr val="2D3436"/>
                </a:solidFill>
                <a:latin typeface="Microsoft YaHei" pitchFamily="34" charset="0"/>
                <a:ea typeface="Microsoft YaHei" pitchFamily="34" charset="-122"/>
                <a:cs typeface="Microsoft YaHei" pitchFamily="34" charset="-120"/>
              </a:rPr>
              <a:t>小样本型号结论受限</a:t>
            </a:r>
            <a:endParaRPr lang="en-US" sz="1000" dirty="0"/>
          </a:p>
        </p:txBody>
      </p:sp>
      <p:sp>
        <p:nvSpPr>
          <p:cNvPr id="50" name="Text 48"/>
          <p:cNvSpPr/>
          <p:nvPr/>
        </p:nvSpPr>
        <p:spPr>
          <a:xfrm>
            <a:off x="8543776" y="4790480"/>
            <a:ext cx="3089833" cy="342900"/>
          </a:xfrm>
          <a:prstGeom prst="rect">
            <a:avLst/>
          </a:prstGeom>
          <a:noFill/>
          <a:ln/>
        </p:spPr>
        <p:txBody>
          <a:bodyPr wrap="square" lIns="0" tIns="0" rIns="0" bIns="0" rtlCol="0" anchor="t"/>
          <a:lstStyle/>
          <a:p>
            <a:pPr algn="l" indent="0" marL="0">
              <a:lnSpc>
                <a:spcPts val="1350"/>
              </a:lnSpc>
              <a:spcBef>
                <a:spcPts val="400"/>
              </a:spcBef>
              <a:buNone/>
            </a:pPr>
            <a:r>
              <a:rPr lang="en-US" sz="900" dirty="0">
                <a:solidFill>
                  <a:srgbClr val="636E72"/>
                </a:solidFill>
                <a:latin typeface="Microsoft YaHei" pitchFamily="34" charset="0"/>
                <a:ea typeface="Microsoft YaHei" pitchFamily="34" charset="-122"/>
                <a:cs typeface="Microsoft YaHei" pitchFamily="34" charset="-120"/>
              </a:rPr>
              <a:t>FP21(n=9)、PG22C(n=10) 等型号样本量不足。2-3 个极端批次即可主导相关方向，无法可靠评估参数-划伤关系。</a:t>
            </a:r>
            <a:endParaRPr lang="en-US" sz="900" dirty="0"/>
          </a:p>
        </p:txBody>
      </p:sp>
      <p:sp>
        <p:nvSpPr>
          <p:cNvPr id="51" name="Text 49"/>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52" name="Shape 50"/>
          <p:cNvSpPr/>
          <p:nvPr/>
        </p:nvSpPr>
        <p:spPr>
          <a:xfrm>
            <a:off x="0" y="6608862"/>
            <a:ext cx="12192000" cy="0"/>
          </a:xfrm>
          <a:prstGeom prst="line">
            <a:avLst/>
          </a:prstGeom>
          <a:noFill/>
          <a:ln w="9525">
            <a:solidFill>
              <a:srgbClr val="DFE6E9"/>
            </a:solidFill>
            <a:prstDash val="solid"/>
          </a:ln>
        </p:spPr>
      </p:sp>
      <p:sp>
        <p:nvSpPr>
          <p:cNvPr id="53" name="Text 51"/>
          <p:cNvSpPr/>
          <p:nvPr/>
        </p:nvSpPr>
        <p:spPr>
          <a:xfrm>
            <a:off x="11570791" y="6670774"/>
            <a:ext cx="322737"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304800" y="253901"/>
            <a:ext cx="3062963" cy="352425"/>
          </a:xfrm>
          <a:prstGeom prst="rect">
            <a:avLst/>
          </a:prstGeom>
          <a:noFill/>
          <a:ln/>
        </p:spPr>
        <p:txBody>
          <a:bodyPr wrap="square" lIns="0" tIns="0" rIns="0" bIns="0" rtlCol="0" anchor="t"/>
          <a:lstStyle/>
          <a:p>
            <a:pPr algn="l" indent="0" marL="0">
              <a:buNone/>
            </a:pPr>
            <a:r>
              <a:rPr lang="en-US" sz="2000" b="1" dirty="0">
                <a:solidFill>
                  <a:srgbClr val="1B3A5C"/>
                </a:solidFill>
                <a:latin typeface="Microsoft YaHei" pitchFamily="34" charset="0"/>
                <a:ea typeface="Microsoft YaHei" pitchFamily="34" charset="-122"/>
                <a:cs typeface="Microsoft YaHei" pitchFamily="34" charset="-120"/>
              </a:rPr>
              <a:t>改进建议——下一步行动</a:t>
            </a:r>
            <a:endParaRPr lang="en-US" sz="2000" dirty="0"/>
          </a:p>
        </p:txBody>
      </p:sp>
      <p:sp>
        <p:nvSpPr>
          <p:cNvPr id="4" name="Text 2"/>
          <p:cNvSpPr/>
          <p:nvPr/>
        </p:nvSpPr>
        <p:spPr>
          <a:xfrm>
            <a:off x="304800" y="634901"/>
            <a:ext cx="634901"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304800" y="914400"/>
            <a:ext cx="11582400" cy="1460450"/>
          </a:xfrm>
          <a:prstGeom prst="roundRect">
            <a:avLst>
              <a:gd name="adj" fmla="val 3478"/>
            </a:avLst>
          </a:prstGeom>
          <a:solidFill>
            <a:srgbClr val="FFFFFF"/>
          </a:solidFill>
          <a:ln/>
        </p:spPr>
        <p:txBody>
          <a:bodyPr wrap="square" rtlCol="0" anchor="ctr"/>
          <a:lstStyle/>
          <a:p>
            <a:pPr indent="0" marL="0">
              <a:buNone/>
            </a:pPr>
            <a:endParaRPr lang="en-US" dirty="0"/>
          </a:p>
        </p:txBody>
      </p:sp>
      <p:sp>
        <p:nvSpPr>
          <p:cNvPr id="6" name="Shape 4"/>
          <p:cNvSpPr/>
          <p:nvPr/>
        </p:nvSpPr>
        <p:spPr>
          <a:xfrm>
            <a:off x="304800" y="919162"/>
            <a:ext cx="11582400" cy="0"/>
          </a:xfrm>
          <a:prstGeom prst="line">
            <a:avLst/>
          </a:prstGeom>
          <a:noFill/>
          <a:ln w="9525">
            <a:solidFill>
              <a:srgbClr val="DFE6E9"/>
            </a:solidFill>
            <a:prstDash val="solid"/>
          </a:ln>
        </p:spPr>
      </p:sp>
      <p:sp>
        <p:nvSpPr>
          <p:cNvPr id="7" name="Shape 5"/>
          <p:cNvSpPr/>
          <p:nvPr/>
        </p:nvSpPr>
        <p:spPr>
          <a:xfrm>
            <a:off x="11882438" y="914400"/>
            <a:ext cx="0" cy="1460450"/>
          </a:xfrm>
          <a:prstGeom prst="line">
            <a:avLst/>
          </a:prstGeom>
          <a:noFill/>
          <a:ln w="9525">
            <a:solidFill>
              <a:srgbClr val="DFE6E9"/>
            </a:solidFill>
            <a:prstDash val="solid"/>
          </a:ln>
        </p:spPr>
      </p:sp>
      <p:sp>
        <p:nvSpPr>
          <p:cNvPr id="8" name="Shape 6"/>
          <p:cNvSpPr/>
          <p:nvPr/>
        </p:nvSpPr>
        <p:spPr>
          <a:xfrm>
            <a:off x="304800" y="2370088"/>
            <a:ext cx="11582400" cy="0"/>
          </a:xfrm>
          <a:prstGeom prst="line">
            <a:avLst/>
          </a:prstGeom>
          <a:noFill/>
          <a:ln w="9525">
            <a:solidFill>
              <a:srgbClr val="DFE6E9"/>
            </a:solidFill>
            <a:prstDash val="solid"/>
          </a:ln>
        </p:spPr>
      </p:sp>
      <p:sp>
        <p:nvSpPr>
          <p:cNvPr id="9" name="Shape 7"/>
          <p:cNvSpPr/>
          <p:nvPr/>
        </p:nvSpPr>
        <p:spPr>
          <a:xfrm>
            <a:off x="328613" y="914400"/>
            <a:ext cx="0" cy="1460450"/>
          </a:xfrm>
          <a:prstGeom prst="line">
            <a:avLst/>
          </a:prstGeom>
          <a:noFill/>
          <a:ln w="47625">
            <a:solidFill>
              <a:srgbClr val="E85D3A"/>
            </a:solidFill>
            <a:prstDash val="solid"/>
          </a:ln>
        </p:spPr>
      </p:sp>
      <p:sp>
        <p:nvSpPr>
          <p:cNvPr id="10" name="Text 8"/>
          <p:cNvSpPr/>
          <p:nvPr/>
        </p:nvSpPr>
        <p:spPr>
          <a:xfrm>
            <a:off x="352425" y="923925"/>
            <a:ext cx="1143000" cy="1441400"/>
          </a:xfrm>
          <a:prstGeom prst="rect">
            <a:avLst/>
          </a:prstGeom>
          <a:solidFill>
            <a:srgbClr val="E85D3A"/>
          </a:solidFill>
          <a:ln/>
        </p:spPr>
        <p:txBody>
          <a:bodyPr wrap="square" rtlCol="0" anchor="ctr"/>
          <a:lstStyle/>
          <a:p>
            <a:pPr indent="0" marL="0">
              <a:buNone/>
            </a:pPr>
            <a:endParaRPr lang="en-US" dirty="0"/>
          </a:p>
        </p:txBody>
      </p:sp>
      <p:sp>
        <p:nvSpPr>
          <p:cNvPr id="11" name="Text 9"/>
          <p:cNvSpPr/>
          <p:nvPr/>
        </p:nvSpPr>
        <p:spPr>
          <a:xfrm>
            <a:off x="780455" y="1381125"/>
            <a:ext cx="292679" cy="314325"/>
          </a:xfrm>
          <a:prstGeom prst="rect">
            <a:avLst/>
          </a:prstGeom>
          <a:noFill/>
          <a:ln/>
        </p:spPr>
        <p:txBody>
          <a:bodyPr wrap="square" lIns="0" tIns="0" rIns="0" bIns="0" rtlCol="0" anchor="t"/>
          <a:lstStyle/>
          <a:p>
            <a:pPr algn="l" indent="0" marL="0">
              <a:buNone/>
            </a:pPr>
            <a:r>
              <a:rPr lang="en-US" sz="1800" b="1" dirty="0">
                <a:solidFill>
                  <a:srgbClr val="FFFFFF"/>
                </a:solidFill>
                <a:latin typeface="Microsoft YaHei" pitchFamily="34" charset="0"/>
                <a:ea typeface="Microsoft YaHei" pitchFamily="34" charset="-122"/>
                <a:cs typeface="Microsoft YaHei" pitchFamily="34" charset="-120"/>
              </a:rPr>
              <a:t>P0</a:t>
            </a:r>
            <a:endParaRPr lang="en-US" sz="1800" dirty="0"/>
          </a:p>
        </p:txBody>
      </p:sp>
      <p:sp>
        <p:nvSpPr>
          <p:cNvPr id="12" name="Text 10"/>
          <p:cNvSpPr/>
          <p:nvPr/>
        </p:nvSpPr>
        <p:spPr>
          <a:xfrm>
            <a:off x="690753" y="1746200"/>
            <a:ext cx="466344" cy="161925"/>
          </a:xfrm>
          <a:prstGeom prst="rect">
            <a:avLst/>
          </a:prstGeom>
          <a:noFill/>
          <a:ln/>
        </p:spPr>
        <p:txBody>
          <a:bodyPr wrap="square" lIns="0" tIns="0" rIns="0" bIns="0" rtlCol="0" anchor="t"/>
          <a:lstStyle/>
          <a:p>
            <a:pPr algn="ctr" indent="0" marL="0">
              <a:spcBef>
                <a:spcPts val="400"/>
              </a:spcBef>
              <a:buNone/>
            </a:pPr>
            <a:r>
              <a:rPr lang="en-US" sz="900" dirty="0">
                <a:solidFill>
                  <a:srgbClr val="FFFFFF"/>
                </a:solidFill>
                <a:latin typeface="Microsoft YaHei" pitchFamily="34" charset="0"/>
                <a:ea typeface="Microsoft YaHei" pitchFamily="34" charset="-122"/>
                <a:cs typeface="Microsoft YaHei" pitchFamily="34" charset="-120"/>
              </a:rPr>
              <a:t>高优先级</a:t>
            </a:r>
            <a:endParaRPr lang="en-US" sz="900" dirty="0"/>
          </a:p>
        </p:txBody>
      </p:sp>
      <p:sp>
        <p:nvSpPr>
          <p:cNvPr id="13" name="Text 11"/>
          <p:cNvSpPr/>
          <p:nvPr/>
        </p:nvSpPr>
        <p:spPr>
          <a:xfrm>
            <a:off x="1724025" y="1101626"/>
            <a:ext cx="8128837" cy="209550"/>
          </a:xfrm>
          <a:prstGeom prst="rect">
            <a:avLst/>
          </a:prstGeom>
          <a:noFill/>
          <a:ln/>
        </p:spPr>
        <p:txBody>
          <a:bodyPr wrap="square" lIns="0" tIns="0" rIns="0" bIns="0" rtlCol="0" anchor="t"/>
          <a:lstStyle/>
          <a:p>
            <a:pPr algn="l" indent="0" marL="0">
              <a:spcAft>
                <a:spcPts val="800"/>
              </a:spcAft>
              <a:buNone/>
            </a:pPr>
            <a:r>
              <a:rPr lang="en-US" sz="1200" b="1" dirty="0">
                <a:solidFill>
                  <a:srgbClr val="1B3A5C"/>
                </a:solidFill>
                <a:latin typeface="Microsoft YaHei" pitchFamily="34" charset="0"/>
                <a:ea typeface="Microsoft YaHei" pitchFamily="34" charset="-122"/>
                <a:cs typeface="Microsoft YaHei" pitchFamily="34" charset="-120"/>
              </a:rPr>
              <a:t>产品型号规范管理</a:t>
            </a:r>
            <a:endParaRPr lang="en-US" sz="1200" dirty="0"/>
          </a:p>
        </p:txBody>
      </p:sp>
      <p:sp>
        <p:nvSpPr>
          <p:cNvPr id="14" name="Text 12"/>
          <p:cNvSpPr/>
          <p:nvPr/>
        </p:nvSpPr>
        <p:spPr>
          <a:xfrm>
            <a:off x="1724025" y="1412677"/>
            <a:ext cx="8128837" cy="182761"/>
          </a:xfrm>
          <a:prstGeom prst="rect">
            <a:avLst/>
          </a:prstGeom>
          <a:noFill/>
          <a:ln/>
        </p:spPr>
        <p:txBody>
          <a:bodyPr wrap="square" lIns="0" tIns="0" rIns="0" bIns="0" rtlCol="0" anchor="t"/>
          <a:lstStyle/>
          <a:p>
            <a:pPr algn="l" indent="0" marL="0">
              <a:lnSpc>
                <a:spcPts val="1440"/>
              </a:lnSpc>
              <a:buNone/>
            </a:pPr>
            <a:r>
              <a:rPr lang="en-US" sz="900" dirty="0">
                <a:solidFill>
                  <a:srgbClr val="2D3436"/>
                </a:solidFill>
                <a:latin typeface="Microsoft YaHei" pitchFamily="34" charset="0"/>
                <a:ea typeface="Microsoft YaHei" pitchFamily="34" charset="-122"/>
                <a:cs typeface="Microsoft YaHei" pitchFamily="34" charset="-120"/>
              </a:rPr>
              <a:t>为高频伤型号（PG32D、FP21）制定专项 SOP，统一速度设定与扭矩监控标准。目标是将 PG32D 的划伤率降至 PG22C 水平（预计降低 50%+）。</a:t>
            </a:r>
            <a:endParaRPr lang="en-US" sz="900" dirty="0"/>
          </a:p>
        </p:txBody>
      </p:sp>
      <p:sp>
        <p:nvSpPr>
          <p:cNvPr id="15" name="Text 13"/>
          <p:cNvSpPr/>
          <p:nvPr/>
        </p:nvSpPr>
        <p:spPr>
          <a:xfrm>
            <a:off x="10633025" y="1374725"/>
            <a:ext cx="259131" cy="352425"/>
          </a:xfrm>
          <a:prstGeom prst="rect">
            <a:avLst/>
          </a:prstGeom>
          <a:noFill/>
          <a:ln/>
        </p:spPr>
        <p:txBody>
          <a:bodyPr wrap="square" lIns="0" tIns="0" rIns="0" bIns="0" rtlCol="0" anchor="t"/>
          <a:lstStyle/>
          <a:p>
            <a:pPr algn="l" indent="0" marL="0">
              <a:buNone/>
            </a:pPr>
            <a:r>
              <a:rPr lang="en-US" sz="2000" b="1" dirty="0">
                <a:solidFill>
                  <a:srgbClr val="27AE60"/>
                </a:solidFill>
                <a:latin typeface="Microsoft YaHei" pitchFamily="34" charset="0"/>
                <a:ea typeface="Microsoft YaHei" pitchFamily="34" charset="-122"/>
                <a:cs typeface="Microsoft YaHei" pitchFamily="34" charset="-120"/>
              </a:rPr>
              <a:t>低</a:t>
            </a:r>
            <a:endParaRPr lang="en-US" sz="2000" dirty="0"/>
          </a:p>
        </p:txBody>
      </p:sp>
      <p:sp>
        <p:nvSpPr>
          <p:cNvPr id="16" name="Text 14"/>
          <p:cNvSpPr/>
          <p:nvPr/>
        </p:nvSpPr>
        <p:spPr>
          <a:xfrm>
            <a:off x="10531525" y="1752451"/>
            <a:ext cx="466344" cy="161925"/>
          </a:xfrm>
          <a:prstGeom prst="rect">
            <a:avLst/>
          </a:prstGeom>
          <a:noFill/>
          <a:ln/>
        </p:spPr>
        <p:txBody>
          <a:bodyPr wrap="square" lIns="0" tIns="0" rIns="0" bIns="0" rtlCol="0" anchor="t"/>
          <a:lstStyle/>
          <a:p>
            <a:pPr algn="l" indent="0" marL="0">
              <a:spcBef>
                <a:spcPts val="200"/>
              </a:spcBef>
              <a:buNone/>
            </a:pPr>
            <a:r>
              <a:rPr lang="en-US" sz="900" dirty="0">
                <a:solidFill>
                  <a:srgbClr val="636E72"/>
                </a:solidFill>
                <a:latin typeface="Microsoft YaHei" pitchFamily="34" charset="0"/>
                <a:ea typeface="Microsoft YaHei" pitchFamily="34" charset="-122"/>
                <a:cs typeface="Microsoft YaHei" pitchFamily="34" charset="-120"/>
              </a:rPr>
              <a:t>成本估计</a:t>
            </a:r>
            <a:endParaRPr lang="en-US" sz="900" dirty="0"/>
          </a:p>
        </p:txBody>
      </p:sp>
      <p:sp>
        <p:nvSpPr>
          <p:cNvPr id="17" name="Text 15"/>
          <p:cNvSpPr/>
          <p:nvPr/>
        </p:nvSpPr>
        <p:spPr>
          <a:xfrm>
            <a:off x="914400" y="2565350"/>
            <a:ext cx="10363200" cy="1371600"/>
          </a:xfrm>
          <a:prstGeom prst="roundRect">
            <a:avLst>
              <a:gd name="adj" fmla="val 3704"/>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914400" y="2570113"/>
            <a:ext cx="10363200" cy="0"/>
          </a:xfrm>
          <a:prstGeom prst="line">
            <a:avLst/>
          </a:prstGeom>
          <a:noFill/>
          <a:ln w="9525">
            <a:solidFill>
              <a:srgbClr val="DFE6E9"/>
            </a:solidFill>
            <a:prstDash val="solid"/>
          </a:ln>
        </p:spPr>
      </p:sp>
      <p:sp>
        <p:nvSpPr>
          <p:cNvPr id="19" name="Shape 17"/>
          <p:cNvSpPr/>
          <p:nvPr/>
        </p:nvSpPr>
        <p:spPr>
          <a:xfrm>
            <a:off x="11272838" y="2565350"/>
            <a:ext cx="0" cy="1371600"/>
          </a:xfrm>
          <a:prstGeom prst="line">
            <a:avLst/>
          </a:prstGeom>
          <a:noFill/>
          <a:ln w="9525">
            <a:solidFill>
              <a:srgbClr val="DFE6E9"/>
            </a:solidFill>
            <a:prstDash val="solid"/>
          </a:ln>
        </p:spPr>
      </p:sp>
      <p:sp>
        <p:nvSpPr>
          <p:cNvPr id="20" name="Shape 18"/>
          <p:cNvSpPr/>
          <p:nvPr/>
        </p:nvSpPr>
        <p:spPr>
          <a:xfrm>
            <a:off x="914400" y="3932188"/>
            <a:ext cx="10363200" cy="0"/>
          </a:xfrm>
          <a:prstGeom prst="line">
            <a:avLst/>
          </a:prstGeom>
          <a:noFill/>
          <a:ln w="9525">
            <a:solidFill>
              <a:srgbClr val="DFE6E9"/>
            </a:solidFill>
            <a:prstDash val="solid"/>
          </a:ln>
        </p:spPr>
      </p:sp>
      <p:sp>
        <p:nvSpPr>
          <p:cNvPr id="21" name="Shape 19"/>
          <p:cNvSpPr/>
          <p:nvPr/>
        </p:nvSpPr>
        <p:spPr>
          <a:xfrm>
            <a:off x="938213" y="2565350"/>
            <a:ext cx="0" cy="1371600"/>
          </a:xfrm>
          <a:prstGeom prst="line">
            <a:avLst/>
          </a:prstGeom>
          <a:noFill/>
          <a:ln w="47625">
            <a:solidFill>
              <a:srgbClr val="F39C12"/>
            </a:solidFill>
            <a:prstDash val="solid"/>
          </a:ln>
        </p:spPr>
      </p:sp>
      <p:sp>
        <p:nvSpPr>
          <p:cNvPr id="22" name="Text 20"/>
          <p:cNvSpPr/>
          <p:nvPr/>
        </p:nvSpPr>
        <p:spPr>
          <a:xfrm>
            <a:off x="962025" y="2574875"/>
            <a:ext cx="1015901" cy="1352550"/>
          </a:xfrm>
          <a:prstGeom prst="rect">
            <a:avLst/>
          </a:prstGeom>
          <a:solidFill>
            <a:srgbClr val="F39C12"/>
          </a:solidFill>
          <a:ln/>
        </p:spPr>
        <p:txBody>
          <a:bodyPr wrap="square" rtlCol="0" anchor="ctr"/>
          <a:lstStyle/>
          <a:p>
            <a:pPr indent="0" marL="0">
              <a:buNone/>
            </a:pPr>
            <a:endParaRPr lang="en-US" dirty="0"/>
          </a:p>
        </p:txBody>
      </p:sp>
      <p:sp>
        <p:nvSpPr>
          <p:cNvPr id="23" name="Text 21"/>
          <p:cNvSpPr/>
          <p:nvPr/>
        </p:nvSpPr>
        <p:spPr>
          <a:xfrm>
            <a:off x="1361777" y="3017788"/>
            <a:ext cx="220724" cy="285750"/>
          </a:xfrm>
          <a:prstGeom prst="rect">
            <a:avLst/>
          </a:prstGeom>
          <a:noFill/>
          <a:ln/>
        </p:spPr>
        <p:txBody>
          <a:bodyPr wrap="square" lIns="0" tIns="0" rIns="0" bIns="0" rtlCol="0" anchor="t"/>
          <a:lstStyle/>
          <a:p>
            <a:pPr algn="l" indent="0" marL="0">
              <a:buNone/>
            </a:pPr>
            <a:r>
              <a:rPr lang="en-US" sz="1600" b="1" dirty="0">
                <a:solidFill>
                  <a:srgbClr val="FFFFFF"/>
                </a:solidFill>
                <a:latin typeface="Microsoft YaHei" pitchFamily="34" charset="0"/>
                <a:ea typeface="Microsoft YaHei" pitchFamily="34" charset="-122"/>
                <a:cs typeface="Microsoft YaHei" pitchFamily="34" charset="-120"/>
              </a:rPr>
              <a:t>P1</a:t>
            </a:r>
            <a:endParaRPr lang="en-US" sz="1600" dirty="0"/>
          </a:p>
        </p:txBody>
      </p:sp>
      <p:sp>
        <p:nvSpPr>
          <p:cNvPr id="24" name="Text 22"/>
          <p:cNvSpPr/>
          <p:nvPr/>
        </p:nvSpPr>
        <p:spPr>
          <a:xfrm>
            <a:off x="1262763" y="3341638"/>
            <a:ext cx="414275" cy="142875"/>
          </a:xfrm>
          <a:prstGeom prst="rect">
            <a:avLst/>
          </a:prstGeom>
          <a:noFill/>
          <a:ln/>
        </p:spPr>
        <p:txBody>
          <a:bodyPr wrap="square" lIns="0" tIns="0" rIns="0" bIns="0" rtlCol="0" anchor="t"/>
          <a:lstStyle/>
          <a:p>
            <a:pPr algn="ctr" indent="0" marL="0">
              <a:spcBef>
                <a:spcPts val="300"/>
              </a:spcBef>
              <a:buNone/>
            </a:pPr>
            <a:r>
              <a:rPr lang="en-US" sz="800" dirty="0">
                <a:solidFill>
                  <a:srgbClr val="FFFFFF"/>
                </a:solidFill>
                <a:latin typeface="Microsoft YaHei" pitchFamily="34" charset="0"/>
                <a:ea typeface="Microsoft YaHei" pitchFamily="34" charset="-122"/>
                <a:cs typeface="Microsoft YaHei" pitchFamily="34" charset="-120"/>
              </a:rPr>
              <a:t>中优先级</a:t>
            </a:r>
            <a:endParaRPr lang="en-US" sz="800" dirty="0"/>
          </a:p>
        </p:txBody>
      </p:sp>
      <p:sp>
        <p:nvSpPr>
          <p:cNvPr id="25" name="Text 23"/>
          <p:cNvSpPr/>
          <p:nvPr/>
        </p:nvSpPr>
        <p:spPr>
          <a:xfrm>
            <a:off x="2181076" y="2727275"/>
            <a:ext cx="7507045" cy="200025"/>
          </a:xfrm>
          <a:prstGeom prst="rect">
            <a:avLst/>
          </a:prstGeom>
          <a:noFill/>
          <a:ln/>
        </p:spPr>
        <p:txBody>
          <a:bodyPr wrap="square" lIns="0" tIns="0" rIns="0" bIns="0" rtlCol="0" anchor="t"/>
          <a:lstStyle/>
          <a:p>
            <a:pPr algn="l" indent="0" marL="0">
              <a:spcAft>
                <a:spcPts val="600"/>
              </a:spcAft>
              <a:buNone/>
            </a:pPr>
            <a:r>
              <a:rPr lang="en-US" sz="1100" b="1" dirty="0">
                <a:solidFill>
                  <a:srgbClr val="1B3A5C"/>
                </a:solidFill>
                <a:latin typeface="Microsoft YaHei" pitchFamily="34" charset="0"/>
                <a:ea typeface="Microsoft YaHei" pitchFamily="34" charset="-122"/>
                <a:cs typeface="Microsoft YaHei" pitchFamily="34" charset="-120"/>
              </a:rPr>
              <a:t>增采样——FP21 / PG22C 型号至 n ge; 30</a:t>
            </a:r>
            <a:endParaRPr lang="en-US" sz="1100" dirty="0"/>
          </a:p>
        </p:txBody>
      </p:sp>
      <p:sp>
        <p:nvSpPr>
          <p:cNvPr id="26" name="Text 24"/>
          <p:cNvSpPr/>
          <p:nvPr/>
        </p:nvSpPr>
        <p:spPr>
          <a:xfrm>
            <a:off x="2181076" y="3003500"/>
            <a:ext cx="7507045" cy="365522"/>
          </a:xfrm>
          <a:prstGeom prst="rect">
            <a:avLst/>
          </a:prstGeom>
          <a:noFill/>
          <a:ln/>
        </p:spPr>
        <p:txBody>
          <a:bodyPr wrap="square" lIns="0" tIns="0" rIns="0" bIns="0" rtlCol="0" anchor="t"/>
          <a:lstStyle/>
          <a:p>
            <a:pPr algn="l" indent="0" marL="0">
              <a:lnSpc>
                <a:spcPts val="1440"/>
              </a:lnSpc>
              <a:buNone/>
            </a:pPr>
            <a:r>
              <a:rPr lang="en-US" sz="900" dirty="0">
                <a:solidFill>
                  <a:srgbClr val="2D3436"/>
                </a:solidFill>
                <a:latin typeface="Microsoft YaHei" pitchFamily="34" charset="0"/>
                <a:ea typeface="Microsoft YaHei" pitchFamily="34" charset="-122"/>
                <a:cs typeface="Microsoft YaHei" pitchFamily="34" charset="-120"/>
              </a:rPr>
              <a:t>当前 FP21(n=9) 和 PG22C(n=10) 样本量不足以评估扭矩-划伤方向稳定性。延长数据采集周期至 30+ 批次，确认 5号/6号/11号辊扭矩与划伤的真实关联方向。</a:t>
            </a:r>
            <a:endParaRPr lang="en-US" sz="900" dirty="0"/>
          </a:p>
        </p:txBody>
      </p:sp>
      <p:sp>
        <p:nvSpPr>
          <p:cNvPr id="27" name="Text 25"/>
          <p:cNvSpPr/>
          <p:nvPr/>
        </p:nvSpPr>
        <p:spPr>
          <a:xfrm>
            <a:off x="10188625" y="3000375"/>
            <a:ext cx="233172" cy="314325"/>
          </a:xfrm>
          <a:prstGeom prst="rect">
            <a:avLst/>
          </a:prstGeom>
          <a:noFill/>
          <a:ln/>
        </p:spPr>
        <p:txBody>
          <a:bodyPr wrap="square" lIns="0" tIns="0" rIns="0" bIns="0" rtlCol="0" anchor="t"/>
          <a:lstStyle/>
          <a:p>
            <a:pPr algn="l" indent="0" marL="0">
              <a:buNone/>
            </a:pPr>
            <a:r>
              <a:rPr lang="en-US" sz="1800" b="1" dirty="0">
                <a:solidFill>
                  <a:srgbClr val="27AE60"/>
                </a:solidFill>
                <a:latin typeface="Microsoft YaHei" pitchFamily="34" charset="0"/>
                <a:ea typeface="Microsoft YaHei" pitchFamily="34" charset="-122"/>
                <a:cs typeface="Microsoft YaHei" pitchFamily="34" charset="-120"/>
              </a:rPr>
              <a:t>低</a:t>
            </a:r>
            <a:endParaRPr lang="en-US" sz="1800" dirty="0"/>
          </a:p>
        </p:txBody>
      </p:sp>
      <p:sp>
        <p:nvSpPr>
          <p:cNvPr id="28" name="Text 26"/>
          <p:cNvSpPr/>
          <p:nvPr/>
        </p:nvSpPr>
        <p:spPr>
          <a:xfrm>
            <a:off x="10074325" y="3340001"/>
            <a:ext cx="466344" cy="161925"/>
          </a:xfrm>
          <a:prstGeom prst="rect">
            <a:avLst/>
          </a:prstGeom>
          <a:noFill/>
          <a:ln/>
        </p:spPr>
        <p:txBody>
          <a:bodyPr wrap="square" lIns="0" tIns="0" rIns="0" bIns="0" rtlCol="0" anchor="t"/>
          <a:lstStyle/>
          <a:p>
            <a:pPr algn="l" indent="0" marL="0">
              <a:spcBef>
                <a:spcPts val="200"/>
              </a:spcBef>
              <a:buNone/>
            </a:pPr>
            <a:r>
              <a:rPr lang="en-US" sz="900" dirty="0">
                <a:solidFill>
                  <a:srgbClr val="636E72"/>
                </a:solidFill>
                <a:latin typeface="Microsoft YaHei" pitchFamily="34" charset="0"/>
                <a:ea typeface="Microsoft YaHei" pitchFamily="34" charset="-122"/>
                <a:cs typeface="Microsoft YaHei" pitchFamily="34" charset="-120"/>
              </a:rPr>
              <a:t>成本估计</a:t>
            </a:r>
            <a:endParaRPr lang="en-US" sz="900" dirty="0"/>
          </a:p>
        </p:txBody>
      </p:sp>
      <p:sp>
        <p:nvSpPr>
          <p:cNvPr id="29" name="Text 27"/>
          <p:cNvSpPr/>
          <p:nvPr/>
        </p:nvSpPr>
        <p:spPr>
          <a:xfrm>
            <a:off x="1524000" y="4114800"/>
            <a:ext cx="9144000" cy="1371600"/>
          </a:xfrm>
          <a:prstGeom prst="roundRect">
            <a:avLst>
              <a:gd name="adj" fmla="val 3704"/>
            </a:avLst>
          </a:prstGeom>
          <a:solidFill>
            <a:srgbClr val="FFFFFF"/>
          </a:solidFill>
          <a:ln/>
        </p:spPr>
        <p:txBody>
          <a:bodyPr wrap="square" rtlCol="0" anchor="ctr"/>
          <a:lstStyle/>
          <a:p>
            <a:pPr indent="0" marL="0">
              <a:buNone/>
            </a:pPr>
            <a:endParaRPr lang="en-US" dirty="0"/>
          </a:p>
        </p:txBody>
      </p:sp>
      <p:sp>
        <p:nvSpPr>
          <p:cNvPr id="30" name="Shape 28"/>
          <p:cNvSpPr/>
          <p:nvPr/>
        </p:nvSpPr>
        <p:spPr>
          <a:xfrm>
            <a:off x="1524000" y="4119562"/>
            <a:ext cx="9144000" cy="0"/>
          </a:xfrm>
          <a:prstGeom prst="line">
            <a:avLst/>
          </a:prstGeom>
          <a:noFill/>
          <a:ln w="9525">
            <a:solidFill>
              <a:srgbClr val="DFE6E9"/>
            </a:solidFill>
            <a:prstDash val="solid"/>
          </a:ln>
        </p:spPr>
      </p:sp>
      <p:sp>
        <p:nvSpPr>
          <p:cNvPr id="31" name="Shape 29"/>
          <p:cNvSpPr/>
          <p:nvPr/>
        </p:nvSpPr>
        <p:spPr>
          <a:xfrm>
            <a:off x="10663237" y="4114800"/>
            <a:ext cx="0" cy="1371600"/>
          </a:xfrm>
          <a:prstGeom prst="line">
            <a:avLst/>
          </a:prstGeom>
          <a:noFill/>
          <a:ln w="9525">
            <a:solidFill>
              <a:srgbClr val="DFE6E9"/>
            </a:solidFill>
            <a:prstDash val="solid"/>
          </a:ln>
        </p:spPr>
      </p:sp>
      <p:sp>
        <p:nvSpPr>
          <p:cNvPr id="32" name="Shape 30"/>
          <p:cNvSpPr/>
          <p:nvPr/>
        </p:nvSpPr>
        <p:spPr>
          <a:xfrm>
            <a:off x="1524000" y="5481638"/>
            <a:ext cx="9144000" cy="0"/>
          </a:xfrm>
          <a:prstGeom prst="line">
            <a:avLst/>
          </a:prstGeom>
          <a:noFill/>
          <a:ln w="9525">
            <a:solidFill>
              <a:srgbClr val="DFE6E9"/>
            </a:solidFill>
            <a:prstDash val="solid"/>
          </a:ln>
        </p:spPr>
      </p:sp>
      <p:sp>
        <p:nvSpPr>
          <p:cNvPr id="33" name="Shape 31"/>
          <p:cNvSpPr/>
          <p:nvPr/>
        </p:nvSpPr>
        <p:spPr>
          <a:xfrm>
            <a:off x="1547813" y="4114800"/>
            <a:ext cx="0" cy="1371600"/>
          </a:xfrm>
          <a:prstGeom prst="line">
            <a:avLst/>
          </a:prstGeom>
          <a:noFill/>
          <a:ln w="47625">
            <a:solidFill>
              <a:srgbClr val="636E72"/>
            </a:solidFill>
            <a:prstDash val="solid"/>
          </a:ln>
        </p:spPr>
      </p:sp>
      <p:sp>
        <p:nvSpPr>
          <p:cNvPr id="34" name="Text 32"/>
          <p:cNvSpPr/>
          <p:nvPr/>
        </p:nvSpPr>
        <p:spPr>
          <a:xfrm>
            <a:off x="1571625" y="4124325"/>
            <a:ext cx="888950" cy="1352550"/>
          </a:xfrm>
          <a:prstGeom prst="rect">
            <a:avLst/>
          </a:prstGeom>
          <a:solidFill>
            <a:srgbClr val="636E72"/>
          </a:solidFill>
          <a:ln/>
        </p:spPr>
        <p:txBody>
          <a:bodyPr wrap="square" rtlCol="0" anchor="ctr"/>
          <a:lstStyle/>
          <a:p>
            <a:pPr indent="0" marL="0">
              <a:buNone/>
            </a:pPr>
            <a:endParaRPr lang="en-US" dirty="0"/>
          </a:p>
        </p:txBody>
      </p:sp>
      <p:sp>
        <p:nvSpPr>
          <p:cNvPr id="35" name="Text 33"/>
          <p:cNvSpPr/>
          <p:nvPr/>
        </p:nvSpPr>
        <p:spPr>
          <a:xfrm>
            <a:off x="1904554" y="4591050"/>
            <a:ext cx="227555" cy="247650"/>
          </a:xfrm>
          <a:prstGeom prst="rect">
            <a:avLst/>
          </a:prstGeom>
          <a:noFill/>
          <a:ln/>
        </p:spPr>
        <p:txBody>
          <a:bodyPr wrap="square" lIns="0" tIns="0" rIns="0" bIns="0" rtlCol="0" anchor="t"/>
          <a:lstStyle/>
          <a:p>
            <a:pPr algn="l" indent="0" marL="0">
              <a:buNone/>
            </a:pPr>
            <a:r>
              <a:rPr lang="en-US" sz="1400" b="1" dirty="0">
                <a:solidFill>
                  <a:srgbClr val="FFFFFF"/>
                </a:solidFill>
                <a:latin typeface="Microsoft YaHei" pitchFamily="34" charset="0"/>
                <a:ea typeface="Microsoft YaHei" pitchFamily="34" charset="-122"/>
                <a:cs typeface="Microsoft YaHei" pitchFamily="34" charset="-120"/>
              </a:rPr>
              <a:t>P2</a:t>
            </a:r>
            <a:endParaRPr lang="en-US" sz="1400" dirty="0"/>
          </a:p>
        </p:txBody>
      </p:sp>
      <p:sp>
        <p:nvSpPr>
          <p:cNvPr id="36" name="Text 34"/>
          <p:cNvSpPr/>
          <p:nvPr/>
        </p:nvSpPr>
        <p:spPr>
          <a:xfrm>
            <a:off x="1912493" y="4867275"/>
            <a:ext cx="207213" cy="142875"/>
          </a:xfrm>
          <a:prstGeom prst="rect">
            <a:avLst/>
          </a:prstGeom>
          <a:noFill/>
          <a:ln/>
        </p:spPr>
        <p:txBody>
          <a:bodyPr wrap="square" lIns="0" tIns="0" rIns="0" bIns="0" rtlCol="0" anchor="t"/>
          <a:lstStyle/>
          <a:p>
            <a:pPr algn="ctr" indent="0" marL="0">
              <a:spcBef>
                <a:spcPts val="225"/>
              </a:spcBef>
              <a:buNone/>
            </a:pPr>
            <a:r>
              <a:rPr lang="en-US" sz="800" dirty="0">
                <a:solidFill>
                  <a:srgbClr val="FFFFFF"/>
                </a:solidFill>
                <a:latin typeface="Microsoft YaHei" pitchFamily="34" charset="0"/>
                <a:ea typeface="Microsoft YaHei" pitchFamily="34" charset="-122"/>
                <a:cs typeface="Microsoft YaHei" pitchFamily="34" charset="-120"/>
              </a:rPr>
              <a:t>建议</a:t>
            </a:r>
            <a:endParaRPr lang="en-US" sz="800" dirty="0"/>
          </a:p>
        </p:txBody>
      </p:sp>
      <p:sp>
        <p:nvSpPr>
          <p:cNvPr id="37" name="Text 35"/>
          <p:cNvSpPr/>
          <p:nvPr/>
        </p:nvSpPr>
        <p:spPr>
          <a:xfrm>
            <a:off x="2663726" y="4276725"/>
            <a:ext cx="6392951" cy="200025"/>
          </a:xfrm>
          <a:prstGeom prst="rect">
            <a:avLst/>
          </a:prstGeom>
          <a:noFill/>
          <a:ln/>
        </p:spPr>
        <p:txBody>
          <a:bodyPr wrap="square" lIns="0" tIns="0" rIns="0" bIns="0" rtlCol="0" anchor="t"/>
          <a:lstStyle/>
          <a:p>
            <a:pPr algn="l" indent="0" marL="0">
              <a:spcAft>
                <a:spcPts val="600"/>
              </a:spcAft>
              <a:buNone/>
            </a:pPr>
            <a:r>
              <a:rPr lang="en-US" sz="1100" b="1" dirty="0">
                <a:solidFill>
                  <a:srgbClr val="1B3A5C"/>
                </a:solidFill>
                <a:latin typeface="Microsoft YaHei" pitchFamily="34" charset="0"/>
                <a:ea typeface="Microsoft YaHei" pitchFamily="34" charset="-122"/>
                <a:cs typeface="Microsoft YaHei" pitchFamily="34" charset="-120"/>
              </a:rPr>
              <a:t>关键辊秒级高频监测</a:t>
            </a:r>
            <a:endParaRPr lang="en-US" sz="1100" dirty="0"/>
          </a:p>
        </p:txBody>
      </p:sp>
      <p:sp>
        <p:nvSpPr>
          <p:cNvPr id="38" name="Text 36"/>
          <p:cNvSpPr/>
          <p:nvPr/>
        </p:nvSpPr>
        <p:spPr>
          <a:xfrm>
            <a:off x="2663726" y="4552950"/>
            <a:ext cx="6392951" cy="365522"/>
          </a:xfrm>
          <a:prstGeom prst="rect">
            <a:avLst/>
          </a:prstGeom>
          <a:noFill/>
          <a:ln/>
        </p:spPr>
        <p:txBody>
          <a:bodyPr wrap="square" lIns="0" tIns="0" rIns="0" bIns="0" rtlCol="0" anchor="t"/>
          <a:lstStyle/>
          <a:p>
            <a:pPr algn="l" indent="0" marL="0">
              <a:lnSpc>
                <a:spcPts val="1440"/>
              </a:lnSpc>
              <a:buNone/>
            </a:pPr>
            <a:r>
              <a:rPr lang="en-US" sz="900" dirty="0">
                <a:solidFill>
                  <a:srgbClr val="2D3436"/>
                </a:solidFill>
                <a:latin typeface="Microsoft YaHei" pitchFamily="34" charset="0"/>
                <a:ea typeface="Microsoft YaHei" pitchFamily="34" charset="-122"/>
                <a:cs typeface="Microsoft YaHei" pitchFamily="34" charset="-120"/>
              </a:rPr>
              <a:t>在 5号、6号、11号辊安装高频采集（&gt;10Hz）扭矩传感器。秒级监测可捕获划伤发生瞬间的扭矩异常信号，为 H2 扭矩残留假说提供直接验证。</a:t>
            </a:r>
            <a:endParaRPr lang="en-US" sz="900" dirty="0"/>
          </a:p>
        </p:txBody>
      </p:sp>
      <p:sp>
        <p:nvSpPr>
          <p:cNvPr id="39" name="Text 37"/>
          <p:cNvSpPr/>
          <p:nvPr/>
        </p:nvSpPr>
        <p:spPr>
          <a:xfrm>
            <a:off x="9579025" y="4549825"/>
            <a:ext cx="233172" cy="314325"/>
          </a:xfrm>
          <a:prstGeom prst="rect">
            <a:avLst/>
          </a:prstGeom>
          <a:noFill/>
          <a:ln/>
        </p:spPr>
        <p:txBody>
          <a:bodyPr wrap="square" lIns="0" tIns="0" rIns="0" bIns="0" rtlCol="0" anchor="t"/>
          <a:lstStyle/>
          <a:p>
            <a:pPr algn="l" indent="0" marL="0">
              <a:buNone/>
            </a:pPr>
            <a:r>
              <a:rPr lang="en-US" sz="1800" b="1" dirty="0">
                <a:solidFill>
                  <a:srgbClr val="F39C12"/>
                </a:solidFill>
                <a:latin typeface="Microsoft YaHei" pitchFamily="34" charset="0"/>
                <a:ea typeface="Microsoft YaHei" pitchFamily="34" charset="-122"/>
                <a:cs typeface="Microsoft YaHei" pitchFamily="34" charset="-120"/>
              </a:rPr>
              <a:t>中</a:t>
            </a:r>
            <a:endParaRPr lang="en-US" sz="1800" dirty="0"/>
          </a:p>
        </p:txBody>
      </p:sp>
      <p:sp>
        <p:nvSpPr>
          <p:cNvPr id="40" name="Text 38"/>
          <p:cNvSpPr/>
          <p:nvPr/>
        </p:nvSpPr>
        <p:spPr>
          <a:xfrm>
            <a:off x="9464725" y="4889450"/>
            <a:ext cx="466344" cy="161925"/>
          </a:xfrm>
          <a:prstGeom prst="rect">
            <a:avLst/>
          </a:prstGeom>
          <a:noFill/>
          <a:ln/>
        </p:spPr>
        <p:txBody>
          <a:bodyPr wrap="square" lIns="0" tIns="0" rIns="0" bIns="0" rtlCol="0" anchor="t"/>
          <a:lstStyle/>
          <a:p>
            <a:pPr algn="l" indent="0" marL="0">
              <a:spcBef>
                <a:spcPts val="200"/>
              </a:spcBef>
              <a:buNone/>
            </a:pPr>
            <a:r>
              <a:rPr lang="en-US" sz="900" dirty="0">
                <a:solidFill>
                  <a:srgbClr val="636E72"/>
                </a:solidFill>
                <a:latin typeface="Microsoft YaHei" pitchFamily="34" charset="0"/>
                <a:ea typeface="Microsoft YaHei" pitchFamily="34" charset="-122"/>
                <a:cs typeface="Microsoft YaHei" pitchFamily="34" charset="-120"/>
              </a:rPr>
              <a:t>成本估计</a:t>
            </a:r>
            <a:endParaRPr lang="en-US" sz="900" dirty="0"/>
          </a:p>
        </p:txBody>
      </p:sp>
      <p:sp>
        <p:nvSpPr>
          <p:cNvPr id="41" name="Text 39"/>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42" name="Shape 40"/>
          <p:cNvSpPr/>
          <p:nvPr/>
        </p:nvSpPr>
        <p:spPr>
          <a:xfrm>
            <a:off x="0" y="6608862"/>
            <a:ext cx="12192000" cy="0"/>
          </a:xfrm>
          <a:prstGeom prst="line">
            <a:avLst/>
          </a:prstGeom>
          <a:noFill/>
          <a:ln w="9525">
            <a:solidFill>
              <a:srgbClr val="DFE6E9"/>
            </a:solidFill>
            <a:prstDash val="solid"/>
          </a:ln>
        </p:spPr>
      </p:sp>
      <p:sp>
        <p:nvSpPr>
          <p:cNvPr id="43" name="Text 41"/>
          <p:cNvSpPr/>
          <p:nvPr/>
        </p:nvSpPr>
        <p:spPr>
          <a:xfrm>
            <a:off x="11570791" y="6670774"/>
            <a:ext cx="322737"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a:ln/>
        </p:spPr>
        <p:txBody>
          <a:bodyPr wrap="square" rtlCol="0" anchor="ctr"/>
          <a:lstStyle/>
          <a:p>
            <a:pPr indent="0" marL="0">
              <a:buNone/>
            </a:pPr>
            <a:endParaRPr lang="en-US" dirty="0"/>
          </a:p>
        </p:txBody>
      </p:sp>
      <p:sp>
        <p:nvSpPr>
          <p:cNvPr id="3" name="Text 1"/>
          <p:cNvSpPr/>
          <p:nvPr/>
        </p:nvSpPr>
        <p:spPr>
          <a:xfrm>
            <a:off x="304800" y="304800"/>
            <a:ext cx="1826362" cy="390525"/>
          </a:xfrm>
          <a:prstGeom prst="rect">
            <a:avLst/>
          </a:prstGeom>
          <a:noFill/>
          <a:ln/>
        </p:spPr>
        <p:txBody>
          <a:bodyPr wrap="square" lIns="0" tIns="0" rIns="0" bIns="0" rtlCol="0" anchor="t"/>
          <a:lstStyle/>
          <a:p>
            <a:pPr algn="l" indent="0" marL="0">
              <a:buNone/>
            </a:pPr>
            <a:r>
              <a:rPr lang="en-US" sz="2200" b="1" dirty="0">
                <a:solidFill>
                  <a:srgbClr val="1B3A5C"/>
                </a:solidFill>
                <a:latin typeface="Microsoft YaHei" pitchFamily="34" charset="0"/>
                <a:ea typeface="Microsoft YaHei" pitchFamily="34" charset="-122"/>
                <a:cs typeface="Microsoft YaHei" pitchFamily="34" charset="-120"/>
              </a:rPr>
              <a:t>三条核心结论</a:t>
            </a:r>
            <a:endParaRPr lang="en-US" sz="2200" dirty="0"/>
          </a:p>
        </p:txBody>
      </p:sp>
      <p:sp>
        <p:nvSpPr>
          <p:cNvPr id="4" name="Text 2"/>
          <p:cNvSpPr/>
          <p:nvPr/>
        </p:nvSpPr>
        <p:spPr>
          <a:xfrm>
            <a:off x="304800" y="736550"/>
            <a:ext cx="698450" cy="38100"/>
          </a:xfrm>
          <a:prstGeom prst="rect">
            <a:avLst/>
          </a:prstGeom>
          <a:solidFill>
            <a:srgbClr val="E85D3A"/>
          </a:solidFill>
          <a:ln/>
        </p:spPr>
        <p:txBody>
          <a:bodyPr wrap="square" rtlCol="0" anchor="ctr"/>
          <a:lstStyle/>
          <a:p>
            <a:pPr indent="0" marL="0">
              <a:buNone/>
            </a:pPr>
            <a:endParaRPr lang="en-US" dirty="0"/>
          </a:p>
        </p:txBody>
      </p:sp>
      <p:sp>
        <p:nvSpPr>
          <p:cNvPr id="5" name="Text 3"/>
          <p:cNvSpPr/>
          <p:nvPr/>
        </p:nvSpPr>
        <p:spPr>
          <a:xfrm>
            <a:off x="2031950" y="1041350"/>
            <a:ext cx="8127950" cy="1905000"/>
          </a:xfrm>
          <a:prstGeom prst="roundRect">
            <a:avLst>
              <a:gd name="adj" fmla="val 4000"/>
            </a:avLst>
          </a:prstGeom>
          <a:solidFill>
            <a:srgbClr val="FFFFFF"/>
          </a:solidFill>
          <a:ln/>
        </p:spPr>
        <p:txBody>
          <a:bodyPr wrap="square" rtlCol="0" anchor="ctr"/>
          <a:lstStyle/>
          <a:p>
            <a:pPr indent="0" marL="0">
              <a:buNone/>
            </a:pPr>
            <a:endParaRPr lang="en-US" dirty="0"/>
          </a:p>
        </p:txBody>
      </p:sp>
      <p:sp>
        <p:nvSpPr>
          <p:cNvPr id="6" name="Shape 4"/>
          <p:cNvSpPr/>
          <p:nvPr/>
        </p:nvSpPr>
        <p:spPr>
          <a:xfrm>
            <a:off x="2031950" y="1046113"/>
            <a:ext cx="8127950" cy="0"/>
          </a:xfrm>
          <a:prstGeom prst="line">
            <a:avLst/>
          </a:prstGeom>
          <a:noFill/>
          <a:ln w="9525">
            <a:solidFill>
              <a:srgbClr val="DFE6E9"/>
            </a:solidFill>
            <a:prstDash val="solid"/>
          </a:ln>
        </p:spPr>
      </p:sp>
      <p:sp>
        <p:nvSpPr>
          <p:cNvPr id="7" name="Shape 5"/>
          <p:cNvSpPr/>
          <p:nvPr/>
        </p:nvSpPr>
        <p:spPr>
          <a:xfrm>
            <a:off x="10155138" y="1041350"/>
            <a:ext cx="0" cy="1905000"/>
          </a:xfrm>
          <a:prstGeom prst="line">
            <a:avLst/>
          </a:prstGeom>
          <a:noFill/>
          <a:ln w="9525">
            <a:solidFill>
              <a:srgbClr val="DFE6E9"/>
            </a:solidFill>
            <a:prstDash val="solid"/>
          </a:ln>
        </p:spPr>
      </p:sp>
      <p:sp>
        <p:nvSpPr>
          <p:cNvPr id="8" name="Shape 6"/>
          <p:cNvSpPr/>
          <p:nvPr/>
        </p:nvSpPr>
        <p:spPr>
          <a:xfrm>
            <a:off x="2031950" y="2941588"/>
            <a:ext cx="8127950" cy="0"/>
          </a:xfrm>
          <a:prstGeom prst="line">
            <a:avLst/>
          </a:prstGeom>
          <a:noFill/>
          <a:ln w="9525">
            <a:solidFill>
              <a:srgbClr val="DFE6E9"/>
            </a:solidFill>
            <a:prstDash val="solid"/>
          </a:ln>
        </p:spPr>
      </p:sp>
      <p:sp>
        <p:nvSpPr>
          <p:cNvPr id="9" name="Shape 7"/>
          <p:cNvSpPr/>
          <p:nvPr/>
        </p:nvSpPr>
        <p:spPr>
          <a:xfrm>
            <a:off x="2060525" y="1041350"/>
            <a:ext cx="0" cy="1905000"/>
          </a:xfrm>
          <a:prstGeom prst="line">
            <a:avLst/>
          </a:prstGeom>
          <a:noFill/>
          <a:ln w="57150">
            <a:solidFill>
              <a:srgbClr val="E85D3A"/>
            </a:solidFill>
            <a:prstDash val="solid"/>
          </a:ln>
        </p:spPr>
      </p:sp>
      <p:sp>
        <p:nvSpPr>
          <p:cNvPr id="10" name="Text 8"/>
          <p:cNvSpPr/>
          <p:nvPr/>
        </p:nvSpPr>
        <p:spPr>
          <a:xfrm>
            <a:off x="2393900" y="1498550"/>
            <a:ext cx="939701" cy="257175"/>
          </a:xfrm>
          <a:prstGeom prst="roundRect">
            <a:avLst>
              <a:gd name="adj" fmla="val 14815"/>
            </a:avLst>
          </a:prstGeom>
          <a:solidFill>
            <a:srgbClr val="E85D3A"/>
          </a:solidFill>
          <a:ln/>
        </p:spPr>
        <p:txBody>
          <a:bodyPr wrap="square" rtlCol="0" anchor="ctr"/>
          <a:lstStyle/>
          <a:p>
            <a:pPr indent="0" marL="0">
              <a:buNone/>
            </a:pPr>
            <a:endParaRPr lang="en-US" dirty="0"/>
          </a:p>
        </p:txBody>
      </p:sp>
      <p:sp>
        <p:nvSpPr>
          <p:cNvPr id="11" name="Text 9"/>
          <p:cNvSpPr/>
          <p:nvPr/>
        </p:nvSpPr>
        <p:spPr>
          <a:xfrm>
            <a:off x="2546300" y="1536650"/>
            <a:ext cx="647599" cy="180975"/>
          </a:xfrm>
          <a:prstGeom prst="rect">
            <a:avLst/>
          </a:prstGeom>
          <a:noFill/>
          <a:ln/>
        </p:spPr>
        <p:txBody>
          <a:bodyPr wrap="square" lIns="0" tIns="0" rIns="0" bIns="0" rtlCol="0" anchor="t"/>
          <a:lstStyle/>
          <a:p>
            <a:pPr algn="l" indent="0" marL="0">
              <a:buNone/>
            </a:pPr>
            <a:r>
              <a:rPr lang="en-US" sz="1000" b="1" dirty="0">
                <a:solidFill>
                  <a:srgbClr val="FFFFFF"/>
                </a:solidFill>
                <a:latin typeface="Microsoft YaHei" pitchFamily="34" charset="0"/>
                <a:ea typeface="Microsoft YaHei" pitchFamily="34" charset="-122"/>
                <a:cs typeface="Microsoft YaHei" pitchFamily="34" charset="-120"/>
              </a:rPr>
              <a:t>核心结论一</a:t>
            </a:r>
            <a:endParaRPr lang="en-US" sz="1000" dirty="0"/>
          </a:p>
        </p:txBody>
      </p:sp>
      <p:sp>
        <p:nvSpPr>
          <p:cNvPr id="12" name="Text 10"/>
          <p:cNvSpPr/>
          <p:nvPr/>
        </p:nvSpPr>
        <p:spPr>
          <a:xfrm>
            <a:off x="2393900" y="1882676"/>
            <a:ext cx="7600709" cy="330250"/>
          </a:xfrm>
          <a:prstGeom prst="rect">
            <a:avLst/>
          </a:prstGeom>
          <a:noFill/>
          <a:ln/>
        </p:spPr>
        <p:txBody>
          <a:bodyPr wrap="square" lIns="0" tIns="0" rIns="0" bIns="0" rtlCol="0" anchor="t"/>
          <a:lstStyle/>
          <a:p>
            <a:pPr algn="l" indent="0" marL="0">
              <a:lnSpc>
                <a:spcPts val="2600"/>
              </a:lnSpc>
              <a:buNone/>
            </a:pPr>
            <a:r>
              <a:rPr lang="en-US" sz="2000" b="1" dirty="0">
                <a:solidFill>
                  <a:srgbClr val="1B3A5C"/>
                </a:solidFill>
                <a:latin typeface="Microsoft YaHei" pitchFamily="34" charset="0"/>
                <a:ea typeface="Microsoft YaHei" pitchFamily="34" charset="-122"/>
                <a:cs typeface="Microsoft YaHei" pitchFamily="34" charset="-120"/>
              </a:rPr>
              <a:t>划伤由产品型号差异主导</a:t>
            </a:r>
            <a:endParaRPr lang="en-US" sz="2000" dirty="0"/>
          </a:p>
        </p:txBody>
      </p:sp>
      <p:sp>
        <p:nvSpPr>
          <p:cNvPr id="13" name="Text 11"/>
          <p:cNvSpPr/>
          <p:nvPr/>
        </p:nvSpPr>
        <p:spPr>
          <a:xfrm>
            <a:off x="2393900" y="2289125"/>
            <a:ext cx="7600709" cy="200025"/>
          </a:xfrm>
          <a:prstGeom prst="rect">
            <a:avLst/>
          </a:prstGeom>
          <a:noFill/>
          <a:ln/>
        </p:spPr>
        <p:txBody>
          <a:bodyPr wrap="square" lIns="0" tIns="0" rIns="0" bIns="0" rtlCol="0" anchor="t"/>
          <a:lstStyle/>
          <a:p>
            <a:pPr algn="l" indent="0" marL="0">
              <a:spcBef>
                <a:spcPts val="600"/>
              </a:spcBef>
              <a:buNone/>
            </a:pPr>
            <a:r>
              <a:rPr lang="en-US" sz="1100" dirty="0">
                <a:solidFill>
                  <a:srgbClr val="E85D3A"/>
                </a:solidFill>
                <a:latin typeface="Microsoft YaHei" pitchFamily="34" charset="0"/>
                <a:ea typeface="Microsoft YaHei" pitchFamily="34" charset="-122"/>
                <a:cs typeface="Microsoft YaHei" pitchFamily="34" charset="-120"/>
              </a:rPr>
              <a:t>PG32D 划伤率是 PG22C 的 15 倍 —— 型号之间差异远大于型号内波动</a:t>
            </a:r>
            <a:endParaRPr lang="en-US" sz="1100" dirty="0"/>
          </a:p>
        </p:txBody>
      </p:sp>
      <p:sp>
        <p:nvSpPr>
          <p:cNvPr id="14" name="Text 12"/>
          <p:cNvSpPr/>
          <p:nvPr/>
        </p:nvSpPr>
        <p:spPr>
          <a:xfrm>
            <a:off x="304800" y="3301901"/>
            <a:ext cx="5638800" cy="1841450"/>
          </a:xfrm>
          <a:prstGeom prst="roundRect">
            <a:avLst>
              <a:gd name="adj" fmla="val 4138"/>
            </a:avLst>
          </a:prstGeom>
          <a:solidFill>
            <a:srgbClr val="FFFFFF"/>
          </a:solidFill>
          <a:ln w="9525">
            <a:solidFill>
              <a:srgbClr val="DFE6E9"/>
            </a:solidFill>
          </a:ln>
        </p:spPr>
        <p:txBody>
          <a:bodyPr wrap="square" rtlCol="0" anchor="ctr"/>
          <a:lstStyle/>
          <a:p>
            <a:pPr indent="0" marL="0">
              <a:buNone/>
            </a:pPr>
            <a:endParaRPr lang="en-US" dirty="0"/>
          </a:p>
        </p:txBody>
      </p:sp>
      <p:sp>
        <p:nvSpPr>
          <p:cNvPr id="15" name="Text 13"/>
          <p:cNvSpPr/>
          <p:nvPr/>
        </p:nvSpPr>
        <p:spPr>
          <a:xfrm>
            <a:off x="568226" y="3726507"/>
            <a:ext cx="825401" cy="238125"/>
          </a:xfrm>
          <a:prstGeom prst="roundRect">
            <a:avLst>
              <a:gd name="adj" fmla="val 16000"/>
            </a:avLst>
          </a:prstGeom>
          <a:solidFill>
            <a:srgbClr val="1B3A5C"/>
          </a:solidFill>
          <a:ln/>
        </p:spPr>
        <p:txBody>
          <a:bodyPr wrap="square" rtlCol="0" anchor="ctr"/>
          <a:lstStyle/>
          <a:p>
            <a:pPr indent="0" marL="0">
              <a:buNone/>
            </a:pPr>
            <a:endParaRPr lang="en-US" dirty="0"/>
          </a:p>
        </p:txBody>
      </p:sp>
      <p:sp>
        <p:nvSpPr>
          <p:cNvPr id="16" name="Text 14"/>
          <p:cNvSpPr/>
          <p:nvPr/>
        </p:nvSpPr>
        <p:spPr>
          <a:xfrm>
            <a:off x="695176" y="3764607"/>
            <a:ext cx="582930" cy="161925"/>
          </a:xfrm>
          <a:prstGeom prst="rect">
            <a:avLst/>
          </a:prstGeom>
          <a:noFill/>
          <a:ln/>
        </p:spPr>
        <p:txBody>
          <a:bodyPr wrap="square" lIns="0" tIns="0" rIns="0" bIns="0" rtlCol="0" anchor="t"/>
          <a:lstStyle/>
          <a:p>
            <a:pPr algn="l" indent="0" marL="0">
              <a:buNone/>
            </a:pPr>
            <a:r>
              <a:rPr lang="en-US" sz="900" b="1" dirty="0">
                <a:solidFill>
                  <a:srgbClr val="FFFFFF"/>
                </a:solidFill>
                <a:latin typeface="Microsoft YaHei" pitchFamily="34" charset="0"/>
                <a:ea typeface="Microsoft YaHei" pitchFamily="34" charset="-122"/>
                <a:cs typeface="Microsoft YaHei" pitchFamily="34" charset="-120"/>
              </a:rPr>
              <a:t>核心结论二</a:t>
            </a:r>
            <a:endParaRPr lang="en-US" sz="900" dirty="0"/>
          </a:p>
        </p:txBody>
      </p:sp>
      <p:sp>
        <p:nvSpPr>
          <p:cNvPr id="17" name="Text 15"/>
          <p:cNvSpPr/>
          <p:nvPr/>
        </p:nvSpPr>
        <p:spPr>
          <a:xfrm>
            <a:off x="568226" y="4066133"/>
            <a:ext cx="5214187" cy="195560"/>
          </a:xfrm>
          <a:prstGeom prst="rect">
            <a:avLst/>
          </a:prstGeom>
          <a:noFill/>
          <a:ln/>
        </p:spPr>
        <p:txBody>
          <a:bodyPr wrap="square" lIns="0" tIns="0" rIns="0" bIns="0" rtlCol="0" anchor="t"/>
          <a:lstStyle/>
          <a:p>
            <a:pPr algn="l" indent="0" marL="0">
              <a:lnSpc>
                <a:spcPts val="1540"/>
              </a:lnSpc>
              <a:buNone/>
            </a:pPr>
            <a:r>
              <a:rPr lang="en-US" sz="1100" b="1" dirty="0">
                <a:solidFill>
                  <a:srgbClr val="1B3A5C"/>
                </a:solidFill>
                <a:latin typeface="Microsoft YaHei" pitchFamily="34" charset="0"/>
                <a:ea typeface="Microsoft YaHei" pitchFamily="34" charset="-122"/>
                <a:cs typeface="Microsoft YaHei" pitchFamily="34" charset="-120"/>
              </a:rPr>
              <a:t>工艺-划伤强相关是型号混杂假象</a:t>
            </a:r>
            <a:endParaRPr lang="en-US" sz="1100" dirty="0"/>
          </a:p>
        </p:txBody>
      </p:sp>
      <p:sp>
        <p:nvSpPr>
          <p:cNvPr id="18" name="Text 16"/>
          <p:cNvSpPr/>
          <p:nvPr/>
        </p:nvSpPr>
        <p:spPr>
          <a:xfrm>
            <a:off x="568226" y="4337893"/>
            <a:ext cx="5214187" cy="380702"/>
          </a:xfrm>
          <a:prstGeom prst="rect">
            <a:avLst/>
          </a:prstGeom>
          <a:noFill/>
          <a:ln/>
        </p:spPr>
        <p:txBody>
          <a:bodyPr wrap="square" lIns="0" tIns="0" rIns="0" bIns="0" rtlCol="0" anchor="t"/>
          <a:lstStyle/>
          <a:p>
            <a:pPr algn="l" indent="0" marL="0">
              <a:lnSpc>
                <a:spcPts val="1500"/>
              </a:lnSpc>
              <a:spcBef>
                <a:spcPts val="600"/>
              </a:spcBef>
              <a:buNone/>
            </a:pPr>
            <a:r>
              <a:rPr lang="en-US" sz="1000" dirty="0">
                <a:solidFill>
                  <a:srgbClr val="636E72"/>
                </a:solidFill>
                <a:latin typeface="Microsoft YaHei" pitchFamily="34" charset="0"/>
                <a:ea typeface="Microsoft YaHei" pitchFamily="34" charset="-122"/>
                <a:cs typeface="Microsoft YaHei" pitchFamily="34" charset="-120"/>
              </a:rPr>
              <a:t>所有工艺参数与划伤的强相关(r=0.43-0.49)在控制型号后衰减或反转。系统本身未出故障，参数差异是产品规格的自然反映。</a:t>
            </a:r>
            <a:endParaRPr lang="en-US" sz="1000" dirty="0"/>
          </a:p>
        </p:txBody>
      </p:sp>
      <p:sp>
        <p:nvSpPr>
          <p:cNvPr id="19" name="Text 17"/>
          <p:cNvSpPr/>
          <p:nvPr/>
        </p:nvSpPr>
        <p:spPr>
          <a:xfrm>
            <a:off x="6248400" y="3301901"/>
            <a:ext cx="5638800" cy="1841450"/>
          </a:xfrm>
          <a:prstGeom prst="roundRect">
            <a:avLst>
              <a:gd name="adj" fmla="val 4138"/>
            </a:avLst>
          </a:prstGeom>
          <a:solidFill>
            <a:srgbClr val="FFFFFF"/>
          </a:solidFill>
          <a:ln w="9525">
            <a:solidFill>
              <a:srgbClr val="DFE6E9"/>
            </a:solidFill>
          </a:ln>
        </p:spPr>
        <p:txBody>
          <a:bodyPr wrap="square" rtlCol="0" anchor="ctr"/>
          <a:lstStyle/>
          <a:p>
            <a:pPr indent="0" marL="0">
              <a:buNone/>
            </a:pPr>
            <a:endParaRPr lang="en-US" dirty="0"/>
          </a:p>
        </p:txBody>
      </p:sp>
      <p:sp>
        <p:nvSpPr>
          <p:cNvPr id="20" name="Text 18"/>
          <p:cNvSpPr/>
          <p:nvPr/>
        </p:nvSpPr>
        <p:spPr>
          <a:xfrm>
            <a:off x="6511826" y="3726507"/>
            <a:ext cx="825401" cy="238125"/>
          </a:xfrm>
          <a:prstGeom prst="roundRect">
            <a:avLst>
              <a:gd name="adj" fmla="val 16000"/>
            </a:avLst>
          </a:prstGeom>
          <a:solidFill>
            <a:srgbClr val="1B3A5C"/>
          </a:solidFill>
          <a:ln/>
        </p:spPr>
        <p:txBody>
          <a:bodyPr wrap="square" rtlCol="0" anchor="ctr"/>
          <a:lstStyle/>
          <a:p>
            <a:pPr indent="0" marL="0">
              <a:buNone/>
            </a:pPr>
            <a:endParaRPr lang="en-US" dirty="0"/>
          </a:p>
        </p:txBody>
      </p:sp>
      <p:sp>
        <p:nvSpPr>
          <p:cNvPr id="21" name="Text 19"/>
          <p:cNvSpPr/>
          <p:nvPr/>
        </p:nvSpPr>
        <p:spPr>
          <a:xfrm>
            <a:off x="6638776" y="3764607"/>
            <a:ext cx="582930" cy="161925"/>
          </a:xfrm>
          <a:prstGeom prst="rect">
            <a:avLst/>
          </a:prstGeom>
          <a:noFill/>
          <a:ln/>
        </p:spPr>
        <p:txBody>
          <a:bodyPr wrap="square" lIns="0" tIns="0" rIns="0" bIns="0" rtlCol="0" anchor="t"/>
          <a:lstStyle/>
          <a:p>
            <a:pPr algn="l" indent="0" marL="0">
              <a:buNone/>
            </a:pPr>
            <a:r>
              <a:rPr lang="en-US" sz="900" b="1" dirty="0">
                <a:solidFill>
                  <a:srgbClr val="FFFFFF"/>
                </a:solidFill>
                <a:latin typeface="Microsoft YaHei" pitchFamily="34" charset="0"/>
                <a:ea typeface="Microsoft YaHei" pitchFamily="34" charset="-122"/>
                <a:cs typeface="Microsoft YaHei" pitchFamily="34" charset="-120"/>
              </a:rPr>
              <a:t>核心结论三</a:t>
            </a:r>
            <a:endParaRPr lang="en-US" sz="900" dirty="0"/>
          </a:p>
        </p:txBody>
      </p:sp>
      <p:sp>
        <p:nvSpPr>
          <p:cNvPr id="22" name="Text 20"/>
          <p:cNvSpPr/>
          <p:nvPr/>
        </p:nvSpPr>
        <p:spPr>
          <a:xfrm>
            <a:off x="6511826" y="4066133"/>
            <a:ext cx="5214187" cy="195560"/>
          </a:xfrm>
          <a:prstGeom prst="rect">
            <a:avLst/>
          </a:prstGeom>
          <a:noFill/>
          <a:ln/>
        </p:spPr>
        <p:txBody>
          <a:bodyPr wrap="square" lIns="0" tIns="0" rIns="0" bIns="0" rtlCol="0" anchor="t"/>
          <a:lstStyle/>
          <a:p>
            <a:pPr algn="l" indent="0" marL="0">
              <a:lnSpc>
                <a:spcPts val="1540"/>
              </a:lnSpc>
              <a:buNone/>
            </a:pPr>
            <a:r>
              <a:rPr lang="en-US" sz="1100" b="1" dirty="0">
                <a:solidFill>
                  <a:srgbClr val="1B3A5C"/>
                </a:solidFill>
                <a:latin typeface="Microsoft YaHei" pitchFamily="34" charset="0"/>
                <a:ea typeface="Microsoft YaHei" pitchFamily="34" charset="-122"/>
                <a:cs typeface="Microsoft YaHei" pitchFamily="34" charset="-120"/>
              </a:rPr>
              <a:t>从型号规范管理入手，先降高频伤</a:t>
            </a:r>
            <a:endParaRPr lang="en-US" sz="1100" dirty="0"/>
          </a:p>
        </p:txBody>
      </p:sp>
      <p:sp>
        <p:nvSpPr>
          <p:cNvPr id="23" name="Text 21"/>
          <p:cNvSpPr/>
          <p:nvPr/>
        </p:nvSpPr>
        <p:spPr>
          <a:xfrm>
            <a:off x="6511826" y="4337893"/>
            <a:ext cx="5214187" cy="380702"/>
          </a:xfrm>
          <a:prstGeom prst="rect">
            <a:avLst/>
          </a:prstGeom>
          <a:noFill/>
          <a:ln/>
        </p:spPr>
        <p:txBody>
          <a:bodyPr wrap="square" lIns="0" tIns="0" rIns="0" bIns="0" rtlCol="0" anchor="t"/>
          <a:lstStyle/>
          <a:p>
            <a:pPr algn="l" indent="0" marL="0">
              <a:lnSpc>
                <a:spcPts val="1500"/>
              </a:lnSpc>
              <a:spcBef>
                <a:spcPts val="600"/>
              </a:spcBef>
              <a:buNone/>
            </a:pPr>
            <a:r>
              <a:rPr lang="en-US" sz="1000" dirty="0">
                <a:solidFill>
                  <a:srgbClr val="636E72"/>
                </a:solidFill>
                <a:latin typeface="Microsoft YaHei" pitchFamily="34" charset="0"/>
                <a:ea typeface="Microsoft YaHei" pitchFamily="34" charset="-122"/>
                <a:cs typeface="Microsoft YaHei" pitchFamily="34" charset="-120"/>
              </a:rPr>
              <a:t>建议优先对 PG32D、FP21 等高频伤型号建立专项 SOP，统一速度与扭矩控制标准。预期可将整体划伤率降低 50% 以上。</a:t>
            </a:r>
            <a:endParaRPr lang="en-US" sz="1000" dirty="0"/>
          </a:p>
        </p:txBody>
      </p:sp>
      <p:sp>
        <p:nvSpPr>
          <p:cNvPr id="24" name="Text 22"/>
          <p:cNvSpPr/>
          <p:nvPr/>
        </p:nvSpPr>
        <p:spPr>
          <a:xfrm>
            <a:off x="2031950" y="3022550"/>
            <a:ext cx="8127950" cy="25301"/>
          </a:xfrm>
          <a:prstGeom prst="rect">
            <a:avLst/>
          </a:prstGeom>
          <a:solidFill>
            <a:srgbClr val="E85D3A"/>
          </a:solidFill>
          <a:ln/>
        </p:spPr>
        <p:txBody>
          <a:bodyPr wrap="square" rtlCol="0" anchor="ctr"/>
          <a:lstStyle/>
          <a:p>
            <a:pPr indent="0" marL="0">
              <a:buNone/>
            </a:pPr>
            <a:endParaRPr lang="en-US" dirty="0"/>
          </a:p>
        </p:txBody>
      </p:sp>
      <p:sp>
        <p:nvSpPr>
          <p:cNvPr id="25" name="Text 23"/>
          <p:cNvSpPr/>
          <p:nvPr/>
        </p:nvSpPr>
        <p:spPr>
          <a:xfrm>
            <a:off x="0" y="6604099"/>
            <a:ext cx="12192000" cy="253901"/>
          </a:xfrm>
          <a:prstGeom prst="rect">
            <a:avLst/>
          </a:prstGeom>
          <a:solidFill>
            <a:srgbClr val="F8F9FA"/>
          </a:solidFill>
          <a:ln/>
        </p:spPr>
        <p:txBody>
          <a:bodyPr wrap="square" rtlCol="0" anchor="ctr"/>
          <a:lstStyle/>
          <a:p>
            <a:pPr indent="0" marL="0">
              <a:buNone/>
            </a:pPr>
            <a:endParaRPr lang="en-US" dirty="0"/>
          </a:p>
        </p:txBody>
      </p:sp>
      <p:sp>
        <p:nvSpPr>
          <p:cNvPr id="26" name="Shape 24"/>
          <p:cNvSpPr/>
          <p:nvPr/>
        </p:nvSpPr>
        <p:spPr>
          <a:xfrm>
            <a:off x="0" y="6608862"/>
            <a:ext cx="12192000" cy="0"/>
          </a:xfrm>
          <a:prstGeom prst="line">
            <a:avLst/>
          </a:prstGeom>
          <a:noFill/>
          <a:ln w="9525">
            <a:solidFill>
              <a:srgbClr val="DFE6E9"/>
            </a:solidFill>
            <a:prstDash val="solid"/>
          </a:ln>
        </p:spPr>
      </p:sp>
      <p:sp>
        <p:nvSpPr>
          <p:cNvPr id="27" name="Text 25"/>
          <p:cNvSpPr/>
          <p:nvPr/>
        </p:nvSpPr>
        <p:spPr>
          <a:xfrm>
            <a:off x="11524952" y="6670774"/>
            <a:ext cx="369493" cy="161925"/>
          </a:xfrm>
          <a:prstGeom prst="rect">
            <a:avLst/>
          </a:prstGeom>
          <a:noFill/>
          <a:ln/>
        </p:spPr>
        <p:txBody>
          <a:bodyPr wrap="square" lIns="0" tIns="0" rIns="0" bIns="0" rtlCol="0" anchor="t"/>
          <a:lstStyle/>
          <a:p>
            <a:pPr algn="l" indent="0" marL="0">
              <a:buNone/>
            </a:pPr>
            <a:r>
              <a:rPr lang="en-US" sz="900" dirty="0">
                <a:solidFill>
                  <a:srgbClr val="636E72"/>
                </a:solidFill>
                <a:latin typeface="Microsoft YaHei" pitchFamily="34" charset="0"/>
                <a:ea typeface="Microsoft YaHei" pitchFamily="34" charset="-122"/>
                <a:cs typeface="Microsoft YaHe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2026-06-04T06:52:37Z</dcterms:created>
  <dcterms:modified xsi:type="dcterms:W3CDTF">2026-06-04T06:52:37Z</dcterms:modified>
</cp:coreProperties>
</file>