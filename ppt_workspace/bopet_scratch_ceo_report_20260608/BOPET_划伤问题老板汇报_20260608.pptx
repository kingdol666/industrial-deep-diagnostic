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5320" y="965150"/>
            <a:ext cx="1088136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BOPET划伤问题已定位到MD拉伸段过程失稳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8550" y="1676400"/>
            <a:ext cx="1574750" cy="50750"/>
          </a:xfrm>
          <a:prstGeom prst="roundRect">
            <a:avLst>
              <a:gd name="adj" fmla="val 75074"/>
            </a:avLst>
          </a:prstGeom>
          <a:solidFill>
            <a:srgbClr val="C777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3940" y="1905000"/>
            <a:ext cx="10104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面向企业老板的结论汇报：结论、证据链、统计边界与下一步动作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6550" y="2641550"/>
            <a:ext cx="6781800" cy="2514600"/>
          </a:xfrm>
          <a:prstGeom prst="roundRect">
            <a:avLst>
              <a:gd name="adj" fmla="val 7071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5150" y="2844701"/>
            <a:ext cx="645109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这次汇报只回答四个管理层问题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5901" y="2641550"/>
            <a:ext cx="6321451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划伤问题到底是不是产品本身造成的？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5901" y="3708350"/>
            <a:ext cx="6321451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哪些过程参数真正值得管理层盯住？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5901" y="4165550"/>
            <a:ext cx="6321451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为什么现在不能直接宣布唯一根因？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5901" y="4622750"/>
            <a:ext cx="6321451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企业接下来该投入哪些动作来尽快止损？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75550" y="2641550"/>
            <a:ext cx="3479750" cy="2514600"/>
          </a:xfrm>
          <a:prstGeom prst="roundRect">
            <a:avLst>
              <a:gd name="adj" fmla="val 7071"/>
            </a:avLst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04150" y="2870150"/>
            <a:ext cx="7769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5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04150" y="2870150"/>
            <a:ext cx="3083001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不是温度设定值问题。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04150" y="3606701"/>
            <a:ext cx="3083001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核心矛盾已收敛到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04150" y="4038451"/>
            <a:ext cx="308300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FFD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MD拉伸段过程稳定性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04150" y="4727525"/>
            <a:ext cx="30830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7DF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但原发机理仍需在线数据区分 H1 / H2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9350" y="6391275"/>
            <a:ext cx="30215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ID: 202606080227085_BOPET_scratch_analysis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19012" y="6670774"/>
            <a:ext cx="299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533400"/>
            <a:ext cx="113217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先讲结论：不是温度设定值偏移，而是拉伸段过程稳定性失控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4150" y="1193750"/>
            <a:ext cx="5359301" cy="1879550"/>
          </a:xfrm>
          <a:prstGeom prst="roundRect">
            <a:avLst>
              <a:gd name="adj" fmla="val 9460"/>
            </a:avLst>
          </a:prstGeom>
          <a:solidFill>
            <a:srgbClr val="FF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22250" y="1193750"/>
            <a:ext cx="0" cy="1879550"/>
          </a:xfrm>
          <a:prstGeom prst="line">
            <a:avLst/>
          </a:prstGeom>
          <a:noFill/>
          <a:ln w="762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8950" y="1396901"/>
            <a:ext cx="492241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结论1：问题性质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8950" y="1803350"/>
            <a:ext cx="48966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78.6%的划伤方差来自产品内波动，说明问题主要在运行过程，而不是产品结构差异。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24451" y="1193750"/>
            <a:ext cx="5359301" cy="1879550"/>
          </a:xfrm>
          <a:prstGeom prst="roundRect">
            <a:avLst>
              <a:gd name="adj" fmla="val 9460"/>
            </a:avLst>
          </a:prstGeom>
          <a:solidFill>
            <a:srgbClr val="EEF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62551" y="1193750"/>
            <a:ext cx="0" cy="1879550"/>
          </a:xfrm>
          <a:prstGeom prst="line">
            <a:avLst/>
          </a:prstGeom>
          <a:noFill/>
          <a:ln w="76200">
            <a:solidFill>
              <a:srgbClr val="0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251" y="1396901"/>
            <a:ext cx="492241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结论2：关注区域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251" y="1803350"/>
            <a:ext cx="48966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最强关联参数集中在MD拉伸段：扭矩STD最高到r=0.49，速度STD次之到r=0.44。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4150" y="3378101"/>
            <a:ext cx="5359301" cy="1879550"/>
          </a:xfrm>
          <a:prstGeom prst="roundRect">
            <a:avLst>
              <a:gd name="adj" fmla="val 9460"/>
            </a:avLst>
          </a:prstGeom>
          <a:solidFill>
            <a:srgbClr val="EEF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2250" y="3378101"/>
            <a:ext cx="0" cy="1879550"/>
          </a:xfrm>
          <a:prstGeom prst="line">
            <a:avLst/>
          </a:prstGeom>
          <a:noFill/>
          <a:ln w="762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8950" y="3581251"/>
            <a:ext cx="492241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结论3：反证方向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8950" y="3987701"/>
            <a:ext cx="489661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温度断面高低划伤批次几乎重合，温度控制优异，不是当前主根因。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4451" y="3378101"/>
            <a:ext cx="5359301" cy="1879550"/>
          </a:xfrm>
          <a:prstGeom prst="roundRect">
            <a:avLst>
              <a:gd name="adj" fmla="val 9460"/>
            </a:avLst>
          </a:prstGeom>
          <a:solidFill>
            <a:srgbClr val="FF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62551" y="3378101"/>
            <a:ext cx="0" cy="1879550"/>
          </a:xfrm>
          <a:prstGeom prst="line">
            <a:avLst/>
          </a:prstGeom>
          <a:noFill/>
          <a:ln w="76200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251" y="3581251"/>
            <a:ext cx="492241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结论4：管理边界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251" y="3987701"/>
            <a:ext cx="48966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当前应宣布“已定位到过程失稳”，不能宣布“已唯一锁定扭矩或速度”。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统计上仍属于竞争假设集。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4150" y="5740301"/>
            <a:ext cx="11023550" cy="609600"/>
          </a:xfrm>
          <a:prstGeom prst="roundRect">
            <a:avLst>
              <a:gd name="adj" fmla="val 25000"/>
            </a:avLst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8051" y="5892701"/>
            <a:ext cx="10725912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对老板最重要的翻译：方向已经找对，但还需要一轮在线验证，把“过程失稳”变成“可执行的设备与控制整改”。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96241" y="6670774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533400"/>
            <a:ext cx="113217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我们分析的不是“某个坏批次”，而是55批次持续出现的划伤波动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4150" y="1371600"/>
            <a:ext cx="530855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574750"/>
            <a:ext cx="494837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分析对象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50" y="1955750"/>
            <a:ext cx="4948377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BOPET薄膜双拉加工挤出到纵拉段，目标缺陷是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scratch_count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4150" y="2692301"/>
            <a:ext cx="530855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2895451"/>
            <a:ext cx="494837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数据覆盖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750" y="3276451"/>
            <a:ext cx="494837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55批次、242个工艺参数、8个产品型号，覆盖预热段、拉伸段、急冷段以及挤出与过滤参数。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4150" y="4013150"/>
            <a:ext cx="530855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4216301"/>
            <a:ext cx="494837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异常形态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750" y="4597301"/>
            <a:ext cx="494837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划伤均值9.5、最大76、偏态2.38，说明少数高缺陷批次会强烈拉高总体风险。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26101" y="1371600"/>
            <a:ext cx="2286000" cy="1625501"/>
          </a:xfrm>
          <a:prstGeom prst="roundRect">
            <a:avLst>
              <a:gd name="adj" fmla="val 10938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36413" y="1625501"/>
            <a:ext cx="1865376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636413" y="2362200"/>
            <a:ext cx="18653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分析批次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67651" y="1371600"/>
            <a:ext cx="2286000" cy="1625501"/>
          </a:xfrm>
          <a:prstGeom prst="roundRect">
            <a:avLst>
              <a:gd name="adj" fmla="val 10938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277963" y="1625501"/>
            <a:ext cx="1865376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277963" y="2362200"/>
            <a:ext cx="18653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产品型号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6101" y="3327350"/>
            <a:ext cx="2286000" cy="1625501"/>
          </a:xfrm>
          <a:prstGeom prst="roundRect">
            <a:avLst>
              <a:gd name="adj" fmla="val 10938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36413" y="3581251"/>
            <a:ext cx="1865376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636413" y="4317950"/>
            <a:ext cx="18653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工艺参数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67651" y="3327350"/>
            <a:ext cx="2286000" cy="1625501"/>
          </a:xfrm>
          <a:prstGeom prst="roundRect">
            <a:avLst>
              <a:gd name="adj" fmla="val 10938"/>
            </a:avLst>
          </a:prstGeom>
          <a:solidFill>
            <a:srgbClr val="FF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277963" y="3581251"/>
            <a:ext cx="1865376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9277963" y="4317950"/>
            <a:ext cx="18653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单批最高划伤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6550" y="5740301"/>
            <a:ext cx="1093312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这意味着：管理层不能只看平均值，必须盯住“高缺陷尖峰是如何被过程波动放大的”。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596241" y="6670774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533400"/>
            <a:ext cx="113217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第一层证据：问题主要发生在产品内，而不是产品之间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51550" y="1346150"/>
            <a:ext cx="515615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80150" y="1549301"/>
            <a:ext cx="479292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图怎么看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80150" y="1930301"/>
            <a:ext cx="479292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78.6% 的划伤方差来自同一产品内部运行波动；产品之间差异只占 21.4%。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51550" y="2844701"/>
            <a:ext cx="515615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80150" y="3047851"/>
            <a:ext cx="479292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它说明什么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80150" y="3428851"/>
            <a:ext cx="479292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如果问题主要来自产品型号，那么不同产品之间的差异应该占大头；现在恰恰相反。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1550" y="4343251"/>
            <a:ext cx="5156150" cy="1193750"/>
          </a:xfrm>
          <a:prstGeom prst="roundRect">
            <a:avLst>
              <a:gd name="adj" fmla="val 14894"/>
            </a:avLst>
          </a:prstGeom>
          <a:solidFill>
            <a:srgbClr val="FFF6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80150" y="4546402"/>
            <a:ext cx="479292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管理含义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80150" y="4927402"/>
            <a:ext cx="479292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“换产品就好”不是核心解法，真正要管的是设备与控制过程稳定性。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96241" y="6670774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900" dirty="0"/>
          </a:p>
        </p:txBody>
      </p:sp>
      <p:pic>
        <p:nvPicPr>
          <p:cNvPr id="15" name="Image 0" descr="/Volumes/laxer/codes/skills/industrial-deep-diagnostic/workspace/diagnostic-runs/202606080227085_BOPET_scratch_analysis/03_figures/fig_variance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501" y="1346150"/>
            <a:ext cx="5562600" cy="44449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533400"/>
            <a:ext cx="113217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第二层证据：设备具备低缺陷能力，但不同型号对失稳的敏感度不同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2901" y="1346150"/>
            <a:ext cx="411480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21501" y="1549301"/>
            <a:ext cx="373075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PG22C 是内部标杆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21501" y="1930301"/>
            <a:ext cx="373075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6批均值0.8、最大2，证明设备不是“先天做不好”，而是在某些运行状态下失稳。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2901" y="2870150"/>
            <a:ext cx="411480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21501" y="3073301"/>
            <a:ext cx="373075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FP21 / PG32D 更敏感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21501" y="3454301"/>
            <a:ext cx="373075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FP21均值15.5，PG32D出现76的最差批次，说明这两类产品对过程波动更脆弱。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2901" y="4394150"/>
            <a:ext cx="4114800" cy="1193750"/>
          </a:xfrm>
          <a:prstGeom prst="roundRect">
            <a:avLst>
              <a:gd name="adj" fmla="val 14894"/>
            </a:avLst>
          </a:prstGeom>
          <a:solidFill>
            <a:srgbClr val="FFF6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21501" y="4597301"/>
            <a:ext cx="373075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图的作用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21501" y="4978301"/>
            <a:ext cx="373075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这张图回答老板最关心的一点：我们既看到风险产品，也确认了可复制的低缺陷运行窗口。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96241" y="6670774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900" dirty="0"/>
          </a:p>
        </p:txBody>
      </p:sp>
      <p:pic>
        <p:nvPicPr>
          <p:cNvPr id="15" name="Image 0" descr="/Volumes/laxer/codes/skills/industrial-deep-diagnostic/workspace/diagnostic-runs/202606080227085_BOPET_scratch_analysis/03_figures/fig_product_time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01" y="1320701"/>
            <a:ext cx="6654701" cy="4546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533400"/>
            <a:ext cx="113217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第三层证据：参数排序把关注点收敛到MD拉伸段扭矩STD与速度STD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371600"/>
            <a:ext cx="4216301" cy="1193750"/>
          </a:xfrm>
          <a:prstGeom prst="roundRect">
            <a:avLst>
              <a:gd name="adj" fmla="val 14894"/>
            </a:avLst>
          </a:prstGeom>
          <a:solidFill>
            <a:srgbClr val="FFF6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574750"/>
            <a:ext cx="383428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先看排序，不急着谈因果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55750"/>
            <a:ext cx="383428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242个参数里，最高相关全部落在MD拉伸段，而且都是“波动量”而不是“设定均值”。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997101"/>
            <a:ext cx="4216301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3200251"/>
            <a:ext cx="383428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前五个重点参数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581251"/>
            <a:ext cx="3834283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W1C86_std 0.487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W1C80_std 0.469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W1C81_std 0.468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W1C4B_std 0.440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W1C40_std 0.428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" y="4572000"/>
            <a:ext cx="4216301" cy="1193750"/>
          </a:xfrm>
          <a:prstGeom prst="roundRect">
            <a:avLst>
              <a:gd name="adj" fmla="val 14894"/>
            </a:avLst>
          </a:prstGeom>
          <a:solidFill>
            <a:srgbClr val="FF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4775150"/>
            <a:ext cx="383428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管理翻译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156150"/>
            <a:ext cx="383428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盯住“稳定性波动”比盯“设定目标值”更重要。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96241" y="6670774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900" dirty="0"/>
          </a:p>
        </p:txBody>
      </p:sp>
      <p:pic>
        <p:nvPicPr>
          <p:cNvPr id="15" name="Image 0" descr="/Volumes/laxer/codes/skills/industrial-deep-diagnostic/workspace/diagnostic-runs/202606080227085_BOPET_scratch_analysis/03_figures/fig_torque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950" y="1473101"/>
            <a:ext cx="65277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533400"/>
            <a:ext cx="113217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第四层证据：时序叠加把划伤尖峰和拉伸段波动尖峰串到了一起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5054501"/>
            <a:ext cx="358140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5257651"/>
            <a:ext cx="31866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图怎么看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638651"/>
            <a:ext cx="31866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高划伤阴影区附近，扭矩STD和速度STD出现更明显峰值，温度均值线则相对平坦。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2501" y="5054501"/>
            <a:ext cx="358140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21101" y="5257651"/>
            <a:ext cx="31866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图说明什么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1101" y="5638651"/>
            <a:ext cx="31866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质量异常与过程波动同步，而不是与温度均值偏移同步。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51750" y="5054501"/>
            <a:ext cx="358140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80350" y="5257651"/>
            <a:ext cx="31866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图的边界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80350" y="5638651"/>
            <a:ext cx="31866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这是批次级同步，不是秒级先后，因此能定位方向，但不能直接判定原发机理。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02343" y="6670774"/>
            <a:ext cx="316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900" dirty="0"/>
          </a:p>
        </p:txBody>
      </p:sp>
      <p:pic>
        <p:nvPicPr>
          <p:cNvPr id="15" name="Image 0" descr="/Volumes/laxer/codes/skills/industrial-deep-diagnostic/workspace/diagnostic-runs/202606080227085_BOPET_scratch_analysis/03_figures/fig_master_time_aligned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750" y="1168301"/>
            <a:ext cx="1132835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533400"/>
            <a:ext cx="113217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第五层证据：温度断面几乎重合，因此温度不是当前主根因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035701" y="1320701"/>
            <a:ext cx="457200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64301" y="1523851"/>
            <a:ext cx="419709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图怎么看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64301" y="1904851"/>
            <a:ext cx="419709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高划伤批次与低划伤批次在18辊温度断面上几乎重合，预热、拉伸、急冷三区都没有明显分叉。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35701" y="2946202"/>
            <a:ext cx="4572000" cy="1193750"/>
          </a:xfrm>
          <a:prstGeom prst="roundRect">
            <a:avLst>
              <a:gd name="adj" fmla="val 14894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64301" y="3149352"/>
            <a:ext cx="419709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64301" y="3530352"/>
            <a:ext cx="419709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这张图给了管理层一个明确减法：当前不需要把主要改善资源继续投在温度设定值微调上。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35701" y="4571851"/>
            <a:ext cx="4572000" cy="1193750"/>
          </a:xfrm>
          <a:prstGeom prst="roundRect">
            <a:avLst>
              <a:gd name="adj" fmla="val 14894"/>
            </a:avLst>
          </a:prstGeom>
          <a:solidFill>
            <a:srgbClr val="FFF6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64301" y="4775002"/>
            <a:ext cx="419709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反证结论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4301" y="5156002"/>
            <a:ext cx="41970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温度是“已排除方向”，过程波动才是“应继续深挖方向”。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96241" y="6670774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900" dirty="0"/>
          </a:p>
        </p:txBody>
      </p:sp>
      <p:pic>
        <p:nvPicPr>
          <p:cNvPr id="15" name="Image 0" descr="/Volumes/laxer/codes/skills/industrial-deep-diagnostic/workspace/diagnostic-runs/202606080227085_BOPET_scratch_analysis/03_figures/fig_zone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501" y="1320701"/>
            <a:ext cx="6146750" cy="4470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533400"/>
            <a:ext cx="113217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由“排除法 + 关联证据 + 物理机理”收束到两个竞争假设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4150" y="1498550"/>
            <a:ext cx="5206901" cy="3098750"/>
          </a:xfrm>
          <a:prstGeom prst="roundRect">
            <a:avLst>
              <a:gd name="adj" fmla="val 5738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676251"/>
            <a:ext cx="163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750" y="1981051"/>
            <a:ext cx="484469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扭矩波动导致张力不均，进而产生微滑移划伤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750" y="2997101"/>
            <a:ext cx="484469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逻辑链：扭矩STD升高 -&gt; 张力分布不均 -&gt; 薄膜局部微滑移 -&gt; 表面划伤。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50" y="3784550"/>
            <a:ext cx="484469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支撑：W1C86 / W1C80 / W1C81 相关性最高；图像同步组最强。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75350" y="1498550"/>
            <a:ext cx="5206901" cy="3098750"/>
          </a:xfrm>
          <a:prstGeom prst="roundRect">
            <a:avLst>
              <a:gd name="adj" fmla="val 5738"/>
            </a:avLst>
          </a:prstGeom>
          <a:solidFill>
            <a:srgbClr val="EEF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03950" y="1676251"/>
            <a:ext cx="1903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03950" y="1981051"/>
            <a:ext cx="4844695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速度控制失稳导致拉伸比波动，进而产生取向不均划伤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03950" y="2997101"/>
            <a:ext cx="484469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逻辑链：速度STD升高 -&gt; 瞬时拉伸比波动 -&gt; 取向与应力不均 -&gt; 表面划伤。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03950" y="3784550"/>
            <a:ext cx="484469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支撑：W1C4B / W1C40 同样进入前五相关，且与划伤峰值同步。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4150" y="4927550"/>
            <a:ext cx="10998101" cy="914400"/>
          </a:xfrm>
          <a:prstGeom prst="roundRect">
            <a:avLst>
              <a:gd name="adj" fmla="val 19444"/>
            </a:avLst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8051" y="5105251"/>
            <a:ext cx="1069995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为什么现在只到竞争假设集：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扭矩与速度在机械系统里天然耦合，当前又只有批次级数据，所以能确定“拉伸段过程失稳”，但不能诚实地宣布“原发一定是扭矩或速度其中之一”。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96241" y="6670774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533400"/>
            <a:ext cx="113217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当前最大风险不是没找到方向，而是把批次级相关误当成确定因果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396901"/>
            <a:ext cx="5359301" cy="1879550"/>
          </a:xfrm>
          <a:prstGeom prst="roundRect">
            <a:avLst>
              <a:gd name="adj" fmla="val 9460"/>
            </a:avLst>
          </a:prstGeom>
          <a:solidFill>
            <a:srgbClr val="FF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396901"/>
            <a:ext cx="0" cy="1879550"/>
          </a:xfrm>
          <a:prstGeom prst="line">
            <a:avLst/>
          </a:prstGeom>
          <a:noFill/>
          <a:ln w="762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1600051"/>
            <a:ext cx="492241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统计边界1：Spearman不显著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" y="2006501"/>
            <a:ext cx="48966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虽然Pearson排序把方向收敛到拉伸段，但Spearman不显著，说明结果可能被极端批次放大。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73701" y="1396901"/>
            <a:ext cx="5359301" cy="1879550"/>
          </a:xfrm>
          <a:prstGeom prst="roundRect">
            <a:avLst>
              <a:gd name="adj" fmla="val 9460"/>
            </a:avLst>
          </a:prstGeom>
          <a:solidFill>
            <a:srgbClr val="EEF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11801" y="1396901"/>
            <a:ext cx="0" cy="1879550"/>
          </a:xfrm>
          <a:prstGeom prst="line">
            <a:avLst/>
          </a:prstGeom>
          <a:noFill/>
          <a:ln w="76200">
            <a:solidFill>
              <a:srgbClr val="0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8501" y="1600051"/>
            <a:ext cx="492241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统计边界2：去掉极端批次会衰减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8501" y="2006501"/>
            <a:ext cx="48966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去除少量极端批次后，相关会明显变弱，因此不能把当前相关值直接当作根因强度。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3400" y="3581251"/>
            <a:ext cx="5359301" cy="1879550"/>
          </a:xfrm>
          <a:prstGeom prst="roundRect">
            <a:avLst>
              <a:gd name="adj" fmla="val 9460"/>
            </a:avLst>
          </a:prstGeom>
          <a:solidFill>
            <a:srgbClr val="EEF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71500" y="3581251"/>
            <a:ext cx="0" cy="1879550"/>
          </a:xfrm>
          <a:prstGeom prst="line">
            <a:avLst/>
          </a:prstGeom>
          <a:noFill/>
          <a:ln w="7620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200" y="3784402"/>
            <a:ext cx="492241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稳的部分仍然存在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" y="4190851"/>
            <a:ext cx="48966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方差分解、NO_RESET、PG22C低缺陷能力、温度排除，这四块证据仍然稳固支撑“过程失稳方向”。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3701" y="3581251"/>
            <a:ext cx="5359301" cy="1879550"/>
          </a:xfrm>
          <a:prstGeom prst="roundRect">
            <a:avLst>
              <a:gd name="adj" fmla="val 9460"/>
            </a:avLst>
          </a:prstGeom>
          <a:solidFill>
            <a:srgbClr val="FFF6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11801" y="3581251"/>
            <a:ext cx="0" cy="1879550"/>
          </a:xfrm>
          <a:prstGeom prst="line">
            <a:avLst/>
          </a:prstGeom>
          <a:noFill/>
          <a:ln w="76200">
            <a:solidFill>
              <a:srgbClr val="0E2A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8501" y="3784402"/>
            <a:ext cx="492241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管理层应怎么理解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8501" y="4190851"/>
            <a:ext cx="489661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不是推翻结论，而是把结论从“根因已定”修正为“方向已定、原发待证”。这会让整改更可靠。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6550" y="5740301"/>
            <a:ext cx="1093312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真正成熟的汇报，不是把不确定性藏起来，而是告诉管理层下一步怎样把不确定性消掉。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50402" y="6670774"/>
            <a:ext cx="369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533400"/>
            <a:ext cx="113217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下一步不是继续争论，而是设计能区分H1/H2的验证动作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4150" y="1676400"/>
            <a:ext cx="3200400" cy="3149501"/>
          </a:xfrm>
          <a:prstGeom prst="roundRect">
            <a:avLst>
              <a:gd name="adj" fmla="val 5645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051" y="1879550"/>
            <a:ext cx="4552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77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750" y="1879550"/>
            <a:ext cx="279806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立即动作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750" y="2717750"/>
            <a:ext cx="2798064" cy="7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上线秒级扭矩、速度、张力同步采集；专项排查速度控制回路PI参数；固化PG22C低缺陷基准窗口。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41750" y="1676400"/>
            <a:ext cx="3200400" cy="3149501"/>
          </a:xfrm>
          <a:prstGeom prst="roundRect">
            <a:avLst>
              <a:gd name="adj" fmla="val 5645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95651" y="1879550"/>
            <a:ext cx="38634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77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70350" y="1879550"/>
            <a:ext cx="279806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一周内动作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70350" y="2717750"/>
            <a:ext cx="2798064" cy="7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重点检查辊11与辊5-6扭矩波动来源；复盘FP21与PG32D；补做Spearman与离群敏感性附页。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99350" y="1676400"/>
            <a:ext cx="3200400" cy="3149501"/>
          </a:xfrm>
          <a:prstGeom prst="roundRect">
            <a:avLst>
              <a:gd name="adj" fmla="val 5645"/>
            </a:avLst>
          </a:prstGeom>
          <a:solidFill>
            <a:srgbClr val="F2EE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53251" y="1879550"/>
            <a:ext cx="4552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777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27950" y="1879550"/>
            <a:ext cx="279806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两到四周闭环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7950" y="2717750"/>
            <a:ext cx="2798064" cy="7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建立在线异常波动预警规则；设计H1/H2区分实验；把过程稳定性指标纳入设备与班组管理看板。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4150" y="5308550"/>
            <a:ext cx="10998101" cy="736550"/>
          </a:xfrm>
          <a:prstGeom prst="roundRect">
            <a:avLst>
              <a:gd name="adj" fmla="val 24140"/>
            </a:avLst>
          </a:prstGeom>
          <a:solidFill>
            <a:srgbClr val="163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8051" y="5486251"/>
            <a:ext cx="1069995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老板要拍的板：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先投数据采集和控制回路排查，再谈根因归责；先稳住过程，再追求机理定论。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73173" y="6670774"/>
            <a:ext cx="3462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5320" y="990600"/>
            <a:ext cx="1088136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管理层决策建议：先稳住过程，再用在线数据定责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60950" y="1727150"/>
            <a:ext cx="1269950" cy="50750"/>
          </a:xfrm>
          <a:prstGeom prst="roundRect">
            <a:avLst>
              <a:gd name="adj" fmla="val 75074"/>
            </a:avLst>
          </a:prstGeom>
          <a:solidFill>
            <a:srgbClr val="B423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0" y="2235101"/>
            <a:ext cx="8534400" cy="1168301"/>
          </a:xfrm>
          <a:prstGeom prst="roundRect">
            <a:avLst>
              <a:gd name="adj" fmla="val 15219"/>
            </a:avLst>
          </a:prstGeom>
          <a:solidFill>
            <a:srgbClr val="FFF6EA"/>
          </a:solidFill>
          <a:ln w="9525">
            <a:solidFill>
              <a:srgbClr val="F1D7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63877" y="2523976"/>
            <a:ext cx="808329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50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当前最成熟的对外口径应是：</a:t>
            </a:r>
            <a:pPr algn="ctr" indent="0" marL="0">
              <a:lnSpc>
                <a:spcPts val="2475"/>
              </a:lnSpc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划伤问题已定位到MD拉伸段过程稳定性，原发机理处于竞争假设集，需用在线验证闭环。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3810000"/>
            <a:ext cx="3454301" cy="1524000"/>
          </a:xfrm>
          <a:prstGeom prst="roundRect">
            <a:avLst>
              <a:gd name="adj" fmla="val 11667"/>
            </a:avLst>
          </a:prstGeom>
          <a:solidFill>
            <a:srgbClr val="EEF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0" y="3848100"/>
            <a:ext cx="3454301" cy="0"/>
          </a:xfrm>
          <a:prstGeom prst="line">
            <a:avLst/>
          </a:prstGeom>
          <a:noFill/>
          <a:ln w="76200">
            <a:solidFill>
              <a:srgbClr val="0E2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4089350"/>
            <a:ext cx="305704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请批准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" y="4521101"/>
            <a:ext cx="305704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秒级在线数据采集与过程看板建设。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11501" y="3810000"/>
            <a:ext cx="3454301" cy="1524000"/>
          </a:xfrm>
          <a:prstGeom prst="roundRect">
            <a:avLst>
              <a:gd name="adj" fmla="val 11667"/>
            </a:avLst>
          </a:prstGeom>
          <a:solidFill>
            <a:srgbClr val="EEF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11501" y="3848100"/>
            <a:ext cx="3454301" cy="0"/>
          </a:xfrm>
          <a:prstGeom prst="line">
            <a:avLst/>
          </a:prstGeom>
          <a:noFill/>
          <a:ln w="76200">
            <a:solidFill>
              <a:srgbClr val="0E2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0101" y="4089350"/>
            <a:ext cx="305704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请要求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40101" y="4521101"/>
            <a:ext cx="305704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设备、工艺、质量三方联合排查MD拉伸段控制稳定性。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23150" y="3810000"/>
            <a:ext cx="3454301" cy="1524000"/>
          </a:xfrm>
          <a:prstGeom prst="roundRect">
            <a:avLst>
              <a:gd name="adj" fmla="val 11667"/>
            </a:avLst>
          </a:prstGeom>
          <a:solidFill>
            <a:srgbClr val="EEF4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823150" y="3848100"/>
            <a:ext cx="3454301" cy="0"/>
          </a:xfrm>
          <a:prstGeom prst="line">
            <a:avLst/>
          </a:prstGeom>
          <a:noFill/>
          <a:ln w="76200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51750" y="4089350"/>
            <a:ext cx="305704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请明确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51750" y="4521101"/>
            <a:ext cx="305704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正式对外结论必须区分“已证实方向”和“待验证机理”。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9350" y="6391275"/>
            <a:ext cx="17220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结论稳住方向，验证决定定责。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DD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50402" y="6670774"/>
            <a:ext cx="369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C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BOPET划伤老板汇报</dc:title>
  <dc:subject>BOPET scratch CEO report</dc:subject>
  <dc:creator>Codex</dc:creator>
  <cp:lastModifiedBy>Codex</cp:lastModifiedBy>
  <cp:revision>1</cp:revision>
  <dcterms:created xsi:type="dcterms:W3CDTF">2026-06-08T03:11:33Z</dcterms:created>
  <dcterms:modified xsi:type="dcterms:W3CDTF">2026-06-08T03:11:33Z</dcterms:modified>
</cp:coreProperties>
</file>