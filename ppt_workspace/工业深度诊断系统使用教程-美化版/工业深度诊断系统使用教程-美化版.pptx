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padding: 0, background: '#1D1B16', position: 'relative', overflow: 'hidden' }}&gt;&#10;    &lt;Box style={{ position: 'absolute', top: -140, right: -90, width: 640, height: 640, background: 'linear-gradient(135deg, #B8730F 0%, #1D1B16 100%)', opacity: 0.32 }} /&gt;&#10;    &lt;Box style={{ position: 'absolute', left: 0, bottom: 0, width: 1280, height: 7, background: '#B8730F' }} /&gt;&#10;    &lt;Box style={{ flexDirection: 'column', width: 1280, height: 720, padding: '60px 76px 52px 76px', position: 'relative' }}&gt;&#10;        &lt;Box style={{ flexDirection: 'row', alignItems: 'center', gap: 16 }}&gt;&#10;            &lt;Box style={{ width: 56, height: 56, border: '2px solid #B8730F', borderRadius: 12, justifyContent: 'center', alignItems: 'center' }}&gt;&#10;                &lt;Text style={{ fontSize: 22, fontWeight: 'bold', color: '#B8730F', letterSpacing: 1 }}&gt;ID&lt;/Text&gt;&#10;            &lt;/Box&gt;&#10;            &lt;Box style={{ flexDirection: 'column' }}&gt;&#10;                &lt;Text style={{ fontSize: 13, color: '#B8730F', letterSpacing: 3, fontWeight: 'bold' }}&gt;ENTERPRISE WORKSPACE&lt;/Text&gt;&#10;                &lt;Text style={{ fontSize: 13, color: 'rgba(247,244,236,0.55)', marginTop: 3 }}&gt;工业深度诊断系统 · v4.2 · 零基础使用教程&lt;/Text&gt;&#10;            &lt;/Box&gt;&#10;        &lt;/Box&gt;&#10;        &lt;Text style={{ fontSize: 14, color: '#B8730F', letterSpacing: 5, fontWeight: 'bold', marginTop: 54 }}&gt;INDUSTRIAL DEEP DIAGNOSTIC&lt;/Text&gt;&#10;        &lt;Text style={{ fontSize: 78, fontWeight: 'bold', color: '#F7F4EC', lineHeight: 1.18, marginTop: 14 }}&gt;从零到投产&lt;br /&gt;完整使用教程&lt;/Text&gt;&#10;        &lt;Text style={{ fontSize: 21, color: 'rgba(247,244,236,0.78)', lineHeight: 1.6, marginTop: 22, width: 900 }}&gt;不需要懂统计学，也不需要懂大模型。装好、启动、上传一份工业数据，拿到一份可追溯、可审计的中文根因报告。&lt;/Text&gt;&#10;        &lt;Text style={{ fontSize: 21, color: 'rgba(247,244,236,0.62)', lineHeight: 1.6, marginTop: 8, width: 900 }}&gt;全篇 31 张图，全部截自本机真实运行实例，编号与引线一一指到该点的控件上。&lt;/Text&gt;&#10;        &lt;Box style={{ flexDirection: 'row', gap: 14, marginTop: 'auto' }}&gt;&#10;            &lt;Box style={{ flexDirection: 'row', alignItems: 'center', gap: 10, padding: '11px 20px', background: 'rgba(184,115,15,0.16)', border: '1px solid rgba(184,115,15,0.55)', borderRadius: 8 }}&gt;&#10;                &lt;Text style={{ fontSize: 26, fontWeight: 'bold', color: '#B8730F' }}&gt;5&lt;/Text&gt;&#10;                &lt;Text style={{ fontSize: 16, color: '#F7F4EC' }}&gt;条命令即可投产&lt;/Text&gt;&#10;            &lt;/Box&gt;&#10;            &lt;Box style={{ flexDirection: 'row', alignItems: 'center', gap: 10, padding: '11px 20px', background: 'rgba(184,115,15,0.16)', border: '1px solid rgba(184,115,15,0.55)', borderRadius: 8 }}&gt;&#10;                &lt;Text style={{ fontSize: 26, fontWeight: 'bold', color: '#B8730F' }}&gt;9&lt;/Text&gt;&#10;                &lt;Text style={{ fontSize: 16, color: '#F7F4EC' }}&gt;步全自动诊断管线&lt;/Text&gt;&#10;            &lt;/Box&gt;&#10;            &lt;Box style={{ flexDirection: 'row', alignItems: 'center', gap: 10, padding: '11px 20px', background: 'rgba(184,115,15,0.16)', border: '1px solid rgba(184,115,15,0.55)', borderRadius: 8 }}&gt;&#10;                &lt;Text style={{ fontSize: 26, fontWeight: 'bold', color: '#B8730F' }}&gt;14&lt;/Text&gt;&#10;                &lt;Text style={{ fontSize: 16, color: '#F7F4EC' }}&gt;个可热切换引擎&lt;/Text&gt;&#10;            &lt;/Box&gt;&#10;            &lt;Box style={{ justifyContent: 'center', marginLeft: 'auto' }}&gt;&#10;                &lt;Text style={{ fontSize: 15, color: 'rgba(247,244,236,0.45)' }}&gt;共 34 页 · 建议按顺序读一遍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B16"/>
          </a:solidFill>
        </p:spPr>
        <p:txBody>
          <a:bodyPr/>
          <a:p/>
        </p:txBody>
      </p:sp>
      <p:sp>
        <p:nvSpPr>
          <p:cNvPr id="3" name="任意多边形 2"/>
          <p:cNvSpPr/>
          <p:nvPr/>
        </p:nvSpPr>
        <p:spPr>
          <a:xfrm>
            <a:off x="6953250" y="-1333500"/>
            <a:ext cx="6096000" cy="6096000"/>
          </a:xfrm>
          <a:custGeom>
            <a:avLst/>
            <a:gdLst/>
            <a:ahLst/>
            <a:cxnLst/>
            <a:pathLst>
              <a:path w="640" h="640">
                <a:moveTo>
                  <a:pt x="550" y="640"/>
                </a:moveTo>
                <a:lnTo>
                  <a:pt x="0" y="640"/>
                </a:lnTo>
                <a:lnTo>
                  <a:pt x="0" y="140"/>
                </a:lnTo>
                <a:lnTo>
                  <a:pt x="550" y="140"/>
                </a:lnTo>
                <a:close/>
              </a:path>
            </a:pathLst>
          </a:custGeom>
          <a:gradFill>
            <a:gsLst>
              <a:gs pos="0">
                <a:srgbClr val="B8730F">
                  <a:alpha val="32000"/>
                </a:srgbClr>
              </a:gs>
              <a:gs pos="100000">
                <a:srgbClr val="1D1B16">
                  <a:alpha val="32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B8730F"/>
          </a:solidFill>
        </p:spPr>
        <p:txBody>
          <a:bodyPr/>
          <a:p/>
        </p:txBody>
      </p:sp>
      <p:sp>
        <p:nvSpPr>
          <p:cNvPr id="5" name="圆角矩形 4"/>
          <p:cNvSpPr/>
          <p:nvPr/>
        </p:nvSpPr>
        <p:spPr>
          <a:xfrm>
            <a:off x="723900" y="571500"/>
            <a:ext cx="533400" cy="533400"/>
          </a:xfrm>
          <a:prstGeom prst="roundRect">
            <a:avLst>
              <a:gd name="adj" fmla="val 21429"/>
            </a:avLst>
          </a:prstGeom>
          <a:ln w="25400">
            <a:solidFill>
              <a:srgbClr val="B8730F"/>
            </a:solidFill>
            <a:prstDash val="solid"/>
          </a:ln>
        </p:spPr>
        <p:txBody>
          <a:bodyPr/>
          <a:p/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866775" y="714375"/>
            <a:ext cx="257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ID</a:t>
            </a:r>
            <a:endParaRPr lang="en-US" sz="1650" b="1" spc="75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409700" y="676275"/>
            <a:ext cx="23050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ENTERPRISE WORKSPACE</a:t>
            </a:r>
            <a:endParaRPr lang="en-US" sz="975" b="1" spc="225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1409700" y="857250"/>
            <a:ext cx="23050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工业深度诊断系统</a:t>
            </a:r>
            <a:r>
              <a:rPr lang="en-US" sz="975">
                <a:solidFill>
                  <a:srgbClr val="F7F4EC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v4.2 · </a:t>
            </a:r>
            <a:r>
              <a:rPr lang="zh-CN" sz="975">
                <a:solidFill>
                  <a:srgbClr val="F7F4EC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零基础使用教程</a:t>
            </a:r>
            <a:endParaRPr lang="zh-CN" sz="975">
              <a:solidFill>
                <a:srgbClr val="F7F4EC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23900" y="1619250"/>
            <a:ext cx="10744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INDUSTRIAL DEEP DIAGNOSTIC</a:t>
            </a:r>
            <a:endParaRPr lang="en-US" sz="1050" b="1" spc="375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723900" y="1914525"/>
            <a:ext cx="10744200" cy="2105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8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从零到投产</a:t>
            </a:r>
            <a:endParaRPr lang="zh-CN" sz="58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8000"/>
              </a:lnSpc>
            </a:pPr>
            <a:r>
              <a:rPr lang="zh-CN" sz="58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完整使用教程</a:t>
            </a:r>
            <a:endParaRPr lang="zh-CN" sz="58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723900" y="4229100"/>
            <a:ext cx="85725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F7F4EC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不需要懂统计学，也不需要懂大模型。装好、启动、上传一份工业数据，拿到一份可追溯、可审计的中文根因报告。</a:t>
            </a:r>
            <a:endParaRPr lang="zh-CN" sz="1575">
              <a:solidFill>
                <a:srgbClr val="F7F4EC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723900" y="5076825"/>
            <a:ext cx="8572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F7F4EC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全篇</a:t>
            </a:r>
            <a:r>
              <a:rPr lang="en-US" sz="1575">
                <a:solidFill>
                  <a:srgbClr val="F7F4EC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31 </a:t>
            </a:r>
            <a:r>
              <a:rPr lang="zh-CN" sz="1575">
                <a:solidFill>
                  <a:srgbClr val="F7F4EC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张图，全部截自本机真实运行实例，编号与引线一一指到该点的控件上。</a:t>
            </a:r>
            <a:endParaRPr lang="zh-CN" sz="1575">
              <a:solidFill>
                <a:srgbClr val="F7F4EC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23900" y="5848350"/>
            <a:ext cx="1704975" cy="514350"/>
          </a:xfrm>
          <a:prstGeom prst="roundRect">
            <a:avLst>
              <a:gd name="adj" fmla="val 14815"/>
            </a:avLst>
          </a:prstGeom>
          <a:solidFill>
            <a:srgbClr val="B8730F">
              <a:alpha val="16000"/>
            </a:srgbClr>
          </a:solidFill>
          <a:ln w="12700">
            <a:solidFill>
              <a:srgbClr val="B8730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914400" y="5953125"/>
            <a:ext cx="1619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9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1171575" y="60102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条命令即可投产</a:t>
            </a:r>
            <a:endParaRPr lang="zh-CN" sz="1200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562225" y="5848350"/>
            <a:ext cx="1857375" cy="514350"/>
          </a:xfrm>
          <a:prstGeom prst="roundRect">
            <a:avLst>
              <a:gd name="adj" fmla="val 14815"/>
            </a:avLst>
          </a:prstGeom>
          <a:solidFill>
            <a:srgbClr val="B8730F">
              <a:alpha val="16000"/>
            </a:srgbClr>
          </a:solidFill>
          <a:ln w="12700">
            <a:solidFill>
              <a:srgbClr val="B8730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2752725" y="5953125"/>
            <a:ext cx="1619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sz="19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3009900" y="6010275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步全自动诊断管线</a:t>
            </a:r>
            <a:endParaRPr lang="zh-CN" sz="1200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552950" y="5848350"/>
            <a:ext cx="1857375" cy="514350"/>
          </a:xfrm>
          <a:prstGeom prst="roundRect">
            <a:avLst>
              <a:gd name="adj" fmla="val 14815"/>
            </a:avLst>
          </a:prstGeom>
          <a:solidFill>
            <a:srgbClr val="B8730F">
              <a:alpha val="16000"/>
            </a:srgbClr>
          </a:solidFill>
          <a:ln w="12700">
            <a:solidFill>
              <a:srgbClr val="B8730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4743450" y="5953125"/>
            <a:ext cx="3143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sz="19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5153025" y="60102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个可热切换引擎</a:t>
            </a:r>
            <a:endParaRPr lang="zh-CN" sz="1200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9667875" y="6019800"/>
            <a:ext cx="1800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34 </a:t>
            </a:r>
            <a:r>
              <a:rPr lang="zh-CN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en-US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建议按顺序读一遍</a:t>
            </a:r>
            <a:endParaRPr lang="zh-CN" sz="1125">
              <a:solidFill>
                <a:srgbClr val="F7F4EC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先看全貌：五步上手路线图&lt;/Text&gt;&#10;            &lt;Text style={{ fontSize: 17, color: 'rgba(29,27,22,0.72)', marginTop: 6 }}&gt;你要做的全部事情就是这五行。下面是每一步的命令与预期结果，后面每页都会展开细讲。&lt;/Text&gt;&#10;        &lt;/Box&gt;&#10;        &lt;Box style={{ padding: '10px 18px', background: '#1D1B16', borderRadius: 8 }}&gt;&#10;            &lt;Text style={{ fontSize: 16, fontWeight: 'bold', color: '#B8730F' }}&gt;总计约 5 分钟&lt;/Text&gt;&#10;        &lt;/Box&gt;&#10;    &lt;/Box&gt;&#10;    &lt;Box style={{ width: 1152, height: 534, justifyContent: 'center', alignItems: 'center' }}&gt;&#10;        &lt;Image src=&quot;assets/d_roadmap.png&quot; style={{ width: 1152, height: 534, borderRadius: 11, border: '1px solid rgba(29,27,22,0.10)' }} /&gt;&#10;    &lt;/Box&gt;&#10;    &lt;Box style={{ width: 1152, height: 44, flexDirection: 'row', alignItems: 'center', justifyContent: 'space-between' }}&gt;&#10;        &lt;Text style={{ fontSize: 15, color: 'rgba(29,27,22,0.48)' }}&gt;装完你会得到：全局命令 ind-diag · 三个后台服务 · 一个网页操作台&lt;/Text&gt;&#10;        &lt;Text style={{ fontSize: 15, color: 'rgba(29,27,22,0.48)' }}&gt;02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矩形 2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09600" y="314325"/>
            <a:ext cx="6477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先看全貌：五步上手路线图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609600" y="885825"/>
            <a:ext cx="6477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你要做的全部事情就是这五行。下面是每一步的命令与预期结果，后面每页都会展开细讲。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圆角矩形 213"/>
          <p:cNvSpPr/>
          <p:nvPr/>
        </p:nvSpPr>
        <p:spPr>
          <a:xfrm>
            <a:off x="10287000" y="504825"/>
            <a:ext cx="1295400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0458450" y="600075"/>
            <a:ext cx="952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总计约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矩形 215"/>
          <p:cNvSpPr/>
          <p:nvPr/>
        </p:nvSpPr>
        <p:spPr>
          <a:xfrm>
            <a:off x="609600" y="1181100"/>
            <a:ext cx="10972800" cy="50863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7" name="图片 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181100"/>
            <a:ext cx="10972800" cy="5086350"/>
          </a:xfrm>
          <a:prstGeom prst="roundRect">
            <a:avLst>
              <a:gd name="adj" fmla="val 2060"/>
            </a:avLst>
          </a:prstGeom>
        </p:spPr>
      </p:pic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609600" y="6391275"/>
            <a:ext cx="429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装完你会得到：全局命令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ind-diag ·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三个后台服务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一个网页操作台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8" name="" descr="&lt;Slide style={{ padding: '22px 64px 18px 64px', background: '#F7F4EC' }}&gt;&#13;&#10;    &lt;Box style={{ width: 1152, height: 102, flexDirection: 'row', alignItems: 'center', justifyContent: 'space-between' }}&gt;&#13;&#10;        &lt;Box style={{ flexDirection: 'column' }}&gt;&#13;&#10;            &lt;Text style={{ fontSize: 36, fontWeight: 'bold', color: '#1D1B16', lineHeight: 1.25 }}&gt;这份教程怎么读&lt;/Text&gt;&#13;&#10;            &lt;Text style={{ fontSize: 17, color: 'rgba(29,27,22,0.72)', marginTop: 6 }}&gt;四幕 · 34 页 · 每一页都能照着操作&lt;/Text&gt;&#13;&#10;        &lt;/Box&gt;&#13;&#10;        &lt;Box style={{ padding: '10px 18px', background: 'rgba(184,115,15,0.12)', border: '1px solid rgba(184,115,15,0.42)', borderRadius: 8 }}&gt;&#13;&#10;            &lt;Text style={{ fontSize: 16, fontWeight: 'bold', color: '#B8730F' }}&gt;全篇为真实运行截图&lt;/Text&gt;&#13;&#10;        &lt;/Box&gt;&#13;&#10;    &lt;/Box&gt;&#13;&#10;    &lt;Box style={{ width: 1152, height: 534, flexDirection: 'row', gap: 22 }}&gt;&#13;&#10;        &lt;Box style={{ width: 336, height: 534, padding: 22, background: 'rgba(228,220,203,0.55)', borderRadius: 12, flexDirection: 'column' }}&gt;&#13;&#10;            &lt;Text style={{ fontSize: 22, fontWeight: 'bold', color: '#1D1B16' }}&gt;赶时间就这样读&lt;/Text&gt;&#13;&#10;            &lt;Text style={{ fontSize: 19, color: 'rgba(29,27,22,0.80)', lineHeight: 1.65, marginTop: 12 }}&gt;第 2 页先看五步路线图，然后直接跳到第 7 页，按顺序把命令敲完，再回到第 13 页开始点界面。&lt;/Text&gt;&#13;&#10;            &lt;Box style={{ height: 1, background: 'rgba(29,27,22,0.14)', marginTop: 20, marginBottom: 20 }} /&gt;&#13;&#10;            &lt;Text style={{ fontSize: 22, fontWeight: 'bold', color: '#1D1B16' }}&gt;想先弄懂再动手&lt;/Text&gt;&#13;&#10;            &lt;Text style={{ fontSize: 19, color: 'rgba(29,27,22,0.80)', lineHeight: 1.65, marginTop: 12 }}&gt;从第 4 页的架构图读起，先弄清&quot;谁在干活、产物落在哪&quot;，再上手会踏实很多。&lt;/Text&gt;&#13;&#10;            &lt;Box style={{ marginTop: 'auto', padding: '14px 16px', background: '#1D1B16', borderRadius: 10 }}&gt;&#13;&#10;                &lt;Text style={{ fontSize: 16, color: '#EFE9DA', lineHeight: 1.6 }}&gt;本机实测环境&lt;br /&gt;Node 22 · npm 10 · Python 3.13 · uv 0.11&lt;/Text&gt;&#13;&#10;            &lt;/Box&gt;&#13;&#10;        &lt;/Box&gt;&#13;&#10;        &lt;Box style={{ width: 794, height: 534, flexDirection: 'column', gap: 18 }}&gt;&#13;&#10;            &lt;Box style={{ height: 120, flexDirection: 'row', gap: 18, padding: 18, background: '#FFFFFF', borderRadius: 12, border: '1px solid rgba(29,27,22,0.10)' }}&gt;&#13;&#10;                &lt;Box style={{ width: 54, height: 54, borderRadius: 10, background: '#1D1B16', justifyContent: 'center', alignItems: 'center' }}&gt;&#13;&#10;                    &lt;Text style={{ fontSize: 26, fontWeight: 'bold', color: '#B8730F' }}&gt;1&lt;/Text&gt;&#13;&#10;                &lt;/Box&gt;&#13;&#10;                &lt;Box style={{ flexDirection: 'column', width: 686 }}&gt;&#13;&#10;                    &lt;Text style={{ fontSize: 22, fontWeight: 'bold', color: '#1D1B16' }}&gt;认识它 —— 它是什么，凭什么信它&lt;/Text&gt;&#13;&#10;                    &lt;Text style={{ fontSize: 18, color: 'rgba(29,27,22,0.74)', lineHeight: 1.55, marginTop: 8 }}&gt;三个服务、14 个引擎、9 步管线，以及那条铁律。第 4–6 页。&lt;/Text&gt;&#13;&#10;                &lt;/Box&gt;&#13;&#10;            &lt;/Box&gt;&#13;&#10;            &lt;Box style={{ height: 120, flexDirection: 'row', gap: 18, padding: 18, background: '#FFFFFF', borderRadius: 12, border: '1px solid rgba(29,27,22,0.10)' }}&gt;&#13;&#10;                &lt;Box style={{ width: 54, height: 54, borderRadius: 10, background: '#1D1B16', justifyContent: 'center', alignItems: 'center' }}&gt;&#13;&#10;                    &lt;Text style={{ fontSize: 26, fontWeight: 'bold', color: '#B8730F' }}&gt;2&lt;/Text&gt;&#13;&#10;                &lt;/Box&gt;&#13;&#10;                &lt;Box style={{ flexDirection: 'column', width: 686 }}&gt;&#13;&#10;                    &lt;Text style={{ fontSize: 22, fontWeight: 'bold', color: '#1D1B16' }}&gt;装起来 —— 从零到能打开浏览器&lt;/Text&gt;&#13;&#10;                    &lt;Text style={{ fontSize: 18, color: 'rgba(29,27,22,0.74)', lineHeight: 1.55, marginTop: 8 }}&gt;查依赖、装项目、起服务、验状态、预检引擎。第 7–12 页。&lt;/Text&gt;&#13;&#10;                &lt;/Box&gt;&#13;&#10;            &lt;/Box&gt;&#13;&#10;            &lt;Box style={{ height: 120, flexDirection: 'row', gap: 18, padding: 18, background: '#FFFFFF', borderRadius: 12, border: '1px solid rgba(29,27,22,0.10)' }}&gt;&#13;&#10;                &lt;Box style={{ width: 54, height: 54, borderRadius: 10, background: '#1D1B16', justifyContent: 'center', alignItems: 'center' }}&gt;&#13;&#10;                    &lt;Text style={{ fontSize: 26, fontWeight: 'bold', color: '#B8730F' }}&gt;3&lt;/Text&gt;&#13;&#10;                &lt;/Box&gt;&#13;&#10;                &lt;Box style={{ flexDirection: 'column', width: 686 }}&gt;&#13;&#10;                    &lt;Text style={{ fontSize: 22, fontWeight: 'bold', color: '#1D1B16' }}&gt;用起来 —— 登录、上传、配置、跑&lt;/Text&gt;&#13;&#10;                    &lt;Text style={{ fontSize: 18, color: 'rgba(29,27,22,0.74)', lineHeight: 1.55, marginTop: 8 }}&gt;登录、选引擎、上传数据、发起分析、实时监控。第 13–20 页。&lt;/Text&gt;&#13;&#10;                &lt;/Box&gt;&#13;&#10;            &lt;/Box&gt;&#13;&#10;            &lt;Box style={{ height: 120, flexDirection: 'row', gap: 18, padding: 18, background: '#FFFFFF', borderRadius: 12, border: '1px solid rgba(29,27,22,0.10)' }}&gt;&#13;&#10;                &lt;Box style={{ width: 54, height: 54, borderRadius: 10, background: '#1D1B16', justifyContent: 'center', alignItems: 'center' }}&gt;&#13;&#10;                    &lt;Text style={{ fontSize: 26, fontWeight: 'bold', color: '#B8730F' }}&gt;4&lt;/Text&gt;&#13;&#10;                &lt;/Box&gt;&#13;&#10;                &lt;Box style={{ flexDirection: 'column', width: 686 }}&gt;&#13;&#10;                    &lt;Text style={{ fontSize: 22, fontWeight: 'bold', color: '#1D1B16' }}&gt;读懂它、用久它 —— 从一次运行到一套体系&lt;/Text&gt;&#13;&#10;                    &lt;Text style={{ fontSize: 18, color: 'rgba(29,27,22,0.74)', lineHeight: 1.55, marginTop: 8 }}&gt;报告三视图、审计、历史增强、本体资产、排错。第 21–34 页。&lt;/Text&gt;&#13;&#10;                &lt;/Box&gt;&#13;&#10;            &lt;/Box&gt;&#13;&#10;        &lt;/Box&gt;&#13;&#10;    &lt;/Box&gt;&#13;&#10;    &lt;Box style={{ width: 1152, height: 44, flexDirection: 'row', alignItems: 'center', justifyContent: 'space-between' }}&gt;&#13;&#10;        &lt;Text style={{ fontSize: 15, color: 'rgba(29,27,22,0.48)' }}&gt;Industrial Deep Diagnostic · 零基础使用教程&lt;/Text&gt;&#13;&#10;        &lt;Text style={{ fontSize: 15, color: 'rgba(29,27,22,0.48)' }}&gt;03 / 3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矩形 3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609600" y="314325"/>
            <a:ext cx="24574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这份教程怎么读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609600" y="885825"/>
            <a:ext cx="2457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四幕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34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每一页都能照着操作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圆角矩形 401"/>
          <p:cNvSpPr/>
          <p:nvPr/>
        </p:nvSpPr>
        <p:spPr>
          <a:xfrm>
            <a:off x="9867900" y="504825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10039350" y="600075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全篇为真实运行截图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圆角矩形 403"/>
          <p:cNvSpPr/>
          <p:nvPr/>
        </p:nvSpPr>
        <p:spPr>
          <a:xfrm>
            <a:off x="609600" y="1181100"/>
            <a:ext cx="3200400" cy="5086350"/>
          </a:xfrm>
          <a:prstGeom prst="roundRect">
            <a:avLst>
              <a:gd name="adj" fmla="val 3571"/>
            </a:avLst>
          </a:prstGeom>
          <a:solidFill>
            <a:srgbClr val="E4DCCB">
              <a:alpha val="55000"/>
            </a:srgbClr>
          </a:solidFill>
        </p:spPr>
        <p:txBody>
          <a:bodyPr/>
          <a:p/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819150" y="1390650"/>
            <a:ext cx="278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赶时间就这样读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819150" y="1762125"/>
            <a:ext cx="2781300" cy="1076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页先看五步路线图，然后直接跳到第</a:t>
            </a:r>
            <a:r>
              <a:rPr lang="en-US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页，按顺序把命令敲完，再回到第</a:t>
            </a:r>
            <a:r>
              <a:rPr lang="en-US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页开始点界面。</a:t>
            </a:r>
            <a:endParaRPr lang="zh-CN" sz="142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矩形 406"/>
          <p:cNvSpPr/>
          <p:nvPr/>
        </p:nvSpPr>
        <p:spPr>
          <a:xfrm>
            <a:off x="819150" y="3028950"/>
            <a:ext cx="2781300" cy="9525"/>
          </a:xfrm>
          <a:prstGeom prst="rect">
            <a:avLst/>
          </a:prstGeom>
          <a:solidFill>
            <a:srgbClr val="1D1B16">
              <a:alpha val="14000"/>
            </a:srgbClr>
          </a:solidFill>
        </p:spPr>
        <p:txBody>
          <a:bodyPr/>
          <a:p/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819150" y="3228975"/>
            <a:ext cx="2781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想先弄懂再动手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819150" y="3600450"/>
            <a:ext cx="2781300" cy="1076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从第</a:t>
            </a:r>
            <a:r>
              <a:rPr lang="en-US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页的架构图读起，先弄清</a:t>
            </a:r>
            <a:r>
              <a:rPr lang="en-US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谁在干活、产物落在哪</a:t>
            </a:r>
            <a:r>
              <a:rPr lang="en-US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42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，再上手会踏实很多。</a:t>
            </a:r>
            <a:endParaRPr lang="zh-CN" sz="142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819150" y="4905375"/>
            <a:ext cx="2781300" cy="1152525"/>
          </a:xfrm>
          <a:prstGeom prst="roundRect">
            <a:avLst>
              <a:gd name="adj" fmla="val 8264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971550" y="5038725"/>
            <a:ext cx="24765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本机实测环境</a:t>
            </a:r>
            <a:endParaRPr lang="zh-CN" sz="1200">
              <a:solidFill>
                <a:srgbClr val="EFE9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Node 22 · npm 10 · Python 3.13 · uv 0.11</a:t>
            </a:r>
            <a:endParaRPr lang="en-US" sz="1200">
              <a:solidFill>
                <a:srgbClr val="EFE9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圆角矩形 411"/>
          <p:cNvSpPr/>
          <p:nvPr/>
        </p:nvSpPr>
        <p:spPr>
          <a:xfrm>
            <a:off x="4019550" y="1181100"/>
            <a:ext cx="75628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3" name="圆角矩形 412"/>
          <p:cNvSpPr/>
          <p:nvPr/>
        </p:nvSpPr>
        <p:spPr>
          <a:xfrm>
            <a:off x="4191000" y="135255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4371975" y="1457325"/>
            <a:ext cx="1619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9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4876800" y="1352550"/>
            <a:ext cx="6534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认识它</a:t>
            </a:r>
            <a:r>
              <a:rPr lang="en-US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它是什么，凭什么信它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4876800" y="1685925"/>
            <a:ext cx="65341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三个服务、</a:t>
            </a:r>
            <a:r>
              <a:rPr lang="en-US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14 </a:t>
            </a: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个引擎、</a:t>
            </a:r>
            <a:r>
              <a:rPr lang="en-US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步管线，以及那条铁律。第</a:t>
            </a:r>
            <a:r>
              <a:rPr lang="en-US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4–6 </a:t>
            </a: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页。</a:t>
            </a:r>
            <a:endParaRPr lang="zh-CN" sz="1350">
              <a:solidFill>
                <a:srgbClr val="1D1B16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圆角矩形 416"/>
          <p:cNvSpPr/>
          <p:nvPr/>
        </p:nvSpPr>
        <p:spPr>
          <a:xfrm>
            <a:off x="4019550" y="2495550"/>
            <a:ext cx="75628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8" name="圆角矩形 417"/>
          <p:cNvSpPr/>
          <p:nvPr/>
        </p:nvSpPr>
        <p:spPr>
          <a:xfrm>
            <a:off x="4191000" y="26670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4371975" y="2771775"/>
            <a:ext cx="1619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9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4876800" y="2667000"/>
            <a:ext cx="6534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装起来</a:t>
            </a:r>
            <a:r>
              <a:rPr lang="en-US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从零到能打开浏览器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4876800" y="3000375"/>
            <a:ext cx="65341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查依赖、装项目、起服务、验状态、预检引擎。第</a:t>
            </a:r>
            <a:r>
              <a:rPr lang="en-US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7–12 </a:t>
            </a: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页。</a:t>
            </a:r>
            <a:endParaRPr lang="zh-CN" sz="1350">
              <a:solidFill>
                <a:srgbClr val="1D1B16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圆角矩形 421"/>
          <p:cNvSpPr/>
          <p:nvPr/>
        </p:nvSpPr>
        <p:spPr>
          <a:xfrm>
            <a:off x="4019550" y="3810000"/>
            <a:ext cx="75628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3" name="圆角矩形 422"/>
          <p:cNvSpPr/>
          <p:nvPr/>
        </p:nvSpPr>
        <p:spPr>
          <a:xfrm>
            <a:off x="4191000" y="398145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4371975" y="4086225"/>
            <a:ext cx="1619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9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4876800" y="3981450"/>
            <a:ext cx="6534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用起来</a:t>
            </a:r>
            <a:r>
              <a:rPr lang="en-US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登录、上传、配置、跑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文本框 425" descr="{&quot;isTemplate&quot;:true,&quot;type&quot;:&quot;text&quot;}"/>
          <p:cNvSpPr txBox="1"/>
          <p:nvPr/>
        </p:nvSpPr>
        <p:spPr>
          <a:xfrm>
            <a:off x="4876800" y="4314825"/>
            <a:ext cx="65341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登录、选引擎、上传数据、发起分析、实时监控。第</a:t>
            </a:r>
            <a:r>
              <a:rPr lang="en-US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13–20 </a:t>
            </a: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页。</a:t>
            </a:r>
            <a:endParaRPr lang="zh-CN" sz="1350">
              <a:solidFill>
                <a:srgbClr val="1D1B16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圆角矩形 426"/>
          <p:cNvSpPr/>
          <p:nvPr/>
        </p:nvSpPr>
        <p:spPr>
          <a:xfrm>
            <a:off x="4019550" y="5124450"/>
            <a:ext cx="75628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8" name="圆角矩形 427"/>
          <p:cNvSpPr/>
          <p:nvPr/>
        </p:nvSpPr>
        <p:spPr>
          <a:xfrm>
            <a:off x="4191000" y="5295900"/>
            <a:ext cx="514350" cy="514350"/>
          </a:xfrm>
          <a:prstGeom prst="roundRect">
            <a:avLst>
              <a:gd name="adj" fmla="val 18519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4371975" y="5400675"/>
            <a:ext cx="1619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9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4876800" y="5295900"/>
            <a:ext cx="6534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读懂它、用久它</a:t>
            </a:r>
            <a:r>
              <a:rPr lang="en-US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从一次运行到一套体系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4876800" y="5629275"/>
            <a:ext cx="65341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报告三视图、审计、历史增强、本体资产、排错。第</a:t>
            </a:r>
            <a:r>
              <a:rPr lang="en-US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21–34 </a:t>
            </a:r>
            <a:r>
              <a:rPr lang="zh-CN" sz="1350">
                <a:solidFill>
                  <a:srgbClr val="1D1B16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页。</a:t>
            </a:r>
            <a:endParaRPr lang="zh-CN" sz="1350">
              <a:solidFill>
                <a:srgbClr val="1D1B16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609600" y="6391275"/>
            <a:ext cx="2933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Industrial Deep Diagnostic ·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零基础使用教程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4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它是什么：三个服务 + 14 个执行引擎&lt;/Text&gt;&#10;            &lt;Text style={{ fontSize: 17, color: 'rgba(29,27,22,0.72)', marginTop: 6 }}&gt;浏览器只跟后端说话；后端把一次诊断派发给所选引擎，并按需调用 RAG 与本体资产库&lt;/Text&gt;&#10;        &lt;/Box&gt;&#10;        &lt;Box style={{ flexDirection: 'column', alignItems: 'flex-end' }}&gt;&#10;            &lt;Text style={{ fontSize: 13, color: '#B8730F', letterSpacing: 3, fontWeight: 'bold' }}&gt;ARCHITECTURE&lt;/Text&gt;&#10;            &lt;Text style={{ fontSize: 14, color: 'rgba(29,27,22,0.48)', marginTop: 4 }}&gt;依仓库源码与 README 绘制&lt;/Text&gt;&#10;        &lt;/Box&gt;&#10;    &lt;/Box&gt;&#10;    &lt;Box style={{ width: 1152, height: 534, justifyContent: 'center', alignItems: 'center' }}&gt;&#10;        &lt;Image src=&quot;assets/d_runtime.png&quot; style={{ width: 1105, height: 534, borderRadius: 11, border: '1px solid rgba(29,27,22,0.10)' }} /&gt;&#10;    &lt;/Box&gt;&#10;    &lt;Box style={{ width: 1152, height: 44, flexDirection: 'row', alignItems: 'center', justifyContent: 'space-between' }}&gt;&#10;        &lt;Text style={{ fontSize: 15, color: 'rgba(29,27,22,0.48)' }}&gt;后端 3210 · 前端 5180 · RAG 8764&lt;/Text&gt;&#10;        &lt;Text style={{ fontSize: 15, color: 'rgba(29,27,22,0.48)' }}&gt;04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矩形 5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609600" y="314325"/>
            <a:ext cx="62674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它是什么：三个服务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+ 14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个执行引擎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609600" y="885825"/>
            <a:ext cx="6267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浏览器只跟后端说话；后端把一次诊断派发给所选引擎，并按需调用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RAG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与本体资产库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10267950" y="523875"/>
            <a:ext cx="1314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en-US" sz="975" b="1" spc="225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9867900" y="714375"/>
            <a:ext cx="1714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依仓库源码与</a:t>
            </a:r>
            <a:r>
              <a:rPr lang="en-US" sz="1050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1050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绘制</a:t>
            </a:r>
            <a:endParaRPr lang="zh-CN" sz="1050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矩形 539"/>
          <p:cNvSpPr/>
          <p:nvPr/>
        </p:nvSpPr>
        <p:spPr>
          <a:xfrm>
            <a:off x="1098550" y="4761865"/>
            <a:ext cx="10525125" cy="68961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41" name="图片 540"/>
          <p:cNvPicPr>
            <a:picLocks noChangeAspect="1"/>
          </p:cNvPicPr>
          <p:nvPr/>
        </p:nvPicPr>
        <p:blipFill>
          <a:blip r:embed="rId1"/>
          <a:srcRect l="12" r="12" b="46816"/>
          <a:stretch>
            <a:fillRect/>
          </a:stretch>
        </p:blipFill>
        <p:spPr>
          <a:xfrm>
            <a:off x="838200" y="1181100"/>
            <a:ext cx="10525125" cy="2705100"/>
          </a:xfrm>
          <a:prstGeom prst="roundRect">
            <a:avLst>
              <a:gd name="adj" fmla="val 2060"/>
            </a:avLst>
          </a:prstGeom>
        </p:spPr>
      </p:pic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609600" y="6391275"/>
            <a:ext cx="2247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3210 ·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5180 · RAG 8764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1098550" y="4768850"/>
            <a:ext cx="10264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按下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win+R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cmd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然后输入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ind-diag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可以查看所有指令，输入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ind-diag start --all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可以一键启动项目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1181100"/>
            <a:ext cx="10525125" cy="275209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4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三个服务、三个端口&lt;/Text&gt;&#10;            &lt;Text style={{ fontSize: 17, color: 'rgba(29,27,22,0.72)', marginTop: 6 }}&gt;启动后会同时跑起三个进程；你唯一需要记住的地址只有一个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记不住端口也没关系&lt;/Text&gt;&#10;        &lt;/Box&gt;&#10;    &lt;/Box&gt;&#10;    &lt;Box style={{ width: 1152, height: 534, flexDirection: 'column', gap: 16 }}&gt;&#10;        &lt;Box style={{ height: 328, justifyContent: 'center', alignItems: 'center' }}&gt;&#10;            &lt;Image src=&quot;assets/d_ports.png&quot; style={{ width: 1152, height: 328, borderRadius: 11, border: '1px solid rgba(29,27,22,0.10)' }} /&gt;&#10;        &lt;/Box&gt;&#10;        &lt;Box style={{ height: 190, flexDirection: 'row', gap: 18 }}&gt;&#10;            &lt;Box style={{ flex: 1, padding: 18, background: '#1D1B16', borderRadius: 11, flexDirection: 'column' }}&gt;&#10;                &lt;Text style={{ fontSize: 32, fontWeight: 'bold', color: '#B8730F' }}&gt;3210&lt;/Text&gt;&#10;                &lt;Text style={{ fontSize: 18, color: '#EFE9DA', lineHeight: 1.6, marginTop: 10 }}&gt;后端 API 与实时推送。浏览器里所有操作最后都落到这里，健康检查也打这个端口。&lt;/Text&gt;&#10;            &lt;/Box&gt;&#10;            &lt;Box style={{ flex: 1, padding: 18, background: 'rgba(184,115,15,0.14)', borderRadius: 11, border: '2px solid #B8730F', flexDirection: 'column' }}&gt;&#10;                &lt;Text style={{ fontSize: 32, fontWeight: 'bold', color: '#8A5608' }}&gt;5180&lt;/Text&gt;&#10;                &lt;Text style={{ fontSize: 18, color: 'rgba(29,27,22,0.86)', lineHeight: 1.6, marginTop: 10 }}&gt;你要打开的地址：&lt;span style={{ fontWeight: 'bold' }}&gt;http://localhost:5180&lt;/span&gt;。整个教程后续都在这一个页面上完成。&lt;/Text&gt;&#10;            &lt;/Box&gt;&#10;            &lt;Box style={{ flex: 1, padding: 18, background: '#1D1B16', borderRadius: 11, flexDirection: 'column' }}&gt;&#10;                &lt;Text style={{ fontSize: 32, fontWeight: 'bold', color: '#B8730F' }}&gt;8764&lt;/Text&gt;&#10;                &lt;Text style={{ fontSize: 18, color: '#EFE9DA', lineHeight: 1.6, marginTop: 10 }}&gt;RAG 检索增强。就算它挂了诊断也不会中断，系统会自动降级成&quot;物理规律 + 联网检索&quot;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启动服务不需要模型凭据；真正跑诊断才需要&lt;/Text&gt;&#10;        &lt;Text style={{ fontSize: 15, color: 'rgba(29,27,22,0.48)' }}&gt;05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矩形 5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609600" y="314325"/>
            <a:ext cx="43719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三个服务、三个端口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609600" y="885825"/>
            <a:ext cx="437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启动后会同时跑起三个进程；你唯一需要记住的地址只有一个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8" name="圆角矩形 547"/>
          <p:cNvSpPr/>
          <p:nvPr/>
        </p:nvSpPr>
        <p:spPr>
          <a:xfrm>
            <a:off x="9867900" y="504825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10039350" y="600075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记不住端口也没关系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矩形 549"/>
          <p:cNvSpPr/>
          <p:nvPr/>
        </p:nvSpPr>
        <p:spPr>
          <a:xfrm>
            <a:off x="609600" y="1181100"/>
            <a:ext cx="10972800" cy="31242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51" name="图片 550"/>
          <p:cNvPicPr>
            <a:picLocks noChangeAspect="1"/>
          </p:cNvPicPr>
          <p:nvPr/>
        </p:nvPicPr>
        <p:blipFill>
          <a:blip r:embed="rId1"/>
          <a:srcRect l="67" r="67"/>
          <a:stretch>
            <a:fillRect/>
          </a:stretch>
        </p:blipFill>
        <p:spPr>
          <a:xfrm>
            <a:off x="609600" y="1181100"/>
            <a:ext cx="10972800" cy="3124200"/>
          </a:xfrm>
          <a:prstGeom prst="roundRect">
            <a:avLst>
              <a:gd name="adj" fmla="val 3354"/>
            </a:avLst>
          </a:prstGeom>
        </p:spPr>
      </p:pic>
      <p:sp>
        <p:nvSpPr>
          <p:cNvPr id="552" name="圆角矩形 551"/>
          <p:cNvSpPr/>
          <p:nvPr/>
        </p:nvSpPr>
        <p:spPr>
          <a:xfrm>
            <a:off x="609600" y="4457700"/>
            <a:ext cx="3543300" cy="1809750"/>
          </a:xfrm>
          <a:prstGeom prst="roundRect">
            <a:avLst>
              <a:gd name="adj" fmla="val 5789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781050" y="4629150"/>
            <a:ext cx="3200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3210</a:t>
            </a:r>
            <a:endParaRPr lang="en-US" sz="24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781050" y="5095875"/>
            <a:ext cx="3200400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r>
              <a:rPr lang="en-US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与实时推送。浏览器里所有操作最后都落到这里，健康检查也打这个端口。</a:t>
            </a:r>
            <a:endParaRPr lang="zh-CN" sz="1350">
              <a:solidFill>
                <a:srgbClr val="EFE9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4324350" y="4457700"/>
            <a:ext cx="3543300" cy="1809750"/>
          </a:xfrm>
          <a:prstGeom prst="roundRect">
            <a:avLst>
              <a:gd name="adj" fmla="val 5789"/>
            </a:avLst>
          </a:prstGeom>
          <a:solidFill>
            <a:srgbClr val="B8730F">
              <a:alpha val="14000"/>
            </a:srgbClr>
          </a:solidFill>
          <a:ln w="25400">
            <a:solidFill>
              <a:srgbClr val="B8730F"/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4495800" y="4629150"/>
            <a:ext cx="3200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5180</a:t>
            </a:r>
            <a:endParaRPr lang="en-US" sz="2400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4495800" y="5095875"/>
            <a:ext cx="3200400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你要打开的地址：</a:t>
            </a:r>
            <a:r>
              <a:rPr lang="en-US" sz="1350" b="1">
                <a:solidFill>
                  <a:srgbClr val="1D1B16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http://localhost:5180</a:t>
            </a:r>
            <a:r>
              <a:rPr lang="zh-CN" sz="1350">
                <a:solidFill>
                  <a:srgbClr val="1D1B16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。整个教程后续都在这一个页面上完成。</a:t>
            </a:r>
            <a:endParaRPr lang="zh-CN" sz="1350">
              <a:solidFill>
                <a:srgbClr val="1D1B16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圆角矩形 557"/>
          <p:cNvSpPr/>
          <p:nvPr/>
        </p:nvSpPr>
        <p:spPr>
          <a:xfrm>
            <a:off x="8039100" y="4457700"/>
            <a:ext cx="3543300" cy="1809750"/>
          </a:xfrm>
          <a:prstGeom prst="roundRect">
            <a:avLst>
              <a:gd name="adj" fmla="val 5789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559" name="文本框 558" descr="{&quot;isTemplate&quot;:true,&quot;type&quot;:&quot;text&quot;}"/>
          <p:cNvSpPr txBox="1"/>
          <p:nvPr/>
        </p:nvSpPr>
        <p:spPr>
          <a:xfrm>
            <a:off x="8210550" y="4629150"/>
            <a:ext cx="3200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8764</a:t>
            </a:r>
            <a:endParaRPr lang="en-US" sz="24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8210550" y="5095875"/>
            <a:ext cx="3200400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检索增强。就算它挂了诊断也不会中断，系统会自动降级成</a:t>
            </a:r>
            <a:r>
              <a:rPr lang="en-US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物理规律</a:t>
            </a:r>
            <a:r>
              <a:rPr lang="en-US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联网检索</a:t>
            </a:r>
            <a:r>
              <a:rPr lang="en-US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EFE9DA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350">
              <a:solidFill>
                <a:srgbClr val="EFE9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609600" y="639127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启动服务不需要模型凭据；真正跑诊断才需要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3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凭什么信它：诊断是排除，不是确认&lt;/Text&gt;&#10;            &lt;Text style={{ fontSize: 17, color: 'rgba(29,27,22,0.72)', marginTop: 6 }}&gt;每个结论必须同时满足四个条件：时间上先发生、统计上显著、物理机理成立、且没有反证。做不到就明说做不到。&lt;/Text&gt;&#10;        &lt;/Box&gt;&#10;        &lt;Box style={{ padding: '10px 18px', background: '#1D1B16', borderRadius: 8 }}&gt;&#10;            &lt;Text style={{ fontSize: 16, fontWeight: 'bold', color: '#B8730F' }}&gt;本机实测&lt;/Text&gt;&#10;        &lt;/Box&gt;&#10;    &lt;/Box&gt;&#10;    &lt;Box style={{ width: 1152, height: 534, flexDirection: 'column', gap: 20 }}&gt;&#10;        &lt;Box style={{ flexDirection: 'row', gap: 22, height: 300 }}&gt;&#10;            &lt;Box style={{ width: 369, height: 300, padding: 22, background: '#FFFFFF', borderRadius: 12, border: '1px solid rgba(29,27,22,0.10)' }}&gt;&#10;                &lt;Text style={{ fontSize: 88, fontWeight: 'bold', color: '#B8730F', lineHeight: 1 }}&gt;89%&lt;/Text&gt;&#10;                &lt;Text style={{ fontSize: 22, fontWeight: 'bold', color: '#1D1B16', marginTop: 12 }}&gt;收敛到单一根因&lt;/Text&gt;&#10;                &lt;Text style={{ fontSize: 18, color: 'rgba(29,27,22,0.76)', lineHeight: 1.6, marginTop: 10 }}&gt;本机 38 次完成的诊断里，34 次把竞争假设排除到只剩一个根因。&lt;/Text&gt;&#10;                &lt;Box style={{ marginTop: 'auto', padding: '10px 12px', background: 'rgba(184,115,15,0.14)', borderRadius: 8 }}&gt;&#10;                    &lt;Text style={{ fontSize: 15, color: '#8A5608', lineHeight: 1.5 }}&gt;剩下 11% 如实报告不确定&lt;/Text&gt;&#10;                &lt;/Box&gt;&#10;            &lt;/Box&gt;&#10;            &lt;Box style={{ width: 369, height: 300, padding: 22, background: '#FFFFFF', borderRadius: 12, border: '1px solid rgba(29,27,22,0.10)' }}&gt;&#10;                &lt;Text style={{ fontSize: 88, fontWeight: 'bold', color: '#B8730F', lineHeight: 1 }}&gt;9&lt;/Text&gt;&#10;                &lt;Text style={{ fontSize: 22, fontWeight: 'bold', color: '#1D1B16', marginTop: 12 }}&gt;道质量闸门 CP-1 ~ CP-9&lt;/Text&gt;&#10;                &lt;Text style={{ fontSize: 18, color: 'rgba(29,27,22,0.76)', lineHeight: 1.6, marginTop: 10 }}&gt;产物缺失、Schema 不合法、评分不足 90，管线都会停下并回退重跑。&lt;/Text&gt;&#10;                &lt;Box style={{ marginTop: 'auto', padding: '10px 12px', background: 'rgba(184,115,15,0.14)', borderRadius: 8 }}&gt;&#10;                    &lt;Text style={{ fontSize: 15, color: '#8A5608', lineHeight: 1.5 }}&gt;CP-8 不过，报告不许发布&lt;/Text&gt;&#10;                &lt;/Box&gt;&#10;            &lt;/Box&gt;&#10;            &lt;Box style={{ width: 369, height: 300, padding: 22, background: '#FFFFFF', borderRadius: 12, border: '1px solid rgba(29,27,22,0.10)' }}&gt;&#10;                &lt;Text style={{ fontSize: 88, fontWeight: 'bold', color: '#B8730F', lineHeight: 1 }}&gt;7&lt;/Text&gt;&#10;                &lt;Text style={{ fontSize: 22, fontWeight: 'bold', color: '#1D1B16', marginTop: 12 }}&gt;级证据体系 L1 ~ L7&lt;/Text&gt;&#10;                &lt;Text style={{ fontSize: 18, color: 'rgba(29,27,22,0.76)', lineHeight: 1.6, marginTop: 10 }}&gt;从直接测量到无支撑假设。铁律：结论被它最低的那一级证据封顶。&lt;/Text&gt;&#10;                &lt;Box style={{ marginTop: 'auto', padding: '10px 12px', background: 'rgba(184,115,15,0.14)', borderRadius: 8 }}&gt;&#10;                    &lt;Text style={{ fontSize: 15, color: '#8A5608', lineHeight: 1.5 }}&gt;读图观察撑不起测量级断言&lt;/Text&gt;&#10;                &lt;/Box&gt;&#10;            &lt;/Box&gt;&#10;        &lt;/Box&gt;&#10;        &lt;Box style={{ height: 214, padding: 22, background: '#1D1B16', borderRadius: 12, flexDirection: 'column' }}&gt;&#10;            &lt;Text style={{ fontSize: 22, fontWeight: 'bold', color: '#F7F4EC' }}&gt;四个条件必须同时成立，缺一不成结论&lt;/Text&gt;&#10;            &lt;Box style={{ flexDirection: 'row', gap: 16, marginTop: 18 }}&gt;&#10;                &lt;Box style={{ flex: 1, padding: '14px 16px', background: 'rgba(184,115,15,0.20)', borderRadius: 9 }}&gt;&#10;                    &lt;Text style={{ fontSize: 19, fontWeight: 'bold', color: '#F0A93B' }}&gt;时间上先发生&lt;/Text&gt;&#10;                    &lt;Text style={{ fontSize: 16, color: 'rgba(247,244,236,0.74)', marginTop: 7, lineHeight: 1.5 }}&gt;带滞后补偿的互相关&lt;/Text&gt;&#10;                &lt;/Box&gt;&#10;                &lt;Box style={{ flex: 1, padding: '14px 16px', background: 'rgba(184,115,15,0.20)', borderRadius: 9 }}&gt;&#10;                    &lt;Text style={{ fontSize: 19, fontWeight: 'bold', color: '#F0A93B' }}&gt;统计上显著&lt;/Text&gt;&#10;                    &lt;Text style={{ fontSize: 16, color: 'rgba(247,244,236,0.74)', marginTop: 7, lineHeight: 1.5 }}&gt;逐点剔除杠杆点复核&lt;/Text&gt;&#10;                &lt;/Box&gt;&#10;                &lt;Box style={{ flex: 1, padding: '14px 16px', background: 'rgba(184,115,15,0.20)', borderRadius: 9 }}&gt;&#10;                    &lt;Text style={{ fontSize: 19, fontWeight: 'bold', color: '#F0A93B' }}&gt;物理机理成立&lt;/Text&gt;&#10;                    &lt;Text style={{ fontSize: 16, color: 'rgba(247,244,236,0.74)', marginTop: 7, lineHeight: 1.5 }}&gt;两位独立物理审计&lt;/Text&gt;&#10;                &lt;/Box&gt;&#10;                &lt;Box style={{ flex: 1, padding: '14px 16px', background: 'rgba(184,115,15,0.20)', borderRadius: 9 }}&gt;&#10;                    &lt;Text style={{ fontSize: 19, fontWeight: 'bold', color: '#F0A93B' }}&gt;没有反证&lt;/Text&gt;&#10;                    &lt;Text style={{ fontSize: 16, color: 'rgba(247,244,236,0.74)', marginTop: 7, lineHeight: 1.5 }}&gt;出现反例即撤回结论&lt;/Text&gt;&#10;                &lt;/Box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数据分不清时返回 COMPETING_SET，置信度硬顶到 65 分以下&lt;/Text&gt;&#10;        &lt;Text style={{ fontSize: 15, color: 'rgba(29,27,22,0.48)' }}&gt;06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矩形 5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609600" y="314325"/>
            <a:ext cx="82581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凭什么信它：诊断是排除，不是确认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609600" y="885825"/>
            <a:ext cx="8258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每个结论必须同时满足四个条件：时间上先发生、统计上显著、物理机理成立、且没有反证。做不到就明说做不到。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圆角矩形 566"/>
          <p:cNvSpPr/>
          <p:nvPr/>
        </p:nvSpPr>
        <p:spPr>
          <a:xfrm>
            <a:off x="10629900" y="504825"/>
            <a:ext cx="952500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10801350" y="60007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本机实测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609600" y="1181100"/>
            <a:ext cx="3514725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819150" y="1390650"/>
            <a:ext cx="3095625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89%</a:t>
            </a:r>
            <a:endParaRPr lang="en-US" sz="66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819150" y="2514600"/>
            <a:ext cx="3095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收敛到单一根因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819150" y="2867025"/>
            <a:ext cx="3095625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本机</a:t>
            </a:r>
            <a:r>
              <a:rPr lang="en-US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38 </a:t>
            </a:r>
            <a:r>
              <a:rPr lang="zh-CN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次完成的诊断里，</a:t>
            </a:r>
            <a:r>
              <a:rPr lang="en-US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34 </a:t>
            </a:r>
            <a:r>
              <a:rPr lang="zh-CN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次把竞争假设排除到只剩一个根因。</a:t>
            </a:r>
            <a:endParaRPr lang="zh-CN" sz="1350">
              <a:solidFill>
                <a:srgbClr val="1D1B16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819150" y="3381375"/>
            <a:ext cx="3095625" cy="447675"/>
          </a:xfrm>
          <a:prstGeom prst="roundRect">
            <a:avLst>
              <a:gd name="adj" fmla="val 17021"/>
            </a:avLst>
          </a:prstGeom>
          <a:solidFill>
            <a:srgbClr val="B8730F">
              <a:alpha val="14000"/>
            </a:srgbClr>
          </a:solidFill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933450" y="3476625"/>
            <a:ext cx="28670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剩下</a:t>
            </a:r>
            <a:r>
              <a:rPr lang="en-US" sz="1125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 11% </a:t>
            </a:r>
            <a:r>
              <a:rPr lang="zh-CN" sz="1125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如实报告不确定</a:t>
            </a:r>
            <a:endParaRPr lang="zh-CN" sz="1125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4333875" y="1181100"/>
            <a:ext cx="3514725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4543425" y="1390650"/>
            <a:ext cx="3095625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sz="66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4543425" y="2514600"/>
            <a:ext cx="3095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道质量闸门</a:t>
            </a:r>
            <a:r>
              <a:rPr lang="en-US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CP-1 ~ CP-9</a:t>
            </a:r>
            <a:endParaRPr lang="en-US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4543425" y="2867025"/>
            <a:ext cx="3095625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产物缺失、</a:t>
            </a:r>
            <a:r>
              <a:rPr lang="en-US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Schema </a:t>
            </a:r>
            <a:r>
              <a:rPr lang="zh-CN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不合法、评分不足</a:t>
            </a:r>
            <a:r>
              <a:rPr lang="en-US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90</a:t>
            </a:r>
            <a:r>
              <a:rPr lang="zh-CN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，管线都会停下并回退重跑。</a:t>
            </a:r>
            <a:endParaRPr lang="zh-CN" sz="1350">
              <a:solidFill>
                <a:srgbClr val="1D1B16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4543425" y="3381375"/>
            <a:ext cx="3095625" cy="447675"/>
          </a:xfrm>
          <a:prstGeom prst="roundRect">
            <a:avLst>
              <a:gd name="adj" fmla="val 17021"/>
            </a:avLst>
          </a:prstGeom>
          <a:solidFill>
            <a:srgbClr val="B8730F">
              <a:alpha val="14000"/>
            </a:srgbClr>
          </a:solidFill>
        </p:spPr>
        <p:txBody>
          <a:bodyPr/>
          <a:p/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4657725" y="3476625"/>
            <a:ext cx="28670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CP-8 </a:t>
            </a:r>
            <a:r>
              <a:rPr lang="zh-CN" sz="1125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不过，报告不许发布</a:t>
            </a:r>
            <a:endParaRPr lang="zh-CN" sz="1125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圆角矩形 580"/>
          <p:cNvSpPr/>
          <p:nvPr/>
        </p:nvSpPr>
        <p:spPr>
          <a:xfrm>
            <a:off x="8058150" y="1181100"/>
            <a:ext cx="3514725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267700" y="1390650"/>
            <a:ext cx="3095625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66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67700" y="2514600"/>
            <a:ext cx="3095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级证据体系</a:t>
            </a:r>
            <a:r>
              <a:rPr lang="en-US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L1 ~ L7</a:t>
            </a:r>
            <a:endParaRPr lang="en-US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8267700" y="2867025"/>
            <a:ext cx="3095625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从直接测量到无支撑假设。铁律：结论被它最低的那一级证据封顶。</a:t>
            </a:r>
            <a:endParaRPr lang="zh-CN" sz="1350">
              <a:solidFill>
                <a:srgbClr val="1D1B16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圆角矩形 584"/>
          <p:cNvSpPr/>
          <p:nvPr/>
        </p:nvSpPr>
        <p:spPr>
          <a:xfrm>
            <a:off x="8267700" y="3381375"/>
            <a:ext cx="3095625" cy="447675"/>
          </a:xfrm>
          <a:prstGeom prst="roundRect">
            <a:avLst>
              <a:gd name="adj" fmla="val 17021"/>
            </a:avLst>
          </a:prstGeom>
          <a:solidFill>
            <a:srgbClr val="B8730F">
              <a:alpha val="14000"/>
            </a:srgbClr>
          </a:solidFill>
        </p:spPr>
        <p:txBody>
          <a:bodyPr/>
          <a:p/>
        </p:txBody>
      </p:sp>
      <p:sp>
        <p:nvSpPr>
          <p:cNvPr id="586" name="文本框 585" descr="{&quot;isTemplate&quot;:true,&quot;type&quot;:&quot;text&quot;}"/>
          <p:cNvSpPr txBox="1"/>
          <p:nvPr/>
        </p:nvSpPr>
        <p:spPr>
          <a:xfrm>
            <a:off x="8382000" y="3476625"/>
            <a:ext cx="28670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读图观察撑不起测量级断言</a:t>
            </a:r>
            <a:endParaRPr lang="zh-CN" sz="1125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7" name="圆角矩形 586"/>
          <p:cNvSpPr/>
          <p:nvPr/>
        </p:nvSpPr>
        <p:spPr>
          <a:xfrm>
            <a:off x="609600" y="4229100"/>
            <a:ext cx="10972800" cy="2038350"/>
          </a:xfrm>
          <a:prstGeom prst="roundRect">
            <a:avLst>
              <a:gd name="adj" fmla="val 5607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19150" y="4438650"/>
            <a:ext cx="10553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四个条件必须同时成立，缺一不成结论</a:t>
            </a:r>
            <a:endParaRPr lang="zh-CN" sz="16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819150" y="4867275"/>
            <a:ext cx="2524125" cy="828675"/>
          </a:xfrm>
          <a:prstGeom prst="roundRect">
            <a:avLst>
              <a:gd name="adj" fmla="val 10345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971550" y="5000625"/>
            <a:ext cx="2219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时间上先发生</a:t>
            </a:r>
            <a:endParaRPr lang="zh-CN" sz="1425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971550" y="5286375"/>
            <a:ext cx="2219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7F4EC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带滞后补偿的互相关</a:t>
            </a:r>
            <a:endParaRPr lang="zh-CN" sz="1200">
              <a:solidFill>
                <a:srgbClr val="F7F4EC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圆角矩形 591"/>
          <p:cNvSpPr/>
          <p:nvPr/>
        </p:nvSpPr>
        <p:spPr>
          <a:xfrm>
            <a:off x="3495675" y="4867275"/>
            <a:ext cx="2524125" cy="828675"/>
          </a:xfrm>
          <a:prstGeom prst="roundRect">
            <a:avLst>
              <a:gd name="adj" fmla="val 10345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593" name="文本框 592" descr="{&quot;isTemplate&quot;:true,&quot;type&quot;:&quot;text&quot;}"/>
          <p:cNvSpPr txBox="1"/>
          <p:nvPr/>
        </p:nvSpPr>
        <p:spPr>
          <a:xfrm>
            <a:off x="3648075" y="5000625"/>
            <a:ext cx="2219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统计上显著</a:t>
            </a:r>
            <a:endParaRPr lang="zh-CN" sz="1425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3648075" y="5286375"/>
            <a:ext cx="2219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7F4EC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逐点剔除杠杆点复核</a:t>
            </a:r>
            <a:endParaRPr lang="zh-CN" sz="1200">
              <a:solidFill>
                <a:srgbClr val="F7F4EC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6172200" y="4867275"/>
            <a:ext cx="2524125" cy="828675"/>
          </a:xfrm>
          <a:prstGeom prst="roundRect">
            <a:avLst>
              <a:gd name="adj" fmla="val 10345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6324600" y="5000625"/>
            <a:ext cx="2219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物理机理成立</a:t>
            </a:r>
            <a:endParaRPr lang="zh-CN" sz="1425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6324600" y="5286375"/>
            <a:ext cx="2219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7F4EC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两位独立物理审计</a:t>
            </a:r>
            <a:endParaRPr lang="zh-CN" sz="1200">
              <a:solidFill>
                <a:srgbClr val="F7F4EC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8" name="圆角矩形 597"/>
          <p:cNvSpPr/>
          <p:nvPr/>
        </p:nvSpPr>
        <p:spPr>
          <a:xfrm>
            <a:off x="8848725" y="4867275"/>
            <a:ext cx="2524125" cy="828675"/>
          </a:xfrm>
          <a:prstGeom prst="roundRect">
            <a:avLst>
              <a:gd name="adj" fmla="val 10345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9001125" y="5000625"/>
            <a:ext cx="2219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没有反证</a:t>
            </a:r>
            <a:endParaRPr lang="zh-CN" sz="1425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9001125" y="5286375"/>
            <a:ext cx="22193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7F4EC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出现反例即撤回结论</a:t>
            </a:r>
            <a:endParaRPr lang="zh-CN" sz="1200">
              <a:solidFill>
                <a:srgbClr val="F7F4EC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609600" y="6391275"/>
            <a:ext cx="4038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数据分不清时返回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COMPETING_SET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，置信度硬顶到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65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分以下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06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3" name="" descr="&lt;Slide style={{ padding: '22px 64px 18px 64px', background: '#F7F4EC' }}&gt;&#13;&#10;    &lt;Box style={{ width: 1152, height: 102, flexDirection: 'row', alignItems: 'center', justifyContent: 'space-between' }}&gt;&#13;&#10;        &lt;Box style={{ flexDirection: 'column' }}&gt;&#13;&#10;            &lt;Text style={{ fontSize: 36, fontWeight: 'bold', color: '#1D1B16', lineHeight: 1.25 }}&gt;第 1 步 · 环境准备：四个依赖一次查完&lt;/Text&gt;&#13;&#10;            &lt;Text style={{ fontSize: 17, color: 'rgba(29,27,22,0.72)', marginTop: 6 }}&gt;缺任何一项，启动都会直接失败 —— 所以先花 30 秒把版本查清楚&lt;/Text&gt;&#13;&#10;        &lt;/Box&gt;&#13;&#10;        &lt;Box style={{ padding: '10px 18px', background: 'rgba(184,115,15,0.12)', border: '1px solid rgba(184,115,15,0.42)', borderRadius: 8 }}&gt;&#13;&#10;            &lt;Text style={{ fontSize: 16, fontWeight: 'bold', color: '#B8730F' }}&gt;本机真实输出&lt;/Text&gt;&#13;&#10;        &lt;/Box&gt;&#13;&#10;    &lt;/Box&gt;&#13;&#10;    &lt;Box style={{ width: 1152, height: 534, flexDirection: 'column', gap: 16 }}&gt;&#13;&#10;        &lt;Box style={{ height: 299, justifyContent: 'center', alignItems: 'center' }}&gt;&#13;&#10;            &lt;Image src=&quot;assets/t_prereq.png&quot; style={{ width: 1112, height: 299, borderRadius: 11, border: '1px solid rgba(29,27,22,0.10)' }} /&gt;&#13;&#10;        &lt;/Box&gt;&#13;&#10;        &lt;Box style={{ height: 219, flexDirection: 'row', gap: 20 }}&gt;&#13;&#10;            &lt;Box style={{ flex: 1, padding: 18, background: '#FFFFFF', borderRadius: 11, border: '1px solid rgba(29,27,22,0.10)', flexDirection: 'column' }}&gt;&#13;&#10;                &lt;Text style={{ fontSize: 22, fontWeight: 'bold', color: '#1D1B16' }}&gt;① 版本下限&lt;/Text&gt;&#13;&#10;                &lt;Text style={{ fontSize: 18, color: 'rgba(29,27,22,0.78)', lineHeight: 1.6, marginTop: 10 }}&gt;Node.js ≥ 18（推荐 22+）、npm ≥ 9、Python ≥ 3.10；uv 是推荐的，不装也能跑。&lt;/Text&gt;&#13;&#10;                &lt;Box style={{ marginTop: 'auto', padding: '10px 12px', background: 'rgba(228,220,203,0.75)', borderRadius: 8 }}&gt;&#13;&#10;                    &lt;Text style={{ fontSize: 16, color: 'rgba(29,27,22,0.82)' }}&gt;低一个主版本通常也能跑&lt;/Text&gt;&#13;&#10;                &lt;/Box&gt;&#13;&#10;            &lt;/Box&gt;&#13;&#10;            &lt;Box style={{ flex: 1, padding: 18, background: '#FFFFFF', borderRadius: 11, border: '1px solid rgba(29,27,22,0.10)', flexDirection: 'column' }}&gt;&#13;&#10;                &lt;Text style={{ fontSize: 22, fontWeight: 'bold', color: '#1D1B16' }}&gt;② 依赖是自动装的&lt;/Text&gt;&#13;&#10;                &lt;Text style={{ fontSize: 18, color: 'rgba(29,27,22,0.78)', lineHeight: 1.6, marginTop: 10 }}&gt;启动时如果缺 node_modules，后端与前端会自己 npm install；RAG 会自建 Python 虚拟环境。&lt;/Text&gt;&#13;&#10;                &lt;Box style={{ marginTop: 'auto', padding: '10px 12px', background: 'rgba(228,220,203,0.75)', borderRadius: 8 }}&gt;&#13;&#10;                    &lt;Text style={{ fontSize: 16, color: 'rgba(29,27,22,0.82)' }}&gt;所以你不用手动装一堆包&lt;/Text&gt;&#13;&#10;                &lt;/Box&gt;&#13;&#10;            &lt;/Box&gt;&#13;&#10;            &lt;Box style={{ flex: 1, padding: 18, background: 'rgba(184,115,15,0.10)', borderRadius: 11, border: '1px solid rgba(184,115,15,0.42)', flexDirection: 'column' }}&gt;&#13;&#10;                &lt;Text style={{ fontSize: 22, fontWeight: 'bold', color: '#8A5608' }}&gt;③ 网络慢的时候&lt;/Text&gt;&#13;&#10;                &lt;Text style={{ fontSize: 18, color: 'rgba(29,27,22,0.80)', lineHeight: 1.6, marginTop: 10 }}&gt;RAG 的 Python 依赖体积较大。可以先切到国内镜像源再启动，免得卡在 uv sync 上。&lt;/Text&gt;&#13;&#10;                &lt;Box style={{ marginTop: 'auto', padding: '10px 12px', background: 'rgba(184,115,15,0.20)', borderRadius: 8 }}&gt;&#13;&#10;                    &lt;Text style={{ fontSize: 16, color: '#8A5608' }}&gt;UV_INDEX_URL 指向清华镜像&lt;/Text&gt;&#13;&#10;                &lt;/Box&gt;&#13;&#10;            &lt;/Box&gt;&#13;&#10;        &lt;/Box&gt;&#13;&#10;    &lt;/Box&gt;&#13;&#10;    &lt;Box style={{ width: 1152, height: 44, flexDirection: 'row', alignItems: 'center', justifyContent: 'space-between' }}&gt;&#13;&#10;        &lt;Text style={{ fontSize: 15, color: 'rgba(29,27,22,0.48)' }}&gt;Industrial Deep Diagnostic · 零基础使用教程&lt;/Text&gt;&#13;&#10;        &lt;Text style={{ fontSize: 15, color: 'rgba(29,27,22,0.48)' }}&gt;07 / 3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矩形 6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609600" y="314325"/>
            <a:ext cx="591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环境准备：四个依赖一次查完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609600" y="885825"/>
            <a:ext cx="59150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缺任何一项，启动都会直接失败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所以先花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秒把版本查清楚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圆角矩形 606"/>
          <p:cNvSpPr/>
          <p:nvPr/>
        </p:nvSpPr>
        <p:spPr>
          <a:xfrm>
            <a:off x="10325100" y="504825"/>
            <a:ext cx="12573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10496550" y="6000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本机真实输出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矩形 608"/>
          <p:cNvSpPr/>
          <p:nvPr/>
        </p:nvSpPr>
        <p:spPr>
          <a:xfrm>
            <a:off x="800100" y="1181100"/>
            <a:ext cx="10591800" cy="28479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10" name="图片 609"/>
          <p:cNvPicPr>
            <a:picLocks noChangeAspect="1"/>
          </p:cNvPicPr>
          <p:nvPr/>
        </p:nvPicPr>
        <p:blipFill>
          <a:blip r:embed="rId1"/>
          <a:srcRect t="5" b="5"/>
          <a:stretch>
            <a:fillRect/>
          </a:stretch>
        </p:blipFill>
        <p:spPr>
          <a:xfrm>
            <a:off x="800100" y="1181100"/>
            <a:ext cx="10591800" cy="2847975"/>
          </a:xfrm>
          <a:prstGeom prst="roundRect">
            <a:avLst>
              <a:gd name="adj" fmla="val 3679"/>
            </a:avLst>
          </a:prstGeom>
        </p:spPr>
      </p:pic>
      <p:sp>
        <p:nvSpPr>
          <p:cNvPr id="611" name="圆角矩形 610"/>
          <p:cNvSpPr/>
          <p:nvPr/>
        </p:nvSpPr>
        <p:spPr>
          <a:xfrm>
            <a:off x="609600" y="4181475"/>
            <a:ext cx="3533775" cy="2085975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781050" y="4352925"/>
            <a:ext cx="31908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版本下限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781050" y="4705350"/>
            <a:ext cx="3190875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Node.js ≥ 18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（推荐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22+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npm ≥ 9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Python ≥ 3.10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uv 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是推荐的，不装也能跑。</a:t>
            </a:r>
            <a:endParaRPr lang="zh-CN" sz="135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" name="圆角矩形 613"/>
          <p:cNvSpPr/>
          <p:nvPr/>
        </p:nvSpPr>
        <p:spPr>
          <a:xfrm>
            <a:off x="781050" y="5715000"/>
            <a:ext cx="3190875" cy="381000"/>
          </a:xfrm>
          <a:prstGeom prst="roundRect">
            <a:avLst>
              <a:gd name="adj" fmla="val 20000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615" name="文本框 614" descr="{&quot;isTemplate&quot;:true,&quot;type&quot;:&quot;text&quot;}"/>
          <p:cNvSpPr txBox="1"/>
          <p:nvPr/>
        </p:nvSpPr>
        <p:spPr>
          <a:xfrm>
            <a:off x="895350" y="581025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低一个主版本通常也能跑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6" name="圆角矩形 615"/>
          <p:cNvSpPr/>
          <p:nvPr/>
        </p:nvSpPr>
        <p:spPr>
          <a:xfrm>
            <a:off x="4333875" y="4181475"/>
            <a:ext cx="3524250" cy="2085975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4505325" y="4352925"/>
            <a:ext cx="3181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依赖是自动装的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4505325" y="4705350"/>
            <a:ext cx="3181350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启动时如果缺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node_modules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，后端与前端会自己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npm install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会自建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Python 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虚拟环境。</a:t>
            </a:r>
            <a:endParaRPr lang="zh-CN" sz="135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9" name="圆角矩形 618"/>
          <p:cNvSpPr/>
          <p:nvPr/>
        </p:nvSpPr>
        <p:spPr>
          <a:xfrm>
            <a:off x="4505325" y="5715000"/>
            <a:ext cx="3181350" cy="381000"/>
          </a:xfrm>
          <a:prstGeom prst="roundRect">
            <a:avLst>
              <a:gd name="adj" fmla="val 20000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4619625" y="5810250"/>
            <a:ext cx="2952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所以你不用手动装一堆包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1" name="圆角矩形 620"/>
          <p:cNvSpPr/>
          <p:nvPr/>
        </p:nvSpPr>
        <p:spPr>
          <a:xfrm>
            <a:off x="8048625" y="4181475"/>
            <a:ext cx="3533775" cy="2085975"/>
          </a:xfrm>
          <a:prstGeom prst="roundRect">
            <a:avLst>
              <a:gd name="adj" fmla="val 5023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8220075" y="4352925"/>
            <a:ext cx="31908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650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网络慢的时候</a:t>
            </a:r>
            <a:endParaRPr lang="zh-CN" sz="1650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8220075" y="4705350"/>
            <a:ext cx="3190875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Python </a:t>
            </a: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依赖体积较大。可以先切到国内镜像源再启动，免得卡在</a:t>
            </a:r>
            <a:r>
              <a:rPr lang="en-US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uv sync </a:t>
            </a: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上。</a:t>
            </a:r>
            <a:endParaRPr lang="zh-CN" sz="1350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4" name="圆角矩形 623"/>
          <p:cNvSpPr/>
          <p:nvPr/>
        </p:nvSpPr>
        <p:spPr>
          <a:xfrm>
            <a:off x="8220075" y="5715000"/>
            <a:ext cx="3190875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625" name="文本框 624" descr="{&quot;isTemplate&quot;:true,&quot;type&quot;:&quot;text&quot;}"/>
          <p:cNvSpPr txBox="1"/>
          <p:nvPr/>
        </p:nvSpPr>
        <p:spPr>
          <a:xfrm>
            <a:off x="8334375" y="581025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UV_INDEX_URL </a:t>
            </a:r>
            <a:r>
              <a:rPr lang="zh-CN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指向清华镜像</a:t>
            </a:r>
            <a:endParaRPr lang="zh-CN" sz="1200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609600" y="6391275"/>
            <a:ext cx="2933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Industrial Deep Diagnostic ·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零基础使用教程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07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8" name="" descr="&lt;Slide style={{ padding: '22px 64px 18px 64px', background: '#F7F4EC' }}&gt;&#13;&#10;    &lt;Box style={{ width: 1152, height: 102, flexDirection: 'row', alignItems: 'center', justifyContent: 'space-between' }}&gt;&#13;&#10;        &lt;Box style={{ flexDirection: 'column' }}&gt;&#13;&#10;            &lt;Text style={{ fontSize: 36, fontWeight: 'bold', color: '#1D1B16', lineHeight: 1.25 }}&gt;第 2–3 步 · 装项目 + 起服务&lt;/Text&gt;&#13;&#10;            &lt;Text style={{ fontSize: 17, color: 'rgba(29,27,22,0.72)', marginTop: 6 }}&gt;两条命令。第一条把项目装到本机并注册 ind-diag 命令，第二条把三个服务一起拉起来&lt;/Text&gt;&#13;&#10;        &lt;/Box&gt;&#13;&#10;        &lt;Box style={{ padding: '10px 18px', background: '#1D1B16', borderRadius: 8 }}&gt;&#13;&#10;            &lt;Text style={{ fontSize: 16, fontWeight: 'bold', color: '#B8730F' }}&gt;命令逐字可用&lt;/Text&gt;&#13;&#10;        &lt;/Box&gt;&#13;&#10;    &lt;/Box&gt;&#13;&#10;    &lt;Box style={{ width: 1152, height: 534, flexDirection: 'column', gap: 12 }}&gt;&#13;&#10;        &lt;Box style={{ height: 260, justifyContent: 'center', alignItems: 'center' }}&gt;&#13;&#10;            &lt;Image src=&quot;assets/t_clone.png&quot; style={{ width: 967, height: 260, borderRadius: 11 }} /&gt;&#13;&#10;        &lt;/Box&gt;&#13;&#10;        &lt;Box style={{ height: 260, justifyContent: 'center', alignItems: 'center' }}&gt;&#13;&#10;            &lt;Image src=&quot;assets/t_start.png&quot; style={{ width: 967, height: 260, borderRadius: 11 }} /&gt;&#13;&#10;        &lt;/Box&gt;&#13;&#10;    &lt;/Box&gt;&#13;&#10;    &lt;Box style={{ width: 1152, height: 44, flexDirection: 'row', alignItems: 'center', justifyContent: 'space-between' }}&gt;&#13;&#10;        &lt;Text style={{ fontSize: 15, color: 'rgba(29,27,22,0.48)' }}&gt;不加 --detach 会卡在前台，120 秒后报超时 —— 服务其实已经起来了&lt;/Text&gt;&#13;&#10;        &lt;Text style={{ fontSize: 15, color: 'rgba(29,27,22,0.48)' }}&gt;08 / 3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矩形 6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609600" y="314325"/>
            <a:ext cx="62579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2–3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装项目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起服务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609600" y="885825"/>
            <a:ext cx="62579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两条命令。第一条把项目装到本机并注册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ind-diag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命令，第二条把三个服务一起拉起来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2" name="圆角矩形 631"/>
          <p:cNvSpPr/>
          <p:nvPr/>
        </p:nvSpPr>
        <p:spPr>
          <a:xfrm>
            <a:off x="10325100" y="504825"/>
            <a:ext cx="1257300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10496550" y="6000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命令逐字可用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34" name="图片 633"/>
          <p:cNvPicPr>
            <a:picLocks noChangeAspect="1"/>
          </p:cNvPicPr>
          <p:nvPr/>
        </p:nvPicPr>
        <p:blipFill>
          <a:blip r:embed="rId1"/>
          <a:srcRect t="7" b="7"/>
          <a:stretch>
            <a:fillRect/>
          </a:stretch>
        </p:blipFill>
        <p:spPr>
          <a:xfrm>
            <a:off x="1495425" y="1181100"/>
            <a:ext cx="9210675" cy="2476500"/>
          </a:xfrm>
          <a:prstGeom prst="roundRect">
            <a:avLst>
              <a:gd name="adj" fmla="val 4231"/>
            </a:avLst>
          </a:prstGeom>
        </p:spPr>
      </p:pic>
      <p:pic>
        <p:nvPicPr>
          <p:cNvPr id="635" name="图片 634"/>
          <p:cNvPicPr>
            <a:picLocks noChangeAspect="1"/>
          </p:cNvPicPr>
          <p:nvPr/>
        </p:nvPicPr>
        <p:blipFill>
          <a:blip r:embed="rId2"/>
          <a:srcRect t="7" b="7"/>
          <a:stretch>
            <a:fillRect/>
          </a:stretch>
        </p:blipFill>
        <p:spPr>
          <a:xfrm>
            <a:off x="1495425" y="3771900"/>
            <a:ext cx="9210675" cy="2476500"/>
          </a:xfrm>
          <a:prstGeom prst="roundRect">
            <a:avLst>
              <a:gd name="adj" fmla="val 4231"/>
            </a:avLst>
          </a:prstGeom>
        </p:spPr>
      </p:pic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609600" y="6391275"/>
            <a:ext cx="4505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不加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--detach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会卡在前台，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120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秒后报超时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服务其实已经起来了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08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8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第 4 步 · 验证：三个服务是否真的活着&lt;/Text&gt;&#10;            &lt;Text style={{ fontSize: 17, color: 'rgba(29,27,22,0.72)', marginTop: 6 }}&gt;看一眼状态表，再打两个健康检查接口 —— 别急着开浏览器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本机真实输出&lt;/Text&gt;&#10;        &lt;/Box&gt;&#10;    &lt;/Box&gt;&#10;    &lt;Box style={{ width: 1152, height: 534, flexDirection: 'column', gap: 16 }}&gt;&#10;        &lt;Box style={{ height: 360, justifyContent: 'center', alignItems: 'center' }}&gt;&#10;            &lt;Image src=&quot;assets/t_status.png&quot; style={{ width: 1152, height: 360, borderRadius: 11 }} /&gt;&#10;        &lt;/Box&gt;&#10;        &lt;Box style={{ height: 158, flexDirection: 'row', gap: 20 }}&gt;&#10;            &lt;Box style={{ flex: 1, padding: 18, background: '#FFFFFF', borderRadius: 11, border: '1px solid rgba(29,27,22,0.10)', flexDirection: 'column' }}&gt;&#10;                &lt;Text style={{ fontSize: 22, fontWeight: 'bold', color: '#1D1B16' }}&gt;三行全绿才算成功&lt;/Text&gt;&#10;                &lt;Text style={{ fontSize: 18, color: 'rgba(29,27,22,0.78)', lineHeight: 1.6, marginTop: 10 }}&gt;三行都是 ● running 且 health 为 healthy。只要有一行不是，先去看 .runtime/ 下对应的日志。&lt;/Text&gt;&#10;            &lt;/Box&gt;&#10;            &lt;Box style={{ flex: 1, padding: 18, background: 'rgba(184,115,15,0.10)', borderRadius: 11, border: '1px solid rgba(184,115,15,0.42)', flexDirection: 'column' }}&gt;&#10;                &lt;Text style={{ fontSize: 22, fontWeight: 'bold', color: '#8A5608' }}&gt;再打两个健康接口&lt;/Text&gt;&#10;                &lt;Text style={{ fontSize: 18, color: 'rgba(29,27,22,0.80)', lineHeight: 1.6, marginTop: 10 }}&gt;后端返回 status ok、数据库 ok；RAG 返回 kb_ready true。两个都通，就可以进浏览器了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现在可以打开 http://localhost:5180&lt;/Text&gt;&#10;        &lt;Text style={{ fontSize: 15, color: 'rgba(29,27,22,0.48)' }}&gt;09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矩形 6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609600" y="314325"/>
            <a:ext cx="591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验证：三个服务是否真的活着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609600" y="885825"/>
            <a:ext cx="59150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看一眼状态表，再打两个健康检查接口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别急着开浏览器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2" name="圆角矩形 641"/>
          <p:cNvSpPr/>
          <p:nvPr/>
        </p:nvSpPr>
        <p:spPr>
          <a:xfrm>
            <a:off x="10325100" y="504825"/>
            <a:ext cx="12573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10496550" y="6000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本机真实输出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4" name="图片 6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181100"/>
            <a:ext cx="10972800" cy="3429000"/>
          </a:xfrm>
          <a:prstGeom prst="roundRect">
            <a:avLst>
              <a:gd name="adj" fmla="val 3056"/>
            </a:avLst>
          </a:prstGeom>
        </p:spPr>
      </p:pic>
      <p:sp>
        <p:nvSpPr>
          <p:cNvPr id="645" name="圆角矩形 644"/>
          <p:cNvSpPr/>
          <p:nvPr/>
        </p:nvSpPr>
        <p:spPr>
          <a:xfrm>
            <a:off x="609600" y="4762500"/>
            <a:ext cx="5391150" cy="1504950"/>
          </a:xfrm>
          <a:prstGeom prst="roundRect">
            <a:avLst>
              <a:gd name="adj" fmla="val 6962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781050" y="4933950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三行全绿才算成功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781050" y="5286375"/>
            <a:ext cx="50482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三行都是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● running 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health 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healthy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。只要有一行不是，先去看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.runtime/ 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下对应的日志。</a:t>
            </a:r>
            <a:endParaRPr lang="zh-CN" sz="135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圆角矩形 647"/>
          <p:cNvSpPr/>
          <p:nvPr/>
        </p:nvSpPr>
        <p:spPr>
          <a:xfrm>
            <a:off x="6191250" y="4762500"/>
            <a:ext cx="5391150" cy="1504950"/>
          </a:xfrm>
          <a:prstGeom prst="roundRect">
            <a:avLst>
              <a:gd name="adj" fmla="val 6962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9" name="文本框 648" descr="{&quot;isTemplate&quot;:true,&quot;type&quot;:&quot;text&quot;}"/>
          <p:cNvSpPr txBox="1"/>
          <p:nvPr/>
        </p:nvSpPr>
        <p:spPr>
          <a:xfrm>
            <a:off x="6362700" y="4933950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再打两个健康接口</a:t>
            </a:r>
            <a:endParaRPr lang="zh-CN" sz="1650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6362700" y="5286375"/>
            <a:ext cx="50482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后端返回</a:t>
            </a:r>
            <a:r>
              <a:rPr lang="en-US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status ok</a:t>
            </a: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、数据库</a:t>
            </a:r>
            <a:r>
              <a:rPr lang="en-US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ok</a:t>
            </a: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kb_ready true</a:t>
            </a: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。两个都通，就可以进浏览器了。</a:t>
            </a:r>
            <a:endParaRPr lang="zh-CN" sz="1350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609600" y="6391275"/>
            <a:ext cx="2333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现在可以打开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http://localhost:5180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09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第 5 步 · 引擎预检：选谁来干活&lt;/Text&gt;&#10;            &lt;Text style={{ fontSize: 17, color: 'rgba(29,27,22,0.72)', marginTop: 6 }}&gt;14 个引擎里，本机装好哪个就用哪个；未安装的会被前端灰显为&quot;离线&quot;&lt;/Text&gt;&#10;        &lt;/Box&gt;&#10;        &lt;Box style={{ padding: '10px 18px', background: '#1D1B16', borderRadius: 8 }}&gt;&#10;            &lt;Text style={{ fontSize: 16, fontWeight: 'bold', color: '#B8730F' }}&gt;本机默认 OMP Engine&lt;/Text&gt;&#10;        &lt;/Box&gt;&#10;    &lt;/Box&gt;&#10;    &lt;Box style={{ width: 1152, height: 534, flexDirection: 'column', gap: 16 }}&gt;&#10;        &lt;Box style={{ height: 259, justifyContent: 'center', alignItems: 'center' }}&gt;&#10;            &lt;Image src=&quot;assets/t_engine.png&quot; style={{ width: 1152, height: 259, borderRadius: 11 }} /&gt;&#10;        &lt;/Box&gt;&#10;        &lt;Box style={{ height: 259, flexDirection: 'row', gap: 20 }}&gt;&#10;            &lt;Box style={{ flex: 1, padding: 18, background: '#FFFFFF', borderRadius: 11, border: '1px solid rgba(29,27,22,0.10)', flexDirection: 'column' }}&gt;&#10;                &lt;Box style={{ flexDirection: 'row', alignItems: 'center', gap: 10 }}&gt;&#10;                    &lt;Box style={{ width: 13, height: 13, borderRadius: 7, background: '#3E8E63' }} /&gt;&#10;                    &lt;Text style={{ fontSize: 22, fontWeight: 'bold', color: '#1D1B16' }}&gt;已就绪&lt;/Text&gt;&#10;                &lt;/Box&gt;&#10;                &lt;Text style={{ fontSize: 18, color: 'rgba(29,27,22,0.78)', lineHeight: 1.6, marginTop: 12 }}&gt;CLI 已安装且已登录。本机 OMP Engine、Claude Code、Mock Engine 都可用，选中即可跑真实诊断。&lt;/Text&gt;&#10;                &lt;Box style={{ marginTop: 'auto', padding: '10px 12px', background: 'rgba(62,142,99,0.12)', borderRadius: 8 }}&gt;&#10;                    &lt;Text style={{ fontSize: 16, color: '#2F6F4C' }}&gt;可直接发起诊断&lt;/Text&gt;&#10;                &lt;/Box&gt;&#10;            &lt;/Box&gt;&#10;            &lt;Box style={{ flex: 1, padding: 18, background: '#FFFFFF', borderRadius: 11, border: '1px solid rgba(29,27,22,0.10)', flexDirection: 'column' }}&gt;&#10;                &lt;Box style={{ flexDirection: 'row', alignItems: 'center', gap: 10 }}&gt;&#10;                    &lt;Box style={{ width: 13, height: 13, borderRadius: 7, background: '#A8442A' }} /&gt;&#10;                    &lt;Text style={{ fontSize: 22, fontWeight: 'bold', color: '#1D1B16' }}&gt;未安装&lt;/Text&gt;&#10;                &lt;/Box&gt;&#10;                &lt;Text style={{ fontSize: 18, color: 'rgba(29,27,22,0.78)', lineHeight: 1.6, marginTop: 12 }}&gt;前端列表里显示灰色&quot;离线&quot;。强行用接口调用也不会跑起来，而是立刻返回 409，不会白等。&lt;/Text&gt;&#10;                &lt;Box style={{ marginTop: 'auto', padding: '10px 12px', background: 'rgba(168,68,42,0.10)', borderRadius: 8 }}&gt;&#10;                    &lt;Text style={{ fontSize: 16, color: '#A8442A' }}&gt;预检生效，不会跑到一半才失败&lt;/Text&gt;&#10;                &lt;/Box&gt;&#10;            &lt;/Box&gt;&#10;            &lt;Box style={{ flex: 1, padding: 18, background: 'rgba(184,115,15,0.10)', borderRadius: 11, border: '1px solid rgba(184,115,15,0.42)', flexDirection: 'column' }}&gt;&#10;                &lt;Box style={{ flexDirection: 'row', alignItems: 'center', gap: 10 }}&gt;&#10;                    &lt;Box style={{ width: 13, height: 13, borderRadius: 7, background: '#B8730F' }} /&gt;&#10;                    &lt;Text style={{ fontSize: 22, fontWeight: 'bold', color: '#8A5608' }}&gt;新手先用 Mock&lt;/Text&gt;&#10;                &lt;/Box&gt;&#10;                &lt;Text style={{ fontSize: 18, color: 'rgba(29,27,22,0.80)', lineHeight: 1.6, marginTop: 12 }}&gt;进程内脚本引擎，零成本、几秒跑完。第一次先用它把上传、配置、报告三件事走通，再换真实引擎。&lt;/Text&gt;&#10;                &lt;Box style={{ marginTop: 'auto', padding: '10px 12px', background: 'rgba(184,115,15,0.20)', borderRadius: 8 }}&gt;&#10;                    &lt;Text style={{ fontSize: 16, color: '#8A5608' }}&gt;想练手且不花钱就用它&lt;/Text&gt;&#10;                &lt;/Box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启动服务不需要模型凭据，跑诊断才需要&lt;/Text&gt;&#10;        &lt;Text style={{ fontSize: 15, color: 'rgba(29,27,22,0.48)' }}&gt;10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09600" y="314325"/>
            <a:ext cx="5076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步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引擎预检：选谁来干活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09600" y="885825"/>
            <a:ext cx="50768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14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个引擎里，本机装好哪个就用哪个；未安装的会被前端灰显为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离线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9629775" y="504825"/>
            <a:ext cx="1952625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9801225" y="600075"/>
            <a:ext cx="16097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本机默认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OMP Engine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l="71" r="71"/>
          <a:stretch>
            <a:fillRect/>
          </a:stretch>
        </p:blipFill>
        <p:spPr>
          <a:xfrm>
            <a:off x="609600" y="1181100"/>
            <a:ext cx="10972800" cy="2466975"/>
          </a:xfrm>
          <a:prstGeom prst="roundRect">
            <a:avLst>
              <a:gd name="adj" fmla="val 4247"/>
            </a:avLst>
          </a:prstGeom>
        </p:spPr>
      </p:pic>
      <p:sp>
        <p:nvSpPr>
          <p:cNvPr id="30" name="圆角矩形 29"/>
          <p:cNvSpPr/>
          <p:nvPr/>
        </p:nvSpPr>
        <p:spPr>
          <a:xfrm>
            <a:off x="609600" y="3800475"/>
            <a:ext cx="3533775" cy="2466975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圆角矩形 30"/>
          <p:cNvSpPr/>
          <p:nvPr/>
        </p:nvSpPr>
        <p:spPr>
          <a:xfrm>
            <a:off x="781050" y="4038600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3E8E63"/>
          </a:solidFill>
        </p:spPr>
        <p:txBody>
          <a:bodyPr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1000125" y="3971925"/>
            <a:ext cx="628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已就绪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781050" y="4343400"/>
            <a:ext cx="3190875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CLI 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已安装且已登录。本机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OMP Engine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Claude Code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Mock Engine 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都可用，选中即可跑真实诊断。</a:t>
            </a:r>
            <a:endParaRPr lang="zh-CN" sz="135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81050" y="5715000"/>
            <a:ext cx="3190875" cy="381000"/>
          </a:xfrm>
          <a:prstGeom prst="roundRect">
            <a:avLst>
              <a:gd name="adj" fmla="val 20000"/>
            </a:avLst>
          </a:prstGeom>
          <a:solidFill>
            <a:srgbClr val="3E8E63">
              <a:alpha val="12000"/>
            </a:srgbClr>
          </a:solidFill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895350" y="581025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4C"/>
                </a:solidFill>
                <a:latin typeface="微软雅黑" panose="020B0503020204020204" charset="-122"/>
                <a:ea typeface="微软雅黑" panose="020B0503020204020204" charset="-122"/>
              </a:rPr>
              <a:t>可直接发起诊断</a:t>
            </a:r>
            <a:endParaRPr lang="zh-CN" sz="1200">
              <a:solidFill>
                <a:srgbClr val="2F6F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333875" y="3800475"/>
            <a:ext cx="3524250" cy="2466975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圆角矩形 36"/>
          <p:cNvSpPr/>
          <p:nvPr/>
        </p:nvSpPr>
        <p:spPr>
          <a:xfrm>
            <a:off x="4505325" y="4038600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A8442A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4724400" y="3971925"/>
            <a:ext cx="628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未安装</a:t>
            </a:r>
            <a:endParaRPr lang="zh-CN" sz="165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505325" y="4343400"/>
            <a:ext cx="3181350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前端列表里显示灰色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离线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。强行用接口调用也不会跑起来，而是立刻返回</a:t>
            </a:r>
            <a:r>
              <a:rPr lang="en-US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409</a:t>
            </a:r>
            <a:r>
              <a:rPr lang="zh-CN" sz="135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，不会白等。</a:t>
            </a:r>
            <a:endParaRPr lang="zh-CN" sz="135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4505325" y="5715000"/>
            <a:ext cx="3181350" cy="381000"/>
          </a:xfrm>
          <a:prstGeom prst="roundRect">
            <a:avLst>
              <a:gd name="adj" fmla="val 20000"/>
            </a:avLst>
          </a:prstGeom>
          <a:solidFill>
            <a:srgbClr val="A8442A">
              <a:alpha val="10000"/>
            </a:srgbClr>
          </a:solidFill>
        </p:spPr>
        <p:txBody>
          <a:bodyPr/>
          <a:p/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4619625" y="5810250"/>
            <a:ext cx="2952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8442A"/>
                </a:solidFill>
                <a:latin typeface="微软雅黑" panose="020B0503020204020204" charset="-122"/>
                <a:ea typeface="微软雅黑" panose="020B0503020204020204" charset="-122"/>
              </a:rPr>
              <a:t>预检生效，不会跑到一半才失败</a:t>
            </a:r>
            <a:endParaRPr lang="zh-CN" sz="1200">
              <a:solidFill>
                <a:srgbClr val="A844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8048625" y="3800475"/>
            <a:ext cx="3533775" cy="2466975"/>
          </a:xfrm>
          <a:prstGeom prst="roundRect">
            <a:avLst>
              <a:gd name="adj" fmla="val 4247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圆角矩形 42"/>
          <p:cNvSpPr/>
          <p:nvPr/>
        </p:nvSpPr>
        <p:spPr>
          <a:xfrm>
            <a:off x="8220075" y="4038600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B8730F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8439150" y="3971925"/>
            <a:ext cx="1495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新手先用</a:t>
            </a:r>
            <a:r>
              <a:rPr lang="en-US" sz="1650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 Mock</a:t>
            </a:r>
            <a:endParaRPr lang="en-US" sz="1650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8220075" y="4343400"/>
            <a:ext cx="3190875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进程内脚本引擎，零成本、几秒跑完。第一次先用它把上传、配置、报告三件事走通，再换真实引擎。</a:t>
            </a:r>
            <a:endParaRPr lang="zh-CN" sz="1350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220075" y="5715000"/>
            <a:ext cx="3190875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8334375" y="581025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想练手且不花钱就用它</a:t>
            </a:r>
            <a:endParaRPr lang="zh-CN" sz="1200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609600" y="6391275"/>
            <a:ext cx="2571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启动服务不需要模型凭据，跑诊断才需要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10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开机检查清单：照着打勾就行&lt;/Text&gt;&#10;            &lt;Text style={{ fontSize: 17, color: 'rgba(29,27,22,0.72)', marginTop: 6 }}&gt;七项检查，从上到下做一遍。全部打勾，说明你的环境已经完全就绪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可打印照做&lt;/Text&gt;&#10;        &lt;/Box&gt;&#10;    &lt;/Box&gt;&#10;    &lt;Box style={{ width: 1152, height: 534 }}&gt;&#10;        &lt;Table&#10;            style={{ width: '100%', height: '100%' }}&#10;            defaultTextStyle={{ fontSize: 17, textAlign: 'left', color: '#1D1B16' }}&#10;            defaultCellStyle={{&#10;                border: {&#10;                    left: { width: 1, color: '#E4DCCB' },&#10;                    right: { width: 1, color: '#E4DCCB' },&#10;                    top: { width: 1, color: '#E4DCCB' },&#10;                    bottom: { width: 1, color: '#E4DCCB' },&#10;                },&#10;            }}&#10;            cells={[&#10;                [&#10;                    { text: '✔', textStyle: { bold: true, color: '#FFFFFF', textAlign: 'center' }, cellStyle: { background: { color: '#1D1B16' } } },&#10;                    { text: '检查项', textStyle: { bold: true, color: '#FFFFFF' }, cellStyle: { background: { color: '#1D1B16' } } },&#10;                    { text: '怎么查', textStyle: { bold: true, color: '#FFFFFF' }, cellStyle: { background: { color: '#1D1B16' } } },&#10;                    { text: '期望结果', textStyle: { bold: true, color: '#FFFFFF' }, cellStyle: { background: { color: '#1D1B16' } } },&#10;                ],&#10;                [&#10;                    { text: '☐', textStyle: { textAlign: 'center', color: '#B8730F', bold: true } },&#10;                    'Node.js 版本', 'node --version', '≥ 18，推荐 22 或更高',&#10;                ],&#10;                [&#10;                    { text: '☐', textStyle: { textAlign: 'center', color: '#B8730F', bold: true } },&#10;                    { text: 'npm 版本', cellStyle: { background: { color: '#F2EDE1' } } },&#10;                    { text: 'npm --version', cellStyle: { background: { color: '#F2EDE1' } } },&#10;                    { text: '≥ 9', cellStyle: { background: { color: '#F2EDE1' } } },&#10;                ],&#10;                [&#10;                    { text: '☐', textStyle: { textAlign: 'center', color: '#B8730F', bold: true } },&#10;                    'Python 版本', 'python --version', '≥ 3.10',&#10;                ],&#10;                [&#10;                    { text: '☐', textStyle: { textAlign: 'center', color: '#B8730F', bold: true } },&#10;                    { text: 'uv（可选）', cellStyle: { background: { color: '#F2EDE1' } } },&#10;                    { text: 'uv --version', cellStyle: { background: { color: '#F2EDE1' } } },&#10;                    { text: '有最好；没有会自动回退到系统 pip', cellStyle: { background: { color: '#F2EDE1' } } },&#10;                ],&#10;                [&#10;                    { text: '☐', textStyle: { textAlign: 'center', color: '#B8730F', bold: true } },&#10;                    '全局命令', 'ind-diag status', '能打印出状态表，说明命令已注册',&#10;                ],&#10;                [&#10;                    { text: '☐', textStyle: { textAlign: 'center', color: '#B8730F', bold: true } },&#10;                    { text: '三个服务', cellStyle: { background: { color: '#F2EDE1' } } },&#10;                    { text: 'ind-diag status', cellStyle: { background: { color: '#F2EDE1' } } },&#10;                    { text: '三行都是 ● running 且 health 为 healthy', cellStyle: { background: { color: '#F2EDE1' } } },&#10;                ],&#10;                [&#10;                    { text: '☐', textStyle: { textAlign: 'center', color: '#B8730F', bold: true } },&#10;                    '网页可达', '浏览器打开 http://localhost:5180', '出现登录页，说明可以开始用了',&#10;                ],&#10;            ]}&#10;        /&gt;&#10;    &lt;/Box&gt;&#10;    &lt;Box style={{ width: 1152, height: 44, flexDirection: 'row', alignItems: 'center', justifyContent: 'space-between' }}&gt;&#10;        &lt;Text style={{ fontSize: 15, color: 'rgba(29,27,22,0.48)' }}&gt;前三项查完就可以直接开始装，不用等七项全做完&lt;/Text&gt;&#10;        &lt;Text style={{ fontSize: 15, color: 'rgba(29,27,22,0.48)' }}&gt;11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09600" y="314325"/>
            <a:ext cx="48577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开机检查清单：照着打勾就行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609600" y="885825"/>
            <a:ext cx="4857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七项检查，从上到下做一遍。全部打勾，说明你的环境已经完全就绪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10477500" y="504825"/>
            <a:ext cx="11049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10648950" y="600075"/>
            <a:ext cx="76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可打印照做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6" name="表格 55"/>
          <p:cNvGraphicFramePr/>
          <p:nvPr/>
        </p:nvGraphicFramePr>
        <p:xfrm>
          <a:off x="609600" y="1181100"/>
          <a:ext cx="10972800" cy="5086352"/>
        </p:xfrm>
        <a:graphic>
          <a:graphicData uri="http://schemas.openxmlformats.org/drawingml/2006/table">
            <a:tbl>
              <a:tblPr/>
              <a:tblGrid>
                <a:gridCol w="397435"/>
                <a:gridCol w="1652494"/>
                <a:gridCol w="4028141"/>
                <a:gridCol w="4894729"/>
              </a:tblGrid>
              <a:tr h="6357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✔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1B1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检查项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1B1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怎么查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1B1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期望结果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1B16"/>
                    </a:solidFill>
                  </a:tcPr>
                </a:tc>
              </a:tr>
              <a:tr h="6357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☐</a:t>
                      </a:r>
                      <a:endParaRPr sz="1275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Node.js 版本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node --version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≥ 18，推荐 22 或更高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57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☐</a:t>
                      </a:r>
                      <a:endParaRPr sz="1275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npm 版本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npm --version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≥ 9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</a:tr>
              <a:tr h="6357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☐</a:t>
                      </a:r>
                      <a:endParaRPr sz="1275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版本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--version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≥ 3.10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57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☐</a:t>
                      </a:r>
                      <a:endParaRPr sz="1275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uv（可选）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 --version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有最好；没有会自动回退到系统 pip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</a:tr>
              <a:tr h="6357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☐</a:t>
                      </a:r>
                      <a:endParaRPr sz="1275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全局命令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ind-diag status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能打印出状态表，说明命令已注册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57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☐</a:t>
                      </a:r>
                      <a:endParaRPr sz="1275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三个服务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ind-diag status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三行都是 ● running 且 health 为 healthy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</a:tr>
              <a:tr h="6357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☐</a:t>
                      </a:r>
                      <a:endParaRPr sz="1275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网页可达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浏览器打开 http://localhost:5180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出现登录页，说明可以开始用了</a:t>
                      </a:r>
                      <a:endParaRPr sz="1275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609600" y="6391275"/>
            <a:ext cx="3143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前三项查完就可以直接开始装，不用等七项全做完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11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 descr="&lt;Slide style={{ padding: 0, background: '#1D1B16', position: 'relative', overflow: 'hidden' }}&gt;&#10;    &lt;Box style={{ position: 'absolute', right: 0, top: 0, width: 470, height: 720, background: 'linear-gradient(135deg, #1D1B16 0%, #B8730F 100%)', opacity: 0.34 }} /&gt;&#10;    &lt;Box style={{ position: 'absolute', right: 470, top: 0, width: 6, height: 720, background: '#B8730F' }} /&gt;&#10;    &lt;Box style={{ flexDirection: 'row', width: 1280, height: 720 }}&gt;&#10;        &lt;Box style={{ width: 810, height: 720, padding: '0 0 0 76px', flexDirection: 'column', justifyContent: 'center' }}&gt;&#10;            &lt;Text style={{ fontSize: 14, color: '#B8730F', letterSpacing: 5, fontWeight: 'bold' }}&gt;ACT THREE&lt;/Text&gt;&#10;            &lt;Text style={{ fontSize: 62, fontWeight: 'bold', color: '#F7F4EC', lineHeight: 1.12, marginTop: 20 }}&gt;上机操作&lt;br /&gt;从登录到跑起来&lt;/Text&gt;&#10;            &lt;Box style={{ width: 124, height: 5, background: '#B8730F', marginTop: 28 }} /&gt;&#10;            &lt;Text style={{ fontSize: 21, color: 'rgba(247,244,236,0.80)', lineHeight: 1.72, marginTop: 28, width: 660 }}&gt;八页，每一页一张真实界面截图，编号与引线直接指到你要点的那个控件。照着顺序点一遍，你就完成了一次真实的工业诊断。&lt;/Text&gt;&#10;            &lt;Text style={{ fontSize: 18, color: 'rgba(247,244,236,0.56)', lineHeight: 1.75, marginTop: 18, width: 660 }}&gt;登录注册 → 认识导航 → 换引擎 → 数据工作台 → 选中数据 → 配置诊断 → 任务列表 → 实时监控&lt;/Text&gt;&#10;            &lt;Box style={{ flexDirection: 'row', gap: 10, marginTop: 34 }}&gt;&#10;                &lt;Box style={{ padding: '9px 18px', border: '1px solid rgba(247,244,236,0.28)', borderRadius: 20 }}&gt;&#10;                    &lt;Text style={{ fontSize: 16, color: 'rgba(247,244,236,0.76)' }}&gt;第 13 页起&lt;/Text&gt;&#10;                &lt;/Box&gt;&#10;                &lt;Box style={{ padding: '9px 18px', border: '1px solid rgba(247,244,236,0.28)', borderRadius: 20 }}&gt;&#10;                    &lt;Text style={{ fontSize: 16, color: 'rgba(247,244,236,0.76)' }}&gt;共 8 页&lt;/Text&gt;&#10;                &lt;/Box&gt;&#10;            &lt;/Box&gt;&#10;        &lt;/Box&gt;&#10;        &lt;Box style={{ width: 470, height: 720, justifyContent: 'center', alignItems: 'center', flexDirection: 'column' }}&gt;&#10;            &lt;Text style={{ fontSize: 176, fontWeight: 'bold', color: '#F7F4EC', lineHeight: 1, opacity: 0.92 }}&gt;03&lt;/Text&gt;&#10;            &lt;Text style={{ fontSize: 21, color: 'rgba(247,244,236,0.60)', letterSpacing: 4, marginTop: 14 }}&gt;USE IT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B16"/>
          </a:solidFill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723900" y="962025"/>
            <a:ext cx="6991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ACT THREE</a:t>
            </a:r>
            <a:endParaRPr lang="en-US" sz="1050" b="1" spc="375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23900" y="1314450"/>
            <a:ext cx="6991350" cy="1590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46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上机操作</a:t>
            </a:r>
            <a:endParaRPr lang="zh-CN" sz="46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</a:pPr>
            <a:r>
              <a:rPr lang="zh-CN" sz="46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从登录到跑起来</a:t>
            </a:r>
            <a:endParaRPr lang="zh-CN" sz="46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23900" y="3171825"/>
            <a:ext cx="1181100" cy="47625"/>
          </a:xfrm>
          <a:prstGeom prst="rect">
            <a:avLst/>
          </a:prstGeom>
          <a:solidFill>
            <a:srgbClr val="B8730F"/>
          </a:solidFill>
        </p:spPr>
        <p:txBody>
          <a:bodyPr/>
          <a:p/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723900" y="3486150"/>
            <a:ext cx="62865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575">
                <a:solidFill>
                  <a:srgbClr val="F7F4EC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八页，每一页一张真实界面截图，编号与引线直接指到你要点的那个控件。照着顺序点一遍，你就完成了一次真实的工业诊断。</a:t>
            </a:r>
            <a:endParaRPr lang="zh-CN" sz="1575">
              <a:solidFill>
                <a:srgbClr val="F7F4EC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723900" y="4486275"/>
            <a:ext cx="62865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登录注册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认识导航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换引擎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数据工作台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选中数据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配置诊断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任务列表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实时监控</a:t>
            </a:r>
            <a:endParaRPr lang="zh-CN" sz="1350">
              <a:solidFill>
                <a:srgbClr val="F7F4EC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723900" y="5534025"/>
            <a:ext cx="1076325" cy="361950"/>
          </a:xfrm>
          <a:prstGeom prst="roundRect">
            <a:avLst>
              <a:gd name="adj" fmla="val 52632"/>
            </a:avLst>
          </a:prstGeom>
          <a:ln w="12700">
            <a:solidFill>
              <a:srgbClr val="F7F4EC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95350" y="5619750"/>
            <a:ext cx="733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页起</a:t>
            </a:r>
            <a:endParaRPr lang="zh-CN" sz="1200">
              <a:solidFill>
                <a:srgbClr val="F7F4EC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1895475" y="5534025"/>
            <a:ext cx="828675" cy="361950"/>
          </a:xfrm>
          <a:prstGeom prst="roundRect">
            <a:avLst>
              <a:gd name="adj" fmla="val 52632"/>
            </a:avLst>
          </a:prstGeom>
          <a:ln w="12700">
            <a:solidFill>
              <a:srgbClr val="F7F4EC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2066925" y="5619750"/>
            <a:ext cx="485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200">
              <a:solidFill>
                <a:srgbClr val="F7F4EC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9534525" y="4381500"/>
            <a:ext cx="838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300">
                <a:solidFill>
                  <a:srgbClr val="F7F4EC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USE IT</a:t>
            </a:r>
            <a:endParaRPr lang="en-US" sz="1575" spc="300">
              <a:solidFill>
                <a:srgbClr val="F7F4EC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715250" y="0"/>
            <a:ext cx="4476750" cy="6858000"/>
          </a:xfrm>
          <a:prstGeom prst="rect">
            <a:avLst/>
          </a:prstGeom>
          <a:gradFill>
            <a:gsLst>
              <a:gs pos="0">
                <a:srgbClr val="1D1B16">
                  <a:alpha val="34000"/>
                </a:srgbClr>
              </a:gs>
              <a:gs pos="100000">
                <a:srgbClr val="B8730F">
                  <a:alpha val="34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2" name="矩形 71"/>
          <p:cNvSpPr/>
          <p:nvPr/>
        </p:nvSpPr>
        <p:spPr>
          <a:xfrm>
            <a:off x="7658100" y="0"/>
            <a:ext cx="57150" cy="6858000"/>
          </a:xfrm>
          <a:prstGeom prst="rect">
            <a:avLst/>
          </a:prstGeom>
          <a:solidFill>
            <a:srgbClr val="B8730F"/>
          </a:solidFill>
        </p:spPr>
        <p:txBody>
          <a:bodyPr/>
          <a:p/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8915400" y="2228850"/>
            <a:ext cx="2076450" cy="2019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200" b="1">
                <a:solidFill>
                  <a:srgbClr val="F7F4EC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3200" b="1">
              <a:solidFill>
                <a:srgbClr val="F7F4EC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进门：登录注册，以及整张控制台地图&lt;/Text&gt;&#10;            &lt;Text style={{ fontSize: 17, color: 'rgba(29,27,22,0.72)', marginTop: 6 }}&gt;浏览器打开 http://localhost:5180 就是这一页；左边那一条，是你之后所有操作的入口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真实界面截图&lt;/Text&gt;&#10;        &lt;/Box&gt;&#10;    &lt;/Box&gt;&#10;    &lt;Box style={{ width: 1152, height: 534, flexDirection: 'column', gap: 16 }}&gt;&#10;        &lt;Box style={{ height: 376, flexDirection: 'row', gap: 22, justifyContent: 'center' }}&gt;&#10;            &lt;Image src=&quot;assets/01_auth.png&quot; style={{ width: 526, height: 376, borderRadius: 11, border: '1px solid rgba(29,27,22,0.10)' }} /&gt;&#10;            &lt;Image src=&quot;assets/02_rail.png&quot; style={{ width: 212, height: 376, borderRadius: 11, border: '1px solid rgba(29,27,22,0.10)' }} /&gt;&#10;        &lt;/Box&gt;&#10;        &lt;Box style={{ height: 142, flexDirection: 'row', gap: 18 }}&gt;&#10;            &lt;Box style={{ flex: 1, padding: 16, background: '#FFFFFF', borderRadius: 11, border: '1px solid rgba(29,27,22,0.10)', flexDirection: 'column' }}&gt;&#10;                &lt;Text style={{ fontSize: 21, fontWeight: 'bold', color: '#1D1B16' }}&gt;① 第一次用先注册&lt;/Text&gt;&#10;                &lt;Text style={{ fontSize: 17, color: 'rgba(29,27,22,0.78)', lineHeight: 1.55, marginTop: 8 }}&gt;用户名 3–32 位字母或数字；密码至少 8 位且要同时含字母与数字。&lt;/Text&gt;&#10;            &lt;/Box&gt;&#10;            &lt;Box style={{ flex: 1, padding: 16, background: '#FFFFFF', borderRadius: 11, border: '1px solid rgba(29,27,22,0.10)', flexDirection: 'column' }}&gt;&#10;                &lt;Text style={{ fontSize: 21, fontWeight: 'bold', color: '#1D1B16' }}&gt;② 日常只走三个页面&lt;/Text&gt;&#10;                &lt;Text style={{ fontSize: 17, color: 'rgba(29,27,22,0.78)', lineHeight: 1.55, marginTop: 8 }}&gt;数据（传文件）→ 诊断（发起与盯着跑）→ 报告（读结论）。其余是进阶能力。&lt;/Text&gt;&#10;            &lt;/Box&gt;&#10;            &lt;Box style={{ flex: 1, padding: 16, background: 'rgba(184,115,15,0.10)', borderRadius: 11, border: '1px solid rgba(184,115,15,0.42)', flexDirection: 'column' }}&gt;&#10;                &lt;Text style={{ fontSize: 21, fontWeight: 'bold', color: '#8A5608' }}&gt;③ 首个账号就是管理员&lt;/Text&gt;&#10;                &lt;Text style={{ fontSize: 17, color: 'rgba(29,27,22,0.80)', lineHeight: 1.55, marginTop: 8 }}&gt;第一个注册的用户自动获得管理员权限；登录状态由 24 小时会话保持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左下角能看到引擎开关与实时连接状态&lt;/Text&gt;&#10;        &lt;Text style={{ fontSize: 15, color: 'rgba(29,27,22,0.48)' }}&gt;13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609600" y="314325"/>
            <a:ext cx="6248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进门：登录注册，以及整张控制台地图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609600" y="885825"/>
            <a:ext cx="6248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浏览器打开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http://localhost:5180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就是这一页；左边那一条，是你之后所有操作的入口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10325100" y="504825"/>
            <a:ext cx="12573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10496550" y="6000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真实界面截图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2476500" y="1181100"/>
            <a:ext cx="5010150" cy="35814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1"/>
          <a:srcRect l="37" r="37"/>
          <a:stretch>
            <a:fillRect/>
          </a:stretch>
        </p:blipFill>
        <p:spPr>
          <a:xfrm>
            <a:off x="2476500" y="1181100"/>
            <a:ext cx="5010150" cy="3581400"/>
          </a:xfrm>
          <a:prstGeom prst="roundRect">
            <a:avLst>
              <a:gd name="adj" fmla="val 2926"/>
            </a:avLst>
          </a:prstGeom>
        </p:spPr>
      </p:pic>
      <p:sp>
        <p:nvSpPr>
          <p:cNvPr id="82" name="矩形 81"/>
          <p:cNvSpPr/>
          <p:nvPr/>
        </p:nvSpPr>
        <p:spPr>
          <a:xfrm>
            <a:off x="7696200" y="1181100"/>
            <a:ext cx="2019300" cy="35814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rcRect t="17" b="17"/>
          <a:stretch>
            <a:fillRect/>
          </a:stretch>
        </p:blipFill>
        <p:spPr>
          <a:xfrm>
            <a:off x="7696200" y="1181100"/>
            <a:ext cx="2019300" cy="3581400"/>
          </a:xfrm>
          <a:prstGeom prst="roundRect">
            <a:avLst>
              <a:gd name="adj" fmla="val 5189"/>
            </a:avLst>
          </a:prstGeom>
        </p:spPr>
      </p:pic>
      <p:sp>
        <p:nvSpPr>
          <p:cNvPr id="84" name="圆角矩形 83"/>
          <p:cNvSpPr/>
          <p:nvPr/>
        </p:nvSpPr>
        <p:spPr>
          <a:xfrm>
            <a:off x="609600" y="4914900"/>
            <a:ext cx="3543300" cy="1352550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762000" y="5067300"/>
            <a:ext cx="3238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第一次用先注册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762000" y="5391150"/>
            <a:ext cx="32385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用户名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3–32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位字母或数字；密码至少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位且要同时含字母与数字。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4324350" y="4914900"/>
            <a:ext cx="3543300" cy="1352550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4476750" y="5067300"/>
            <a:ext cx="3238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日常只走三个页面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4476750" y="5391150"/>
            <a:ext cx="32385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数据（传文件）→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诊断（发起与盯着跑）→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报告（读结论）。其余是进阶能力。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8039100" y="4914900"/>
            <a:ext cx="3543300" cy="1352550"/>
          </a:xfrm>
          <a:prstGeom prst="roundRect">
            <a:avLst>
              <a:gd name="adj" fmla="val 7746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8191500" y="5067300"/>
            <a:ext cx="3238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首个账号就是管理员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8191500" y="5391150"/>
            <a:ext cx="32385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第一个注册的用户自动获得管理员权限；登录状态由</a:t>
            </a: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24 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小时会话保持。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609600" y="6391275"/>
            <a:ext cx="2428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左下角能看到引擎开关与实时连接状态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13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换引擎：14 个里挑一个干活&lt;/Text&gt;&#10;            &lt;Text style={{ fontSize: 17, color: 'rgba(29,27,22,0.72)', marginTop: 6 }}&gt;点左下角引擎名展开清单。不换也行 —— 本机默认的 OMP Engine 已经就绪&lt;/Text&gt;&#10;        &lt;/Box&gt;&#10;        &lt;Box style={{ padding: '10px 18px', background: '#1D1B16', borderRadius: 8 }}&gt;&#10;            &lt;Text style={{ fontSize: 16, fontWeight: 'bold', color: '#B8730F' }}&gt;零基础可以跳过本页&lt;/Text&gt;&#10;        &lt;/Box&gt;&#10;    &lt;/Box&gt;&#10;    &lt;Box style={{ width: 1152, height: 534, flexDirection: 'row', gap: 22 }}&gt;&#10;        &lt;Box style={{ width: 700, height: 534, justifyContent: 'center', alignItems: 'center' }}&gt;&#10;            &lt;Image src=&quot;assets/03_engine.png&quot; style={{ width: 700, height: 446, borderRadius: 11, border: '1px solid rgba(29,27,22,0.10)' }} /&gt;&#10;        &lt;/Box&gt;&#10;        &lt;Box style={{ width: 430, height: 534, flexDirection: 'column', gap: 15 }}&gt;&#10;            &lt;Box style={{ height: 168, padding: 18, background: '#FFFFFF', borderRadius: 12, border: '1px solid rgba(29,27,22,0.10)', flexDirection: 'column' }}&gt;&#10;                &lt;Text style={{ fontSize: 21, fontWeight: 'bold', color: '#1D1B16' }}&gt;① 绿点 = 能跑&lt;/Text&gt;&#10;                &lt;Text style={{ fontSize: 17, color: 'rgba(29,27,22,0.78)', lineHeight: 1.6, marginTop: 9 }}&gt;每个引擎后面标着自己的定位：实时引擎、原生运行浏览、零成本演练。&lt;/Text&gt;&#10;            &lt;/Box&gt;&#10;            &lt;Box style={{ height: 168, padding: 18, background: '#FFFFFF', borderRadius: 12, border: '1px solid rgba(29,27,22,0.10)', flexDirection: 'column' }}&gt;&#10;                &lt;Text style={{ fontSize: 21, fontWeight: 'bold', color: '#1D1B16' }}&gt;② 灰点 = 本机没装&lt;/Text&gt;&#10;                &lt;Text style={{ fontSize: 17, color: 'rgba(29,27,22,0.78)', lineHeight: 1.6, marginTop: 9 }}&gt;灰色并标注&quot;离线&quot;。选了也跑不起来，所以直接用绿点的就行。&lt;/Text&gt;&#10;            &lt;/Box&gt;&#10;            &lt;Box style={{ height: 168, padding: 18, background: 'rgba(184,115,15,0.10)', borderRadius: 12, border: '1px solid rgba(184,115,15,0.42)', flexDirection: 'column' }}&gt;&#10;                &lt;Text style={{ fontSize: 21, fontWeight: 'bold', color: '#8A5608' }}&gt;③ 换引擎不影响历史&lt;/Text&gt;&#10;                &lt;Text style={{ fontSize: 17, color: 'rgba(29,27,22,0.80)', lineHeight: 1.6, marginTop: 9 }}&gt;每次运行都会记下自己的引擎，账本上会打 MOCK / OMP 徽标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第一次建议保持默认，不要动这里&lt;/Text&gt;&#10;        &lt;Text style={{ fontSize: 15, color: 'rgba(29,27,22,0.48)' }}&gt;14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609600" y="314325"/>
            <a:ext cx="5562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换引擎：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14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个里挑一个干活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609600" y="885825"/>
            <a:ext cx="5562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点左下角引擎名展开清单。不换也行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本机默认的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OMP Engine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已经就绪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9867900" y="504825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10039350" y="600075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零基础可以跳过本页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609600" y="1600200"/>
            <a:ext cx="6667500" cy="42481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rcRect l="61" r="61"/>
          <a:stretch>
            <a:fillRect/>
          </a:stretch>
        </p:blipFill>
        <p:spPr>
          <a:xfrm>
            <a:off x="609600" y="1600200"/>
            <a:ext cx="6667500" cy="4248150"/>
          </a:xfrm>
          <a:prstGeom prst="roundRect">
            <a:avLst>
              <a:gd name="adj" fmla="val 2466"/>
            </a:avLst>
          </a:prstGeom>
        </p:spPr>
      </p:pic>
      <p:sp>
        <p:nvSpPr>
          <p:cNvPr id="103" name="圆角矩形 102"/>
          <p:cNvSpPr/>
          <p:nvPr/>
        </p:nvSpPr>
        <p:spPr>
          <a:xfrm>
            <a:off x="7486650" y="1181100"/>
            <a:ext cx="40957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658100" y="1352550"/>
            <a:ext cx="37528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绿点</a:t>
            </a: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能跑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658100" y="1685925"/>
            <a:ext cx="37528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每个引擎后面标着自己的定位：实时引擎、原生运行浏览、零成本演练。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7486650" y="2924175"/>
            <a:ext cx="40957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658100" y="3095625"/>
            <a:ext cx="37528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灰点</a:t>
            </a: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本机没装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658100" y="3429000"/>
            <a:ext cx="37528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灰色并标注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离线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。选了也跑不起来，所以直接用绿点的就行。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7486650" y="4667250"/>
            <a:ext cx="4095750" cy="1600200"/>
          </a:xfrm>
          <a:prstGeom prst="roundRect">
            <a:avLst>
              <a:gd name="adj" fmla="val 7143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658100" y="4838700"/>
            <a:ext cx="37528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换引擎不影响历史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658100" y="5172075"/>
            <a:ext cx="37528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每次运行都会记下自己的引擎，账本上会打</a:t>
            </a: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MOCK / OMP 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徽标。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09600" y="6391275"/>
            <a:ext cx="2143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第一次建议保持默认，不要动这里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14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数据工作台：把数据放进来&lt;/Text&gt;&#10;            &lt;Text style={{ fontSize: 17, color: 'rgba(29,27,22,0.72)', marginTop: 6 }}&gt;点左侧「数据」。右上角「上传文件」可多选，单文件上限 500 MB；CSV / Excel / MAT / JSON 都能传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文件夹与文件同列&lt;/Text&gt;&#10;        &lt;/Box&gt;&#10;    &lt;/Box&gt;&#10;    &lt;Box style={{ width: 1152, height: 534, justifyContent: 'center', alignItems: 'center' }}&gt;&#10;        &lt;Image src=&quot;assets/04_data.png&quot; style={{ width: 1075, height: 527, borderRadius: 11, border: '1px solid rgba(29,27,22,0.10)' }} /&gt;&#10;    &lt;/Box&gt;&#10;    &lt;Box style={{ width: 1152, height: 44, flexDirection: 'row', alignItems: 'center', justifyContent: 'space-between' }}&gt;&#10;        &lt;Text style={{ fontSize: 15, color: 'rgba(29,27,22,0.48)' }}&gt;统计条：13 文件夹 · 5 文件 · 17.9 MB ｜ 也可直接把文件拷进项目 data/ 目录&lt;/Text&gt;&#10;        &lt;Text style={{ fontSize: 15, color: 'rgba(29,27,22,0.48)' }}&gt;15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 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09600" y="314325"/>
            <a:ext cx="75152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数据工作台：把数据放进来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09600" y="885825"/>
            <a:ext cx="7515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点左侧「数据」。右上角「上传文件」可多选，单文件上限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500 MB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CSV / Excel / MAT / JSON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都能传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10020300" y="504825"/>
            <a:ext cx="15621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191750" y="600075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文件夹与文件同列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981075" y="1219200"/>
            <a:ext cx="10239375" cy="50196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1"/>
          <a:srcRect t="15" b="15"/>
          <a:stretch>
            <a:fillRect/>
          </a:stretch>
        </p:blipFill>
        <p:spPr>
          <a:xfrm>
            <a:off x="981075" y="1219200"/>
            <a:ext cx="10239375" cy="5019675"/>
          </a:xfrm>
          <a:prstGeom prst="roundRect">
            <a:avLst>
              <a:gd name="adj" fmla="val 2087"/>
            </a:avLst>
          </a:prstGeom>
        </p:spPr>
      </p:pic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09600" y="6391275"/>
            <a:ext cx="495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统计条：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文件夹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5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17.9 MB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也可直接把文件拷进项目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data/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15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选中数据 → 发起分析&lt;/Text&gt;&#10;            &lt;Text style={{ fontSize: 17, color: 'rgba(29,27,22,0.72)', marginTop: 6 }}&gt;勾上左侧复选框，工具条才会出现；点「分析选中文件」，系统会带着数据跳到诊断工作台&lt;/Text&gt;&#10;        &lt;/Box&gt;&#10;        &lt;Box style={{ padding: '10px 18px', background: '#1D1B16', borderRadius: 8 }}&gt;&#10;            &lt;Text style={{ fontSize: 16, fontWeight: 'bold', color: '#B8730F' }}&gt;三种发起方式&lt;/Text&gt;&#10;        &lt;/Box&gt;&#10;    &lt;/Box&gt;&#10;    &lt;Box style={{ width: 1152, height: 534, flexDirection: 'column', gap: 16 }}&gt;&#10;        &lt;Box style={{ height: 220, justifyContent: 'center', alignItems: 'center' }}&gt;&#10;            &lt;Image src=&quot;assets/05_selected.png&quot; style={{ width: 1152, height: 220, borderRadius: 11, border: '1px solid rgba(29,27,22,0.10)' }} /&gt;&#10;        &lt;/Box&gt;&#10;        &lt;Box style={{ height: 298, flexDirection: 'row', gap: 20 }}&gt;&#10;            &lt;Box style={{ flex: 1, padding: 18, background: '#FFFFFF', borderRadius: 11, border: '1px solid rgba(29,27,22,0.10)', flexDirection: 'column' }}&gt;&#10;                &lt;Text style={{ fontSize: 21, fontWeight: 'bold', color: '#1D1B16' }}&gt;① 行尾「分析」最省事&lt;/Text&gt;&#10;                &lt;Text style={{ fontSize: 17, color: 'rgba(29,27,22,0.78)', lineHeight: 1.62, marginTop: 9 }}&gt;只跑一个文件时最快。点下去效果与批量完全一致，只是数据源被锁成这一个文件，不会误带上别的数据。&lt;/Text&gt;&#10;                &lt;Box style={{ marginTop: 'auto', padding: '10px 12px', background: 'rgba(228,220,203,0.75)', borderRadius: 8 }}&gt;&#10;                    &lt;Text style={{ fontSize: 16, color: 'rgba(29,27,22,0.82)' }}&gt;零基础推荐用这个&lt;/Text&gt;&#10;                &lt;/Box&gt;&#10;            &lt;/Box&gt;&#10;            &lt;Box style={{ flex: 1, padding: 18, background: '#FFFFFF', borderRadius: 11, border: '1px solid rgba(29,27,22,0.10)', flexDirection: 'column' }}&gt;&#10;                &lt;Text style={{ fontSize: 21, fontWeight: 'bold', color: '#1D1B16' }}&gt;② 勾选后可批量分析&lt;/Text&gt;&#10;                &lt;Text style={{ fontSize: 17, color: 'rgba(29,27,22,0.78)', lineHeight: 1.62, marginTop: 9 }}&gt;多个文件属于同一场景时用这个。勾选后点工具条上的「分析选中文件」，之后在配置页确认数据源即可。&lt;/Text&gt;&#10;                &lt;Box style={{ marginTop: 'auto', padding: '10px 12px', background: 'rgba(228,220,203,0.75)', borderRadius: 8 }}&gt;&#10;                    &lt;Text style={{ fontSize: 16, color: 'rgba(29,27,22,0.82)' }}&gt;可多选，也可全选&lt;/Text&gt;&#10;                &lt;/Box&gt;&#10;            &lt;/Box&gt;&#10;            &lt;Box style={{ flex: 1, padding: 18, background: 'rgba(184,115,15,0.10)', borderRadius: 11, border: '1px solid rgba(184,115,15,0.42)', flexDirection: 'column' }}&gt;&#10;                &lt;Text style={{ fontSize: 21, fontWeight: 'bold', color: '#8A5608' }}&gt;③ 整个文件夹一起分析&lt;/Text&gt;&#10;                &lt;Text style={{ fontSize: 17, color: 'rgba(29,27,22,0.80)', lineHeight: 1.62, marginTop: 9 }}&gt;双击进入文件夹后，顶部会出现「分析整个文件夹」。一次诊断要同时吃过程数据与质检数据时，这样最省事。&lt;/Text&gt;&#10;                &lt;Box style={{ marginTop: 'auto', padding: '10px 12px', background: 'rgba(184,115,15,0.20)', borderRadius: 8 }}&gt;&#10;                    &lt;Text style={{ fontSize: 16, color: '#8A5608' }}&gt;过程数据 + 质检数据同批送入&lt;/Text&gt;&#10;                &lt;/Box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选中数量会显示在左下角：1 files selected&lt;/Text&gt;&#10;        &lt;Text style={{ fontSize: 15, color: 'rgba(29,27,22,0.48)' }}&gt;16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609600" y="314325"/>
            <a:ext cx="6477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选中数据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发起分析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609600" y="885825"/>
            <a:ext cx="6477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勾上左侧复选框，工具条才会出现；点「分析选中文件」，系统会带着数据跳到诊断工作台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10325100" y="504825"/>
            <a:ext cx="1257300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10496550" y="6000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三种发起方式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609600" y="1181100"/>
            <a:ext cx="10972800" cy="20955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1"/>
          <a:srcRect l="59" r="59"/>
          <a:stretch>
            <a:fillRect/>
          </a:stretch>
        </p:blipFill>
        <p:spPr>
          <a:xfrm>
            <a:off x="609600" y="1181100"/>
            <a:ext cx="10972800" cy="2095500"/>
          </a:xfrm>
          <a:prstGeom prst="roundRect">
            <a:avLst>
              <a:gd name="adj" fmla="val 5000"/>
            </a:avLst>
          </a:prstGeom>
        </p:spPr>
      </p:pic>
      <p:sp>
        <p:nvSpPr>
          <p:cNvPr id="132" name="圆角矩形 131"/>
          <p:cNvSpPr/>
          <p:nvPr/>
        </p:nvSpPr>
        <p:spPr>
          <a:xfrm>
            <a:off x="609600" y="3429000"/>
            <a:ext cx="3533775" cy="283845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781050" y="3600450"/>
            <a:ext cx="31908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行尾「分析」最省事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781050" y="3933825"/>
            <a:ext cx="3190875" cy="952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只跑一个文件时最快。点下去效果与批量完全一致，只是数据源被锁成这一个文件，不会误带上别的数据。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781050" y="5715000"/>
            <a:ext cx="3190875" cy="381000"/>
          </a:xfrm>
          <a:prstGeom prst="roundRect">
            <a:avLst>
              <a:gd name="adj" fmla="val 20000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95350" y="581025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零基础推荐用这个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4333875" y="3429000"/>
            <a:ext cx="3524250" cy="283845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4505325" y="3600450"/>
            <a:ext cx="3181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勾选后可批量分析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4505325" y="3933825"/>
            <a:ext cx="3181350" cy="952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多个文件属于同一场景时用这个。勾选后点工具条上的「分析选中文件」，之后在配置页确认数据源即可。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4505325" y="5715000"/>
            <a:ext cx="3181350" cy="381000"/>
          </a:xfrm>
          <a:prstGeom prst="roundRect">
            <a:avLst>
              <a:gd name="adj" fmla="val 20000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4619625" y="5810250"/>
            <a:ext cx="2952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可多选，也可全选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8048625" y="3429000"/>
            <a:ext cx="3533775" cy="2838450"/>
          </a:xfrm>
          <a:prstGeom prst="roundRect">
            <a:avLst>
              <a:gd name="adj" fmla="val 3691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8220075" y="3600450"/>
            <a:ext cx="31908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整个文件夹一起分析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8220075" y="3933825"/>
            <a:ext cx="3190875" cy="952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双击进入文件夹后，顶部会出现「分析整个文件夹」。一次诊断要同时吃过程数据与质检数据时，这样最省事。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8220075" y="5715000"/>
            <a:ext cx="3190875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8334375" y="581025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过程数据</a:t>
            </a:r>
            <a:r>
              <a:rPr lang="en-US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质检数据同批送入</a:t>
            </a:r>
            <a:endParaRPr lang="zh-CN" sz="1200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609600" y="6391275"/>
            <a:ext cx="2724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选中数量会显示在左下角：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 files selected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16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 descr="&lt;Slide style={{ padding: '22px 64px 18px 64px', background: '#F7F4EC' }}&gt;&#13;&#10;    &lt;Box style={{ width: 1152, height: 102, flexDirection: 'row', alignItems: 'center', justifyContent: 'space-between' }}&gt;&#13;&#10;        &lt;Box style={{ flexDirection: 'column' }}&gt;&#13;&#10;            &lt;Text style={{ fontSize: 36, fontWeight: 'bold', color: '#1D1B16', lineHeight: 1.25 }}&gt;配置一次诊断：八个控件怎么填&lt;/Text&gt;&#13;&#10;            &lt;Text style={{ fontSize: 17, color: 'rgba(29,27,22,0.72)', marginTop: 6 }}&gt;数据源已经带过来了，这里只要做两件事：说清楚要问什么，然后决定用什么策略&lt;/Text&gt;&#13;&#10;        &lt;/Box&gt;&#13;&#10;        &lt;Box style={{ padding: '10px 18px', background: '#1D1B16', borderRadius: 8 }}&gt;&#13;&#10;            &lt;Text style={{ fontSize: 16, fontWeight: 'bold', color: '#B8730F' }}&gt;③ 写得越具体越贴题&lt;/Text&gt;&#13;&#10;        &lt;/Box&gt;&#13;&#10;    &lt;/Box&gt;&#13;&#10;    &lt;Box style={{ width: 1152, height: 534, flexDirection: 'column', gap: 16 }}&gt;&#13;&#10;        &lt;Box style={{ height: 317, justifyContent: 'center', alignItems: 'center' }}&gt;&#13;&#10;            &lt;Image src=&quot;assets/06_configure.png&quot; style={{ width: 1152, height: 317, borderRadius: 11, border: '1px solid rgba(29,27,22,0.10)' }} /&gt;&#13;&#10;        &lt;/Box&gt;&#13;&#10;        &lt;Box style={{ height: 201, flexDirection: 'row', gap: 22 }}&gt;&#13;&#10;            &lt;Box style={{ flex: 1, padding: 18, background: '#FFFFFF', borderRadius: 11, border: '1px solid rgba(29,27,22,0.10)', flexDirection: 'column' }}&gt;&#13;&#10;                &lt;Text style={{ fontSize: 21, fontWeight: 'bold', color: '#1D1B16' }}&gt;必填的两栏&lt;/Text&gt;&#13;&#10;                &lt;Text style={{ fontSize: 17, color: 'rgba(29,27,22,0.78)', lineHeight: 1.6, marginTop: 9 }}&gt;② 场景名与 ③ 诊断问题会原样写进报告首页。把对象和现象写清楚，例如&quot;本批次是否发生真实工况漂移&quot;。&lt;/Text&gt;&#13;&#10;                &lt;Box style={{ marginTop: 'auto', padding: '9px 12px', background: 'rgba(228,220,203,0.75)', borderRadius: 8 }}&gt;&#13;&#10;                    &lt;Text style={{ fontSize: 16, color: 'rgba(29,27,22,0.82)' }}&gt;留空也能跑，但结论会很泛&lt;/Text&gt;&#13;&#10;                &lt;/Box&gt;&#13;&#10;            &lt;/Box&gt;&#13;&#10;            &lt;Box style={{ flex: 1, padding: 18, background: '#FFFFFF', borderRadius: 11, border: '1px solid rgba(29,27,22,0.10)', flexDirection: 'column' }}&gt;&#13;&#10;                &lt;Text style={{ fontSize: 21, fontWeight: 'bold', color: '#1D1B16' }}&gt;四个策略下拉&lt;/Text&gt;&#13;&#10;                &lt;Text style={{ fontSize: 17, color: 'rgba(29,27,22,0.78)', lineHeight: 1.6, marginTop: 9 }}&gt;④ 最大轮次 ⑤ 报告语言 ⑥ 本体策略 ⑦ 诊断深度。第一次全部保持默认值即可。&lt;/Text&gt;&#13;&#10;                &lt;Box style={{ marginTop: 'auto', padding: '9px 12px', background: 'rgba(228,220,203,0.75)', borderRadius: 8 }}&gt;&#13;&#10;                    &lt;Text style={{ fontSize: 16, color: 'rgba(29,27,22,0.82)' }}&gt;默认：不限轮次 · 中文 · 自动&lt;/Text&gt;&#13;&#10;                &lt;/Box&gt;&#13;&#10;            &lt;/Box&gt;&#13;&#10;                    &lt;/Box&gt;&#13;&#10;    &lt;/Box&gt;&#13;&#10;    &lt;Box style={{ width: 1152, height: 44, flexDirection: 'row', alignItems: 'center', justifyContent: 'space-between' }}&gt;&#13;&#10;        &lt;Text style={{ fontSize: 15, color: 'rgba(29,27,22,0.48)' }}&gt;配置只在这一刻生效，运行开始后不可更改&lt;/Text&gt;&#13;&#10;        &lt;Text style={{ fontSize: 15, color: 'rgba(29,27,22,0.48)' }}&gt;17 / 3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09600" y="314325"/>
            <a:ext cx="5829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配置一次诊断：八个控件怎么填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09600" y="885825"/>
            <a:ext cx="5829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数据源已经带过来了，这里只要做两件事：说清楚要问什么，然后决定用什么策略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9820275" y="504825"/>
            <a:ext cx="1762125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991725" y="600075"/>
            <a:ext cx="14192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写得越具体越贴题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609600" y="1181100"/>
            <a:ext cx="10972800" cy="301942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6" name="图片 155"/>
          <p:cNvPicPr>
            <a:picLocks noChangeAspect="1"/>
          </p:cNvPicPr>
          <p:nvPr/>
        </p:nvPicPr>
        <p:blipFill>
          <a:blip r:embed="rId1"/>
          <a:srcRect t="5" b="5"/>
          <a:stretch>
            <a:fillRect/>
          </a:stretch>
        </p:blipFill>
        <p:spPr>
          <a:xfrm>
            <a:off x="609600" y="1181100"/>
            <a:ext cx="10972800" cy="3019425"/>
          </a:xfrm>
          <a:prstGeom prst="roundRect">
            <a:avLst>
              <a:gd name="adj" fmla="val 3470"/>
            </a:avLst>
          </a:prstGeom>
        </p:spPr>
      </p:pic>
      <p:sp>
        <p:nvSpPr>
          <p:cNvPr id="157" name="圆角矩形 156"/>
          <p:cNvSpPr/>
          <p:nvPr/>
        </p:nvSpPr>
        <p:spPr>
          <a:xfrm>
            <a:off x="609600" y="4352925"/>
            <a:ext cx="5381625" cy="1914525"/>
          </a:xfrm>
          <a:prstGeom prst="roundRect">
            <a:avLst>
              <a:gd name="adj" fmla="val 547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781050" y="4524375"/>
            <a:ext cx="5038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必填的两栏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781050" y="4857750"/>
            <a:ext cx="5038725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场景名与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③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诊断问题会原样写进报告首页。把对象和现象写清楚，例如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本批次是否发生真实工况漂移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781050" y="5734050"/>
            <a:ext cx="5038725" cy="361950"/>
          </a:xfrm>
          <a:prstGeom prst="roundRect">
            <a:avLst>
              <a:gd name="adj" fmla="val 21053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895350" y="5819775"/>
            <a:ext cx="4810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留空也能跑，但结论会很泛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6200775" y="4352925"/>
            <a:ext cx="5381625" cy="1914525"/>
          </a:xfrm>
          <a:prstGeom prst="roundRect">
            <a:avLst>
              <a:gd name="adj" fmla="val 547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372225" y="4524375"/>
            <a:ext cx="5038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四个策略下拉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6372225" y="4857750"/>
            <a:ext cx="5038725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最大轮次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⑤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报告语言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⑥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本体策略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⑦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诊断深度。第一次全部保持默认值即可。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6372225" y="5734050"/>
            <a:ext cx="5038725" cy="361950"/>
          </a:xfrm>
          <a:prstGeom prst="roundRect">
            <a:avLst>
              <a:gd name="adj" fmla="val 21053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6486525" y="5819775"/>
            <a:ext cx="4810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默认：不限轮次</a:t>
            </a:r>
            <a:r>
              <a:rPr lang="en-US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中文</a:t>
            </a:r>
            <a:r>
              <a:rPr lang="en-US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609600" y="6391275"/>
            <a:ext cx="2714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配置只在这一刻生效，运行开始后不可更改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17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 descr="&lt;Slide style={{ padding: '22px 64px 18px 64px', background: '#F7F4EC' }}&gt;&#13;&#10;    &lt;Box style={{ width: 1152, height: 102, flexDirection: 'row', alignItems: 'center', justifyContent: 'space-between' }}&gt;&#13;&#10;        &lt;Box style={{ flexDirection: 'column' }}&gt;&#13;&#10;            &lt;Text style={{ fontSize: 36, fontWeight: 'bold', color: '#1D1B16', lineHeight: 1.25 }}&gt;任务列表：一屏读完全局状态&lt;/Text&gt;&#13;&#10;            &lt;Text style={{ fontSize: 17, color: 'rgba(29,27,22,0.72)', marginTop: 6 }}&gt;发起之后回到这里。任务按状态分组，结论与评分直接摆在列表里，不用点进去看&lt;/Text&gt;&#13;&#10;        &lt;/Box&gt;&#13;&#10;        &lt;Box style={{ padding: '10px 18px', background: 'rgba(184,115,15,0.12)', border: '1px solid rgba(184,115,15,0.42)', borderRadius: 8 }}&gt;&#13;&#10;            &lt;Text style={{ fontSize: 16, fontWeight: 'bold', color: '#B8730F' }}&gt;本机：活跃 3 · 历史 135&lt;/Text&gt;&#13;&#10;        &lt;/Box&gt;&#13;&#10;    &lt;/Box&gt;&#13;&#10;    &lt;Box style={{ width: 1152, height: 534, flexDirection: 'column', gap: 16 }}&gt;&#13;&#10;        &lt;Box style={{ height: 402, justifyContent: 'center', alignItems: 'center' }}&gt;&#13;&#10;            &lt;Image src=&quot;assets/07_tasklist.png&quot; style={{ width: 958, height: 402, borderRadius: 11, border: '1px solid rgba(29,27,22,0.10)' }} /&gt;&#13;&#10;        &lt;/Box&gt;&#13;&#10;        &lt;Box style={{ height: 116, flexDirection: 'row', gap: 16 }}&gt;&#13;&#10;            &lt;Box style={{ flex: 1, padding: 14, background: '#FFFFFF', borderRadius: 11, border: '1px solid rgba(29,27,22,0.10)' }}&gt;&#13;&#10;                &lt;Text style={{ fontSize: 19, fontWeight: 'bold', color: '#1D1B16' }}&gt;① 活跃任务&lt;/Text&gt;&#13;&#10;                &lt;Text style={{ fontSize: 16, color: 'rgba(29,27,22,0.76)', lineHeight: 1.45, marginTop: 6 }}&gt;正在运行或等待你回答的，排在最上面&lt;/Text&gt;&#13;&#10;            &lt;/Box&gt;&#13;&#10;            &lt;Box style={{ flex: 1, padding: 14, background: '#FFFFFF', borderRadius: 11, border: '1px solid rgba(29,27,22,0.10)' }}&gt;&#13;&#10;                &lt;Text style={{ fontSize: 19, fontWeight: 'bold', color: '#1D1B16' }}&gt;② 结论列&lt;/Text&gt;&#13;&#10;                &lt;Text style={{ fontSize: 16, color: 'rgba(29,27,22,0.76)', lineHeight: 1.45, marginTop: 6 }}&gt;ENDORSED / COMPETING_SET 一眼可辨，附 0–100 评分&lt;/Text&gt;&#13;&#10;            &lt;/Box&gt;&#13;&#10;            &lt;Box style={{ flex: 1, padding: 14, background: 'rgba(184,115,15,0.10)', borderRadius: 11, border: '1px solid rgba(184,115,15,0.42)' }}&gt;&#13;&#10;                &lt;Text style={{ fontSize: 19, fontWeight: 'bold', color: '#8A5608' }}&gt;③ 点行即看&lt;/Text&gt;&#13;&#10;                &lt;Text style={{ fontSize: 16, color: 'rgba(29,27,22,0.80)', lineHeight: 1.45, marginTop: 6 }}&gt;点任务名进实时工作台，已完成的会直接打开报告&lt;/Text&gt;&#13;&#10;            &lt;/Box&gt;&#13;&#10;            &lt;Box style={{ flex: 1, padding: 14, background: '#1D1B16', borderRadius: 11 }}&gt;&#13;&#10;                &lt;Text style={{ fontSize: 19, fontWeight: 'bold', color: '#F7F4EC' }}&gt;④ 新建任务&lt;/Text&gt;&#13;&#10;                &lt;Text style={{ fontSize: 16, color: 'rgba(247,244,236,0.80)', lineHeight: 1.45, marginTop: 6 }}&gt;回到数据页重选一份数据，开始下一轮&lt;/Text&gt;&#13;&#10;            &lt;/Box&gt;&#13;&#10;        &lt;/Box&gt;&#13;&#10;    &lt;/Box&gt;&#13;&#10;    &lt;Box style={{ width: 1152, height: 44, flexDirection: 'row', alignItems: 'center', justifyContent: 'space-between' }}&gt;&#13;&#10;        &lt;Text style={{ fontSize: 15, color: 'rgba(29,27,22,0.48)' }}&gt;表头固定，向下滚动时列名始终可见&lt;/Text&gt;&#13;&#10;        &lt;Text style={{ fontSize: 15, color: 'rgba(29,27,22,0.48)' }}&gt;18 / 3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1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609600" y="314325"/>
            <a:ext cx="5829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任务列表：一屏读完全局状态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09600" y="885825"/>
            <a:ext cx="5829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发起之后回到这里。任务按状态分组，结论与评分直接摆在列表里，不用点进去看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9544050" y="504825"/>
            <a:ext cx="203835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9715500" y="600075"/>
            <a:ext cx="1695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本机：活跃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3 ·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历史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135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1533525" y="1181100"/>
            <a:ext cx="9124950" cy="38290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1"/>
          <a:srcRect l="26" r="26"/>
          <a:stretch>
            <a:fillRect/>
          </a:stretch>
        </p:blipFill>
        <p:spPr>
          <a:xfrm>
            <a:off x="1533525" y="1181100"/>
            <a:ext cx="9124950" cy="3829050"/>
          </a:xfrm>
          <a:prstGeom prst="roundRect">
            <a:avLst>
              <a:gd name="adj" fmla="val 2736"/>
            </a:avLst>
          </a:prstGeom>
        </p:spPr>
      </p:pic>
      <p:sp>
        <p:nvSpPr>
          <p:cNvPr id="177" name="圆角矩形 176"/>
          <p:cNvSpPr/>
          <p:nvPr/>
        </p:nvSpPr>
        <p:spPr>
          <a:xfrm>
            <a:off x="609600" y="5162550"/>
            <a:ext cx="2628900" cy="1104900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742950" y="5295900"/>
            <a:ext cx="2362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42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活跃任务</a:t>
            </a:r>
            <a:endParaRPr lang="zh-CN" sz="142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742950" y="5572125"/>
            <a:ext cx="23622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正在运行或等待你回答的，排在最上面</a:t>
            </a:r>
            <a:endParaRPr lang="zh-CN" sz="1200">
              <a:solidFill>
                <a:srgbClr val="1D1B16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3390900" y="5162550"/>
            <a:ext cx="2628900" cy="1104900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3524250" y="5295900"/>
            <a:ext cx="2362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42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结论列</a:t>
            </a:r>
            <a:endParaRPr lang="zh-CN" sz="142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3524250" y="5572125"/>
            <a:ext cx="23622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ENDORSED / COMPETING_SET </a:t>
            </a:r>
            <a:r>
              <a:rPr lang="zh-CN" sz="120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一眼可辨，附</a:t>
            </a:r>
            <a:r>
              <a:rPr lang="en-US" sz="120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0–100 </a:t>
            </a:r>
            <a:r>
              <a:rPr lang="zh-CN" sz="1200">
                <a:solidFill>
                  <a:srgbClr val="1D1B16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评分</a:t>
            </a:r>
            <a:endParaRPr lang="zh-CN" sz="1200">
              <a:solidFill>
                <a:srgbClr val="1D1B16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圆角矩形 182"/>
          <p:cNvSpPr/>
          <p:nvPr/>
        </p:nvSpPr>
        <p:spPr>
          <a:xfrm>
            <a:off x="6172200" y="5162550"/>
            <a:ext cx="2628900" cy="1104900"/>
          </a:xfrm>
          <a:prstGeom prst="roundRect">
            <a:avLst>
              <a:gd name="adj" fmla="val 9483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6305550" y="5295900"/>
            <a:ext cx="2362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42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点行即看</a:t>
            </a:r>
            <a:endParaRPr lang="zh-CN" sz="142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305550" y="5572125"/>
            <a:ext cx="23622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点任务名进实时工作台，已完成的会直接打开报告</a:t>
            </a:r>
            <a:endParaRPr lang="zh-CN" sz="1200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8953500" y="5162550"/>
            <a:ext cx="2628900" cy="1104900"/>
          </a:xfrm>
          <a:prstGeom prst="roundRect">
            <a:avLst>
              <a:gd name="adj" fmla="val 9483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9086850" y="5295900"/>
            <a:ext cx="2362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lang="zh-CN" sz="1425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新建任务</a:t>
            </a:r>
            <a:endParaRPr lang="zh-CN" sz="1425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9086850" y="5572125"/>
            <a:ext cx="23622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F7F4EC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回到数据页重选一份数据，开始下一轮</a:t>
            </a:r>
            <a:endParaRPr lang="zh-CN" sz="1200">
              <a:solidFill>
                <a:srgbClr val="F7F4EC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609600" y="6391275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表头固定，向下滚动时列名始终可见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18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实时监控工作台&lt;/Text&gt;&#10;            &lt;Text style={{ fontSize: 17, color: 'rgba(29,27,22,0.72)', marginTop: 6 }}&gt;这是全篇信息密度最高的一屏：点进任务后，你会一直盯着它，直到报告出来&lt;/Text&gt;&#10;        &lt;/Box&gt;&#10;        &lt;Box style={{ padding: '10px 18px', background: '#1D1B16', borderRadius: 8 }}&gt;&#10;            &lt;Text style={{ fontSize: 16, fontWeight: 'bold', color: '#B8730F' }}&gt;真实 OMP 运行 #0060f47b&lt;/Text&gt;&#10;        &lt;/Box&gt;&#10;    &lt;/Box&gt;&#10;    &lt;Box style={{ width: 1152, height: 534, flexDirection: 'row', gap: 22 }}&gt;&#10;        &lt;Box style={{ width: 698, height: 534, justifyContent: 'center', alignItems: 'center' }}&gt;&#10;            &lt;Image src=&quot;assets/08_liverun.png&quot; style={{ width: 698, height: 534, borderRadius: 11, border: '1px solid rgba(29,27,22,0.10)' }} /&gt;&#10;        &lt;/Box&gt;&#10;        &lt;Box style={{ width: 432, height: 534, flexDirection: 'column', gap: 12 }}&gt;&#10;            &lt;Box style={{ height: 170, padding: 17, background: '#1D1B16', borderRadius: 12, flexDirection: 'column' }}&gt;&#10;                &lt;Text style={{ fontSize: 21, fontWeight: 'bold', color: '#F7F4EC' }}&gt;顶部：状态与进度&lt;/Text&gt;&#10;                &lt;Text style={{ fontSize: 17, color: 'rgba(247,244,236,0.82)', lineHeight: 1.6, marginTop: 10 }}&gt;① 停止按钮随时可中断　② 状态点显示诊断中 / 已完成 / 失败　③ 进度条下方写着当前动作&lt;/Text&gt;&#10;            &lt;/Box&gt;&#10;            &lt;Box style={{ height: 170, padding: 17, background: '#FFFFFF', borderRadius: 12, border: '1px solid rgba(29,27,22,0.10)', flexDirection: 'column' }}&gt;&#10;                &lt;Text style={{ fontSize: 21, fontWeight: 'bold', color: '#1D1B16' }}&gt;中间：四个计数器&lt;/Text&gt;&#10;                &lt;Text style={{ fontSize: 17, color: 'rgba(29,27,22,0.78)', lineHeight: 1.6, marginTop: 10 }}&gt;轮次 / 工具 / 消息 / 计时。本图放大后是 0 轮次、26 工具、6 消息、489:38 —— 判断是否还在推进。&lt;/Text&gt;&#10;            &lt;/Box&gt;&#10;            &lt;Box style={{ height: 170, padding: 17, background: 'rgba(184,115,15,0.10)', borderRadius: 12, border: '1px solid rgba(184,115,15,0.42)', flexDirection: 'column' }}&gt;&#10;                &lt;Text style={{ fontSize: 21, fontWeight: 'bold', color: '#8A5608' }}&gt;下方：事件流&lt;/Text&gt;&#10;                &lt;Text style={{ fontSize: 17, color: 'rgba(29,27,22,0.80)', lineHeight: 1.6, marginTop: 10 }}&gt;④ 思考、工具调用、命令原文、返回结果逐条留痕 —— 结论里每个数字都能顺着它找到出处。⑤ 底部可插话引导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一场完整诊断可能跑几十分钟，随时刷新页面都不会丢进度&lt;/Text&gt;&#10;        &lt;Text style={{ fontSize: 15, color: 'rgba(29,27,22,0.48)' }}&gt;19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矩形 1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09600" y="314325"/>
            <a:ext cx="55054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实时监控工作台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09600" y="885825"/>
            <a:ext cx="5505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这是全篇信息密度最高的一屏：点进任务后，你会一直盯着它，直到报告出来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9286875" y="504825"/>
            <a:ext cx="2295525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9458325" y="600075"/>
            <a:ext cx="1952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真实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OMP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运行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#0060f47b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609600" y="1181100"/>
            <a:ext cx="6648450" cy="50863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8" name="图片 197"/>
          <p:cNvPicPr>
            <a:picLocks noChangeAspect="1"/>
          </p:cNvPicPr>
          <p:nvPr/>
        </p:nvPicPr>
        <p:blipFill>
          <a:blip r:embed="rId1"/>
          <a:srcRect l="38" r="38"/>
          <a:stretch>
            <a:fillRect/>
          </a:stretch>
        </p:blipFill>
        <p:spPr>
          <a:xfrm>
            <a:off x="609600" y="1181100"/>
            <a:ext cx="6648450" cy="5086350"/>
          </a:xfrm>
          <a:prstGeom prst="roundRect">
            <a:avLst>
              <a:gd name="adj" fmla="val 2060"/>
            </a:avLst>
          </a:prstGeom>
        </p:spPr>
      </p:pic>
      <p:sp>
        <p:nvSpPr>
          <p:cNvPr id="199" name="圆角矩形 198"/>
          <p:cNvSpPr/>
          <p:nvPr/>
        </p:nvSpPr>
        <p:spPr>
          <a:xfrm>
            <a:off x="7467600" y="1181100"/>
            <a:ext cx="4114800" cy="1619250"/>
          </a:xfrm>
          <a:prstGeom prst="roundRect">
            <a:avLst>
              <a:gd name="adj" fmla="val 7059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7629525" y="1343025"/>
            <a:ext cx="3790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顶部：状态与进度</a:t>
            </a:r>
            <a:endParaRPr lang="zh-CN" sz="1575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7629525" y="1685925"/>
            <a:ext cx="37909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停止按钮随时可中断　②</a:t>
            </a:r>
            <a:r>
              <a:rPr lang="en-US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状态点显示诊断中</a:t>
            </a:r>
            <a:r>
              <a:rPr lang="en-US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en-US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失败　③</a:t>
            </a:r>
            <a:r>
              <a:rPr lang="en-US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进度条下方写着当前动作</a:t>
            </a:r>
            <a:endParaRPr lang="zh-CN" sz="1275">
              <a:solidFill>
                <a:srgbClr val="F7F4EC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7467600" y="2914650"/>
            <a:ext cx="41148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7629525" y="3076575"/>
            <a:ext cx="3790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中间：四个计数器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7629525" y="3419475"/>
            <a:ext cx="37909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轮次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消息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计时。本图放大后是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轮次、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26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工具、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消息、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489:38 ——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判断是否还在推进。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7467600" y="4648200"/>
            <a:ext cx="4114800" cy="1619250"/>
          </a:xfrm>
          <a:prstGeom prst="roundRect">
            <a:avLst>
              <a:gd name="adj" fmla="val 7059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7629525" y="4810125"/>
            <a:ext cx="3790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下方：事件流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7629525" y="5153025"/>
            <a:ext cx="37909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思考、工具调用、命令原文、返回结果逐条留痕</a:t>
            </a: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结论里每个数字都能顺着它找到出处。⑤</a:t>
            </a: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底部可插话引导。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09600" y="6391275"/>
            <a:ext cx="3714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一场完整诊断可能跑几十分钟，随时刷新页面都不会丢进度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19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" descr="&lt;Slide style={{ padding: 0, background: '#1D1B16', position: 'relative', overflow: 'hidden' }}&gt;&#10;    &lt;Box style={{ position: 'absolute', left: 0, top: 0, width: 470, height: 720, background: 'linear-gradient(135deg, #B8730F 0%, #1D1B16 100%)', opacity: 0.34 }} /&gt;&#10;    &lt;Box style={{ position: 'absolute', left: 470, top: 0, width: 6, height: 720, background: '#B8730F' }} /&gt;&#10;    &lt;Box style={{ flexDirection: 'row', width: 1280, height: 720 }}&gt;&#10;        &lt;Box style={{ width: 470, height: 720, justifyContent: 'center', alignItems: 'center', flexDirection: 'column' }}&gt;&#10;            &lt;Text style={{ fontSize: 176, fontWeight: 'bold', color: '#F7F4EC', lineHeight: 1, opacity: 0.92 }}&gt;04&lt;/Text&gt;&#10;            &lt;Text style={{ fontSize: 21, color: 'rgba(247,244,236,0.60)', letterSpacing: 4, marginTop: 14 }}&gt;READ IT&lt;/Text&gt;&#10;        &lt;/Box&gt;&#10;        &lt;Box style={{ width: 810, height: 720, padding: '0 76px 0 0', flexDirection: 'column', justifyContent: 'center' }}&gt;&#10;            &lt;Text style={{ fontSize: 14, color: '#B8730F', letterSpacing: 5, fontWeight: 'bold' }}&gt;ACT FOUR&lt;/Text&gt;&#10;            &lt;Text style={{ fontSize: 62, fontWeight: 'bold', color: '#F7F4EC', lineHeight: 1.12, marginTop: 20 }}&gt;读懂它&lt;br /&gt;并且用久它&lt;/Text&gt;&#10;            &lt;Box style={{ width: 124, height: 5, background: '#B8730F', marginTop: 28 }} /&gt;&#10;            &lt;Text style={{ fontSize: 21, color: 'rgba(247,244,236,0.80)', lineHeight: 1.72, marginTop: 28, width: 660 }}&gt;报告出来只是开始。这一幕讲清楚：一份结论由哪几份产物互相背书、审计为什么能否决它、以及怎么把一次运行沉淀成可复用的资产。&lt;/Text&gt;&#10;            &lt;Text style={{ fontSize: 18, color: 'rgba(247,244,236,0.56)', lineHeight: 1.75, marginTop: 18, width: 660 }}&gt;报告三视图 → 审计裁定 → HTML 报告 → 报告清单 → 历史与增强 → 本体资产 → 引擎产物 → 产物清单 → 管线全貌 → 移动端 → 排错 → 速查&lt;/Text&gt;&#10;            &lt;Box style={{ flexDirection: 'row', gap: 10, marginTop: 34 }}&gt;&#10;                &lt;Box style={{ padding: '9px 18px', border: '1px solid rgba(247,244,236,0.28)', borderRadius: 20 }}&gt;&#10;                    &lt;Text style={{ fontSize: 16, color: 'rgba(247,244,236,0.76)' }}&gt;第 21 页起&lt;/Text&gt;&#10;                &lt;/Box&gt;&#10;                &lt;Box style={{ padding: '9px 18px', border: '1px solid rgba(247,244,236,0.28)', borderRadius: 20 }}&gt;&#10;                    &lt;Text style={{ fontSize: 16, color: 'rgba(247,244,236,0.76)' }}&gt;共 14 页&lt;/Text&gt;&#10;                &lt;/Box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矩形 2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B16"/>
          </a:solidFill>
        </p:spPr>
        <p:txBody>
          <a:bodyPr/>
          <a:p/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1724025" y="4381500"/>
            <a:ext cx="10382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300">
                <a:solidFill>
                  <a:srgbClr val="F7F4EC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READ IT</a:t>
            </a:r>
            <a:endParaRPr lang="en-US" sz="1575" spc="300">
              <a:solidFill>
                <a:srgbClr val="F7F4EC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4476750" y="962025"/>
            <a:ext cx="6991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ACT FOUR</a:t>
            </a:r>
            <a:endParaRPr lang="en-US" sz="1050" b="1" spc="375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4476750" y="1314450"/>
            <a:ext cx="6991350" cy="1590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46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读懂它</a:t>
            </a:r>
            <a:endParaRPr lang="zh-CN" sz="46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</a:pPr>
            <a:r>
              <a:rPr lang="zh-CN" sz="46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并且用久它</a:t>
            </a:r>
            <a:endParaRPr lang="zh-CN" sz="46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4476750" y="3171825"/>
            <a:ext cx="1181100" cy="47625"/>
          </a:xfrm>
          <a:prstGeom prst="rect">
            <a:avLst/>
          </a:prstGeom>
          <a:solidFill>
            <a:srgbClr val="B8730F"/>
          </a:solidFill>
        </p:spPr>
        <p:txBody>
          <a:bodyPr/>
          <a:p/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4476750" y="3486150"/>
            <a:ext cx="62865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575">
                <a:solidFill>
                  <a:srgbClr val="F7F4EC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报告出来只是开始。这一幕讲清楚：一份结论由哪几份产物互相背书、审计为什么能否决它、以及怎么把一次运行沉淀成可复用的资产。</a:t>
            </a:r>
            <a:endParaRPr lang="zh-CN" sz="1575">
              <a:solidFill>
                <a:srgbClr val="F7F4EC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4476750" y="4486275"/>
            <a:ext cx="62865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报告三视图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审计裁定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HTML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报告清单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历史与增强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本体资产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引擎产物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产物清单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管线全貌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移动端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排错</a:t>
            </a:r>
            <a:r>
              <a:rPr lang="en-US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速查</a:t>
            </a:r>
            <a:endParaRPr lang="zh-CN" sz="1350">
              <a:solidFill>
                <a:srgbClr val="F7F4EC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圆角矩形 227"/>
          <p:cNvSpPr/>
          <p:nvPr/>
        </p:nvSpPr>
        <p:spPr>
          <a:xfrm>
            <a:off x="4476750" y="5534025"/>
            <a:ext cx="1076325" cy="361950"/>
          </a:xfrm>
          <a:prstGeom prst="roundRect">
            <a:avLst>
              <a:gd name="adj" fmla="val 52632"/>
            </a:avLst>
          </a:prstGeom>
          <a:ln w="12700">
            <a:solidFill>
              <a:srgbClr val="F7F4EC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4648200" y="5619750"/>
            <a:ext cx="733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21 </a:t>
            </a:r>
            <a:r>
              <a:rPr lang="zh-CN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页起</a:t>
            </a:r>
            <a:endParaRPr lang="zh-CN" sz="1200">
              <a:solidFill>
                <a:srgbClr val="F7F4EC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圆角矩形 229"/>
          <p:cNvSpPr/>
          <p:nvPr/>
        </p:nvSpPr>
        <p:spPr>
          <a:xfrm>
            <a:off x="5648325" y="5534025"/>
            <a:ext cx="923925" cy="361950"/>
          </a:xfrm>
          <a:prstGeom prst="roundRect">
            <a:avLst>
              <a:gd name="adj" fmla="val 52632"/>
            </a:avLst>
          </a:prstGeom>
          <a:ln w="12700">
            <a:solidFill>
              <a:srgbClr val="F7F4EC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5819775" y="5619750"/>
            <a:ext cx="581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14 </a:t>
            </a:r>
            <a:r>
              <a:rPr lang="zh-CN" sz="1200">
                <a:solidFill>
                  <a:srgbClr val="F7F4EC">
                    <a:alpha val="7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200">
              <a:solidFill>
                <a:srgbClr val="F7F4EC">
                  <a:alpha val="7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0" y="0"/>
            <a:ext cx="4476750" cy="6858000"/>
          </a:xfrm>
          <a:prstGeom prst="rect">
            <a:avLst/>
          </a:prstGeom>
          <a:gradFill>
            <a:gsLst>
              <a:gs pos="0">
                <a:srgbClr val="B8730F">
                  <a:alpha val="34000"/>
                </a:srgbClr>
              </a:gs>
              <a:gs pos="100000">
                <a:srgbClr val="1D1B16">
                  <a:alpha val="34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33" name="矩形 232"/>
          <p:cNvSpPr/>
          <p:nvPr/>
        </p:nvSpPr>
        <p:spPr>
          <a:xfrm>
            <a:off x="4476750" y="0"/>
            <a:ext cx="57150" cy="6858000"/>
          </a:xfrm>
          <a:prstGeom prst="rect">
            <a:avLst/>
          </a:prstGeom>
          <a:solidFill>
            <a:srgbClr val="B8730F"/>
          </a:soli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1200150" y="2228850"/>
            <a:ext cx="2076450" cy="2019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200" b="1">
                <a:solidFill>
                  <a:srgbClr val="F7F4EC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3200" b="1">
              <a:solidFill>
                <a:srgbClr val="F7F4EC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一份结论，三种读法&lt;/Text&gt;&#10;            &lt;Text style={{ fontSize: 17, color: 'rgba(29,27,22,0.72)', marginTop: 6 }}&gt;同一个运行下挂着三个页签：报告看结论、审计看背书、HTML 拿去汇报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真实报告：bench_tep_d00&lt;/Text&gt;&#10;        &lt;/Box&gt;&#10;    &lt;/Box&gt;&#10;    &lt;Box style={{ width: 1152, height: 534, flexDirection: 'row', gap: 22 }}&gt;&#10;        &lt;Image src=&quot;assets/11_report.png&quot; style={{ width: 740, height: 443, borderRadius: 11, border: '1px solid rgba(29,27,22,0.10)' }} /&gt;&#10;        &lt;Box style={{ width: 390, height: 534, flexDirection: 'column', gap: 14 }}&gt;&#10;            &lt;Box style={{ height: 168, padding: 17, background: '#FFFFFF', borderRadius: 12, border: '1px solid rgba(29,27,22,0.10)', flexDirection: 'column' }}&gt;&#10;                &lt;Box style={{ flexDirection: 'row', alignItems: 'center', gap: 10 }}&gt;&#10;                    &lt;Box style={{ padding: '4px 10px', background: '#1D1B16', borderRadius: 5 }}&gt;&#10;                        &lt;Text style={{ fontSize: 14, fontWeight: 'bold', color: '#B8730F' }}&gt;① 报告&lt;/Text&gt;&#10;                    &lt;/Box&gt;&#10;                    &lt;Text style={{ fontSize: 21, fontWeight: 'bold', color: '#1D1B16' }}&gt;正文&lt;/Text&gt;&#10;                &lt;/Box&gt;&#10;                &lt;Text style={{ fontSize: 17, color: 'rgba(29,27,22,0.78)', lineHeight: 1.6, marginTop: 9 }}&gt;首屏先给一页纸摘要，再逐条标注证据等级与可复现来源。&lt;/Text&gt;&#10;            &lt;/Box&gt;&#10;            &lt;Box style={{ height: 168, padding: 17, background: '#FFFFFF', borderRadius: 12, border: '1px solid rgba(29,27,22,0.10)', flexDirection: 'column' }}&gt;&#10;                &lt;Box style={{ flexDirection: 'row', alignItems: 'center', gap: 10 }}&gt;&#10;                    &lt;Box style={{ padding: '4px 10px', background: 'rgba(62,142,99,0.16)', borderRadius: 5 }}&gt;&#10;                        &lt;Text style={{ fontSize: 14, fontWeight: 'bold', color: '#2F6F4C' }}&gt;② 审计&lt;/Text&gt;&#10;                    &lt;/Box&gt;&#10;                    &lt;Text style={{ fontSize: 21, fontWeight: 'bold', color: '#1D1B16' }}&gt;物理终审&lt;/Text&gt;&#10;                &lt;/Box&gt;&#10;                &lt;Text style={{ fontSize: 17, color: 'rgba(29,27,22,0.78)', lineHeight: 1.6, marginTop: 9 }}&gt;独立审计员给出 ENDORSED 或驳回，这就是发布许可。&lt;/Text&gt;&#10;            &lt;/Box&gt;&#10;            &lt;Box style={{ height: 168, padding: 17, background: 'rgba(184,115,15,0.10)', borderRadius: 12, border: '1px solid rgba(184,115,15,0.42)', flexDirection: 'column' }}&gt;&#10;                &lt;Box style={{ flexDirection: 'row', alignItems: 'center', gap: 10 }}&gt;&#10;                    &lt;Box style={{ padding: '4px 10px', background: 'rgba(184,115,15,0.28)', borderRadius: 5 }}&gt;&#10;                        &lt;Text style={{ fontSize: 14, fontWeight: 'bold', color: '#8A5608' }}&gt;③ HTML&lt;/Text&gt;&#10;                    &lt;/Box&gt;&#10;                    &lt;Text style={{ fontSize: 21, fontWeight: 'bold', color: '#8A5608' }}&gt;交互可视化&lt;/Text&gt;&#10;                &lt;/Box&gt;&#10;                &lt;Text style={{ fontSize: 17, color: 'rgba(29,27,22,0.80)', lineHeight: 1.6, marginTop: 9 }}&gt;图表可缩放、可悬停取值，适合汇报与现场追溯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右上角还有「刷新」与「下载报告」，可把 Markdown 存到本地&lt;/Text&gt;&#10;        &lt;Text style={{ fontSize: 15, color: 'rgba(29,27,22,0.48)' }}&gt;21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矩形 2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609600" y="314325"/>
            <a:ext cx="52101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一份结论，三种读法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609600" y="885825"/>
            <a:ext cx="5210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同一个运行下挂着三个页签：报告看结论、审计看背书、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HTML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拿去汇报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9324975" y="504825"/>
            <a:ext cx="2257425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9496425" y="600075"/>
            <a:ext cx="1914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真实报告：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bench_tep_d00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609600" y="1181100"/>
            <a:ext cx="7048500" cy="42195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2" name="图片 241"/>
          <p:cNvPicPr>
            <a:picLocks noChangeAspect="1"/>
          </p:cNvPicPr>
          <p:nvPr/>
        </p:nvPicPr>
        <p:blipFill>
          <a:blip r:embed="rId1"/>
          <a:srcRect t="19" b="19"/>
          <a:stretch>
            <a:fillRect/>
          </a:stretch>
        </p:blipFill>
        <p:spPr>
          <a:xfrm>
            <a:off x="609600" y="1181100"/>
            <a:ext cx="7048500" cy="4219575"/>
          </a:xfrm>
          <a:prstGeom prst="roundRect">
            <a:avLst>
              <a:gd name="adj" fmla="val 2483"/>
            </a:avLst>
          </a:prstGeom>
        </p:spPr>
      </p:pic>
      <p:sp>
        <p:nvSpPr>
          <p:cNvPr id="243" name="圆角矩形 242"/>
          <p:cNvSpPr/>
          <p:nvPr/>
        </p:nvSpPr>
        <p:spPr>
          <a:xfrm>
            <a:off x="7867650" y="1181100"/>
            <a:ext cx="37147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4" name="圆角矩形 243"/>
          <p:cNvSpPr/>
          <p:nvPr/>
        </p:nvSpPr>
        <p:spPr>
          <a:xfrm>
            <a:off x="8029575" y="1352550"/>
            <a:ext cx="638175" cy="238125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8124825" y="1390650"/>
            <a:ext cx="4476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endParaRPr lang="zh-CN" sz="10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8763000" y="1343025"/>
            <a:ext cx="4000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正文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8029575" y="1676400"/>
            <a:ext cx="33909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首屏先给一页纸摘要，再逐条标注证据等级与可复现来源。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圆角矩形 247"/>
          <p:cNvSpPr/>
          <p:nvPr/>
        </p:nvSpPr>
        <p:spPr>
          <a:xfrm>
            <a:off x="7867650" y="2914650"/>
            <a:ext cx="37147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9" name="圆角矩形 248"/>
          <p:cNvSpPr/>
          <p:nvPr/>
        </p:nvSpPr>
        <p:spPr>
          <a:xfrm>
            <a:off x="8029575" y="3086100"/>
            <a:ext cx="638175" cy="238125"/>
          </a:xfrm>
          <a:prstGeom prst="roundRect">
            <a:avLst>
              <a:gd name="adj" fmla="val 20000"/>
            </a:avLst>
          </a:prstGeom>
          <a:solidFill>
            <a:srgbClr val="3E8E63">
              <a:alpha val="16000"/>
            </a:srgbClr>
          </a:solidFill>
        </p:spPr>
        <p:txBody>
          <a:bodyPr/>
          <a:p/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8124825" y="3124200"/>
            <a:ext cx="4476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F6F4C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 b="1">
                <a:solidFill>
                  <a:srgbClr val="2F6F4C"/>
                </a:solidFill>
                <a:latin typeface="微软雅黑" panose="020B0503020204020204" charset="-122"/>
                <a:ea typeface="微软雅黑" panose="020B0503020204020204" charset="-122"/>
              </a:rPr>
              <a:t>审计</a:t>
            </a:r>
            <a:endParaRPr lang="zh-CN" sz="1050" b="1">
              <a:solidFill>
                <a:srgbClr val="2F6F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8763000" y="3076575"/>
            <a:ext cx="8001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物理终审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8029575" y="3409950"/>
            <a:ext cx="33909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独立审计员给出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ENDORSED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或驳回，这就是发布许可。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/>
        </p:nvSpPr>
        <p:spPr>
          <a:xfrm>
            <a:off x="7867650" y="4648200"/>
            <a:ext cx="3714750" cy="1600200"/>
          </a:xfrm>
          <a:prstGeom prst="roundRect">
            <a:avLst>
              <a:gd name="adj" fmla="val 7143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圆角矩形 253"/>
          <p:cNvSpPr/>
          <p:nvPr/>
        </p:nvSpPr>
        <p:spPr>
          <a:xfrm>
            <a:off x="8029575" y="4819650"/>
            <a:ext cx="771525" cy="238125"/>
          </a:xfrm>
          <a:prstGeom prst="roundRect">
            <a:avLst>
              <a:gd name="adj" fmla="val 20000"/>
            </a:avLst>
          </a:prstGeom>
          <a:solidFill>
            <a:srgbClr val="B8730F">
              <a:alpha val="28000"/>
            </a:srgbClr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8124825" y="4857750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HTML</a:t>
            </a:r>
            <a:endParaRPr lang="en-US" sz="1050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8896350" y="4810125"/>
            <a:ext cx="1000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交互可视化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8029575" y="5143500"/>
            <a:ext cx="33909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图表可缩放、可悬停取值，适合汇报与现场追溯。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609600" y="6391275"/>
            <a:ext cx="4105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右上角还有「刷新」与「下载报告」，可把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Markdown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存到本地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21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审计页签：ENDORSED 才是发布许可&lt;/Text&gt;&#10;            &lt;Text style={{ fontSize: 17, color: 'rgba(29,27,22,0.72)', marginTop: 6 }}&gt;这一步由独立的物理审计员完成，它有权直接否掉诊断结论 —— 报告写完了不等于能发出去&lt;/Text&gt;&#10;        &lt;/Box&gt;&#10;        &lt;Box style={{ padding: '10px 18px', background: '#1D1B16', borderRadius: 8 }}&gt;&#10;            &lt;Text style={{ fontSize: 16, fontWeight: 'bold', color: '#B8730F' }}&gt;Step 7 · FINAL_AUDIT&lt;/Text&gt;&#10;        &lt;/Box&gt;&#10;    &lt;/Box&gt;&#10;    &lt;Box style={{ width: 1152, height: 534, flexDirection: 'column', gap: 16 }}&gt;&#10;        &lt;Box style={{ height: 350, flexDirection: 'row', gap: 22 }}&gt;&#10;            &lt;Image src=&quot;assets/12_audit.png&quot; style={{ width: 740, height: 350, borderRadius: 11, border: '1px solid rgba(29,27,22,0.10)' }} /&gt;&#10;            &lt;Box style={{ width: 390, height: 350, padding: 18, background: '#FFFFFF', borderRadius: 12, border: '1px solid rgba(29,27,22,0.10)', flexDirection: 'column' }}&gt;&#10;                &lt;Text style={{ fontSize: 21, fontWeight: 'bold', color: '#1D1B16' }}&gt;审计员在审什么&lt;/Text&gt;&#10;                &lt;Text style={{ fontSize: 17, color: 'rgba(29,27,22,0.78)', lineHeight: 1.65, marginTop: 10 }}&gt;① 页首先声明审计范围与隔离边界：只读本次运行目录，输入件逐条列出。&lt;/Text&gt;&#10;                &lt;Text style={{ fontSize: 17, color: 'rgba(29,27,22,0.78)', lineHeight: 1.65, marginTop: 10 }}&gt;② 关键统计量它会自己重算，而不是复述报告里的话 —— 对不上就判 FATAL。&lt;/Text&gt;&#10;                &lt;Box style={{ marginTop: 'auto', padding: '10px 12px', background: 'rgba(62,142,99,0.12)', borderRadius: 8 }}&gt;&#10;                    &lt;Text style={{ fontSize: 16, color: '#2F6F4C' }}&gt;本轮 0 FATAL / 0 MAJOR / 3 MINOR&lt;/Text&gt;&#10;                &lt;/Box&gt;&#10;            &lt;/Box&gt;&#10;        &lt;/Box&gt;&#10;        &lt;Box style={{ height: 168, flexDirection: 'row', gap: 20 }}&gt;&#10;            &lt;Box style={{ flex: 1, padding: 18, background: 'rgba(62,142,99,0.10)', borderRadius: 11, border: '1px solid rgba(62,142,99,0.38)', flexDirection: 'column' }}&gt;&#10;                &lt;Text style={{ fontSize: 21, fontWeight: 'bold', color: '#2F6F4C' }}&gt;ENDORSED 的含义&lt;/Text&gt;&#10;                &lt;Text style={{ fontSize: 17, color: 'rgba(29,27,22,0.80)', lineHeight: 1.6, marginTop: 9 }}&gt;物理机理与数据表现自洽，结论可以对外发布、可以进汇报材料。&lt;/Text&gt;&#10;            &lt;/Box&gt;&#10;            &lt;Box style={{ flex: 1, padding: 18, background: '#1D1B16', borderRadius: 11, flexDirection: 'column' }}&gt;&#10;                &lt;Text style={{ fontSize: 21, fontWeight: 'bold', color: '#F7F4EC' }}&gt;不通过会怎样&lt;/Text&gt;&#10;                &lt;Text style={{ fontSize: 17, color: 'rgba(247,244,236,0.82)', lineHeight: 1.6, marginTop: 9 }}&gt;触发审计修复回路，最多两轮；仍然不过，这份报告就被拦在门外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页签读的是 optimizer.md —— 最终物理审计记录&lt;/Text&gt;&#10;        &lt;Text style={{ fontSize: 15, color: 'rgba(29,27,22,0.48)' }}&gt;22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矩形 2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609600" y="314325"/>
            <a:ext cx="6600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审计页签：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ENDORSED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才是发布许可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09600" y="885825"/>
            <a:ext cx="66008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这一步由独立的物理审计员完成，它有权直接否掉诊断结论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报告写完了不等于能发出去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圆角矩形 263"/>
          <p:cNvSpPr/>
          <p:nvPr/>
        </p:nvSpPr>
        <p:spPr>
          <a:xfrm>
            <a:off x="9572625" y="504825"/>
            <a:ext cx="2009775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9744075" y="600075"/>
            <a:ext cx="1666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Step 7 · FINAL_AUDIT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矩形 265"/>
          <p:cNvSpPr/>
          <p:nvPr/>
        </p:nvSpPr>
        <p:spPr>
          <a:xfrm>
            <a:off x="609600" y="1181100"/>
            <a:ext cx="7048500" cy="33337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7" name="图片 266"/>
          <p:cNvPicPr>
            <a:picLocks noChangeAspect="1"/>
          </p:cNvPicPr>
          <p:nvPr/>
        </p:nvPicPr>
        <p:blipFill>
          <a:blip r:embed="rId1"/>
          <a:srcRect l="34" r="34"/>
          <a:stretch>
            <a:fillRect/>
          </a:stretch>
        </p:blipFill>
        <p:spPr>
          <a:xfrm>
            <a:off x="609600" y="1181100"/>
            <a:ext cx="7048500" cy="3333750"/>
          </a:xfrm>
          <a:prstGeom prst="roundRect">
            <a:avLst>
              <a:gd name="adj" fmla="val 3143"/>
            </a:avLst>
          </a:prstGeom>
        </p:spPr>
      </p:pic>
      <p:sp>
        <p:nvSpPr>
          <p:cNvPr id="268" name="圆角矩形 267"/>
          <p:cNvSpPr/>
          <p:nvPr/>
        </p:nvSpPr>
        <p:spPr>
          <a:xfrm>
            <a:off x="7867650" y="1181100"/>
            <a:ext cx="3714750" cy="33337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8039100" y="1352550"/>
            <a:ext cx="33718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审计员在审什么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8039100" y="1695450"/>
            <a:ext cx="33718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页首先声明审计范围与隔离边界：只读本次运行目录，输入件逐条列出。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8039100" y="2438400"/>
            <a:ext cx="33718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关键统计量它会自己重算，而不是复述报告里的话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对不上就判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FATAL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圆角矩形 271"/>
          <p:cNvSpPr/>
          <p:nvPr/>
        </p:nvSpPr>
        <p:spPr>
          <a:xfrm>
            <a:off x="8039100" y="3962400"/>
            <a:ext cx="3371850" cy="381000"/>
          </a:xfrm>
          <a:prstGeom prst="roundRect">
            <a:avLst>
              <a:gd name="adj" fmla="val 20000"/>
            </a:avLst>
          </a:prstGeom>
          <a:solidFill>
            <a:srgbClr val="3E8E63">
              <a:alpha val="12000"/>
            </a:srgbClr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8153400" y="4057650"/>
            <a:ext cx="3143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4C"/>
                </a:solidFill>
                <a:latin typeface="微软雅黑" panose="020B0503020204020204" charset="-122"/>
                <a:ea typeface="微软雅黑" panose="020B0503020204020204" charset="-122"/>
              </a:rPr>
              <a:t>本轮</a:t>
            </a:r>
            <a:r>
              <a:rPr lang="en-US" sz="1200">
                <a:solidFill>
                  <a:srgbClr val="2F6F4C"/>
                </a:solidFill>
                <a:latin typeface="微软雅黑" panose="020B0503020204020204" charset="-122"/>
                <a:ea typeface="微软雅黑" panose="020B0503020204020204" charset="-122"/>
              </a:rPr>
              <a:t> 0 FATAL / 0 MAJOR / 3 MINOR</a:t>
            </a:r>
            <a:endParaRPr lang="en-US" sz="1200">
              <a:solidFill>
                <a:srgbClr val="2F6F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圆角矩形 273"/>
          <p:cNvSpPr/>
          <p:nvPr/>
        </p:nvSpPr>
        <p:spPr>
          <a:xfrm>
            <a:off x="609600" y="4667250"/>
            <a:ext cx="5391150" cy="1600200"/>
          </a:xfrm>
          <a:prstGeom prst="roundRect">
            <a:avLst>
              <a:gd name="adj" fmla="val 6548"/>
            </a:avLst>
          </a:prstGeom>
          <a:solidFill>
            <a:srgbClr val="3E8E63">
              <a:alpha val="10000"/>
            </a:srgbClr>
          </a:solidFill>
          <a:ln w="12700">
            <a:solidFill>
              <a:srgbClr val="3E8E63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781050" y="4838700"/>
            <a:ext cx="5048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F6F4C"/>
                </a:solidFill>
                <a:latin typeface="微软雅黑" panose="020B0503020204020204" charset="-122"/>
                <a:ea typeface="微软雅黑" panose="020B0503020204020204" charset="-122"/>
              </a:rPr>
              <a:t>ENDORSED </a:t>
            </a:r>
            <a:r>
              <a:rPr lang="zh-CN" sz="1575" b="1">
                <a:solidFill>
                  <a:srgbClr val="2F6F4C"/>
                </a:solidFill>
                <a:latin typeface="微软雅黑" panose="020B0503020204020204" charset="-122"/>
                <a:ea typeface="微软雅黑" panose="020B0503020204020204" charset="-122"/>
              </a:rPr>
              <a:t>的含义</a:t>
            </a:r>
            <a:endParaRPr lang="zh-CN" sz="1575" b="1">
              <a:solidFill>
                <a:srgbClr val="2F6F4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781050" y="5172075"/>
            <a:ext cx="50482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物理机理与数据表现自洽，结论可以对外发布、可以进汇报材料。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6191250" y="4667250"/>
            <a:ext cx="5391150" cy="1600200"/>
          </a:xfrm>
          <a:prstGeom prst="roundRect">
            <a:avLst>
              <a:gd name="adj" fmla="val 6548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6362700" y="4838700"/>
            <a:ext cx="5048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不通过会怎样</a:t>
            </a:r>
            <a:endParaRPr lang="zh-CN" sz="1575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6362700" y="5172075"/>
            <a:ext cx="50482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7F4EC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触发审计修复回路，最多两轮；仍然不过，这份报告就被拦在门外。</a:t>
            </a:r>
            <a:endParaRPr lang="zh-CN" sz="1275">
              <a:solidFill>
                <a:srgbClr val="F7F4EC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609600" y="6391275"/>
            <a:ext cx="3190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页签读的是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optimizer.md ——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最终物理审计记录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22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HTML 报告：拿去汇报的那一版&lt;/Text&gt;&#10;            &lt;Text style={{ fontSize: 17, color: 'rgba(29,27,22,0.72)', marginTop: 6 }}&gt;第三个页签在页面里直接渲染交互式可视化，图表可缩放、可悬停取值；报告的事实源仍是 Markdown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ECharts + Three.js&lt;/Text&gt;&#10;        &lt;/Box&gt;&#10;    &lt;/Box&gt;&#10;    &lt;Box style={{ width: 1152, height: 534, justifyContent: 'center', alignItems: 'center' }}&gt;&#10;        &lt;Image src=&quot;assets/13_htmlreport.png&quot; style={{ width: 1130, height: 534, borderRadius: 11, border: '1px solid rgba(29,27,22,0.10)' }} /&gt;&#10;    &lt;/Box&gt;&#10;    &lt;Box style={{ width: 1152, height: 44, flexDirection: 'row', alignItems: 'center', justifyContent: 'space-between' }}&gt;&#10;        &lt;Text style={{ fontSize: 15, color: 'rgba(29,27,22,0.48)' }}&gt;HTML 文件也能单独发给别人，双击即可打开&lt;/Text&gt;&#10;        &lt;Text style={{ fontSize: 15, color: 'rgba(29,27,22,0.48)' }}&gt;23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矩形 2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09600" y="314325"/>
            <a:ext cx="73628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HTML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报告：拿去汇报的那一版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609600" y="885825"/>
            <a:ext cx="73628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第三个页签在页面里直接渲染交互式可视化，图表可缩放、可悬停取值；报告的事实源仍是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Markdown</a:t>
            </a:r>
            <a:endParaRPr lang="en-US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9848850" y="504825"/>
            <a:ext cx="173355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10020300" y="600075"/>
            <a:ext cx="13906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ECharts + Three.js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矩形 287"/>
          <p:cNvSpPr/>
          <p:nvPr/>
        </p:nvSpPr>
        <p:spPr>
          <a:xfrm>
            <a:off x="714375" y="1181100"/>
            <a:ext cx="10763250" cy="50863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9" name="图片 288"/>
          <p:cNvPicPr>
            <a:picLocks noChangeAspect="1"/>
          </p:cNvPicPr>
          <p:nvPr/>
        </p:nvPicPr>
        <p:blipFill>
          <a:blip r:embed="rId1"/>
          <a:srcRect t="8" b="8"/>
          <a:stretch>
            <a:fillRect/>
          </a:stretch>
        </p:blipFill>
        <p:spPr>
          <a:xfrm>
            <a:off x="714375" y="1181100"/>
            <a:ext cx="10763250" cy="5086350"/>
          </a:xfrm>
          <a:prstGeom prst="roundRect">
            <a:avLst>
              <a:gd name="adj" fmla="val 2060"/>
            </a:avLst>
          </a:prstGeom>
        </p:spPr>
      </p:pic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609600" y="6391275"/>
            <a:ext cx="2876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HTML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文件也能单独发给别人，双击即可打开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23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报告清单：你要找的东西都在这&lt;/Text&gt;&#10;            &lt;Text style={{ fontSize: 17, color: 'rgba(29,27,22,0.72)', marginTop: 6 }}&gt;点左侧「报告」。这里按时间倒序列出所有运行，一行两个按钮，分工明确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本机 29 次运行&lt;/Text&gt;&#10;        &lt;/Box&gt;&#10;    &lt;/Box&gt;&#10;    &lt;Box style={{ width: 1152, height: 534, flexDirection: 'row', gap: 22 }}&gt;&#10;        &lt;Box style={{ width: 390, height: 534, flexDirection: 'column', gap: 14 }}&gt;&#10;            &lt;Box style={{ height: 168, padding: 17, background: '#FFFFFF', borderRadius: 12, border: '1px solid rgba(29,27,22,0.10)', flexDirection: 'column' }}&gt;&#10;                &lt;Text style={{ fontSize: 21, fontWeight: 'bold', color: '#1D1B16' }}&gt;① 「查看」列出全部产物&lt;/Text&gt;&#10;                &lt;Text style={{ fontSize: 17, color: 'rgba(29,27,22,0.78)', lineHeight: 1.6, marginTop: 9 }}&gt;这个运行目录下的每一件东西都能点开：报告、审计、HTML、中间件。&lt;/Text&gt;&#10;                &lt;Box style={{ marginTop: 'auto', padding: '9px 12px', background: 'rgba(228,220,203,0.75)', borderRadius: 8 }}&gt;&#10;                    &lt;Text style={{ fontSize: 16, color: 'rgba(29,27,22,0.82)' }}&gt;想找中间产物用它&lt;/Text&gt;&#10;                &lt;/Box&gt;&#10;            &lt;/Box&gt;&#10;            &lt;Box style={{ height: 168, padding: 17, background: '#FFFFFF', borderRadius: 12, border: '1px solid rgba(29,27,22,0.10)', flexDirection: 'column' }}&gt;&#10;                &lt;Text style={{ fontSize: 21, fontWeight: 'bold', color: '#1D1B16' }}&gt;② 「阅读报告」直接看结论&lt;/Text&gt;&#10;                &lt;Text style={{ fontSize: 17, color: 'rgba(29,27,22,0.78)', lineHeight: 1.6, marginTop: 9 }}&gt;跳过文件树，直接打开 Markdown 正文 —— 只想看结论时用这个。&lt;/Text&gt;&#10;                &lt;Box style={{ marginTop: 'auto', padding: '9px 12px', background: 'rgba(228,220,203,0.75)', borderRadius: 8 }}&gt;&#10;                    &lt;Text style={{ fontSize: 16, color: 'rgba(29,27,22,0.82)' }}&gt;零基础推荐用这个&lt;/Text&gt;&#10;                &lt;/Box&gt;&#10;            &lt;/Box&gt;&#10;            &lt;Box style={{ height: 168, padding: 17, background: 'rgba(184,115,15,0.10)', borderRadius: 12, border: '1px solid rgba(184,115,15,0.42)', flexDirection: 'column' }}&gt;&#10;                &lt;Text style={{ fontSize: 21, fontWeight: 'bold', color: '#8A5608' }}&gt;③ 看徽标判断完整度&lt;/Text&gt;&#10;                &lt;Text style={{ fontSize: 17, color: 'rgba(29,27,22,0.80)', lineHeight: 1.6, marginTop: 9 }}&gt;带「审计」「HTML 报告」标签的运行说明产物更完整，优先看这些。&lt;/Text&gt;&#10;                &lt;Box style={{ marginTop: 'auto', padding: '9px 12px', background: 'rgba(184,115,15,0.20)', borderRadius: 8 }}&gt;&#10;                    &lt;Text style={{ fontSize: 16, color: '#8A5608' }}&gt;没标签的通常是早期运行&lt;/Text&gt;&#10;                &lt;/Box&gt;&#10;            &lt;/Box&gt;&#10;        &lt;/Box&gt;&#10;        &lt;Image src=&quot;assets/10_reportlist.png&quot; style={{ width: 740, height: 350, borderRadius: 11, border: '1px solid rgba(29,27,22,0.10)' }} /&gt;&#10;    &lt;/Box&gt;&#10;    &lt;Box style={{ width: 1152, height: 44, flexDirection: 'row', alignItems: 'center', justifyContent: 'space-between' }}&gt;&#10;        &lt;Text style={{ fontSize: 15, color: 'rgba(29,27,22,0.48)' }}&gt;只有「查看」没有「阅读报告」，说明该次运行没产出报告&lt;/Text&gt;&#10;        &lt;Text style={{ fontSize: 15, color: 'rgba(29,27,22,0.48)' }}&gt;24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矩形 2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609600" y="314325"/>
            <a:ext cx="53435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报告清单：你要找的东西都在这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609600" y="885825"/>
            <a:ext cx="53435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点左侧「报告」。这里按时间倒序列出所有运行，一行两个按钮，分工明确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10191750" y="504825"/>
            <a:ext cx="139065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363200" y="600075"/>
            <a:ext cx="1047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本机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29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次运行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609600" y="1181100"/>
            <a:ext cx="37147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771525" y="1343025"/>
            <a:ext cx="3390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「查看」列出全部产物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771525" y="1676400"/>
            <a:ext cx="33909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这个运行目录下的每一件东西都能点开：报告、审计、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HTML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、中间件。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圆角矩形 300"/>
          <p:cNvSpPr/>
          <p:nvPr/>
        </p:nvSpPr>
        <p:spPr>
          <a:xfrm>
            <a:off x="771525" y="2257425"/>
            <a:ext cx="3390900" cy="361950"/>
          </a:xfrm>
          <a:prstGeom prst="roundRect">
            <a:avLst>
              <a:gd name="adj" fmla="val 21053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85825" y="2343150"/>
            <a:ext cx="3162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想找中间产物用它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圆角矩形 302"/>
          <p:cNvSpPr/>
          <p:nvPr/>
        </p:nvSpPr>
        <p:spPr>
          <a:xfrm>
            <a:off x="609600" y="2914650"/>
            <a:ext cx="37147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771525" y="3076575"/>
            <a:ext cx="3390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「阅读报告」直接看结论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771525" y="3409950"/>
            <a:ext cx="33909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跳过文件树，直接打开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Markdown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正文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只想看结论时用这个。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圆角矩形 305"/>
          <p:cNvSpPr/>
          <p:nvPr/>
        </p:nvSpPr>
        <p:spPr>
          <a:xfrm>
            <a:off x="771525" y="3990975"/>
            <a:ext cx="3390900" cy="361950"/>
          </a:xfrm>
          <a:prstGeom prst="roundRect">
            <a:avLst>
              <a:gd name="adj" fmla="val 21053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885825" y="4076700"/>
            <a:ext cx="3162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零基础推荐用这个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圆角矩形 307"/>
          <p:cNvSpPr/>
          <p:nvPr/>
        </p:nvSpPr>
        <p:spPr>
          <a:xfrm>
            <a:off x="609600" y="4648200"/>
            <a:ext cx="3714750" cy="1600200"/>
          </a:xfrm>
          <a:prstGeom prst="roundRect">
            <a:avLst>
              <a:gd name="adj" fmla="val 7143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771525" y="4810125"/>
            <a:ext cx="3390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看徽标判断完整度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771525" y="5143500"/>
            <a:ext cx="33909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带「审计」「</a:t>
            </a: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HTML 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报告」标签的运行说明产物更完整，优先看这些。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圆角矩形 310"/>
          <p:cNvSpPr/>
          <p:nvPr/>
        </p:nvSpPr>
        <p:spPr>
          <a:xfrm>
            <a:off x="771525" y="5724525"/>
            <a:ext cx="3390900" cy="361950"/>
          </a:xfrm>
          <a:prstGeom prst="roundRect">
            <a:avLst>
              <a:gd name="adj" fmla="val 21053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885825" y="5810250"/>
            <a:ext cx="3162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没标签的通常是早期运行</a:t>
            </a:r>
            <a:endParaRPr lang="zh-CN" sz="1200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矩形 312"/>
          <p:cNvSpPr/>
          <p:nvPr/>
        </p:nvSpPr>
        <p:spPr>
          <a:xfrm>
            <a:off x="4533900" y="1181100"/>
            <a:ext cx="7048500" cy="33337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14" name="图片 313"/>
          <p:cNvPicPr>
            <a:picLocks noChangeAspect="1"/>
          </p:cNvPicPr>
          <p:nvPr/>
        </p:nvPicPr>
        <p:blipFill>
          <a:blip r:embed="rId1"/>
          <a:srcRect l="34" r="34"/>
          <a:stretch>
            <a:fillRect/>
          </a:stretch>
        </p:blipFill>
        <p:spPr>
          <a:xfrm>
            <a:off x="4533900" y="1181100"/>
            <a:ext cx="7048500" cy="3333750"/>
          </a:xfrm>
          <a:prstGeom prst="roundRect">
            <a:avLst>
              <a:gd name="adj" fmla="val 3143"/>
            </a:avLst>
          </a:prstGeom>
        </p:spPr>
      </p:pic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609600" y="6391275"/>
            <a:ext cx="3714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只有「查看」没有「阅读报告」，说明该次运行没产出报告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24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7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历史账本与一键深度增强&lt;/Text&gt;&#10;            &lt;Text style={{ fontSize: 17, color: 'rgba(29,27,22,0.72)', marginTop: 6 }}&gt;这里回看每一次运行：谁跑的、跑到什么状态、拿了多少分、下一步能做什么&lt;/Text&gt;&#10;        &lt;/Box&gt;&#10;        &lt;Box style={{ padding: '10px 18px', background: '#1D1B16', borderRadius: 8 }}&gt;&#10;            &lt;Text style={{ fontSize: 16, fontWeight: 'bold', color: '#B8730F' }}&gt;本机 115 条记录&lt;/Text&gt;&#10;        &lt;/Box&gt;&#10;    &lt;/Box&gt;&#10;    &lt;Box style={{ width: 1152, height: 534, flexDirection: 'column', gap: 16 }}&gt;&#10;        &lt;Box style={{ height: 391, flexDirection: 'row', gap: 22 }}&gt;&#10;            &lt;Image src=&quot;assets/15_history.png&quot; style={{ width: 740, height: 391, borderRadius: 11, border: '1px solid rgba(29,27,22,0.10)' }} /&gt;&#10;            &lt;Box style={{ width: 390, height: 391, flexDirection: 'column', gap: 14 }}&gt;&#10;                &lt;Box style={{ height: 121, padding: 17, background: '#FFFFFF', borderRadius: 11, border: '1px solid rgba(29,27,22,0.10)', flexDirection: 'column' }}&gt;&#10;                    &lt;Text style={{ fontSize: 21, fontWeight: 'bold', color: '#1D1B16' }}&gt;① 引擎徽标&lt;/Text&gt;&#10;                    &lt;Text style={{ fontSize: 16, color: 'rgba(29,27,22,0.78)', lineHeight: 1.55, marginTop: 8 }}&gt;MOCK / CLAUDE / OMP —— 一眼看出这次是谁跑的。&lt;/Text&gt;&#10;                &lt;/Box&gt;&#10;                &lt;Box style={{ height: 121, padding: 17, background: '#FFFFFF', borderRadius: 11, border: '1px solid rgba(29,27,22,0.10)', flexDirection: 'column' }}&gt;&#10;                    &lt;Text style={{ fontSize: 21, fontWeight: 'bold', color: '#1D1B16' }}&gt;② 会话与报告&lt;/Text&gt;&#10;                    &lt;Text style={{ fontSize: 16, color: 'rgba(29,27,22,0.78)', lineHeight: 1.55, marginTop: 8 }}&gt;「会话」带着上下文继续追问；「报告」直接跳到产物。&lt;/Text&gt;&#10;                &lt;/Box&gt;&#10;                &lt;Box style={{ height: 121, padding: 17, background: 'rgba(184,115,15,0.10)', borderRadius: 11, border: '1px solid rgba(184,115,15,0.42)', flexDirection: 'column' }}&gt;&#10;                    &lt;Text style={{ fontSize: 21, fontWeight: 'bold', color: '#8A5608' }}&gt;③ 继续诊断 / 删除&lt;/Text&gt;&#10;                    &lt;Text style={{ fontSize: 16, color: 'rgba(29,27,22,0.80)', lineHeight: 1.55, marginTop: 8 }}&gt;被中断的运行可以恢复；确认无用的记录可以清理。&lt;/Text&gt;&#10;                &lt;/Box&gt;&#10;            &lt;/Box&gt;&#10;        &lt;/Box&gt;&#10;        &lt;Box style={{ height: 127, padding: 20, background: '#1D1B16', borderRadius: 12, flexDirection: 'row', alignItems: 'center', gap: 24 }}&gt;&#10;            &lt;Box style={{ width: 186, flexDirection: 'column' }}&gt;&#10;                &lt;Text style={{ fontSize: 26, fontWeight: 'bold', color: '#B8730F' }}&gt;深度增强&lt;/Text&gt;&#10;                &lt;Text style={{ fontSize: 15, color: 'rgba(247,244,236,0.62)', marginTop: 4 }}&gt;E0 – E8 确定性管线&lt;/Text&gt;&#10;            &lt;/Box&gt;&#10;            &lt;Text style={{ fontSize: 17, color: 'rgba(247,244,236,0.86)', lineHeight: 1.6, width: 880 }}&gt;对已完成的运行点「深度增强」，接着跑一段确定性增强管线：不调用大模型、不额外花钱，约 3–5 分钟，产出更细的覆盖矩阵与工况条件；产物还会回流进知识库。&lt;/Text&gt;&#10;        &lt;/Box&gt;&#10;    &lt;/Box&gt;&#10;    &lt;Box style={{ width: 1152, height: 44, flexDirection: 'row', alignItems: 'center', justifyContent: 'space-between' }}&gt;&#10;        &lt;Text style={{ fontSize: 15, color: 'rgba(29,27,22,0.48)' }}&gt;刷新与清空记录在右上角&lt;/Text&gt;&#10;        &lt;Text style={{ fontSize: 15, color: 'rgba(29,27,22,0.48)' }}&gt;25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矩形 3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609600" y="314325"/>
            <a:ext cx="55054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历史账本与一键深度增强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609600" y="885825"/>
            <a:ext cx="5505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这里回看每一次运行：谁跑的、跑到什么状态、拿了多少分、下一步能做什么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圆角矩形 320"/>
          <p:cNvSpPr/>
          <p:nvPr/>
        </p:nvSpPr>
        <p:spPr>
          <a:xfrm>
            <a:off x="10096500" y="504825"/>
            <a:ext cx="1485900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10267950" y="600075"/>
            <a:ext cx="1143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本机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115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条记录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矩形 322"/>
          <p:cNvSpPr/>
          <p:nvPr/>
        </p:nvSpPr>
        <p:spPr>
          <a:xfrm>
            <a:off x="609600" y="1181100"/>
            <a:ext cx="7048500" cy="37242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4" name="图片 323"/>
          <p:cNvPicPr>
            <a:picLocks noChangeAspect="1"/>
          </p:cNvPicPr>
          <p:nvPr/>
        </p:nvPicPr>
        <p:blipFill>
          <a:blip r:embed="rId1"/>
          <a:srcRect t="35" b="35"/>
          <a:stretch>
            <a:fillRect/>
          </a:stretch>
        </p:blipFill>
        <p:spPr>
          <a:xfrm>
            <a:off x="609600" y="1181100"/>
            <a:ext cx="7048500" cy="3724275"/>
          </a:xfrm>
          <a:prstGeom prst="roundRect">
            <a:avLst>
              <a:gd name="adj" fmla="val 2813"/>
            </a:avLst>
          </a:prstGeom>
        </p:spPr>
      </p:pic>
      <p:sp>
        <p:nvSpPr>
          <p:cNvPr id="325" name="圆角矩形 324"/>
          <p:cNvSpPr/>
          <p:nvPr/>
        </p:nvSpPr>
        <p:spPr>
          <a:xfrm>
            <a:off x="7867650" y="1181100"/>
            <a:ext cx="3714750" cy="11525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8029575" y="1343025"/>
            <a:ext cx="3390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引擎徽标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8029575" y="1666875"/>
            <a:ext cx="33909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MOCK / CLAUDE / OMP ——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一眼看出这次是谁跑的。</a:t>
            </a:r>
            <a:endParaRPr lang="zh-CN" sz="120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圆角矩形 327"/>
          <p:cNvSpPr/>
          <p:nvPr/>
        </p:nvSpPr>
        <p:spPr>
          <a:xfrm>
            <a:off x="7867650" y="2466975"/>
            <a:ext cx="3714750" cy="11525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8029575" y="2628900"/>
            <a:ext cx="3390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会话与报告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8029575" y="2952750"/>
            <a:ext cx="33909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「会话」带着上下文继续追问；「报告」直接跳到产物。</a:t>
            </a:r>
            <a:endParaRPr lang="zh-CN" sz="120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圆角矩形 330"/>
          <p:cNvSpPr/>
          <p:nvPr/>
        </p:nvSpPr>
        <p:spPr>
          <a:xfrm>
            <a:off x="7867650" y="3752850"/>
            <a:ext cx="3714750" cy="1152525"/>
          </a:xfrm>
          <a:prstGeom prst="roundRect">
            <a:avLst>
              <a:gd name="adj" fmla="val 9091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8029575" y="3914775"/>
            <a:ext cx="3390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继续诊断</a:t>
            </a: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删除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8029575" y="4238625"/>
            <a:ext cx="33909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被中断的运行可以恢复；确认无用的记录可以清理。</a:t>
            </a:r>
            <a:endParaRPr lang="zh-CN" sz="1200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圆角矩形 333"/>
          <p:cNvSpPr/>
          <p:nvPr/>
        </p:nvSpPr>
        <p:spPr>
          <a:xfrm>
            <a:off x="609600" y="5057775"/>
            <a:ext cx="10972800" cy="1209675"/>
          </a:xfrm>
          <a:prstGeom prst="roundRect">
            <a:avLst>
              <a:gd name="adj" fmla="val 9449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00100" y="5410200"/>
            <a:ext cx="17716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深度增强</a:t>
            </a:r>
            <a:endParaRPr lang="zh-CN" sz="195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800100" y="5753100"/>
            <a:ext cx="1771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4EC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E0 – E8 </a:t>
            </a:r>
            <a:r>
              <a:rPr lang="zh-CN" sz="1125">
                <a:solidFill>
                  <a:srgbClr val="F7F4EC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确定性管线</a:t>
            </a:r>
            <a:endParaRPr lang="zh-CN" sz="1125">
              <a:solidFill>
                <a:srgbClr val="F7F4EC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2800350" y="5353050"/>
            <a:ext cx="8382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7F4EC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对已完成的运行点「深度增强」，接着跑一段确定性增强管线：不调用大模型、不额外花钱，约</a:t>
            </a:r>
            <a:r>
              <a:rPr lang="en-US" sz="1275">
                <a:solidFill>
                  <a:srgbClr val="F7F4EC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3–5 </a:t>
            </a:r>
            <a:r>
              <a:rPr lang="zh-CN" sz="1275">
                <a:solidFill>
                  <a:srgbClr val="F7F4EC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分钟，产出更细的覆盖矩阵与工况条件；产物还会回流进知识库。</a:t>
            </a:r>
            <a:endParaRPr lang="zh-CN" sz="1275">
              <a:solidFill>
                <a:srgbClr val="F7F4EC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609600" y="6391275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刷新与清空记录在右上角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25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0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本体资产库：让下一次更快&lt;/Text&gt;&#10;            &lt;Text style={{ fontSize: 17, color: 'rgba(29,27,22,0.72)', marginTop: 6 }}&gt;把领域理解沉淀成可复用资产。同场景再跑一次，本体构建能从 15.6 分钟压到半分钟以内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单次诊断提速约 70%&lt;/Text&gt;&#10;        &lt;/Box&gt;&#10;    &lt;/Box&gt;&#10;    &lt;Box style={{ width: 1152, height: 534, flexDirection: 'row', gap: 22 }}&gt;&#10;        &lt;Image src=&quot;assets/14_ontology.png&quot; style={{ width: 780, height: 500, borderRadius: 11, border: '1px solid rgba(29,27,22,0.10)' }} /&gt;&#10;        &lt;Box style={{ width: 350, height: 500, flexDirection: 'column', gap: 10 }}&gt;&#10;            &lt;Box style={{ height: 160, padding: 17, background: '#FFFFFF', borderRadius: 11, border: '1px solid rgba(29,27,22,0.10)', flexDirection: 'column' }}&gt;&#10;                &lt;Text style={{ fontSize: 21, fontWeight: 'bold', color: '#1D1B16' }}&gt;① 资产清单&lt;/Text&gt;&#10;                &lt;Text style={{ fontSize: 16, color: 'rgba(29,27,22,0.78)', lineHeight: 1.6, marginTop: 8 }}&gt;按场景 × 版本列出，后面标着多少工序、多少关系、是否校验通过。&lt;/Text&gt;&#10;            &lt;/Box&gt;&#10;            &lt;Box style={{ height: 160, padding: 17, background: '#FFFFFF', borderRadius: 11, border: '1px solid rgba(29,27,22,0.10)', flexDirection: 'column' }}&gt;&#10;                &lt;Text style={{ fontSize: 21, fontWeight: 'bold', color: '#1D1B16' }}&gt;② 知识图谱&lt;/Text&gt;&#10;                &lt;Text style={{ fontSize: 16, color: 'rgba(29,27,22,0.78)', lineHeight: 1.6, marginTop: 8 }}&gt;设备、测量点、工艺阶段之间的连线，就是本次诊断的物理假设空间。&lt;/Text&gt;&#10;            &lt;/Box&gt;&#10;            &lt;Box style={{ height: 160, padding: 17, background: 'rgba(184,115,15,0.10)', borderRadius: 11, border: '1px solid rgba(184,115,15,0.42)', flexDirection: 'column' }}&gt;&#10;                &lt;Text style={{ fontSize: 21, fontWeight: 'bold', color: '#8A5608' }}&gt;③ 质检与冲突清单&lt;/Text&gt;&#10;                &lt;Text style={{ fontSize: 16, color: 'rgba(29,27,22,0.80)', lineHeight: 1.6, marginTop: 8 }}&gt;右侧给出模型健康分与冲突项，区分「孤立关系」「矛盾关系」等缺陷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新增数据列只会触发增量构建，不重跑全量&lt;/Text&gt;&#10;        &lt;Text style={{ fontSize: 15, color: 'rgba(29,27,22,0.48)' }}&gt;26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矩形 3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09600" y="314325"/>
            <a:ext cx="6419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本体资产库：让下一次更快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09600" y="885825"/>
            <a:ext cx="6419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把领域理解沉淀成可复用资产。同场景再跑一次，本体构建能从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15.6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分钟压到半分钟以内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9791700" y="504825"/>
            <a:ext cx="17907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9963150" y="600075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单次诊断提速约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70%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609600" y="1181100"/>
            <a:ext cx="7429500" cy="47625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47" name="图片 346"/>
          <p:cNvPicPr>
            <a:picLocks noChangeAspect="1"/>
          </p:cNvPicPr>
          <p:nvPr/>
        </p:nvPicPr>
        <p:blipFill>
          <a:blip r:embed="rId1"/>
          <a:srcRect t="55" b="55"/>
          <a:stretch>
            <a:fillRect/>
          </a:stretch>
        </p:blipFill>
        <p:spPr>
          <a:xfrm>
            <a:off x="609600" y="1181100"/>
            <a:ext cx="7429500" cy="4762500"/>
          </a:xfrm>
          <a:prstGeom prst="roundRect">
            <a:avLst>
              <a:gd name="adj" fmla="val 2200"/>
            </a:avLst>
          </a:prstGeom>
        </p:spPr>
      </p:pic>
      <p:sp>
        <p:nvSpPr>
          <p:cNvPr id="348" name="圆角矩形 347"/>
          <p:cNvSpPr/>
          <p:nvPr/>
        </p:nvSpPr>
        <p:spPr>
          <a:xfrm>
            <a:off x="8248650" y="1181100"/>
            <a:ext cx="3333750" cy="152400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410575" y="1343025"/>
            <a:ext cx="300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资产清单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8410575" y="1666875"/>
            <a:ext cx="30099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按场景</a:t>
            </a:r>
            <a:r>
              <a:rPr lang="en-US" sz="120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版本列出，后面标着多少工序、多少关系、是否校验通过。</a:t>
            </a:r>
            <a:endParaRPr lang="zh-CN" sz="120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圆角矩形 350"/>
          <p:cNvSpPr/>
          <p:nvPr/>
        </p:nvSpPr>
        <p:spPr>
          <a:xfrm>
            <a:off x="8248650" y="2800350"/>
            <a:ext cx="3333750" cy="152400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8410575" y="2962275"/>
            <a:ext cx="300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知识图谱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8410575" y="3286125"/>
            <a:ext cx="30099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设备、测量点、工艺阶段之间的连线，就是本次诊断的物理假设空间。</a:t>
            </a:r>
            <a:endParaRPr lang="zh-CN" sz="1200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圆角矩形 353"/>
          <p:cNvSpPr/>
          <p:nvPr/>
        </p:nvSpPr>
        <p:spPr>
          <a:xfrm>
            <a:off x="8248650" y="4419600"/>
            <a:ext cx="3333750" cy="1524000"/>
          </a:xfrm>
          <a:prstGeom prst="roundRect">
            <a:avLst>
              <a:gd name="adj" fmla="val 6875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8410575" y="4581525"/>
            <a:ext cx="30099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质检与冲突清单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8410575" y="4905375"/>
            <a:ext cx="30099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右侧给出模型健康分与冲突项，区分「孤立关系」「矛盾关系」等缺陷。</a:t>
            </a:r>
            <a:endParaRPr lang="zh-CN" sz="1200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609600" y="6391275"/>
            <a:ext cx="2714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新增数据列只会触发增量构建，不重跑全量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26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引擎原生产物：绕过界面看底层&lt;/Text&gt;&#10;            &lt;Text style={{ fontSize: 17, color: 'rgba(29,27,22,0.72)', marginTop: 6 }}&gt;点左侧最后一项。这里直接读引擎自己在磁盘上写下的运行目录，只读、不干预&lt;/Text&gt;&#10;        &lt;/Box&gt;&#10;        &lt;Box style={{ padding: '10px 18px', background: '#1D1B16', borderRadius: 8 }}&gt;&#10;            &lt;Text style={{ fontSize: 16, fontWeight: 'bold', color: '#B8730F' }}&gt;25 总运行 · 17 已完成 · 16 HTML&lt;/Text&gt;&#10;        &lt;/Box&gt;&#10;    &lt;/Box&gt;&#10;    &lt;Box style={{ width: 1152, height: 534, justifyContent: 'center', alignItems: 'center' }}&gt;&#10;        &lt;Image src=&quot;assets/16_engines.png&quot; style={{ width: 1120, height: 528, borderRadius: 11, border: '1px solid rgba(29,27,22,0.10)' }} /&gt;&#10;    &lt;/Box&gt;&#10;    &lt;Box style={{ width: 1152, height: 44, flexDirection: 'row', alignItems: 'center', justifyContent: 'space-between' }}&gt;&#10;        &lt;Text style={{ fontSize: 15, color: 'rgba(29,27,22,0.48)' }}&gt;在线状态 + 刷新 · 四个统计卡 · 每张运行卡显示原生运行号与阶段状态&lt;/Text&gt;&#10;        &lt;Text style={{ fontSize: 15, color: 'rgba(29,27,22,0.48)' }}&gt;27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矩形 3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609600" y="314325"/>
            <a:ext cx="566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引擎原生产物：绕过界面看底层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09600" y="885825"/>
            <a:ext cx="5667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点左侧最后一项。这里直接读引擎自己在磁盘上写下的运行目录，只读、不干预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8848725" y="504825"/>
            <a:ext cx="2733675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9020175" y="600075"/>
            <a:ext cx="2390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25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总运行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· 17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· 16 HTML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矩形 364"/>
          <p:cNvSpPr/>
          <p:nvPr/>
        </p:nvSpPr>
        <p:spPr>
          <a:xfrm>
            <a:off x="762000" y="1209675"/>
            <a:ext cx="10668000" cy="50292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66" name="图片 365"/>
          <p:cNvPicPr>
            <a:picLocks noChangeAspect="1"/>
          </p:cNvPicPr>
          <p:nvPr/>
        </p:nvPicPr>
        <p:blipFill>
          <a:blip r:embed="rId1"/>
          <a:srcRect t="38" b="38"/>
          <a:stretch>
            <a:fillRect/>
          </a:stretch>
        </p:blipFill>
        <p:spPr>
          <a:xfrm>
            <a:off x="762000" y="1209675"/>
            <a:ext cx="10668000" cy="5029200"/>
          </a:xfrm>
          <a:prstGeom prst="roundRect">
            <a:avLst>
              <a:gd name="adj" fmla="val 2083"/>
            </a:avLst>
          </a:prstGeom>
        </p:spPr>
      </p:pic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609600" y="6391275"/>
            <a:ext cx="4429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在线状态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刷新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四个统计卡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每张运行卡显示原生运行号与阶段状态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27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9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展开一个运行：五个页签看全证据面&lt;/Text&gt;&#10;            &lt;Text style={{ fontSize: 17, color: 'rgba(29,27,22,0.72)', marginTop: 6 }}&gt;点任意一张运行卡片展开，就能看到这次运行的全部分级产物与执行证明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真实运行 #r18-omp-cement&lt;/Text&gt;&#10;        &lt;/Box&gt;&#10;    &lt;/Box&gt;&#10;    &lt;Box style={{ width: 1152, height: 534, flexDirection: 'column', gap: 16 }}&gt;&#10;        &lt;Box style={{ height: 369, justifyContent: 'center', alignItems: 'center' }}&gt;&#10;            &lt;Image src=&quot;assets/17_enginedetail.png&quot; style={{ width: 1152, height: 369, borderRadius: 11, border: '1px solid rgba(29,27,22,0.10)' }} /&gt;&#10;        &lt;/Box&gt;&#10;        &lt;Box style={{ height: 149, flexDirection: 'row', gap: 20 }}&gt;&#10;            &lt;Box style={{ flex: 1, padding: 17, background: '#FFFFFF', borderRadius: 11, border: '1px solid rgba(29,27,22,0.10)', flexDirection: 'column' }}&gt;&#10;                &lt;Text style={{ fontSize: 21, fontWeight: 'bold', color: '#1D1B16' }}&gt;① 五个页签，一条证据链&lt;/Text&gt;&#10;                &lt;Text style={{ fontSize: 17, color: 'rgba(29,27,22,0.78)', lineHeight: 1.6, marginTop: 9 }}&gt;概览看运行态与代理；执行证明列出每一步记录；报告与 HTML 预览直接读产物。&lt;/Text&gt;&#10;            &lt;/Box&gt;&#10;            &lt;Box style={{ flex: 1, padding: 17, background: 'rgba(184,115,15,0.10)', borderRadius: 11, border: '1px solid rgba(184,115,15,0.42)', flexDirection: 'column' }}&gt;&#10;                &lt;Text style={{ fontSize: 21, fontWeight: 'bold', color: '#8A5608' }}&gt;② 两条管线状态并列&lt;/Text&gt;&#10;                &lt;Text style={{ fontSize: 17, color: 'rgba(29,27,22,0.80)', lineHeight: 1.6, marginTop: 9 }}&gt;本图显示 in_progress，说明它还在跑 —— 跑完这里会变成 complete。&lt;/Text&gt;&#10;            &lt;/Box&gt;&#10;        &lt;/Box&gt;&#10;    &lt;/Box&gt;&#10;    &lt;Box style={{ width: 1152, height: 44, flexDirection: 'row', alignItems: 'center', justifyContent: 'space-between' }}&gt;&#10;        &lt;Text style={{ fontSize: 15, color: 'rgba(29,27,22,0.48)' }}&gt;这一页是排查&quot;跑没跑完&quot;最直接的证据&lt;/Text&gt;&#10;        &lt;Text style={{ fontSize: 15, color: 'rgba(29,27,22,0.48)' }}&gt;28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矩形 3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609600" y="31432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展开一个运行：五个页签看全证据面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609600" y="885825"/>
            <a:ext cx="5486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点任意一张运行卡片展开，就能看到这次运行的全部分级产物与执行证明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9182100" y="504825"/>
            <a:ext cx="24003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9353550" y="600075"/>
            <a:ext cx="2057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真实运行</a:t>
            </a: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 #r18-omp-cement</a:t>
            </a:r>
            <a:endParaRPr lang="en-US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矩形 374"/>
          <p:cNvSpPr/>
          <p:nvPr/>
        </p:nvSpPr>
        <p:spPr>
          <a:xfrm>
            <a:off x="609600" y="1181100"/>
            <a:ext cx="10972800" cy="351472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76" name="图片 375"/>
          <p:cNvPicPr>
            <a:picLocks noChangeAspect="1"/>
          </p:cNvPicPr>
          <p:nvPr/>
        </p:nvPicPr>
        <p:blipFill>
          <a:blip r:embed="rId1"/>
          <a:srcRect t="48" b="48"/>
          <a:stretch>
            <a:fillRect/>
          </a:stretch>
        </p:blipFill>
        <p:spPr>
          <a:xfrm>
            <a:off x="609600" y="1181100"/>
            <a:ext cx="10972800" cy="3514725"/>
          </a:xfrm>
          <a:prstGeom prst="roundRect">
            <a:avLst>
              <a:gd name="adj" fmla="val 2981"/>
            </a:avLst>
          </a:prstGeom>
        </p:spPr>
      </p:pic>
      <p:sp>
        <p:nvSpPr>
          <p:cNvPr id="377" name="圆角矩形 376"/>
          <p:cNvSpPr/>
          <p:nvPr/>
        </p:nvSpPr>
        <p:spPr>
          <a:xfrm>
            <a:off x="609600" y="4848225"/>
            <a:ext cx="5391150" cy="1419225"/>
          </a:xfrm>
          <a:prstGeom prst="roundRect">
            <a:avLst>
              <a:gd name="adj" fmla="val 738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771525" y="50101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五个页签，一条证据链</a:t>
            </a:r>
            <a:endParaRPr lang="zh-CN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771525" y="5343525"/>
            <a:ext cx="5067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概览看运行态与代理；执行证明列出每一步记录；报告与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HTML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预览直接读产物。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圆角矩形 379"/>
          <p:cNvSpPr/>
          <p:nvPr/>
        </p:nvSpPr>
        <p:spPr>
          <a:xfrm>
            <a:off x="6191250" y="4848225"/>
            <a:ext cx="5391150" cy="1419225"/>
          </a:xfrm>
          <a:prstGeom prst="roundRect">
            <a:avLst>
              <a:gd name="adj" fmla="val 7383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6353175" y="501015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两条管线状态并列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353175" y="5343525"/>
            <a:ext cx="5067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本图显示</a:t>
            </a: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in_progress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，说明它还在跑</a:t>
            </a: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跑完这里会变成</a:t>
            </a:r>
            <a:r>
              <a:rPr lang="en-US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complete</a:t>
            </a: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609600" y="6391275"/>
            <a:ext cx="2419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这一页是排查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跑没跑完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最直接的证据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28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5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一次诊断到底留下了什么&lt;/Text&gt;&#10;            &lt;Text style={{ fontSize: 17, color: 'rgba(29,27,22,0.72)', marginTop: 6 }}&gt;磁盘上的目录结构才是硬证据；界面上看到的状态，只是它的一个视图&lt;/Text&gt;&#10;        &lt;/Box&gt;&#10;        &lt;Box style={{ padding: '10px 18px', background: '#1D1B16', borderRadius: 8 }}&gt;&#10;            &lt;Text style={{ fontSize: 16, fontWeight: 'bold', color: '#B8730F' }}&gt;跑完就能在本地找到&lt;/Text&gt;&#10;        &lt;/Box&gt;&#10;    &lt;/Box&gt;&#10;    &lt;Box style={{ width: 1152, height: 534, flexDirection: 'column', gap: 16 }}&gt;&#10;        &lt;Box style={{ height: 445, justifyContent: 'center', alignItems: 'center' }}&gt;&#10;            &lt;Image src=&quot;assets/d_layout.png&quot; style={{ width: 1152, height: 445, borderRadius: 11, border: '1px solid rgba(29,27,22,0.10)' }} /&gt;&#10;        &lt;/Box&gt;&#10;        &lt;Box style={{ height: 73, padding: 16, background: 'rgba(184,115,15,0.10)', borderRadius: 11, borderLeft: '5px solid #B8730F', justifyContent: 'center' }}&gt;&#10;            &lt;Text style={{ fontSize: 17, color: '#1D1B16', lineHeight: 1.6 }}&gt;只有 &lt;span style={{ fontWeight: 'bold', color: '#8A5608' }}&gt;.pipeline_events.jsonl&lt;/span&gt; 能通过管线日志校验，这次运行才算真正执行完毕 —— 磁盘证据才是可交付的凭据。&lt;/Text&gt;&#10;        &lt;/Box&gt;&#10;    &lt;/Box&gt;&#10;    &lt;Box style={{ width: 1152, height: 44, flexDirection: 'row', alignItems: 'center', justifyContent: 'space-between' }}&gt;&#10;        &lt;Text style={{ fontSize: 15, color: 'rgba(29,27,22,0.48)' }}&gt;每个运行一个目录，编号带时间戳，不会互相覆盖&lt;/Text&gt;&#10;        &lt;Text style={{ fontSize: 15, color: 'rgba(29,27,22,0.48)' }}&gt;29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矩形 3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609600" y="314325"/>
            <a:ext cx="5019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一次诊断到底留下了什么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609600" y="885825"/>
            <a:ext cx="50196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磁盘上的目录结构才是硬证据；界面上看到的状态，只是它的一个视图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圆角矩形 388"/>
          <p:cNvSpPr/>
          <p:nvPr/>
        </p:nvSpPr>
        <p:spPr>
          <a:xfrm>
            <a:off x="9867900" y="504825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10039350" y="600075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跑完就能在本地找到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矩形 390"/>
          <p:cNvSpPr/>
          <p:nvPr/>
        </p:nvSpPr>
        <p:spPr>
          <a:xfrm>
            <a:off x="609600" y="1181100"/>
            <a:ext cx="10972800" cy="423862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92" name="图片 391"/>
          <p:cNvPicPr>
            <a:picLocks noChangeAspect="1"/>
          </p:cNvPicPr>
          <p:nvPr/>
        </p:nvPicPr>
        <p:blipFill>
          <a:blip r:embed="rId1"/>
          <a:srcRect t="59" b="59"/>
          <a:stretch>
            <a:fillRect/>
          </a:stretch>
        </p:blipFill>
        <p:spPr>
          <a:xfrm>
            <a:off x="609600" y="1181100"/>
            <a:ext cx="10972800" cy="4238625"/>
          </a:xfrm>
          <a:prstGeom prst="roundRect">
            <a:avLst>
              <a:gd name="adj" fmla="val 2472"/>
            </a:avLst>
          </a:prstGeom>
        </p:spPr>
      </p:pic>
      <p:sp>
        <p:nvSpPr>
          <p:cNvPr id="393" name="圆角矩形 392"/>
          <p:cNvSpPr/>
          <p:nvPr/>
        </p:nvSpPr>
        <p:spPr>
          <a:xfrm>
            <a:off x="657225" y="5572125"/>
            <a:ext cx="10972800" cy="695325"/>
          </a:xfrm>
          <a:prstGeom prst="roundRect">
            <a:avLst>
              <a:gd name="adj" fmla="val 15068"/>
            </a:avLst>
          </a:prstGeom>
          <a:solidFill>
            <a:srgbClr val="B8730F">
              <a:alpha val="10000"/>
            </a:srgbClr>
          </a:solidFill>
        </p:spPr>
        <p:txBody>
          <a:bodyPr/>
          <a:p/>
        </p:txBody>
      </p:sp>
      <p:sp>
        <p:nvSpPr>
          <p:cNvPr id="394" name="任意多边形 393"/>
          <p:cNvSpPr/>
          <p:nvPr/>
        </p:nvSpPr>
        <p:spPr>
          <a:xfrm>
            <a:off x="657225" y="5572125"/>
            <a:ext cx="10972800" cy="695325"/>
          </a:xfrm>
          <a:custGeom>
            <a:avLst/>
            <a:gdLst/>
            <a:ahLst/>
            <a:cxnLst/>
            <a:pathLst>
              <a:path w="1152" h="73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67"/>
                </a:lnTo>
                <a:cubicBezTo>
                  <a:pt x="5" y="70"/>
                  <a:pt x="7" y="72"/>
                  <a:pt x="10" y="73"/>
                </a:cubicBezTo>
                <a:cubicBezTo>
                  <a:pt x="4" y="72"/>
                  <a:pt x="0" y="68"/>
                  <a:pt x="0" y="62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B8730F"/>
          </a:solidFill>
        </p:spPr>
        <p:txBody>
          <a:bodyPr/>
          <a:p/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809625" y="5762625"/>
            <a:ext cx="1062037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只有</a:t>
            </a:r>
            <a:r>
              <a:rPr lang="en-US" sz="1275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.pipeline_events.jsonl</a:t>
            </a:r>
            <a:r>
              <a:rPr lang="en-US" sz="1275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能通过管线日志校验，这次运行才算真正执行完毕</a:t>
            </a:r>
            <a:r>
              <a:rPr lang="en-US" sz="1275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磁盘证据才是可交付的凭据。</a:t>
            </a:r>
            <a:endParaRPr lang="zh-CN" sz="1275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609600" y="6391275"/>
            <a:ext cx="3143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每个运行一个目录，编号带时间戳，不会互相覆盖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29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4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全貌：9 步管线 + 9 道质量闸门&lt;/Text&gt;&#10;            &lt;Text style={{ fontSize: 17, color: 'rgba(29,27,22,0.72)', marginTop: 6 }}&gt;把前面所有操作串起来看：诊断是排除，每道闸门都可能回退重跑，最后只留下守得住的结论&lt;/Text&gt;&#10;        &lt;/Box&gt;&#10;        &lt;Box style={{ padding: '10px 18px', background: 'rgba(184,115,15,0.12)', border: '1px solid rgba(184,115,15,0.42)', borderRadius: 8 }}&gt;&#10;            &lt;Text style={{ fontSize: 16, fontWeight: 'bold', color: '#B8730F' }}&gt;Step 5a ∥ 5b 是唯一并行段&lt;/Text&gt;&#10;        &lt;/Box&gt;&#10;    &lt;/Box&gt;&#10;    &lt;Box style={{ width: 1152, height: 534, justifyContent: 'center', alignItems: 'center' }}&gt;&#10;        &lt;Image src=&quot;assets/d_pipeline.png&quot; style={{ width: 1017, height: 534, borderRadius: 11, border: '1px solid rgba(29,27,22,0.10)' }} /&gt;&#10;    &lt;/Box&gt;&#10;    &lt;Box style={{ width: 1152, height: 44, flexDirection: 'row', alignItems: 'center', justifyContent: 'space-between' }}&gt;&#10;        &lt;Text style={{ fontSize: 15, color: 'rgba(29,27,22,0.48)' }}&gt;CP-6 不过触发自愈回路；CP-8 不过触发审计修复回路；全局重诊上限 5 次&lt;/Text&gt;&#10;        &lt;Text style={{ fontSize: 15, color: 'rgba(29,27,22,0.48)' }}&gt;30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矩形 4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609600" y="314325"/>
            <a:ext cx="66389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全貌：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步管线</a:t>
            </a:r>
            <a:r>
              <a:rPr lang="en-US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+ 9 </a:t>
            </a: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道质量闸门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609600" y="885825"/>
            <a:ext cx="66389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把前面所有操作串起来看：诊断是排除，每道闸门都可能回退重跑，最后只留下守得住的结论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圆角矩形 437"/>
          <p:cNvSpPr/>
          <p:nvPr/>
        </p:nvSpPr>
        <p:spPr>
          <a:xfrm>
            <a:off x="9305925" y="504825"/>
            <a:ext cx="2276475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9477375" y="600075"/>
            <a:ext cx="19335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Step 5a ∥ 5b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是唯一并行段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" name="矩形 439"/>
          <p:cNvSpPr/>
          <p:nvPr/>
        </p:nvSpPr>
        <p:spPr>
          <a:xfrm>
            <a:off x="1257300" y="1181100"/>
            <a:ext cx="9686925" cy="50863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41" name="图片 440"/>
          <p:cNvPicPr>
            <a:picLocks noChangeAspect="1"/>
          </p:cNvPicPr>
          <p:nvPr/>
        </p:nvPicPr>
        <p:blipFill>
          <a:blip r:embed="rId1"/>
          <a:srcRect t="21" b="21"/>
          <a:stretch>
            <a:fillRect/>
          </a:stretch>
        </p:blipFill>
        <p:spPr>
          <a:xfrm>
            <a:off x="1257300" y="1181100"/>
            <a:ext cx="9686925" cy="5086350"/>
          </a:xfrm>
          <a:prstGeom prst="roundRect">
            <a:avLst>
              <a:gd name="adj" fmla="val 2060"/>
            </a:avLst>
          </a:prstGeom>
        </p:spPr>
      </p:pic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609600" y="6391275"/>
            <a:ext cx="47720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CP-6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不过触发自愈回路；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CP-8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不过触发审计修复回路；全局重诊上限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4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手机上也能用&lt;/Text&gt;&#10;            &lt;Text style={{ fontSize: 17, color: 'rgba(29,27,22,0.72)', marginTop: 6 }}&gt;同一套代码覆盖手机、平板、笔电、桌面与超宽屏；窄屏时侧栏折成顶部条，导航进抽屉&lt;/Text&gt;&#10;        &lt;/Box&gt;&#10;        &lt;Box style={{ padding: '10px 18px', background: '#1D1B16', borderRadius: 8 }}&gt;&#10;            &lt;Text style={{ fontSize: 16, fontWeight: 'bold', color: '#B8730F' }}&gt;390px 宽度实测&lt;/Text&gt;&#10;        &lt;/Box&gt;&#10;    &lt;/Box&gt;&#10;    &lt;Box style={{ width: 1152, height: 534, flexDirection: 'column', gap: 16 }}&gt;&#10;        &lt;Box style={{ height: 458, flexDirection: 'row', gap: 22 }}&gt;&#10;            &lt;Box style={{ width: 470, height: 458, justifyContent: 'center', alignItems: 'center' }}&gt;&#10;                &lt;Image src=&quot;assets/18_phone.png&quot; style={{ width: 468, height: 458, borderRadius: 11, border: '1px solid rgba(29,27,22,0.10)' }} /&gt;&#10;            &lt;/Box&gt;&#10;            &lt;Box style={{ width: 660, height: 458, flexDirection: 'column', gap: 16 }}&gt;&#10;                &lt;Box style={{ height: 221, padding: 18, background: '#FFFFFF', borderRadius: 12, border: '1px solid rgba(29,27,22,0.10)', flexDirection: 'column' }}&gt;&#10;                    &lt;Text style={{ fontSize: 21, fontWeight: 'bold', color: '#1D1B16' }}&gt;① 折行发生在 900px&lt;/Text&gt;&#10;                    &lt;Text style={{ fontSize: 17, color: 'rgba(29,27,22,0.78)', lineHeight: 1.62, marginTop: 10 }}&gt;宽于 900px 时，左侧是一条竖向导航栏；窄于 900px 时自动折成顶部横条，七个入口收进抽屉，不占内容区。&lt;/Text&gt;&#10;                    &lt;Box style={{ marginTop: 'auto', padding: '9px 12px', background: 'rgba(228,220,203,0.75)', borderRadius: 8 }}&gt;&#10;                        &lt;Text style={{ fontSize: 16, color: 'rgba(29,27,22,0.82)' }}&gt;布局切换不会出现横向滚动条&lt;/Text&gt;&#10;                    &lt;/Box&gt;&#10;                &lt;/Box&gt;&#10;                &lt;Box style={{ height: 221, padding: 18, background: 'rgba(184,115,15,0.10)', borderRadius: 12, border: '1px solid rgba(184,115,15,0.42)', flexDirection: 'column' }}&gt;&#10;                    &lt;Text style={{ fontSize: 21, fontWeight: 'bold', color: '#8A5608' }}&gt;② 手机上能做完整个闭环&lt;/Text&gt;&#10;                    &lt;Text style={{ fontSize: 17, color: 'rgba(29,27,22,0.80)', lineHeight: 1.62, marginTop: 10 }}&gt;上传数据、发起诊断、盯进度、读报告、看历史全部可用。产线巡检时掏出手机就能确认昨晚那批料的结论。&lt;/Text&gt;&#10;                    &lt;Box style={{ marginTop: 'auto', padding: '9px 12px', background: 'rgba(184,115,15,0.20)', borderRadius: 8 }}&gt;&#10;                        &lt;Text style={{ fontSize: 16, color: '#8A5608' }}&gt;手机访问用电脑的局域网 IP&lt;/Text&gt;&#10;                    &lt;/Box&gt;&#10;                &lt;/Box&gt;&#10;            &lt;/Box&gt;&#10;        &lt;/Box&gt;&#10;        &lt;Box style={{ height: 60, padding: 16, background: '#1D1B16', borderRadius: 11, flexDirection: 'row', alignItems: 'center', gap: 16 }}&gt;&#10;            &lt;Text style={{ fontSize: 18, fontWeight: 'bold', color: '#F0A93B' }}&gt;注意&lt;/Text&gt;&#10;            &lt;Text style={{ fontSize: 16, color: 'rgba(247,244,236,0.84)' }}&gt;窄屏下表格保留列语义但压缩内边距，超长文本以省略号截断，不会出现错位或遮挡。&lt;/Text&gt;&#10;        &lt;/Box&gt;&#10;    &lt;/Box&gt;&#10;    &lt;Box style={{ width: 1152, height: 44, flexDirection: 'row', alignItems: 'center', justifyContent: 'space-between' }}&gt;&#10;        &lt;Text style={{ fontSize: 15, color: 'rgba(29,27,22,0.48)' }}&gt;端口仍是 5180，只是把 localhost 换成电脑的局域网 IP&lt;/Text&gt;&#10;        &lt;Text style={{ fontSize: 15, color: 'rgba(29,27,22,0.48)' }}&gt;31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矩形 4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609600" y="314325"/>
            <a:ext cx="6315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手机上也能用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609600" y="885825"/>
            <a:ext cx="63150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同一套代码覆盖手机、平板、笔电、桌面与超宽屏；窄屏时侧栏折成顶部条，导航进抽屉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8" name="圆角矩形 447"/>
          <p:cNvSpPr/>
          <p:nvPr/>
        </p:nvSpPr>
        <p:spPr>
          <a:xfrm>
            <a:off x="10106025" y="504825"/>
            <a:ext cx="1476375" cy="381000"/>
          </a:xfrm>
          <a:prstGeom prst="roundRect">
            <a:avLst>
              <a:gd name="adj" fmla="val 20000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10277475" y="600075"/>
            <a:ext cx="1133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390px </a:t>
            </a:r>
            <a:r>
              <a:rPr lang="zh-CN" sz="1200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宽度实测</a:t>
            </a:r>
            <a:endParaRPr lang="zh-CN" sz="1200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619125" y="1181100"/>
            <a:ext cx="4457700" cy="43624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51" name="图片 450"/>
          <p:cNvPicPr>
            <a:picLocks noChangeAspect="1"/>
          </p:cNvPicPr>
          <p:nvPr/>
        </p:nvPicPr>
        <p:blipFill>
          <a:blip r:embed="rId1"/>
          <a:srcRect t="16" b="16"/>
          <a:stretch>
            <a:fillRect/>
          </a:stretch>
        </p:blipFill>
        <p:spPr>
          <a:xfrm>
            <a:off x="619125" y="1181100"/>
            <a:ext cx="4457700" cy="4362450"/>
          </a:xfrm>
          <a:prstGeom prst="roundRect">
            <a:avLst>
              <a:gd name="adj" fmla="val 2402"/>
            </a:avLst>
          </a:prstGeom>
        </p:spPr>
      </p:pic>
      <p:sp>
        <p:nvSpPr>
          <p:cNvPr id="452" name="圆角矩形 451"/>
          <p:cNvSpPr/>
          <p:nvPr/>
        </p:nvSpPr>
        <p:spPr>
          <a:xfrm>
            <a:off x="5295900" y="1181100"/>
            <a:ext cx="6286500" cy="2105025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5467350" y="1352550"/>
            <a:ext cx="59436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折行发生在</a:t>
            </a:r>
            <a:r>
              <a:rPr lang="en-US" sz="1575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 900px</a:t>
            </a:r>
            <a:endParaRPr lang="en-US" sz="1575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5467350" y="1695450"/>
            <a:ext cx="59436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宽于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900px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时，左侧是一条竖向导航栏；窄于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900px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时自动折成顶部横条，七个入口收进抽屉，不占内容区。</a:t>
            </a:r>
            <a:endParaRPr lang="zh-CN" sz="1275">
              <a:solidFill>
                <a:srgbClr val="1D1B1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5" name="圆角矩形 454"/>
          <p:cNvSpPr/>
          <p:nvPr/>
        </p:nvSpPr>
        <p:spPr>
          <a:xfrm>
            <a:off x="5467350" y="2752725"/>
            <a:ext cx="5943600" cy="361950"/>
          </a:xfrm>
          <a:prstGeom prst="roundRect">
            <a:avLst>
              <a:gd name="adj" fmla="val 21053"/>
            </a:avLst>
          </a:prstGeom>
          <a:solidFill>
            <a:srgbClr val="E4DCCB">
              <a:alpha val="75000"/>
            </a:srgbClr>
          </a:solidFill>
        </p:spPr>
        <p:txBody>
          <a:bodyPr/>
          <a:p/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5581650" y="2838450"/>
            <a:ext cx="5715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布局切换不会出现横向滚动条</a:t>
            </a:r>
            <a:endParaRPr lang="zh-CN" sz="1200">
              <a:solidFill>
                <a:srgbClr val="1D1B1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7" name="圆角矩形 456"/>
          <p:cNvSpPr/>
          <p:nvPr/>
        </p:nvSpPr>
        <p:spPr>
          <a:xfrm>
            <a:off x="5295900" y="3438525"/>
            <a:ext cx="6286500" cy="2105025"/>
          </a:xfrm>
          <a:prstGeom prst="roundRect">
            <a:avLst>
              <a:gd name="adj" fmla="val 5430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5467350" y="3609975"/>
            <a:ext cx="59436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575" b="1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手机上能做完整个闭环</a:t>
            </a:r>
            <a:endParaRPr lang="zh-CN" sz="1575" b="1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5467350" y="3952875"/>
            <a:ext cx="59436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上传数据、发起诊断、盯进度、读报告、看历史全部可用。产线巡检时掏出手机就能确认昨晚那批料的结论。</a:t>
            </a:r>
            <a:endParaRPr lang="zh-CN" sz="1275">
              <a:solidFill>
                <a:srgbClr val="1D1B1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圆角矩形 459"/>
          <p:cNvSpPr/>
          <p:nvPr/>
        </p:nvSpPr>
        <p:spPr>
          <a:xfrm>
            <a:off x="5467350" y="5010150"/>
            <a:ext cx="5943600" cy="361950"/>
          </a:xfrm>
          <a:prstGeom prst="roundRect">
            <a:avLst>
              <a:gd name="adj" fmla="val 21053"/>
            </a:avLst>
          </a:prstGeom>
          <a:solidFill>
            <a:srgbClr val="B8730F">
              <a:alpha val="20000"/>
            </a:srgbClr>
          </a:solidFill>
        </p:spPr>
        <p:txBody>
          <a:bodyPr/>
          <a:p/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5581650" y="5095875"/>
            <a:ext cx="5715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手机访问用电脑的局域网</a:t>
            </a:r>
            <a:r>
              <a:rPr lang="en-US" sz="1200">
                <a:solidFill>
                  <a:srgbClr val="8A5608"/>
                </a:solidFill>
                <a:latin typeface="微软雅黑" panose="020B0503020204020204" charset="-122"/>
                <a:ea typeface="微软雅黑" panose="020B0503020204020204" charset="-122"/>
              </a:rPr>
              <a:t> IP</a:t>
            </a:r>
            <a:endParaRPr lang="en-US" sz="1200">
              <a:solidFill>
                <a:srgbClr val="8A560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圆角矩形 461"/>
          <p:cNvSpPr/>
          <p:nvPr/>
        </p:nvSpPr>
        <p:spPr>
          <a:xfrm>
            <a:off x="609600" y="5695950"/>
            <a:ext cx="10972800" cy="571500"/>
          </a:xfrm>
          <a:prstGeom prst="roundRect">
            <a:avLst>
              <a:gd name="adj" fmla="val 18333"/>
            </a:avLst>
          </a:prstGeom>
          <a:solidFill>
            <a:srgbClr val="1D1B16"/>
          </a:solidFill>
        </p:spPr>
        <p:txBody>
          <a:bodyPr/>
          <a:p/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762000" y="5876925"/>
            <a:ext cx="342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endParaRPr lang="zh-CN" sz="1350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257300" y="5886450"/>
            <a:ext cx="5791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窄屏下表格保留列语义但压缩内边距，超长文本以省略号截断，不会出现错位或遮挡。</a:t>
            </a:r>
            <a:endParaRPr lang="zh-CN" sz="1200">
              <a:solidFill>
                <a:srgbClr val="F7F4EC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5" name="文本框 464" descr="{&quot;isTemplate&quot;:true,&quot;type&quot;:&quot;text&quot;}"/>
          <p:cNvSpPr txBox="1"/>
          <p:nvPr/>
        </p:nvSpPr>
        <p:spPr>
          <a:xfrm>
            <a:off x="609600" y="6391275"/>
            <a:ext cx="3543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端口仍是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5180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，只是把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localhost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换成电脑的局域网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IP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31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7" name="" descr="&lt;Slide style={{ padding: '22px 64px 18px 64px', background: '#F7F4EC' }}&gt;&#10;    &lt;Box style={{ width: 1152, height: 102, flexDirection: 'row', alignItems: 'center', justifyContent: 'space-between' }}&gt;&#10;        &lt;Box style={{ flexDirection: 'column' }}&gt;&#10;            &lt;Text style={{ fontSize: 36, fontWeight: 'bold', color: '#1D1B16', lineHeight: 1.25 }}&gt;排错速查：三个等级，按顺序查&lt;/Text&gt;&#10;            &lt;Text style={{ fontSize: 17, color: 'rgba(29,27,22,0.72)', marginTop: 6 }}&gt;九成问题落在这三类里。先看现象，再看处理办法，不用猜&lt;/Text&gt;&#10;        &lt;/Box&gt;&#10;        &lt;Box style={{ padding: '10px 18px', background: 'rgba(168,68,42,0.12)', border: '1px solid rgba(168,68,42,0.42)', borderRadius: 8 }}&gt;&#10;            &lt;Text style={{ fontSize: 16, fontWeight: 'bold', color: '#A8442A' }}&gt;先查 L1，再查 L2&lt;/Text&gt;&#10;        &lt;/Box&gt;&#10;    &lt;/Box&gt;&#10;    &lt;Box style={{ width: 1152, height: 534 }}&gt;&#10;        &lt;Table&#10;            style={{ width: '100%', height: '100%' }}&#10;            defaultTextStyle={{ fontSize: 16, textAlign: 'left', color: '#1D1B16' }}&#10;            defaultCellStyle={{&#10;                border: {&#10;                    left: { width: 1, color: '#E4DCCB' },&#10;                    right: { width: 1, color: '#E4DCCB' },&#10;                    top: { width: 1, color: '#E4DCCB' },&#10;                    bottom: { width: 1, color: '#E4DCCB' },&#10;                },&#10;            }}&#10;            cells={[&#10;                [&#10;                    { text: '等级', textStyle: { bold: true, color: '#FFFFFF' }, cellStyle: { background: { color: '#1D1B16' } } },&#10;                    { text: '现象', textStyle: { bold: true, color: '#FFFFFF' }, cellStyle: { background: { color: '#1D1B16' } } },&#10;                    { text: '怎么处理', textStyle: { bold: true, color: '#FFFFFF' }, cellStyle: { background: { color: '#1D1B16' } } },&#10;                ],&#10;                [&#10;                    { text: 'L1 起不来', textStyle: { bold: true, color: '#A8442A' } },&#10;                    '打开 localhost:5180 打不开',&#10;                    '先跑 ind-diag status，看哪一行不是 running；再去 .runtime/ 看对应日志',&#10;                ],&#10;                [&#10;                    { text: 'L1 起不来', textStyle: { bold: true, color: '#A8442A' }, cellStyle: { background: { color: '#F2EDE1' } } },&#10;                    { text: '命令一直不返回，最后报超时', cellStyle: { background: { color: '#F2EDE1' } } },&#10;                    { text: '多半是漏了 --detach；服务其实已起来，直接 status 确认即可', cellStyle: { background: { color: '#F2EDE1' } } },&#10;                ],&#10;                [&#10;                    { text: 'L1 起不来', textStyle: { bold: true, color: '#A8442A' } },&#10;                    'RAG 引擎起不来',&#10;                    '确认 Python ≥ 3.10；网络慢就先切镜像源再 uv sync',&#10;                ],&#10;                [&#10;                    { text: 'L2 跑不起来', textStyle: { bold: true, color: '#B8730F' }, cellStyle: { background: { color: '#F2EDE1' } } },&#10;                    { text: '点开始诊断没反应，或立刻失败', cellStyle: { background: { color: '#F2EDE1' } } },&#10;                    { text: '多半是引擎 CLI 未登录：跑一次 &lt;引擎&gt; --version 确认，缺 Key 就补 .env', cellStyle: { background: { color: '#F2EDE1' } } },&#10;                ],&#10;                [&#10;                    { text: 'L2 跑不起来', textStyle: { bold: true, color: '#B8730F' } },&#10;                    '接口返回 400 HARNESS_UNKNOWN',&#10;                    '引擎名拼错了；在前端左下角的下拉里选，不要手写',&#10;                ],&#10;                [&#10;                    { text: 'L2 跑不起来', textStyle: { bold: true, color: '#B8730F' }, cellStyle: { background: { color: '#F2EDE1' } } },&#10;                    { text: '接口返回 409 HARNESS_UNAVAILABLE', cellStyle: { background: { color: '#F2EDE1' } } },&#10;                    { text: '这个引擎本机没装；换一个绿点的，或先装它的 CLI', cellStyle: { background: { color: '#F2EDE1' } } },&#10;                ],&#10;                [&#10;                    { text: 'L3 结果不对', textStyle: { bold: true, color: '#2F6FA8' } },&#10;                    '结论是 COMPETING_SET，分数不高',&#10;                    '这不是失败：数据不足以区分假设。页面会列出最小判别数据集，补采那一列即可',&#10;                ],&#10;                [&#10;                    { text: 'L3 结果不对', textStyle: { bold: true, color: '#2F6FA8' }, cellStyle: { background: { color: '#F2EDE1' } } },&#10;                    { text: '报告没生成，任务停在中间', cellStyle: { background: { color: '#F2EDE1' } } },&#10;                    { text: '查看该运行的 .pipeline_events.jsonl，确认执行到哪一步停下', cellStyle: { background: { color: '#F2EDE1' } } },&#10;                ],&#10;            ]}&#10;        /&gt;&#10;    &lt;/Box&gt;&#10;    &lt;Box style={{ width: 1152, height: 44, flexDirection: 'row', alignItems: 'center', justifyContent: 'space-between' }}&gt;&#10;        &lt;Text style={{ fontSize: 15, color: 'rgba(29,27,22,0.48)' }}&gt;三组已按「先看现象 → 再定位」的顺序排好&lt;/Text&gt;&#10;        &lt;Text style={{ fontSize: 15, color: 'rgba(29,27,22,0.48)' }}&gt;32 / 3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矩形 4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609600" y="31432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D1B16"/>
                </a:solidFill>
                <a:latin typeface="微软雅黑" panose="020B0503020204020204" charset="-122"/>
                <a:ea typeface="微软雅黑" panose="020B0503020204020204" charset="-122"/>
              </a:rPr>
              <a:t>排错速查：三个等级，按顺序查</a:t>
            </a:r>
            <a:endParaRPr lang="zh-CN" sz="2700" b="1">
              <a:solidFill>
                <a:srgbClr val="1D1B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609600" y="885825"/>
            <a:ext cx="4800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九成问题落在这三类里。先看现象，再看处理办法，不用猜</a:t>
            </a:r>
            <a:endParaRPr lang="zh-CN" sz="1275">
              <a:solidFill>
                <a:srgbClr val="1D1B16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圆角矩形 470"/>
          <p:cNvSpPr/>
          <p:nvPr/>
        </p:nvSpPr>
        <p:spPr>
          <a:xfrm>
            <a:off x="10029825" y="504825"/>
            <a:ext cx="1552575" cy="381000"/>
          </a:xfrm>
          <a:prstGeom prst="roundRect">
            <a:avLst>
              <a:gd name="adj" fmla="val 20000"/>
            </a:avLst>
          </a:prstGeom>
          <a:solidFill>
            <a:srgbClr val="A8442A">
              <a:alpha val="12000"/>
            </a:srgbClr>
          </a:solidFill>
          <a:ln w="12700">
            <a:solidFill>
              <a:srgbClr val="A8442A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10201275" y="600075"/>
            <a:ext cx="12096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442A"/>
                </a:solidFill>
                <a:latin typeface="微软雅黑" panose="020B0503020204020204" charset="-122"/>
                <a:ea typeface="微软雅黑" panose="020B0503020204020204" charset="-122"/>
              </a:rPr>
              <a:t>先查</a:t>
            </a:r>
            <a:r>
              <a:rPr lang="en-US" sz="1200" b="1">
                <a:solidFill>
                  <a:srgbClr val="A8442A"/>
                </a:solidFill>
                <a:latin typeface="微软雅黑" panose="020B0503020204020204" charset="-122"/>
                <a:ea typeface="微软雅黑" panose="020B0503020204020204" charset="-122"/>
              </a:rPr>
              <a:t> L1</a:t>
            </a:r>
            <a:r>
              <a:rPr lang="zh-CN" sz="1200" b="1">
                <a:solidFill>
                  <a:srgbClr val="A8442A"/>
                </a:solidFill>
                <a:latin typeface="微软雅黑" panose="020B0503020204020204" charset="-122"/>
                <a:ea typeface="微软雅黑" panose="020B0503020204020204" charset="-122"/>
              </a:rPr>
              <a:t>，再查</a:t>
            </a:r>
            <a:r>
              <a:rPr lang="en-US" sz="1200" b="1">
                <a:solidFill>
                  <a:srgbClr val="A8442A"/>
                </a:solidFill>
                <a:latin typeface="微软雅黑" panose="020B0503020204020204" charset="-122"/>
                <a:ea typeface="微软雅黑" panose="020B0503020204020204" charset="-122"/>
              </a:rPr>
              <a:t> L2</a:t>
            </a:r>
            <a:endParaRPr lang="en-US" sz="1200" b="1">
              <a:solidFill>
                <a:srgbClr val="A844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73" name="表格 472"/>
          <p:cNvGraphicFramePr/>
          <p:nvPr/>
        </p:nvGraphicFramePr>
        <p:xfrm>
          <a:off x="609600" y="1181100"/>
          <a:ext cx="10972800" cy="5086350"/>
        </p:xfrm>
        <a:graphic>
          <a:graphicData uri="http://schemas.openxmlformats.org/drawingml/2006/table">
            <a:tbl>
              <a:tblPr/>
              <a:tblGrid>
                <a:gridCol w="1087475"/>
                <a:gridCol w="3360476"/>
                <a:gridCol w="6524849"/>
              </a:tblGrid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1B1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1B1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怎么处理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1B16"/>
                    </a:solidFill>
                  </a:tcPr>
                </a:tc>
              </a:tr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A844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L1 起不来</a:t>
                      </a:r>
                      <a:endParaRPr sz="1200" b="1">
                        <a:solidFill>
                          <a:srgbClr val="A8442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打开 localhost:5180 打不开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先跑 ind-diag status，看哪一行不是 running；再去 .runtime/ 看对应日志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A844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L1 起不来</a:t>
                      </a:r>
                      <a:endParaRPr sz="1200" b="1">
                        <a:solidFill>
                          <a:srgbClr val="A8442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命令一直不返回，最后报超时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多半是漏了 --detach；服务其实已起来，直接 status 确认即可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</a:tr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A844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L1 起不来</a:t>
                      </a:r>
                      <a:endParaRPr sz="1200" b="1">
                        <a:solidFill>
                          <a:srgbClr val="A8442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RAG 引擎起不来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确认 Python ≥ 3.10；网络慢就先切镜像源再 uv sync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L2 跑不起来</a:t>
                      </a:r>
                      <a:endParaRPr sz="1200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点开始诊断没反应，或立刻失败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多半是引擎 CLI 未登录：跑一次 &lt;引擎&gt; --version 确认，缺 Key 就补 .env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</a:tr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L2 跑不起来</a:t>
                      </a:r>
                      <a:endParaRPr sz="1200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接口返回 400 HARNESS_UNKNOWN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引擎名拼错了；在前端左下角的下拉里选，不要手写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B8730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L2 跑不起来</a:t>
                      </a:r>
                      <a:endParaRPr sz="1200" b="1">
                        <a:solidFill>
                          <a:srgbClr val="B8730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接口返回 409 HARNESS_UNAVAILABLE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这个引擎本机没装；换一个绿点的，或先装它的 CLI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</a:tr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2F6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L3 结果不对</a:t>
                      </a:r>
                      <a:endParaRPr sz="1200" b="1">
                        <a:solidFill>
                          <a:srgbClr val="2F6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结论是 COMPETING_SET，分数不高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这不是失败：数据不足以区分假设。页面会列出最小判别数据集，补采那一列即可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51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2F6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L3 结果不对</a:t>
                      </a:r>
                      <a:endParaRPr sz="1200" b="1">
                        <a:solidFill>
                          <a:srgbClr val="2F6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报告没生成，任务停在中间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D1B1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查看该运行的 .pipeline_events.jsonl，确认执行到哪一步停下</a:t>
                      </a:r>
                      <a:endParaRPr sz="1200">
                        <a:solidFill>
                          <a:srgbClr val="1D1B1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DE1"/>
                    </a:solidFill>
                  </a:tcPr>
                </a:tc>
              </a:tr>
            </a:tbl>
          </a:graphicData>
        </a:graphic>
      </p:graphicFrame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609600" y="6391275"/>
            <a:ext cx="2800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三组已按「先看现象</a:t>
            </a: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再定位」的顺序排好</a:t>
            </a:r>
            <a:endParaRPr lang="zh-CN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4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32 / 34</a:t>
            </a:r>
            <a:endParaRPr lang="en-US" sz="1125">
              <a:solidFill>
                <a:srgbClr val="1D1B16">
                  <a:alpha val="4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6" name="" descr="&lt;Slide style={{ padding: '22px 64px 18px 64px', background: '#1D1B16' }}&gt;&#13;&#10;    &lt;Box style={{ width: 1152, height: 102, flexDirection: 'row', alignItems: 'center', justifyContent: 'space-between' }}&gt;&#13;&#10;        &lt;Box style={{ flexDirection: 'column' }}&gt;&#13;&#10;            &lt;Text style={{ fontSize: 13, color: '#B8730F', letterSpacing: 4, fontWeight: 'bold' }}&gt;CHEAT SHEET&lt;/Text&gt;&#13;&#10;            &lt;Text style={{ fontSize: 36, fontWeight: 'bold', color: '#F7F4EC', lineHeight: 1.25, marginTop: 4 }}&gt;命令速查卡：需要时直接翻这一页&lt;/Text&gt;&#13;&#10;        &lt;/Box&gt;&#13;&#10;        &lt;Box style={{ padding: '10px 18px', background: 'rgba(184,115,15,0.18)', border: '1px solid rgba(184,115,15,0.55)', borderRadius: 8 }}&gt;&#13;&#10;            &lt;Text style={{ fontSize: 16, fontWeight: 'bold', color: '#F0A93B' }}&gt;只有这几条，背不下来就来查&lt;/Text&gt;&#13;&#10;        &lt;/Box&gt;&#13;&#10;    &lt;/Box&gt;&#13;&#10;    &lt;Box style={{ width: 1152, height: 534, flexDirection: 'column', gap: 28 }}&gt;&#13;&#10;        &lt;Box style={{ height: 253, flexDirection: 'row', gap: 32 }}&gt;&#13;&#10;            &lt;Box style={{ width: 560, height: 253, padding: 20, background: 'rgba(247,244,236,0.06)', border: '1px solid rgba(247,244,236,0.16)', borderRadius: 12, flexDirection: 'column' }}&gt;&#13;&#10;                &lt;Text style={{ fontSize: 20, fontWeight: 'bold', color: '#F0A93B' }}&gt;日常运维&lt;/Text&gt;&#13;&#10;                &lt;Text style={{ fontSize: 16, color: '#D9E8A8', lineHeight: 1.85, marginTop: 12, fontWeight: 'bold' }}&gt;ind-diag start --all --detach&lt;/Text&gt;&#13;&#10;                &lt;Text style={{ fontSize: 16, color: '#D9E8A8', lineHeight: 1.85, fontWeight: 'bold' }}&gt;ind-diag status&lt;/Text&gt;&#13;&#10;                &lt;Text style={{ fontSize: 16, color: '#D9E8A8', lineHeight: 1.85, fontWeight: 'bold' }}&gt;ind-diag restart --all --detach&lt;/Text&gt;&#13;&#10;                &lt;Text style={{ fontSize: 16, color: '#D9E8A8', lineHeight: 1.85, fontWeight: 'bold' }}&gt;ind-diag stop --all&lt;/Text&gt;&#13;&#10;            &lt;/Box&gt;&#13;&#10;            &lt;Box style={{ width: 560, height: 253, padding: 20, background: 'rgba(247,244,236,0.06)', border: '1px solid rgba(247,244,236,0.16)', borderRadius: 12, flexDirection: 'column' }}&gt;&#13;&#10;                &lt;Text style={{ fontSize: 20, fontWeight: 'bold', color: '#F0A93B' }}&gt;健康检查&lt;/Text&gt;&#13;&#10;                &lt;Text style={{ fontSize: 16, color: '#D9E8A8', lineHeight: 1.85, marginTop: 12, fontWeight: 'bold' }}&gt;curl http://localhost:3210/api/health&lt;/Text&gt;&#13;&#10;                &lt;Text style={{ fontSize: 16, color: '#D9E8A8', lineHeight: 1.85, fontWeight: 'bold' }}&gt;curl -I http://localhost:5180&lt;/Text&gt;&#13;&#10;                &lt;Text style={{ fontSize: 16, color: '#D9E8A8', lineHeight: 1.85, fontWeight: 'bold' }}&gt;curl -I http://localhost:8764/docs&lt;/Text&gt;&#13;&#10;                &lt;Text style={{ fontSize: 15, color: 'rgba(247,244,236,0.56)', lineHeight: 1.85, marginTop: 4 }}&gt;三条都通，说明三个服务都活着&lt;/Text&gt;&#13;&#10;            &lt;/Box&gt;&#13;&#10;        &lt;/Box&gt;&#13;&#10;        &lt;Box style={{ height: 253, flexDirection: 'row', gap: 32 }}&gt;&#13;&#10;            &lt;Box style={{ width: 560, height: 253, padding: 20, background: 'rgba(247,244,236,0.06)', border: '1px solid rgba(247,244,236,0.16)', borderRadius: 12, flexDirection: 'column' }}&gt;&#13;&#10;                &lt;Text style={{ fontSize: 20, fontWeight: 'bold', color: '#F0A93B' }}&gt;没装全局命令时&lt;/Text&gt;&#13;&#10;                &lt;Text style={{ fontSize: 16, color: '#D9E8A8', lineHeight: 1.85, marginTop: 12, fontWeight: 'bold' }}&gt;node commands/cli.mjs status&lt;/Text&gt;&#13;&#10;                &lt;Text style={{ fontSize: 16, color: '#D9E8A8', lineHeight: 1.85, fontWeight: 'bold' }}&gt;node commands/cli.mjs start --all --detach&lt;/Text&gt;&#13;&#10;                &lt;Text style={{ fontSize: 15, color: 'rgba(247,244,236,0.56)', lineHeight: 1.85, marginTop: 4 }}&gt;效果和 ind-diag 完全一样，只是多打几个字；想省事就再跑一次 npm link&lt;/Text&gt;&#13;&#10;            &lt;/Box&gt;&#13;&#10;            &lt;Box style={{ width: 560, height: 253, padding: 20, background: 'rgba(184,115,15,0.14)', border: '1px solid rgba(184,115,15,0.42)', borderRadius: 12, flexDirection: 'column' }}&gt;&#13;&#10;                &lt;Text style={{ fontSize: 20, fontWeight: 'bold', color: '#F0A93B' }}&gt;出问题时先看日志&lt;/Text&gt;&#13;&#10;                &lt;Text style={{ fontSize: 16, color: '#D9E8A8', lineHeight: 1.85, marginTop: 12, fontWeight: 'bold' }}&gt;.runtime/backend.log&lt;/Text&gt;&#13;&#10;                &lt;Text style={{ fontSize: 16, color: '#D9E8A8', lineHeight: 1.85, fontWeight: 'bold' }}&gt;.runtime/frontend.log&lt;/Text&gt;&#13;&#10;                &lt;Text style={{ fontSize: 16, color: '#D9E8A8', lineHeight: 1.85, fontWeight: 'bold' }}&gt;.runtime/rag.log&lt;/Text&gt;&#13;&#10;                &lt;Text style={{ fontSize: 15, color: 'rgba(247,244,236,0.62)', lineHeight: 1.85, marginTop: 4 }}&gt;三个服务的日志都在这一个目录下&lt;/Text&gt;&#13;&#10;            &lt;/Box&gt;&#13;&#10;        &lt;/Box&gt;&#13;&#10;    &lt;/Box&gt;&#13;&#10;    &lt;Box style={{ width: 1152, height: 44, flexDirection: 'row', alignItems: 'center', justifyContent: 'space-between' }}&gt;&#13;&#10;        &lt;Text style={{ fontSize: 15, color: 'rgba(247,244,236,0.45)' }}&gt;停服务：ind-diag stop --all　·　重启：ind-diag restart --all --detach&lt;/Text&gt;&#13;&#10;        &lt;Text style={{ fontSize: 15, color: 'rgba(247,244,236,0.45)' }}&gt;33 / 34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矩形 4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B16"/>
          </a:solidFill>
        </p:spPr>
        <p:txBody>
          <a:bodyPr/>
          <a:p/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609600" y="342900"/>
            <a:ext cx="5143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CHEAT SHEET</a:t>
            </a:r>
            <a:endParaRPr lang="en-US" sz="975" b="1" spc="300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609600" y="533400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命令速查卡：需要时直接翻这一页</a:t>
            </a:r>
            <a:endParaRPr lang="zh-CN" sz="270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9258300" y="504825"/>
            <a:ext cx="2324100" cy="381000"/>
          </a:xfrm>
          <a:prstGeom prst="roundRect">
            <a:avLst>
              <a:gd name="adj" fmla="val 20000"/>
            </a:avLst>
          </a:prstGeom>
          <a:solidFill>
            <a:srgbClr val="B8730F">
              <a:alpha val="18000"/>
            </a:srgbClr>
          </a:solidFill>
          <a:ln w="12700">
            <a:solidFill>
              <a:srgbClr val="B8730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9429750" y="600075"/>
            <a:ext cx="1981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只有这几条，背不下来就来查</a:t>
            </a:r>
            <a:endParaRPr lang="zh-CN" sz="1200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2" name="圆角矩形 481"/>
          <p:cNvSpPr/>
          <p:nvPr/>
        </p:nvSpPr>
        <p:spPr>
          <a:xfrm>
            <a:off x="609600" y="1181100"/>
            <a:ext cx="5334000" cy="2409825"/>
          </a:xfrm>
          <a:prstGeom prst="roundRect">
            <a:avLst>
              <a:gd name="adj" fmla="val 4743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800100" y="1371600"/>
            <a:ext cx="495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日常运维</a:t>
            </a:r>
            <a:endParaRPr lang="zh-CN" sz="1500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800100" y="1714500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ind-diag start --all --detach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800100" y="2057400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ind-diag status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800100" y="2400300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ind-diag restart --all --detach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800100" y="2743200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ind-diag stop --all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圆角矩形 487"/>
          <p:cNvSpPr/>
          <p:nvPr/>
        </p:nvSpPr>
        <p:spPr>
          <a:xfrm>
            <a:off x="6248400" y="1181100"/>
            <a:ext cx="5334000" cy="2409825"/>
          </a:xfrm>
          <a:prstGeom prst="roundRect">
            <a:avLst>
              <a:gd name="adj" fmla="val 4743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6438900" y="1371600"/>
            <a:ext cx="495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健康检查</a:t>
            </a:r>
            <a:endParaRPr lang="zh-CN" sz="1500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6438900" y="1714500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curl http://localhost:3210/api/health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6438900" y="2057400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curl -I http://localhost:5180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6438900" y="2400300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curl -I http://localhost:8764/docs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6438900" y="2781300"/>
            <a:ext cx="4953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125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三条都通，说明三个服务都活着</a:t>
            </a:r>
            <a:endParaRPr lang="zh-CN" sz="1125">
              <a:solidFill>
                <a:srgbClr val="F7F4EC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圆角矩形 493"/>
          <p:cNvSpPr/>
          <p:nvPr/>
        </p:nvSpPr>
        <p:spPr>
          <a:xfrm>
            <a:off x="609600" y="3857625"/>
            <a:ext cx="5334000" cy="2409825"/>
          </a:xfrm>
          <a:prstGeom prst="roundRect">
            <a:avLst>
              <a:gd name="adj" fmla="val 4743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800100" y="4048125"/>
            <a:ext cx="495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没装全局命令时</a:t>
            </a:r>
            <a:endParaRPr lang="zh-CN" sz="1500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800100" y="4391025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node commands/cli.mjs status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800100" y="4733925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node commands/cli.mjs start --all --detach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800100" y="5114925"/>
            <a:ext cx="4953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125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效果和</a:t>
            </a:r>
            <a:r>
              <a:rPr lang="en-US" sz="1125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ind-diag </a:t>
            </a:r>
            <a:r>
              <a:rPr lang="zh-CN" sz="1125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完全一样，只是多打几个字；想省事就再跑一次</a:t>
            </a:r>
            <a:r>
              <a:rPr lang="en-US" sz="1125">
                <a:solidFill>
                  <a:srgbClr val="F7F4EC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npm link</a:t>
            </a:r>
            <a:endParaRPr lang="en-US" sz="1125">
              <a:solidFill>
                <a:srgbClr val="F7F4EC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圆角矩形 498"/>
          <p:cNvSpPr/>
          <p:nvPr/>
        </p:nvSpPr>
        <p:spPr>
          <a:xfrm>
            <a:off x="6248400" y="3857625"/>
            <a:ext cx="5334000" cy="2409825"/>
          </a:xfrm>
          <a:prstGeom prst="roundRect">
            <a:avLst>
              <a:gd name="adj" fmla="val 4743"/>
            </a:avLst>
          </a:prstGeom>
          <a:solidFill>
            <a:srgbClr val="B8730F">
              <a:alpha val="14000"/>
            </a:srgbClr>
          </a:solidFill>
          <a:ln w="12700">
            <a:solidFill>
              <a:srgbClr val="B8730F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6438900" y="4048125"/>
            <a:ext cx="495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0A93B"/>
                </a:solidFill>
                <a:latin typeface="微软雅黑" panose="020B0503020204020204" charset="-122"/>
                <a:ea typeface="微软雅黑" panose="020B0503020204020204" charset="-122"/>
              </a:rPr>
              <a:t>出问题时先看日志</a:t>
            </a:r>
            <a:endParaRPr lang="zh-CN" sz="1500" b="1">
              <a:solidFill>
                <a:srgbClr val="F0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6438900" y="4391025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.runtime/backend.log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6438900" y="4733925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.runtime/frontend.log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6438900" y="5076825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00" b="1">
                <a:solidFill>
                  <a:srgbClr val="D9E8A8"/>
                </a:solidFill>
                <a:latin typeface="微软雅黑" panose="020B0503020204020204" charset="-122"/>
                <a:ea typeface="微软雅黑" panose="020B0503020204020204" charset="-122"/>
              </a:rPr>
              <a:t>.runtime/rag.log</a:t>
            </a:r>
            <a:endParaRPr lang="en-US" sz="1200" b="1">
              <a:solidFill>
                <a:srgbClr val="D9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6438900" y="5457825"/>
            <a:ext cx="4953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125">
                <a:solidFill>
                  <a:srgbClr val="F7F4EC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三个服务的日志都在这一个目录下</a:t>
            </a:r>
            <a:endParaRPr lang="zh-CN" sz="1125">
              <a:solidFill>
                <a:srgbClr val="F7F4EC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609600" y="6391275"/>
            <a:ext cx="4581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停服务：</a:t>
            </a:r>
            <a:r>
              <a:rPr lang="en-US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ind-diag stop --all</a:t>
            </a:r>
            <a:r>
              <a:rPr lang="zh-CN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重启：</a:t>
            </a:r>
            <a:r>
              <a:rPr lang="en-US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ind-diag restart --all --detach</a:t>
            </a:r>
            <a:endParaRPr lang="en-US" sz="1125">
              <a:solidFill>
                <a:srgbClr val="F7F4EC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6" name="文本框 505" descr="{&quot;isTemplate&quot;:true,&quot;type&quot;:&quot;text&quot;}"/>
          <p:cNvSpPr txBox="1"/>
          <p:nvPr/>
        </p:nvSpPr>
        <p:spPr>
          <a:xfrm>
            <a:off x="11096625" y="639127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4EC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33 / 34</a:t>
            </a:r>
            <a:endParaRPr lang="en-US" sz="1125">
              <a:solidFill>
                <a:srgbClr val="F7F4EC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7" name="" descr="&lt;Slide style={{ padding: 0, background: '#1D1B16', position: 'relative', overflow: 'hidden' }}&gt;&#10;    &lt;Box style={{ position: 'absolute', left: -150, bottom: -200, width: 640, height: 640, background: 'linear-gradient(135deg, #B8730F 0%, #1D1B16 100%)', opacity: 0.30 }} /&gt;&#10;    &lt;Box style={{ position: 'absolute', left: 0, top: 0, width: 1280, height: 7, background: '#B8730F' }} /&gt;&#10;    &lt;Box style={{ flexDirection: 'column', width: 1280, height: 720, padding: '66px 76px 52px 76px', position: 'relative' }}&gt;&#10;        &lt;Box style={{ flexDirection: 'row', alignItems: 'center', gap: 16 }}&gt;&#10;            &lt;Box style={{ width: 48, height: 48, border: '2px solid #B8730F', borderRadius: 10, justifyContent: 'center', alignItems: 'center' }}&gt;&#10;                &lt;Text style={{ fontSize: 19, fontWeight: 'bold', color: '#B8730F' }}&gt;ID&lt;/Text&gt;&#10;            &lt;/Box&gt;&#10;            &lt;Text style={{ fontSize: 13, color: 'rgba(247,244,236,0.55)', letterSpacing: 3 }}&gt;INDUSTRIAL DEEP DIAGNOSTIC · 零基础使用教程&lt;/Text&gt;&#10;        &lt;/Box&gt;&#10;        &lt;Text style={{ fontSize: 66, fontWeight: 'bold', color: '#F7F4EC', lineHeight: 1.2, marginTop: 50 }}&gt;五条命令起来，&lt;br /&gt;一次诊断到底。&lt;/Text&gt;&#10;        &lt;Text style={{ fontSize: 20, color: 'rgba(247,244,236,0.75)', lineHeight: 1.7, marginTop: 24, width: 940 }}&gt;剩下的交给那九步管线：它不会为了取悦你而编造根因，也不会在数据说不清的时候硬给一个答案。你现在已经知道每一步该点哪里了。&lt;/Text&gt;&#10;        &lt;Box style={{ flexDirection: 'row', gap: 16, marginTop: 42 }}&gt;&#10;            &lt;Box style={{ flex: 1, padding: '18px 20px', background: 'rgba(184,115,15,0.14)', border: '1px solid rgba(184,115,15,0.45)', borderRadius: 10 }}&gt;&#10;                &lt;Text style={{ fontSize: 13, color: '#B8730F', letterSpacing: 2, fontWeight: 'bold' }}&gt;STEP 1–2&lt;/Text&gt;&#10;                &lt;Text style={{ fontSize: 18, color: '#F7F4EC', fontWeight: 'bold', marginTop: 8 }}&gt;装好&lt;/Text&gt;&#10;                &lt;Text style={{ fontSize: 16, color: 'rgba(247,244,236,0.70)', marginTop: 6, lineHeight: 1.5 }}&gt;git clone · npm install · npm link&lt;/Text&gt;&#10;            &lt;/Box&gt;&#10;            &lt;Box style={{ flex: 1, padding: '18px 20px', background: 'rgba(184,115,15,0.14)', border: '1px solid rgba(184,115,15,0.45)', borderRadius: 10 }}&gt;&#10;                &lt;Text style={{ fontSize: 13, color: '#B8730F', letterSpacing: 2, fontWeight: 'bold' }}&gt;STEP 3&lt;/Text&gt;&#10;                &lt;Text style={{ fontSize: 18, color: '#F7F4EC', fontWeight: 'bold', marginTop: 8 }}&gt;起服务&lt;/Text&gt;&#10;                &lt;Text style={{ fontSize: 16, color: 'rgba(247,244,236,0.70)', marginTop: 6, lineHeight: 1.5 }}&gt;ind-diag start --all --detach&lt;/Text&gt;&#10;            &lt;/Box&gt;&#10;            &lt;Box style={{ flex: 1, padding: '18px 20px', background: 'rgba(184,115,15,0.14)', border: '1px solid rgba(184,115,15,0.45)', borderRadius: 10 }}&gt;&#10;                &lt;Text style={{ fontSize: 13, color: '#B8730F', letterSpacing: 2, fontWeight: 'bold' }}&gt;STEP 4&lt;/Text&gt;&#10;                &lt;Text style={{ fontSize: 18, color: '#F7F4EC', fontWeight: 'bold', marginTop: 8 }}&gt;验状态&lt;/Text&gt;&#10;                &lt;Text style={{ fontSize: 16, color: 'rgba(247,244,236,0.70)', marginTop: 6, lineHeight: 1.5 }}&gt;ind-diag status&lt;/Text&gt;&#10;            &lt;/Box&gt;&#10;            &lt;Box style={{ flex: 1, padding: '18px 20px', background: 'rgba(184,115,15,0.14)', border: '1px solid rgba(184,115,15,0.45)', borderRadius: 10 }}&gt;&#10;                &lt;Text style={{ fontSize: 13, color: '#B8730F', letterSpacing: 2, fontWeight: 'bold' }}&gt;STEP 5&lt;/Text&gt;&#10;                &lt;Text style={{ fontSize: 18, color: '#F7F4EC', fontWeight: 'bold', marginTop: 8 }}&gt;开浏览器&lt;/Text&gt;&#10;                &lt;Text style={{ fontSize: 16, color: 'rgba(247,244,236,0.70)', marginTop: 6, lineHeight: 1.5 }}&gt;http://localhost:5180&lt;/Text&gt;&#10;            &lt;/Box&gt;&#10;        &lt;/Box&gt;&#10;        &lt;Box style={{ flexDirection: 'row', alignItems: 'center', justifyContent: 'space-between', marginTop: 'auto' }}&gt;&#10;            &lt;Text style={{ fontSize: 16, color: 'rgba(247,244,236,0.58)', lineHeight: 1.6 }}&gt;下一步：换一份你自己的数据，按第 15 页上传，走一遍完整闭环。&lt;/Text&gt;&#10;            &lt;Text style={{ fontSize: 15, color: 'rgba(247,244,236,0.40)' }}&gt;34 / 34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矩形 5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B16"/>
          </a:solidFill>
        </p:spPr>
        <p:txBody>
          <a:bodyPr/>
          <a:p/>
        </p:txBody>
      </p:sp>
      <p:sp>
        <p:nvSpPr>
          <p:cNvPr id="509" name="任意多边形 508"/>
          <p:cNvSpPr/>
          <p:nvPr/>
        </p:nvSpPr>
        <p:spPr>
          <a:xfrm>
            <a:off x="-1428750" y="2667000"/>
            <a:ext cx="6096000" cy="6096000"/>
          </a:xfrm>
          <a:custGeom>
            <a:avLst/>
            <a:gdLst/>
            <a:ahLst/>
            <a:cxnLst/>
            <a:pathLst>
              <a:path w="640" h="640">
                <a:moveTo>
                  <a:pt x="640" y="440"/>
                </a:moveTo>
                <a:lnTo>
                  <a:pt x="150" y="440"/>
                </a:lnTo>
                <a:lnTo>
                  <a:pt x="150" y="0"/>
                </a:lnTo>
                <a:lnTo>
                  <a:pt x="640" y="0"/>
                </a:lnTo>
                <a:close/>
              </a:path>
            </a:pathLst>
          </a:custGeom>
          <a:gradFill>
            <a:gsLst>
              <a:gs pos="0">
                <a:srgbClr val="B8730F">
                  <a:alpha val="30000"/>
                </a:srgbClr>
              </a:gs>
              <a:gs pos="100000">
                <a:srgbClr val="1D1B16">
                  <a:alpha val="30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10" name="矩形 509"/>
          <p:cNvSpPr/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B8730F"/>
          </a:solidFill>
        </p:spPr>
        <p:txBody>
          <a:bodyPr/>
          <a:p/>
        </p:txBody>
      </p:sp>
      <p:sp>
        <p:nvSpPr>
          <p:cNvPr id="511" name="圆角矩形 510"/>
          <p:cNvSpPr/>
          <p:nvPr/>
        </p:nvSpPr>
        <p:spPr>
          <a:xfrm>
            <a:off x="723900" y="628650"/>
            <a:ext cx="457200" cy="457200"/>
          </a:xfrm>
          <a:prstGeom prst="roundRect">
            <a:avLst>
              <a:gd name="adj" fmla="val 20833"/>
            </a:avLst>
          </a:prstGeom>
          <a:ln w="25400">
            <a:solidFill>
              <a:srgbClr val="B8730F"/>
            </a:solidFill>
            <a:prstDash val="solid"/>
          </a:ln>
        </p:spPr>
        <p:txBody>
          <a:bodyPr/>
          <a:p/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847725" y="752475"/>
            <a:ext cx="2095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ID</a:t>
            </a:r>
            <a:endParaRPr lang="en-US" sz="1425" b="1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1333500" y="781050"/>
            <a:ext cx="3886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F7F4EC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INDUSTRIAL DEEP DIAGNOSTIC · </a:t>
            </a:r>
            <a:r>
              <a:rPr lang="zh-CN" sz="975" spc="225">
                <a:solidFill>
                  <a:srgbClr val="F7F4EC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零基础使用教程</a:t>
            </a:r>
            <a:endParaRPr lang="zh-CN" sz="975" spc="225">
              <a:solidFill>
                <a:srgbClr val="F7F4EC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723900" y="1562100"/>
            <a:ext cx="10744200" cy="1819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9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五条命令起来，</a:t>
            </a:r>
            <a:endParaRPr lang="zh-CN" sz="49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sz="49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一次诊断到底。</a:t>
            </a:r>
            <a:endParaRPr lang="zh-CN" sz="49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723900" y="3609975"/>
            <a:ext cx="89535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F7F4EC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剩下的交给那九步管线：它不会为了取悦你而编造根因，也不会在数据说不清的时候硬给一个答案。你现在已经知道每一步该点哪里了。</a:t>
            </a:r>
            <a:endParaRPr lang="zh-CN" sz="1500">
              <a:solidFill>
                <a:srgbClr val="F7F4EC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6" name="圆角矩形 515"/>
          <p:cNvSpPr/>
          <p:nvPr/>
        </p:nvSpPr>
        <p:spPr>
          <a:xfrm>
            <a:off x="723900" y="4791075"/>
            <a:ext cx="2571750" cy="1390650"/>
          </a:xfrm>
          <a:prstGeom prst="roundRect">
            <a:avLst>
              <a:gd name="adj" fmla="val 6849"/>
            </a:avLst>
          </a:prstGeom>
          <a:solidFill>
            <a:srgbClr val="B8730F">
              <a:alpha val="14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914400" y="4962525"/>
            <a:ext cx="2190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STEP 1–2</a:t>
            </a:r>
            <a:endParaRPr lang="en-US" sz="975" b="1" spc="150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14400" y="5191125"/>
            <a:ext cx="2190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装好</a:t>
            </a:r>
            <a:endParaRPr lang="zh-CN" sz="13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914400" y="5457825"/>
            <a:ext cx="21907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F7F4EC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git clone · npm install · npm link</a:t>
            </a:r>
            <a:endParaRPr lang="en-US" sz="1200">
              <a:solidFill>
                <a:srgbClr val="F7F4EC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0" name="圆角矩形 519"/>
          <p:cNvSpPr/>
          <p:nvPr/>
        </p:nvSpPr>
        <p:spPr>
          <a:xfrm>
            <a:off x="3448050" y="4791075"/>
            <a:ext cx="2571750" cy="1390650"/>
          </a:xfrm>
          <a:prstGeom prst="roundRect">
            <a:avLst>
              <a:gd name="adj" fmla="val 6849"/>
            </a:avLst>
          </a:prstGeom>
          <a:solidFill>
            <a:srgbClr val="B8730F">
              <a:alpha val="14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3638550" y="4962525"/>
            <a:ext cx="2190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STEP 3</a:t>
            </a:r>
            <a:endParaRPr lang="en-US" sz="975" b="1" spc="150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3638550" y="5191125"/>
            <a:ext cx="2190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起服务</a:t>
            </a:r>
            <a:endParaRPr lang="zh-CN" sz="13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3638550" y="5457825"/>
            <a:ext cx="2190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F7F4EC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ind-diag start --all --detach</a:t>
            </a:r>
            <a:endParaRPr lang="en-US" sz="1200">
              <a:solidFill>
                <a:srgbClr val="F7F4EC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4" name="圆角矩形 523"/>
          <p:cNvSpPr/>
          <p:nvPr/>
        </p:nvSpPr>
        <p:spPr>
          <a:xfrm>
            <a:off x="6172200" y="4791075"/>
            <a:ext cx="2571750" cy="1390650"/>
          </a:xfrm>
          <a:prstGeom prst="roundRect">
            <a:avLst>
              <a:gd name="adj" fmla="val 6849"/>
            </a:avLst>
          </a:prstGeom>
          <a:solidFill>
            <a:srgbClr val="B8730F">
              <a:alpha val="14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6362700" y="4962525"/>
            <a:ext cx="2190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STEP 4</a:t>
            </a:r>
            <a:endParaRPr lang="en-US" sz="975" b="1" spc="150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6362700" y="5191125"/>
            <a:ext cx="2190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验状态</a:t>
            </a:r>
            <a:endParaRPr lang="zh-CN" sz="13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6362700" y="5457825"/>
            <a:ext cx="2190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F7F4EC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ind-diag status</a:t>
            </a:r>
            <a:endParaRPr lang="en-US" sz="1200">
              <a:solidFill>
                <a:srgbClr val="F7F4EC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8" name="圆角矩形 527"/>
          <p:cNvSpPr/>
          <p:nvPr/>
        </p:nvSpPr>
        <p:spPr>
          <a:xfrm>
            <a:off x="8896350" y="4791075"/>
            <a:ext cx="2571750" cy="1390650"/>
          </a:xfrm>
          <a:prstGeom prst="roundRect">
            <a:avLst>
              <a:gd name="adj" fmla="val 6849"/>
            </a:avLst>
          </a:prstGeom>
          <a:solidFill>
            <a:srgbClr val="B8730F">
              <a:alpha val="14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9086850" y="4962525"/>
            <a:ext cx="2190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B8730F"/>
                </a:solidFill>
                <a:latin typeface="微软雅黑" panose="020B0503020204020204" charset="-122"/>
                <a:ea typeface="微软雅黑" panose="020B0503020204020204" charset="-122"/>
              </a:rPr>
              <a:t>STEP 5</a:t>
            </a:r>
            <a:endParaRPr lang="en-US" sz="975" b="1" spc="150">
              <a:solidFill>
                <a:srgbClr val="B873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0" name="文本框 529" descr="{&quot;isTemplate&quot;:true,&quot;type&quot;:&quot;text&quot;}"/>
          <p:cNvSpPr txBox="1"/>
          <p:nvPr/>
        </p:nvSpPr>
        <p:spPr>
          <a:xfrm>
            <a:off x="9086850" y="5191125"/>
            <a:ext cx="2190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微软雅黑" panose="020B0503020204020204" charset="-122"/>
                <a:ea typeface="微软雅黑" panose="020B0503020204020204" charset="-122"/>
              </a:rPr>
              <a:t>开浏览器</a:t>
            </a:r>
            <a:endParaRPr lang="zh-CN" sz="1350" b="1">
              <a:solidFill>
                <a:srgbClr val="F7F4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9086850" y="5457825"/>
            <a:ext cx="2190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F7F4EC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http://localhost:5180</a:t>
            </a:r>
            <a:endParaRPr lang="en-US" sz="1200">
              <a:solidFill>
                <a:srgbClr val="F7F4EC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723900" y="6067425"/>
            <a:ext cx="45434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7F4EC">
                    <a:alpha val="5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下一步：换一份你自己的数据，按第</a:t>
            </a:r>
            <a:r>
              <a:rPr lang="en-US" sz="1200">
                <a:solidFill>
                  <a:srgbClr val="F7F4EC">
                    <a:alpha val="5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1200">
                <a:solidFill>
                  <a:srgbClr val="F7F4EC">
                    <a:alpha val="5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页上传，走一遍完整闭环。</a:t>
            </a:r>
            <a:endParaRPr lang="zh-CN" sz="1200">
              <a:solidFill>
                <a:srgbClr val="F7F4EC">
                  <a:alpha val="5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3" name="文本框 532" descr="{&quot;isTemplate&quot;:true,&quot;type&quot;:&quot;text&quot;}"/>
          <p:cNvSpPr txBox="1"/>
          <p:nvPr/>
        </p:nvSpPr>
        <p:spPr>
          <a:xfrm>
            <a:off x="10982325" y="6134100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4EC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34 / 34</a:t>
            </a:r>
            <a:endParaRPr lang="en-US" sz="1125">
              <a:solidFill>
                <a:srgbClr val="F7F4EC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8381</Words>
  <Application>WPS 演示</Application>
  <PresentationFormat/>
  <Paragraphs>883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QnQ</cp:lastModifiedBy>
  <cp:revision>2</cp:revision>
  <dcterms:created xsi:type="dcterms:W3CDTF">2026-09-19T04:51:53Z</dcterms:created>
  <dcterms:modified xsi:type="dcterms:W3CDTF">2026-09-19T04:52:03Z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7B869FE362964234A46A65E6BA93223C_12</vt:lpwstr>
  </property>
</Properties>
</file>