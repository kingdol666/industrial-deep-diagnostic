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76200"/>
            <a:ext cx="101501" cy="678180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15901" y="762000"/>
            <a:ext cx="1345853" cy="282476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93602" y="812750"/>
            <a:ext cx="10102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工业根因诊断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15901" y="1298377"/>
            <a:ext cx="10363402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BOPET挤出→MD纵拉段</a:t>
            </a:r>
            <a:endParaRPr lang="en-US" sz="30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工艺根因诊断报告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15901" y="2492127"/>
            <a:ext cx="711101" cy="3810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15901" y="2784128"/>
            <a:ext cx="6736029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180个工艺参数与5类表面缺陷的系统性因果分析</a:t>
            </a:r>
            <a:endParaRPr lang="en-US" sz="13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基于149批次生产数据 · 8步诊断Pipeline · 物理+统计交叉验证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15901" y="5915025"/>
            <a:ext cx="37980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2026年5月  |  诊断置信度 72/100  |  Judge评审 87/100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0" y="6502450"/>
            <a:ext cx="12192000" cy="35555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731823" y="659918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075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72963"/>
            <a:ext cx="101501" cy="35555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88802" y="355550"/>
            <a:ext cx="119166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报告结构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09600" y="1143000"/>
            <a:ext cx="2609850" cy="2514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09600" y="1166813"/>
            <a:ext cx="2609850" cy="0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7301" y="1393775"/>
            <a:ext cx="22995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数据采集概况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7301" y="1679525"/>
            <a:ext cx="22995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149批次 · 180参数 · 5缺陷 · 9型号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2026-05-04 ~ 05-13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914501" y="3359200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397151" y="1143000"/>
            <a:ext cx="2609999" cy="2514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97151" y="1166813"/>
            <a:ext cx="2609999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74852" y="1393775"/>
            <a:ext cx="22996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数据特征与异常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74852" y="1679525"/>
            <a:ext cx="22996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缺陷时间序列 · 型号间基线差异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melt_spots上升趋势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02201" y="3359200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84850" y="1143000"/>
            <a:ext cx="2609850" cy="2514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84850" y="1166813"/>
            <a:ext cx="2609850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2551" y="1393775"/>
            <a:ext cx="22995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Simpson悖论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2551" y="1679525"/>
            <a:ext cx="22995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859个CRITICAL案例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聚合相关不可信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89752" y="3359200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972401" y="1143000"/>
            <a:ext cx="2609999" cy="2514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8972401" y="1166813"/>
            <a:ext cx="2609999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0102" y="1393775"/>
            <a:ext cx="22996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缺陷共现分析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50102" y="1679525"/>
            <a:ext cx="22996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膜点-低聚物 r=0.838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共享上游来源的证据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451" y="3359200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9600" y="3835301"/>
            <a:ext cx="2609850" cy="251474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3859113"/>
            <a:ext cx="2609850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7301" y="4086076"/>
            <a:ext cx="22995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物理约束验证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87301" y="4371826"/>
            <a:ext cx="22995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MD温度分布 · Arrhenius方程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速率比 ~8.5×10⁻¹⁰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914501" y="6051649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97151" y="3835301"/>
            <a:ext cx="2609999" cy="251474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3397151" y="3859113"/>
            <a:ext cx="2609999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74852" y="4086076"/>
            <a:ext cx="22996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根因结论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574852" y="4371826"/>
            <a:ext cx="22996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挤出段PET热降解为主根因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置信度72/100 · Judge 87/100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702201" y="6051649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84850" y="3835301"/>
            <a:ext cx="2609850" cy="251474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184850" y="3859113"/>
            <a:ext cx="2609850" cy="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2551" y="4086076"/>
            <a:ext cx="22995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优化方案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362551" y="4371826"/>
            <a:ext cx="22995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高/中优先级措施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补充数据建议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89752" y="6051649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972401" y="3835301"/>
            <a:ext cx="2609999" cy="251474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8972401" y="3859113"/>
            <a:ext cx="2609999" cy="0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50102" y="4086076"/>
            <a:ext cx="22996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下部打算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50102" y="4371826"/>
            <a:ext cx="22996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下一步行动计划</a:t>
            </a:r>
            <a:endParaRPr lang="en-US" sz="9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关键数据采集路线图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451" y="6051649"/>
            <a:ext cx="1297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0E0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075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04800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数据采集概况：</a:t>
            </a:r>
            <a:pPr algn="l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149批次 · 9天窗口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4426"/>
            <a:ext cx="115031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BOPET挤出→MD纵拉段 · 批次级聚合工艺数据 · 2026-05-04至05-13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15901"/>
            <a:ext cx="2133600" cy="139690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79004" y="1247626"/>
            <a:ext cx="90764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21212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149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69950" y="1831777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生产批次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17091" y="2038052"/>
            <a:ext cx="10339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2026-05-04 ~ 05-13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0" y="1015901"/>
            <a:ext cx="2133600" cy="139690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65004" y="1247626"/>
            <a:ext cx="90764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21212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555950" y="1831777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工艺参数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27648" y="2038052"/>
            <a:ext cx="9839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温度/扭矩/速度/压力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29200" y="1015901"/>
            <a:ext cx="2133600" cy="139690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47618" y="1247626"/>
            <a:ext cx="30254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21212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5715000" y="1831777"/>
            <a:ext cx="7770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表面缺陷类型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35947" y="2038052"/>
            <a:ext cx="13465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膜点/低聚物/尘埃/气泡/熔斑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1015901"/>
            <a:ext cx="2133600" cy="139690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33618" y="1247626"/>
            <a:ext cx="30254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21212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8127950" y="1831777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产品型号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71966" y="2038052"/>
            <a:ext cx="10404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PG31DS占45% (67批)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601200" y="1015901"/>
            <a:ext cx="2133600" cy="1396901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519618" y="1247626"/>
            <a:ext cx="30254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0350550" y="1831777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FF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统计量维度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04673" y="2038052"/>
            <a:ext cx="1353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_mean / _std / _min / _max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2667000"/>
            <a:ext cx="6345734" cy="37592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81012" y="2667000"/>
            <a:ext cx="0" cy="3759250"/>
          </a:xfrm>
          <a:prstGeom prst="line">
            <a:avLst/>
          </a:prstGeom>
          <a:noFill/>
          <a:ln w="47625">
            <a:solidFill>
              <a:srgbClr val="2121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2526" y="2844701"/>
            <a:ext cx="60615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数据清单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80634" y="2667000"/>
            <a:ext cx="4754166" cy="1168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7004447" y="2667000"/>
            <a:ext cx="0" cy="1168450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0659" y="2925812"/>
            <a:ext cx="4489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数据异常发现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80659" y="3189387"/>
            <a:ext cx="355550" cy="177701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256859" y="3202037"/>
            <a:ext cx="2072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180659" y="3405188"/>
            <a:ext cx="4489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melt_spots 在9天内持续上升 (时间趋势 r=0.379, p&lt;0.001) — 提示残留物累积效应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80634" y="3962400"/>
            <a:ext cx="4754166" cy="1168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7004447" y="3962400"/>
            <a:ext cx="0" cy="1168450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80659" y="4221212"/>
            <a:ext cx="4489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数据局限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180659" y="4484787"/>
            <a:ext cx="355550" cy="177701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56859" y="4497437"/>
            <a:ext cx="2072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180659" y="4700588"/>
            <a:ext cx="4489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缺失挤出机各区温度数据、原料IV/含水率、设备清理记录 — 限制根因直接验证能力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80634" y="5257800"/>
            <a:ext cx="4754166" cy="1168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7004447" y="5257800"/>
            <a:ext cx="0" cy="1168450"/>
          </a:xfrm>
          <a:prstGeom prst="line">
            <a:avLst/>
          </a:prstGeom>
          <a:noFill/>
          <a:ln w="47625">
            <a:solidFill>
              <a:srgbClr val="FDD83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0659" y="5516612"/>
            <a:ext cx="4489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80659" y="5780187"/>
            <a:ext cx="355550" cy="177701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256859" y="5792837"/>
            <a:ext cx="2072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180659" y="5995988"/>
            <a:ext cx="4489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时间排序验证通过 (100%递增) · 无缺失值 · 批次级聚合数据 (非连续时间序列)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03150"/>
            <a:ext cx="117105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缺陷时间序列：</a:t>
            </a:r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型号切换是Simpson悖论的视觉根源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5550" y="4521250"/>
            <a:ext cx="2774900" cy="1905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55550" y="4540300"/>
            <a:ext cx="2774900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7950" y="4686300"/>
            <a:ext cx="25195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不同型号基线明显不同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4918025"/>
            <a:ext cx="25195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不同颜色代表不同产品型号 — 缺陷基线在型号间存在显著差异。这是859个Simpson悖论案例的直接原因：聚合分析混淆了型号切换效应。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57401" y="4521250"/>
            <a:ext cx="2775049" cy="1905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57401" y="4540300"/>
            <a:ext cx="2775049" cy="0"/>
          </a:xfrm>
          <a:prstGeom prst="line">
            <a:avLst/>
          </a:prstGeom>
          <a:noFill/>
          <a:ln w="381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9801" y="4686300"/>
            <a:ext cx="2519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melt_spots 持续上升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09801" y="4918025"/>
            <a:ext cx="25196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= 0.379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09801" y="5184725"/>
            <a:ext cx="251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9天内 melt_spots (紫色) 从低值逐渐攀升，具有显著的时间依赖性 (p&lt;0.001)。提示残留物在螺杆/模头内壁累积。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59401" y="4521250"/>
            <a:ext cx="2775049" cy="1905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159401" y="4540300"/>
            <a:ext cx="2775049" cy="0"/>
          </a:xfrm>
          <a:prstGeom prst="line">
            <a:avLst/>
          </a:prstGeom>
          <a:noFill/>
          <a:ln w="38100">
            <a:solidFill>
              <a:srgbClr val="21212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1801" y="4686300"/>
            <a:ext cx="2519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膜点-低聚物 同步尖峰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11801" y="4918025"/>
            <a:ext cx="251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膜点和低聚物存在同步的尖峰模式 — 与它们的高相关 (PG31DS内 r=0.838) 一致。两种缺陷共享PET热降解上游来源。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061400" y="4521250"/>
            <a:ext cx="2775049" cy="1905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9061400" y="4540300"/>
            <a:ext cx="2775049" cy="0"/>
          </a:xfrm>
          <a:prstGeom prst="line">
            <a:avLst/>
          </a:prstGeom>
          <a:noFill/>
          <a:ln w="38100">
            <a:solidFill>
              <a:srgbClr val="21212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3800" y="4686300"/>
            <a:ext cx="2519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数据特征总结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13800" y="4918025"/>
            <a:ext cx="251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批次级聚合数据 (非连续时间序列) · 缺陷数据严重偏态 (skewness 2.28-12.12) · 型号样本不均衡 (仅PG31DS有足够统计效力 n=67)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100" dirty="0"/>
          </a:p>
        </p:txBody>
      </p:sp>
      <p:pic>
        <p:nvPicPr>
          <p:cNvPr id="23" name="Image 0" descr="/Volumes/laxer/codes/skills/ industrial-deep-diagnostic/workspace/diagnostic-runs/202605270557262_bopet_md_diagnosis/03_figures/01_defect_time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550" y="609600"/>
            <a:ext cx="11480899" cy="3555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03150"/>
            <a:ext cx="117105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核心发现：</a:t>
            </a:r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859个Simpson悖论 — 聚合相关完全不可信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0" y="609600"/>
            <a:ext cx="4521250" cy="958602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2901" y="787301"/>
            <a:ext cx="42491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什么是Simpson悖论？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92901" y="1047601"/>
            <a:ext cx="42491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当数据按产品型号分层后，原本在聚合层面显著的相关性，在单一型号内部急剧衰减、消失甚至反转。不控制产品型号，所有聚合相关结论都是虚假的。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0" y="1695152"/>
            <a:ext cx="4521250" cy="392162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339012" y="1695152"/>
            <a:ext cx="0" cy="3921621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15225" y="2981474"/>
            <a:ext cx="425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关键反转案例 (PG31DS型号内)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15225" y="3456087"/>
            <a:ext cx="4168825" cy="0"/>
          </a:xfrm>
          <a:prstGeom prst="line">
            <a:avLst/>
          </a:prstGeom>
          <a:noFill/>
          <a:ln w="9525">
            <a:solidFill>
              <a:srgbClr val="F5F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15225" y="3248174"/>
            <a:ext cx="11452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MD_TH017_max vs dust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556552" y="3238649"/>
            <a:ext cx="2170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r=-0.251 → 型号内 </a:t>
            </a:r>
            <a:pPr algn="l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r=-0.073 (归零)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515225" y="3729038"/>
            <a:ext cx="4168825" cy="0"/>
          </a:xfrm>
          <a:prstGeom prst="line">
            <a:avLst/>
          </a:prstGeom>
          <a:noFill/>
          <a:ln w="9525">
            <a:solidFill>
              <a:srgbClr val="F5F5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15225" y="3521125"/>
            <a:ext cx="1150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MD_TH012_max vs dust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496871" y="3511600"/>
            <a:ext cx="22309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r=-0.238 → 型号内 </a:t>
            </a:r>
            <a:pPr algn="l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r=+0.070 (反转!)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515225" y="4001988"/>
            <a:ext cx="4168825" cy="0"/>
          </a:xfrm>
          <a:prstGeom prst="line">
            <a:avLst/>
          </a:prstGeom>
          <a:noFill/>
          <a:ln w="9525">
            <a:solidFill>
              <a:srgbClr val="F5F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15225" y="3794075"/>
            <a:ext cx="13440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W1C40_mean vs melt_spots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267230" y="3784550"/>
            <a:ext cx="24651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ρ=-0.655 → 型号内 </a:t>
            </a:r>
            <a:pPr algn="l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ρ=-0.319 (衰减51%)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515225" y="4274939"/>
            <a:ext cx="4168825" cy="0"/>
          </a:xfrm>
          <a:prstGeom prst="line">
            <a:avLst/>
          </a:prstGeom>
          <a:noFill/>
          <a:ln w="9525">
            <a:solidFill>
              <a:srgbClr val="F5F5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15225" y="4067026"/>
            <a:ext cx="13519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W1C4B_mean vs melt_spots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45501" y="4057501"/>
            <a:ext cx="24873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ρ=-0.659 → 型号内 </a:t>
            </a:r>
            <a:pPr algn="l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ρ=-0.319 (衰减52%)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0" y="5743724"/>
            <a:ext cx="4521250" cy="682526"/>
          </a:xfrm>
          <a:prstGeom prst="rect">
            <a:avLst/>
          </a:prstGeom>
          <a:solidFill>
            <a:srgbClr val="FDD8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2901" y="5870674"/>
            <a:ext cx="60509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859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213080" y="5924996"/>
            <a:ext cx="163372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个CRITICAL Simpson悖论案例</a:t>
            </a:r>
            <a:endParaRPr lang="en-US" sz="900" dirty="0"/>
          </a:p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聚合分析完全弃用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100" dirty="0"/>
          </a:p>
        </p:txBody>
      </p:sp>
      <p:pic>
        <p:nvPicPr>
          <p:cNvPr id="27" name="Image 0" descr="/Volumes/laxer/codes/skills/ industrial-deep-diagnostic/workspace/diagnostic-runs/202605270557262_bopet_md_diagnosis/03_figures/03_simpson_parad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550" y="609600"/>
            <a:ext cx="6781949" cy="5816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03150"/>
            <a:ext cx="117105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缺陷共现分析：</a:t>
            </a:r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共享上游来源的最优雅证据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437959" y="609600"/>
            <a:ext cx="3398490" cy="2678311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615660" y="787301"/>
            <a:ext cx="310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film_points ↔ oligomer (膜点 ↔ 低聚物)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15660" y="984052"/>
            <a:ext cx="126620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r=0.838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958536" y="1222177"/>
            <a:ext cx="3993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p=0.000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15660" y="1514177"/>
            <a:ext cx="310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oligomer ↔ bubbles (低聚物 ↔ 气泡)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15660" y="1710928"/>
            <a:ext cx="126620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r=0.704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958536" y="1949053"/>
            <a:ext cx="3993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p=0.000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615660" y="2241054"/>
            <a:ext cx="310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film_points ↔ melt_spots (膜点 ↔ 熔斑)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15660" y="2437805"/>
            <a:ext cx="126620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r=0.524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958536" y="2675930"/>
            <a:ext cx="3993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p=0.000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615660" y="2967930"/>
            <a:ext cx="3103950" cy="14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PG31DS型号内Spearman相关 · n=67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437959" y="3389412"/>
            <a:ext cx="3398490" cy="146759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461772" y="3389412"/>
            <a:ext cx="0" cy="1467594"/>
          </a:xfrm>
          <a:prstGeom prst="line">
            <a:avLst/>
          </a:prstGeom>
          <a:noFill/>
          <a:ln w="47625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37984" y="3854946"/>
            <a:ext cx="31069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诊断意义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37984" y="4086671"/>
            <a:ext cx="31069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缺陷间相关 (0.52-0.84) 远超任何工艺参数-缺陷相关 (&lt;0.49)。五种缺陷全部正相关 — 共享上游挤出段热降解来源。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437959" y="4958507"/>
            <a:ext cx="3398490" cy="146774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8461772" y="4958507"/>
            <a:ext cx="0" cy="1467743"/>
          </a:xfrm>
          <a:prstGeom prst="line">
            <a:avLst/>
          </a:prstGeom>
          <a:noFill/>
          <a:ln w="47625">
            <a:solidFill>
              <a:srgbClr val="1E88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37984" y="5251400"/>
            <a:ext cx="31069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88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PET降解化学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637984" y="5483126"/>
            <a:ext cx="3106987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膜点 = 交联凝胶粒子</a:t>
            </a:r>
            <a:endParaRPr lang="en-US" sz="800" dirty="0"/>
          </a:p>
          <a:p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低聚物 = 环状三聚体析出</a:t>
            </a:r>
            <a:endParaRPr lang="en-US" sz="800" dirty="0"/>
          </a:p>
          <a:p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气泡 = 降解气体 (CO₂/乙醛)</a:t>
            </a:r>
            <a:endParaRPr lang="en-US" sz="800" dirty="0"/>
          </a:p>
          <a:p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均源自280°C挤出段热降解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100" dirty="0"/>
          </a:p>
        </p:txBody>
      </p:sp>
      <p:pic>
        <p:nvPicPr>
          <p:cNvPr id="25" name="Image 0" descr="/Volumes/laxer/codes/skills/ industrial-deep-diagnostic/workspace/diagnostic-runs/202605270557262_bopet_md_diagnosis/03_figures/04_defect_corre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550" y="609600"/>
            <a:ext cx="7930009" cy="58166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E88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177701"/>
            <a:ext cx="117105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物理约束：</a:t>
            </a:r>
            <a:pPr algn="l" indent="0" marL="0">
              <a:buNone/>
            </a:pPr>
            <a:r>
              <a:rPr lang="en-US" sz="1500" b="1" dirty="0">
                <a:solidFill>
                  <a:srgbClr val="1E88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Arrhenius方程定量排除MD段降解可能性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05080" y="584150"/>
            <a:ext cx="4531370" cy="12602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57480" y="711101"/>
            <a:ext cx="43111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MD纵拉机18辊三段温区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57480" y="968276"/>
            <a:ext cx="1358057" cy="574625"/>
          </a:xfrm>
          <a:prstGeom prst="rect">
            <a:avLst/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21623" y="10444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6161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预加热段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521623" y="1180951"/>
            <a:ext cx="12297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75~77°C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521623" y="13428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辊1-5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8891736" y="968276"/>
            <a:ext cx="1358057" cy="574625"/>
          </a:xfrm>
          <a:prstGeom prst="rect">
            <a:avLst/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955880" y="10444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6161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拉伸段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955880" y="1180951"/>
            <a:ext cx="12297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82~84°C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955880" y="13428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辊6-11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0325993" y="968276"/>
            <a:ext cx="1358057" cy="574625"/>
          </a:xfrm>
          <a:prstGeom prst="rect">
            <a:avLst/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390136" y="10444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6161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急冷定型段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390136" y="1180951"/>
            <a:ext cx="12297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31~35°C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390136" y="1342876"/>
            <a:ext cx="1229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辊12-18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457480" y="1593652"/>
            <a:ext cx="43111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辊11→12温度断崖: 83.5°C→30.8°C (超过50°C)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305080" y="1945928"/>
            <a:ext cx="4531370" cy="2240161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82780" y="2537520"/>
            <a:ext cx="42594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DD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Arrhenius降解速率对比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82780" y="2813745"/>
            <a:ext cx="42594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BDBDB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 = A · exp(-Ea/RT)   Ea=175 kJ/mol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82780" y="3023295"/>
            <a:ext cx="4259488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280°C (553K)挤出段: 半衰期 </a:t>
            </a:r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~10分钟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82780" y="3213646"/>
            <a:ext cx="4259488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84°C (357K) MD段: 半衰期 </a:t>
            </a:r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~2万年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82780" y="3403997"/>
            <a:ext cx="4259488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DD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速率比 k(84°C)/k(280°C) ≈ 8.5×10⁻¹⁰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05080" y="4287589"/>
            <a:ext cx="4531370" cy="21386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328892" y="4287589"/>
            <a:ext cx="0" cy="2138660"/>
          </a:xfrm>
          <a:prstGeom prst="line">
            <a:avLst/>
          </a:prstGeom>
          <a:noFill/>
          <a:ln w="47625">
            <a:solidFill>
              <a:srgbClr val="1E88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05105" y="5094982"/>
            <a:ext cx="42625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E88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统计+物理双重排除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05105" y="5314057"/>
            <a:ext cx="426252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MD温度-缺陷 90对检验 (18辊×5缺陷) 全部 |r|&lt;0.15, p&gt;0.1 — 型号内系统性零效应。Arrhenius确认MD段不可能产生可观测降解。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100" dirty="0"/>
          </a:p>
        </p:txBody>
      </p:sp>
      <p:pic>
        <p:nvPicPr>
          <p:cNvPr id="31" name="Image 0" descr="/Volumes/laxer/codes/skills/ industrial-deep-diagnostic/workspace/diagnostic-runs/202605270557262_bopet_md_diagnosis/03_figures/06_md_temp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550" y="584150"/>
            <a:ext cx="6797129" cy="58420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0750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分析结果：挤出段PET热降解为主根因，MD段参数非因果驱动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660350"/>
            <a:ext cx="6437561" cy="5765899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296120"/>
            <a:ext cx="59445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FF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主根因声明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2000" y="2578596"/>
            <a:ext cx="5944520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挤出段PET热降解</a:t>
            </a:r>
            <a:endParaRPr lang="en-US" sz="2200" dirty="0"/>
          </a:p>
          <a:p>
            <a:pPr algn="l" indent="0" marL="0">
              <a:lnSpc>
                <a:spcPts val="308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残留物累积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62000" y="3487489"/>
            <a:ext cx="5944520" cy="388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spcAft>
                <a:spcPts val="1200"/>
              </a:spcAft>
              <a:buNone/>
            </a:pPr>
            <a:r>
              <a:rPr lang="en-US" sz="900" dirty="0">
                <a:solidFill>
                  <a:srgbClr val="FF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PET 280°C高温+剪切 → 链断裂(交联凝胶→膜点) + 环化(三聚体→低聚物) + 脱羧(气体→气泡) → 降解产物经MD拉伸被放大显现为表面缺陷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4028331"/>
            <a:ext cx="605093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456730" y="4428381"/>
            <a:ext cx="1524574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100 置信度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 · 统计+物理高度一致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72461" y="660350"/>
            <a:ext cx="4662339" cy="2350443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50162" y="1412081"/>
            <a:ext cx="43930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置信度三维分解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36991" y="1713607"/>
            <a:ext cx="13434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36991" y="2027932"/>
            <a:ext cx="134347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/35 数据强度</a:t>
            </a:r>
            <a:endParaRPr lang="en-US" sz="700" dirty="0"/>
          </a:p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PG31DS型号内证据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731819" y="1713607"/>
            <a:ext cx="13436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731819" y="2027932"/>
            <a:ext cx="134362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/35 物理机制</a:t>
            </a:r>
            <a:endParaRPr lang="en-US" sz="700" dirty="0"/>
          </a:p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Arrhenius定量排除MD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226799" y="1713607"/>
            <a:ext cx="13434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D83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226799" y="2027932"/>
            <a:ext cx="134347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/30 逻辑一致性</a:t>
            </a:r>
            <a:endParaRPr lang="en-US" sz="700" dirty="0"/>
          </a:p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排除法严密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072461" y="3137743"/>
            <a:ext cx="4662339" cy="91261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096274" y="3137743"/>
            <a:ext cx="0" cy="912614"/>
          </a:xfrm>
          <a:prstGeom prst="line">
            <a:avLst/>
          </a:prstGeom>
          <a:noFill/>
          <a:ln w="47625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2486" y="3290143"/>
            <a:ext cx="43961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Judge独立评审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272486" y="3471118"/>
            <a:ext cx="4396112" cy="14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87 / 100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272486" y="3613398"/>
            <a:ext cx="439611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NEEDS_REPAIR · 无阻塞问题 · 物理审计 ENDORSED · 2处数值已修正 (Arrhenius速率比10⁻²⁰→8.5×10⁻¹⁰, melt_spots趋势r值0.868→0.379)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072461" y="4177308"/>
            <a:ext cx="4662339" cy="224894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24861" y="4304258"/>
            <a:ext cx="44446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已排除假设 (5个)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24861" y="4516934"/>
            <a:ext cx="4444689" cy="34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00" dirty="0">
                <a:solidFill>
                  <a:srgbClr val="9E9E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MD温度波动→降解 (排除置信度95%) | MD线速度→停留时间→降解 (90%) | 过滤器堵塞→降解加剧 (70%) | 某特定辊温度驱动特定缺陷 (98%) | 产品型号切换是唯一原因 (85%)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075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下部打算：</a:t>
            </a:r>
            <a:pPr algn="l"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高优先级优化挤出段 + 补齐关键数据缺口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736550"/>
            <a:ext cx="3657600" cy="755452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1879" y="863501"/>
            <a:ext cx="33682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高优先级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1879" y="1241227"/>
            <a:ext cx="33682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FFFFFF">
                    <a:alpha val="8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挤出段优化 · 需补充数据验证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57200" y="159350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6250" y="1593503"/>
            <a:ext cx="0" cy="973187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2250" y="1853208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降低挤出机各区温度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2250" y="2040434"/>
            <a:ext cx="343291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在充分熔融前提下降低设定温度。Arrhenius: 每降10°C降解速率减半 → 减少全缺陷类型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2642890"/>
            <a:ext cx="3657600" cy="973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2642890"/>
            <a:ext cx="0" cy="973336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250" y="2969270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缩短熔体停留时间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2250" y="3156496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提高螺杆转速 / 降低模头阻力。降解产物 ∝ 温度×时间 → 减少低聚物和凝胶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3692426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6250" y="3692426"/>
            <a:ext cx="0" cy="973187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250" y="4018806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加强真空排气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2250" y="4206032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检查真空泵效率，目标 &lt;50 mbar → 有效脱除挥发性降解产物 → 减少气泡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200" y="474181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76250" y="4741813"/>
            <a:ext cx="0" cy="973187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250" y="5068193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建立定期清理计划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2250" y="5255419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清理螺杆/模头残留物 → 解决melt_spots持续上升 (时间趋势r=0.379)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267200" y="736550"/>
            <a:ext cx="3657600" cy="755452"/>
          </a:xfrm>
          <a:prstGeom prst="rect">
            <a:avLst/>
          </a:prstGeom>
          <a:solidFill>
            <a:srgbClr val="1E88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411879" y="863501"/>
            <a:ext cx="33682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中优先级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411879" y="1241227"/>
            <a:ext cx="33682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FFFFFF">
                    <a:alpha val="8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MD段监测优化 · 低实施难度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267200" y="159350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286250" y="1593503"/>
            <a:ext cx="0" cy="973187"/>
          </a:xfrm>
          <a:prstGeom prst="line">
            <a:avLst/>
          </a:prstGeom>
          <a:noFill/>
          <a:ln w="38100">
            <a:solidFill>
              <a:srgbClr val="1E88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2250" y="1919883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建立型号内SPC控制图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32250" y="2107109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消除Simpson悖论误判 — 聚合数据会掩盖型号内变异。按型号分别监控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267200" y="2642890"/>
            <a:ext cx="3657600" cy="973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286250" y="2642890"/>
            <a:ext cx="0" cy="973336"/>
          </a:xfrm>
          <a:prstGeom prst="line">
            <a:avLst/>
          </a:prstGeom>
          <a:noFill/>
          <a:ln w="3810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2250" y="2969270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监控扭矩波动趋势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432250" y="3156496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W1C83@PV1_std — 扭矩波动是黏度变化的代理信号，可用于早期预警降解程度变化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267200" y="3692426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286250" y="3692426"/>
            <a:ext cx="0" cy="973187"/>
          </a:xfrm>
          <a:prstGeom prst="line">
            <a:avLst/>
          </a:prstGeom>
          <a:noFill/>
          <a:ln w="38100">
            <a:solidFill>
              <a:srgbClr val="1E88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2250" y="4018806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减少型号切换频率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32250" y="4206032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型号切换时的过渡状态缺陷率通常更高 → 减少过渡批次浪费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267200" y="474181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286250" y="4741813"/>
            <a:ext cx="0" cy="973187"/>
          </a:xfrm>
          <a:prstGeom prst="line">
            <a:avLst/>
          </a:prstGeom>
          <a:noFill/>
          <a:ln w="38100">
            <a:solidFill>
              <a:srgbClr val="1E88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32250" y="5068193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严格控制原料含水率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32250" y="5255419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&lt;50 ppm → 水分超标会显著加速IV下降+增加水解气泡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077200" y="736550"/>
            <a:ext cx="3657600" cy="755452"/>
          </a:xfrm>
          <a:prstGeom prst="rect">
            <a:avLst/>
          </a:prstGeom>
          <a:solidFill>
            <a:srgbClr val="6161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221879" y="863501"/>
            <a:ext cx="33682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补充数据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221879" y="1241227"/>
            <a:ext cx="33682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FFFFFF">
                    <a:alpha val="8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最迫切需要 · 按优先级排列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077200" y="159350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8096250" y="1593503"/>
            <a:ext cx="0" cy="973187"/>
          </a:xfrm>
          <a:prstGeom prst="line">
            <a:avLst/>
          </a:prstGeom>
          <a:noFill/>
          <a:ln w="38100">
            <a:solidFill>
              <a:srgbClr val="BDBDB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42250" y="1919883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挤出机各区温度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42250" y="2107109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MG-T1~T6, SG-T1~T4 — 直接验证热降解假设，可将置信度从72提升至85+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077200" y="2642890"/>
            <a:ext cx="3657600" cy="973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8096250" y="2642890"/>
            <a:ext cx="0" cy="973336"/>
          </a:xfrm>
          <a:prstGeom prst="line">
            <a:avLst/>
          </a:prstGeom>
          <a:noFill/>
          <a:ln w="38100">
            <a:solidFill>
              <a:srgbClr val="BDBDB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42250" y="2969270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螺杆转速和熔体泵转速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242250" y="3156496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估算熔体停留时间 — 量化降解程度的关键参数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077200" y="3692426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8096250" y="3692426"/>
            <a:ext cx="0" cy="973187"/>
          </a:xfrm>
          <a:prstGeom prst="line">
            <a:avLst/>
          </a:prstGeom>
          <a:noFill/>
          <a:ln w="38100">
            <a:solidFill>
              <a:srgbClr val="BDBD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42250" y="4018806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原料PET IV和含水率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42250" y="4206032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区分原料因素与工艺因素 — 明确各因素贡献比例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077200" y="4741813"/>
            <a:ext cx="3657600" cy="97318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8096250" y="4741813"/>
            <a:ext cx="0" cy="973187"/>
          </a:xfrm>
          <a:prstGeom prst="line">
            <a:avLst/>
          </a:prstGeom>
          <a:noFill/>
          <a:ln w="38100">
            <a:solidFill>
              <a:srgbClr val="BDBDB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42250" y="5068193"/>
            <a:ext cx="3432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121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1-3个月长周期数据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242250" y="5255419"/>
            <a:ext cx="343291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7575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提高统计效力 · 验证长期退化趋势 · Granger因果需要更长时序列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457200" y="5816650"/>
            <a:ext cx="11277600" cy="6096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34901" y="6050012"/>
            <a:ext cx="7250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DD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数据采集路线图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1498104" y="6050012"/>
            <a:ext cx="649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612553" y="6059537"/>
            <a:ext cx="1087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安装挤出段熔体温度传感器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882205" y="6050012"/>
            <a:ext cx="649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2996654" y="6059537"/>
            <a:ext cx="11218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记录原料IV/含水率批检数据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299645" y="6050012"/>
            <a:ext cx="649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414093" y="6059537"/>
            <a:ext cx="11330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记录设备清理/螺杆更换时间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728097" y="6050012"/>
            <a:ext cx="649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842546" y="6059537"/>
            <a:ext cx="1052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DBD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积累1-3月长周期连续数据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2121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782723" y="6624638"/>
            <a:ext cx="15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2026-05-27T07:15:17Z</dcterms:created>
  <dcterms:modified xsi:type="dcterms:W3CDTF">2026-05-27T07:15:17Z</dcterms:modified>
</cp:coreProperties>
</file>