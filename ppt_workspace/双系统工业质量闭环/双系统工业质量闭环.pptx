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3"/>
  </p:notesMasterIdLst>
  <p:sldIdLst>
    <p:sldId id="256" r:id="rId1"/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4" Type="http://schemas.openxmlformats.org/officeDocument/2006/relationships/presProps" Target="presProps.xml" /><Relationship Id="rId2" Type="http://schemas.openxmlformats.org/officeDocument/2006/relationships/slide" Target="slides/slide2.xml" /><Relationship Id="rId5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5.png" /><Relationship Id="rId1" Type="http://schemas.openxmlformats.org/officeDocument/2006/relationships/image" Target="media/image3.png" /><Relationship Id="rId2" Type="http://schemas.openxmlformats.org/officeDocument/2006/relationships/image" Target="media/image4.png" /><Relationship Id="rId4" Type="http://schemas.openxmlformats.org/officeDocument/2006/relationships/image" Target="media/image6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: '#FFFFFF', padding: '20px 56px', flexDirection: 'column', fontFamily: 'Noto Sans SC' }}&gt;&#10;&#10;  &lt;Box style={{ height: 88, flexDirection: 'row', alignItems: 'flex-start', justifyContent: 'space-between' }}&gt;&#10;    &lt;Box style={{ flexDirection: 'column', gap: 6 }}&gt;&#10;      &lt;Text style={{ fontSize: 32, fontWeight: 'bold', color: '#0F172A', lineHeight: 1.25 }}&gt;三系统协同架构与运行启动&lt;/Text&gt;&#10;      &lt;Text style={{ fontSize: 14, color: '#64748B', lineHeight: 1.5 }}&gt;&#10;        业务数据层 × 诊断分析层 × 知识智能层：从质量记录到机理结论再到经验复用&#10;      &lt;/Text&gt;&#10;    &lt;/Box&gt;&#10;    &lt;Box style={{ flexDirection: 'column', alignItems: 'flex-end', gap: 3, paddingTop: 8 }}&gt;&#10;      &lt;Text style={{ fontSize: 12, color: '#94A3B8', fontFamily: 'Cascadia Mono' }}&gt;ARCHITECTURE&lt;/Text&gt;&#10;      &lt;Text style={{ fontSize: 12, color: '#94A3B8', fontFamily: 'Cascadia Mono' }}&gt;AND RUNTIME&lt;/Text&gt;&#10;    &lt;/Box&gt;&#10;  &lt;/Box&gt;&#10;&#10;  &lt;Box style={{ height: 12 }} /&gt;&#10;&#10;  &lt;Box style={{ height: 510, flexDirection: 'row', gap: 20 }}&gt;&#10;&#10;    &lt;Box style={{ width: 740, height: 510, flexDirection: 'column' }}&gt;&#10;&#10;      &lt;Box style={{ height: 128, background: '#F0FDFA', border: '1px solid #99F6E4', borderRadius: 10, padding: '12px 16px', flexDirection: 'column', gap: 6 }}&gt;&#10;        &lt;Box style={{ flexDirection: 'row', alignItems: 'center', gap: 8 }}&gt;&#10;          &lt;Box style={{ width: 4, height: 15, background: '#0D9488', borderRadius: 2 }} /&gt;&#10;          &lt;Text style={{ fontSize: 15, fontWeight: 'bold', color: '#0F172A' }}&gt;业务数据层 · BOPET 企业质量数据平台&lt;/Text&gt;&#10;          &lt;Text style={{ fontSize: 10.5, color: '#0F766E', fontFamily: 'Cascadia Mono' }}&gt;Nuxt 3 · Prisma · SQLite/PG · ECharts&lt;/Text&gt;&#10;        &lt;/Box&gt;&#10;        &lt;Text style={{ fontSize: 12.5, color: '#334155', lineHeight: 1.6 }}&gt;&#10;          质量数据与客诉问题全流程管理：记录新建 / 编辑 / 导入 / 导出、五维主数据（产线 · 客户 · 型号 · 责任部门 · 责任工序）、多维统计分析与表单模板引擎&#10;        &lt;/Text&gt;&#10;      &lt;/Box&gt;&#10;      &lt;Box style={{ height: 10 }} /&gt;&#10;&#10;      &lt;Box style={{ height: 128, background: '#EFF6FF', border: '1px solid #BFDBFE', borderRadius: 10, padding: '12px 16px', flexDirection: 'column', gap: 6 }}&gt;&#10;        &lt;Box style={{ flexDirection: 'row', alignItems: 'center', gap: 8 }}&gt;&#10;          &lt;Box style={{ width: 4, height: 15, background: '#2563EB', borderRadius: 2 }} /&gt;&#10;          &lt;Text style={{ fontSize: 15, fontWeight: 'bold', color: '#0F172A' }}&gt;诊断分析层 · 工业深度诊断引擎 IDD&lt;/Text&gt;&#10;          &lt;Text style={{ fontSize: 10.5, color: '#1D4ED8', fontFamily: 'Cascadia Mono' }}&gt;Express · 14 Harness · 14 Agents × 18 Skills&lt;/Text&gt;&#10;        &lt;/Box&gt;&#10;        &lt;Text style={{ fontSize: 12.5, color: '#334155', lineHeight: 1.6 }}&gt;&#10;          Step 0-10 可审计根因分析管线：本体与 RAG 深度理解、统计 + VLM 视觉分析、竞争性假设诊断；CP-1~9 质量门禁、证据分级 L1-L7、反假相关校验（时滞 CCF / 辛普森 / 留一杠杆）&#10;        &lt;/Text&gt;&#10;      &lt;/Box&gt;&#10;      &lt;Box style={{ height: 10 }} /&gt;&#10;&#10;      &lt;Box style={{ height: 128, background: '#F5F3FF', border: '1px solid #DDD6FE', borderRadius: 10, padding: '12px 16px', flexDirection: 'column', gap: 6 }}&gt;&#10;        &lt;Box style={{ flexDirection: 'row', alignItems: 'center', gap: 8 }}&gt;&#10;          &lt;Box style={{ width: 4, height: 15, background: '#7C3AED', borderRadius: 2 }} /&gt;&#10;          &lt;Text style={{ fontSize: 15, fontWeight: 'bold', color: '#0F172A' }}&gt;知识智能层 · RAG Knowledge 知识平台&lt;/Text&gt;&#10;          &lt;Text style={{ fontSize: 10.5, color: '#6D28D9', fontFamily: 'Cascadia Mono' }}&gt;Python 3.12 · ChromaDB · Neo4j · MinerU&lt;/Text&gt;&#10;        &lt;/Box&gt;&#10;        &lt;Text style={{ fontSize: 12.5, color: '#334155', lineHeight: 1.6 }}&gt;&#10;          企业级文档智能与智能体知识库：QDCVR 内容验证检索（0-8 评分，低于 4 硬丢弃）、BM25 + 向量多路召回、Neo4j 知识图谱、E0-E12 经验生命周期、94 个 MCP 工具与 19 个 Agent Skills、SOUL 人格系统&#10;        &lt;/Text&gt;&#10;      &lt;/Box&gt;&#10;      &lt;Box style={{ height: 12 }} /&gt;&#10;&#10;      &lt;Box style={{ flex: 1, background: '#F1F5F9', border: '1px solid #E2E8F0', borderRadius: 10, padding: '12px 16px', flexDirection: 'column', gap: 6, justifyContent: 'center' }}&gt;&#10;        &lt;Text style={{ fontSize: 12, color: '#64748B', fontFamily: 'Cascadia Mono' }}&gt;DATA FLOW&lt;/Text&gt;&#10;        &lt;Text style={{ fontSize: 13.5, color: '#0F172A', lineHeight: 1.6, fontWeight: 'bold' }}&gt;&#10;          质量记录 → 时序数据上传 → 深度诊断 → 机理结论 → 知识沉淀与复用&#10;        &lt;/Text&gt;&#10;        &lt;Text style={{ fontSize: 12, color: '#475569', lineHeight: 1.6 }}&gt;&#10;          BOPET 产生业务数据，IDD 输出可审计根因，RAG Knowledge 让结论成为可检索、可复用的企业经验&#10;        &lt;/Text&gt;&#10;      &lt;/Box&gt;&#10;&#10;    &lt;/Box&gt;&#10;&#10;    &lt;Box style={{ flex: 1, flexDirection: 'column' }}&gt;&#10;      &lt;Box style={{ height: 150, background: '#0B1220', border: '1px solid #1E293B', borderRadius: 10, padding: 5 }}&gt;&#10;        &lt;Image src=&quot;assets/term_startup.png&quot; style={{ width: '100%', height: '100%', objectFit: 'cover', borderRadius: 6 }} /&gt;&#10;      &lt;/Box&gt;&#10;      &lt;Box style={{ height: 12 }} /&gt;&#10;&#10;      &lt;Box style={{ height: 140, flexDirection: 'row', gap: 12 }}&gt;&#10;        &lt;Box style={{ width: 108, height: 140, background: '#FFFFFF', border: '1px solid #E2E8F0', borderRadius: 8, padding: 3 }}&gt;&#10;          &lt;Image src=&quot;assets/login_card.png&quot; style={{ width: '100%', height: '100%', objectFit: 'cover', borderRadius: 6 }} /&gt;&#10;        &lt;/Box&gt;&#10;        &lt;Box style={{ flex: 1, flexDirection: 'column', gap: 5 }}&gt;&#10;          &lt;Text style={{ fontSize: 13, fontWeight: 'bold', color: '#0F172A' }}&gt;统一鉴权入口&lt;/Text&gt;&#10;          &lt;Text style={{ fontSize: 11.5, color: '#475569', lineHeight: 1.65 }}&gt;&#10;            注册 / 登录签发会话，或创建 API Token 供程序化调用；全部 API 端点拦截校验，未携带凭据返回 401。&#10;          &lt;/Text&gt;&#10;          &lt;Text style={{ fontSize: 10.5, color: '#94A3B8', fontFamily: 'Cascadia Mono', lineHeight: 1.6 }}&gt;&#10;            Bearer JWT 24h · Token 仅存 SHA-256&#10;          &lt;/Text&gt;&#10;        &lt;/Box&gt;&#10;      &lt;/Box&gt;&#10;      &lt;Box style={{ height: 12 }} /&gt;&#10;&#10;      &lt;Box style={{ flex: 1, background: '#F8FAFC', border: '1px solid #E2E8F0', borderRadius: 10, padding: '12px 14px', flexDirection: 'column', gap: 8 }}&gt;&#10;        &lt;Text style={{ fontSize: 13, fontWeight: 'bold', color: '#0F172A' }}&gt;运行中服务与启动方式&lt;/Text&gt;&#10;        &lt;Box style={{ flexDirection: 'column', gap: 7 }}&gt;&#10;          &lt;Box style={{ flexDirection: 'column', gap: 1 }}&gt;&#10;            &lt;Text style={{ fontSize: 11.5, color: '#0F172A', lineHeight: 1.5 }}&gt;&#10;              &lt;span style={{ color: '#0D9488', fontWeight: 'bold' }}&gt;BOPET EDA&lt;/span&gt; · 3100 / 3001&#10;            &lt;/Text&gt;&#10;            &lt;Text style={{ fontSize: 10.5, color: '#64748B', fontFamily: 'Cascadia Mono' }}&gt;npm run dev:init&lt;/Text&gt;&#10;          &lt;/Box&gt;&#10;          &lt;Box style={{ flexDirection: 'column', gap: 1 }}&gt;&#10;            &lt;Text style={{ fontSize: 11.5, color: '#0F172A', lineHeight: 1.5 }}&gt;&#10;              &lt;span style={{ color: '#2563EB', fontWeight: 'bold' }}&gt;IDD 诊断引擎&lt;/span&gt; · 3210 / 5180 / 8764&#10;            &lt;/Text&gt;&#10;            &lt;Text style={{ fontSize: 10.5, color: '#64748B', fontFamily: 'Cascadia Mono' }}&gt;ind-diag all&lt;/Text&gt;&#10;          &lt;/Box&gt;&#10;          &lt;Box style={{ flexDirection: 'column', gap: 1 }}&gt;&#10;            &lt;Text style={{ fontSize: 11.5, color: '#0F172A', lineHeight: 1.5 }}&gt;&#10;              &lt;span style={{ color: '#7C3AED', fontWeight: 'bold' }}&gt;RAG Knowledge&lt;/span&gt; · 8770 · 8771 / 6789&#10;            &lt;/Text&gt;&#10;            &lt;Text style={{ fontSize: 10.5, color: '#64748B', fontFamily: 'Cascadia Mono' }}&gt;start.bat · ragctl&lt;/Text&gt;&#10;          &lt;/Box&gt;&#10;        &lt;/Box&gt;&#10;      &lt;/Box&gt;&#10;    &lt;/Box&gt;&#10;&#10;  &lt;/Box&gt;&#10;&#10;  &lt;Box style={{ marginTop: 'auto', height: 34, flexDirection: 'row', alignItems: 'center', justifyContent: 'space-between' }}&gt;&#10;    &lt;Text style={{ fontSize: 12.5, color: '#94A3B8' }}&gt;BOPET EDA · IDD 诊断引擎 · RAG Knowledge 知识平台&lt;/Text&gt;&#10;    &lt;Text style={{ fontSize: 12.5, color: '#94A3B8', fontFamily: 'Cascadia Mono' }}&gt;01 / 0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33400" y="190500"/>
            <a:ext cx="4657725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0F172A"/>
                </a:solidFill>
                <a:latin typeface="Noto Sans SC"/>
                <a:ea typeface="Noto Sans SC"/>
              </a:rPr>
              <a:t>三系统协同架构与运行启动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33400" y="704850"/>
            <a:ext cx="46577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业务数据层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×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诊断分析层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×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知识智能层：从质量记录到机理结论再到经验复用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0848975" y="266700"/>
            <a:ext cx="809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ARCHITECTURE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915650" y="43815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AND RUNTIME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33400" y="1143000"/>
            <a:ext cx="7048500" cy="1219200"/>
          </a:xfrm>
          <a:prstGeom prst="roundRect">
            <a:avLst>
              <a:gd name="adj" fmla="val 781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685800" y="1276350"/>
            <a:ext cx="38100" cy="14287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1257300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Noto Sans SC"/>
                <a:ea typeface="Noto Sans SC"/>
              </a:rPr>
              <a:t>业务数据层</a:t>
            </a:r>
            <a:r>
              <a:rPr lang="en-US" sz="1125" b="1">
                <a:solidFill>
                  <a:srgbClr val="0F172A"/>
                </a:solidFill>
                <a:latin typeface="Noto Sans SC"/>
                <a:ea typeface="Noto Sans SC"/>
              </a:rPr>
              <a:t> · BOPET </a:t>
            </a:r>
            <a:r>
              <a:rPr lang="zh-CN" sz="1125" b="1">
                <a:solidFill>
                  <a:srgbClr val="0F172A"/>
                </a:solidFill>
                <a:latin typeface="Noto Sans SC"/>
                <a:ea typeface="Noto Sans SC"/>
              </a:rPr>
              <a:t>企业质量数据平台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419475" y="1285875"/>
            <a:ext cx="2171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0F766E"/>
                </a:solidFill>
                <a:latin typeface="Cascadia Mono"/>
                <a:ea typeface="Cascadia Mono"/>
              </a:rPr>
              <a:t>Nuxt 3 · Prisma · SQLite/PG · ECharts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6743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质量数据与客诉问题全流程管理：记录新建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/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编辑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/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导入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/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导出、五维主数据（产线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·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客户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·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型号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·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责任部门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·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责任工序）、多维统计分析与表单模板引擎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33400" y="2457450"/>
            <a:ext cx="7048500" cy="1219200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685800" y="2590800"/>
            <a:ext cx="38100" cy="1428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00100" y="25717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Noto Sans SC"/>
                <a:ea typeface="Noto Sans SC"/>
              </a:rPr>
              <a:t>诊断分析层</a:t>
            </a:r>
            <a:r>
              <a:rPr lang="en-US" sz="1125" b="1">
                <a:solidFill>
                  <a:srgbClr val="0F172A"/>
                </a:solidFill>
                <a:latin typeface="Noto Sans SC"/>
                <a:ea typeface="Noto Sans SC"/>
              </a:rPr>
              <a:t> · </a:t>
            </a:r>
            <a:r>
              <a:rPr lang="zh-CN" sz="1125" b="1">
                <a:solidFill>
                  <a:srgbClr val="0F172A"/>
                </a:solidFill>
                <a:latin typeface="Noto Sans SC"/>
                <a:ea typeface="Noto Sans SC"/>
              </a:rPr>
              <a:t>工业深度诊断引擎</a:t>
            </a:r>
            <a:r>
              <a:rPr lang="en-US" sz="1125" b="1">
                <a:solidFill>
                  <a:srgbClr val="0F172A"/>
                </a:solidFill>
                <a:latin typeface="Noto Sans SC"/>
                <a:ea typeface="Noto Sans SC"/>
              </a:rPr>
              <a:t> IDD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200400" y="2600325"/>
            <a:ext cx="2581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1D4ED8"/>
                </a:solidFill>
                <a:latin typeface="Cascadia Mono"/>
                <a:ea typeface="Cascadia Mono"/>
              </a:rPr>
              <a:t>Express · 14 Harness · 14 Agents × 18 Skills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5800" y="2800350"/>
            <a:ext cx="6743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Step 0-10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可审计根因分析管线：本体与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RAG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深度理解、统计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+ VLM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视觉分析、竞争性假设诊断；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CP-1~9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质量门禁、证据分级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L1-L7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、反假相关校验（时滞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CCF /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辛普森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/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留一杠杆）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33400" y="3771900"/>
            <a:ext cx="7048500" cy="1219200"/>
          </a:xfrm>
          <a:prstGeom prst="roundRect">
            <a:avLst>
              <a:gd name="adj" fmla="val 7813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85800" y="3905250"/>
            <a:ext cx="38100" cy="14287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00100" y="3886200"/>
            <a:ext cx="2524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Noto Sans SC"/>
                <a:ea typeface="Noto Sans SC"/>
              </a:rPr>
              <a:t>知识智能层</a:t>
            </a:r>
            <a:r>
              <a:rPr lang="en-US" sz="1125" b="1">
                <a:solidFill>
                  <a:srgbClr val="0F172A"/>
                </a:solidFill>
                <a:latin typeface="Noto Sans SC"/>
                <a:ea typeface="Noto Sans SC"/>
              </a:rPr>
              <a:t> · RAG Knowledge </a:t>
            </a:r>
            <a:r>
              <a:rPr lang="zh-CN" sz="1125" b="1">
                <a:solidFill>
                  <a:srgbClr val="0F172A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400425" y="3914775"/>
            <a:ext cx="2286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D28D9"/>
                </a:solidFill>
                <a:latin typeface="Cascadia Mono"/>
                <a:ea typeface="Cascadia Mono"/>
              </a:rPr>
              <a:t>Python 3.12 · ChromaDB · Neo4j · MinerU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4114800"/>
            <a:ext cx="6743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企业级文档智能与智能体知识库：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QDCVR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内容验证检索（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0-8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评分，低于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4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硬丢弃）、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BM25 +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向量多路召回、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Neo4j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知识图谱、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E0-E12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经验生命周期、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94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个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MCP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工具与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19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个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 Agent Skills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、</a:t>
            </a:r>
            <a:r>
              <a:rPr lang="en-US" sz="938">
                <a:solidFill>
                  <a:srgbClr val="334155"/>
                </a:solidFill>
                <a:latin typeface="Noto Sans SC"/>
                <a:ea typeface="Noto Sans SC"/>
              </a:rPr>
              <a:t>SOUL </a:t>
            </a:r>
            <a:r>
              <a:rPr lang="zh-CN" sz="938">
                <a:solidFill>
                  <a:srgbClr val="334155"/>
                </a:solidFill>
                <a:latin typeface="Noto Sans SC"/>
                <a:ea typeface="Noto Sans SC"/>
              </a:rPr>
              <a:t>人格系统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33400" y="5105400"/>
            <a:ext cx="7048500" cy="962025"/>
          </a:xfrm>
          <a:prstGeom prst="roundRect">
            <a:avLst>
              <a:gd name="adj" fmla="val 990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5800" y="5219700"/>
            <a:ext cx="6743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Cascadia Mono"/>
                <a:ea typeface="Cascadia Mono"/>
              </a:rPr>
              <a:t>DATA FLOW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5800" y="5419725"/>
            <a:ext cx="67437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质量记录</a:t>
            </a:r>
            <a:r>
              <a:rPr lang="en-US" sz="1013" b="1">
                <a:solidFill>
                  <a:srgbClr val="0F172A"/>
                </a:solidFill>
                <a:latin typeface="Noto Sans SC"/>
                <a:ea typeface="Noto Sans SC"/>
              </a:rPr>
              <a:t> → </a:t>
            </a: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时序数据上传</a:t>
            </a:r>
            <a:r>
              <a:rPr lang="en-US" sz="1013" b="1">
                <a:solidFill>
                  <a:srgbClr val="0F172A"/>
                </a:solidFill>
                <a:latin typeface="Noto Sans SC"/>
                <a:ea typeface="Noto Sans SC"/>
              </a:rPr>
              <a:t> → </a:t>
            </a: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深度诊断</a:t>
            </a:r>
            <a:r>
              <a:rPr lang="en-US" sz="1013" b="1">
                <a:solidFill>
                  <a:srgbClr val="0F172A"/>
                </a:solidFill>
                <a:latin typeface="Noto Sans SC"/>
                <a:ea typeface="Noto Sans SC"/>
              </a:rPr>
              <a:t> → </a:t>
            </a: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机理结论</a:t>
            </a:r>
            <a:r>
              <a:rPr lang="en-US" sz="1013" b="1">
                <a:solidFill>
                  <a:srgbClr val="0F172A"/>
                </a:solidFill>
                <a:latin typeface="Noto Sans SC"/>
                <a:ea typeface="Noto Sans SC"/>
              </a:rPr>
              <a:t> → </a:t>
            </a:r>
            <a:r>
              <a:rPr lang="zh-CN" sz="1013" b="1">
                <a:solidFill>
                  <a:srgbClr val="0F172A"/>
                </a:solidFill>
                <a:latin typeface="Noto Sans SC"/>
                <a:ea typeface="Noto Sans SC"/>
              </a:rPr>
              <a:t>知识沉淀与复用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5724525"/>
            <a:ext cx="67437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475569"/>
                </a:solidFill>
                <a:latin typeface="Noto Sans SC"/>
                <a:ea typeface="Noto Sans SC"/>
              </a:rPr>
              <a:t>BOPET </a:t>
            </a:r>
            <a:r>
              <a:rPr lang="zh-CN" sz="900">
                <a:solidFill>
                  <a:srgbClr val="475569"/>
                </a:solidFill>
                <a:latin typeface="Noto Sans SC"/>
                <a:ea typeface="Noto Sans SC"/>
              </a:rPr>
              <a:t>产生业务数据，</a:t>
            </a:r>
            <a:r>
              <a:rPr lang="en-US" sz="900">
                <a:solidFill>
                  <a:srgbClr val="475569"/>
                </a:solidFill>
                <a:latin typeface="Noto Sans SC"/>
                <a:ea typeface="Noto Sans SC"/>
              </a:rPr>
              <a:t>IDD </a:t>
            </a:r>
            <a:r>
              <a:rPr lang="zh-CN" sz="900">
                <a:solidFill>
                  <a:srgbClr val="475569"/>
                </a:solidFill>
                <a:latin typeface="Noto Sans SC"/>
                <a:ea typeface="Noto Sans SC"/>
              </a:rPr>
              <a:t>输出可审计根因，</a:t>
            </a:r>
            <a:r>
              <a:rPr lang="en-US" sz="900">
                <a:solidFill>
                  <a:srgbClr val="475569"/>
                </a:solidFill>
                <a:latin typeface="Noto Sans SC"/>
                <a:ea typeface="Noto Sans SC"/>
              </a:rPr>
              <a:t>RAG Knowledge </a:t>
            </a:r>
            <a:r>
              <a:rPr lang="zh-CN" sz="900">
                <a:solidFill>
                  <a:srgbClr val="475569"/>
                </a:solidFill>
                <a:latin typeface="Noto Sans SC"/>
                <a:ea typeface="Noto Sans SC"/>
              </a:rPr>
              <a:t>让结论成为可检索、可复用的企业经验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772400" y="1143000"/>
            <a:ext cx="3886200" cy="142875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pic>
        <p:nvPicPr>
          <p:cNvPr id="27" name=""/>
          <p:cNvPicPr>
            <a:picLocks noChangeAspect="1"/>
          </p:cNvPicPr>
          <p:nvPr/>
        </p:nvPicPr>
        <p:blipFill>
          <a:blip r:embed="rId1"/>
          <a:srcRect l="0" t="699" r="0" b="699"/>
          <a:stretch>
            <a:fillRect/>
          </a:stretch>
        </p:blipFill>
        <p:spPr>
          <a:xfrm rot="0" flipH="0" flipV="0">
            <a:off x="7820025" y="1190625"/>
            <a:ext cx="3790950" cy="1333500"/>
          </a:xfrm>
          <a:prstGeom prst="roundRect">
            <a:avLst>
              <a:gd name="adj" fmla="val 4286"/>
            </a:avLst>
          </a:prstGeom>
          <a:ln/>
        </p:spPr>
      </p:pic>
      <p:sp>
        <p:nvSpPr>
          <p:cNvPr id="28" name=""/>
          <p:cNvSpPr/>
          <p:nvPr/>
        </p:nvSpPr>
        <p:spPr>
          <a:xfrm rot="0" flipH="0" flipV="0">
            <a:off x="7772400" y="2686050"/>
            <a:ext cx="1028700" cy="13335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9" name=""/>
          <p:cNvPicPr>
            <a:picLocks noChangeAspect="1"/>
          </p:cNvPicPr>
          <p:nvPr/>
        </p:nvPicPr>
        <p:blipFill>
          <a:blip r:embed="rId2"/>
          <a:srcRect l="2926" t="0" r="2926" b="0"/>
          <a:stretch>
            <a:fillRect/>
          </a:stretch>
        </p:blipFill>
        <p:spPr>
          <a:xfrm rot="0" flipH="0" flipV="0">
            <a:off x="7800975" y="2714625"/>
            <a:ext cx="971550" cy="1276350"/>
          </a:xfrm>
          <a:prstGeom prst="roundRect">
            <a:avLst>
              <a:gd name="adj" fmla="val 5882"/>
            </a:avLst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915400" y="2686050"/>
            <a:ext cx="274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Noto Sans SC"/>
                <a:ea typeface="Noto Sans SC"/>
              </a:rPr>
              <a:t>统一鉴权入口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915400" y="2886075"/>
            <a:ext cx="27432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注册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 /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登录签发会话，或创建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 API Token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供程序化调用；全部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 API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端点拦截校验，未携带凭据返回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 401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915400" y="3371850"/>
            <a:ext cx="274320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788">
                <a:solidFill>
                  <a:srgbClr val="94A3B8"/>
                </a:solidFill>
                <a:latin typeface="Cascadia Mono"/>
                <a:ea typeface="Cascadia Mono"/>
              </a:rPr>
              <a:t>Bearer JWT 24h · Token </a:t>
            </a:r>
            <a:r>
              <a:rPr lang="zh-CN" sz="788">
                <a:solidFill>
                  <a:srgbClr val="94A3B8"/>
                </a:solidFill>
                <a:latin typeface="Cascadia Mono"/>
                <a:ea typeface="Cascadia Mono"/>
              </a:rPr>
              <a:t>仅存</a:t>
            </a:r>
            <a:r>
              <a:rPr lang="en-US" sz="788">
                <a:solidFill>
                  <a:srgbClr val="94A3B8"/>
                </a:solidFill>
                <a:latin typeface="Cascadia Mono"/>
                <a:ea typeface="Cascadia Mono"/>
              </a:rPr>
              <a:t> SHA-256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7772400" y="4133850"/>
            <a:ext cx="3886200" cy="1866900"/>
          </a:xfrm>
          <a:prstGeom prst="roundRect">
            <a:avLst>
              <a:gd name="adj" fmla="val 51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905750" y="4248150"/>
            <a:ext cx="3619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Noto Sans SC"/>
                <a:ea typeface="Noto Sans SC"/>
              </a:rPr>
              <a:t>运行中服务与启动方式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905750" y="447675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 b="1">
                <a:solidFill>
                  <a:srgbClr val="0D9488"/>
                </a:solidFill>
                <a:latin typeface="Noto Sans SC"/>
                <a:ea typeface="Noto Sans SC"/>
              </a:rPr>
              <a:t>BOPET EDA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· 3100 / 3001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905750" y="4686300"/>
            <a:ext cx="3619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4748B"/>
                </a:solidFill>
                <a:latin typeface="Cascadia Mono"/>
                <a:ea typeface="Cascadia Mono"/>
              </a:rPr>
              <a:t>npm run dev:init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905750" y="487680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 b="1">
                <a:solidFill>
                  <a:srgbClr val="2563EB"/>
                </a:solidFill>
                <a:latin typeface="Noto Sans SC"/>
                <a:ea typeface="Noto Sans SC"/>
              </a:rPr>
              <a:t>IDD </a:t>
            </a:r>
            <a:r>
              <a:rPr lang="zh-CN" sz="863" b="1">
                <a:solidFill>
                  <a:srgbClr val="2563EB"/>
                </a:solidFill>
                <a:latin typeface="Noto Sans SC"/>
                <a:ea typeface="Noto Sans SC"/>
              </a:rPr>
              <a:t>诊断引擎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· 3210 / 5180 / 8764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905750" y="5086350"/>
            <a:ext cx="3619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4748B"/>
                </a:solidFill>
                <a:latin typeface="Cascadia Mono"/>
                <a:ea typeface="Cascadia Mono"/>
              </a:rPr>
              <a:t>ind-diag all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905750" y="527685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 b="1">
                <a:solidFill>
                  <a:srgbClr val="7C3AED"/>
                </a:solidFill>
                <a:latin typeface="Noto Sans SC"/>
                <a:ea typeface="Noto Sans SC"/>
              </a:rPr>
              <a:t>RAG Knowledge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· 8770 · 8771 / 6789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905750" y="5486400"/>
            <a:ext cx="3619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4748B"/>
                </a:solidFill>
                <a:latin typeface="Cascadia Mono"/>
                <a:ea typeface="Cascadia Mono"/>
              </a:rPr>
              <a:t>start.bat · ragctl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BOPET EDA · IDD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诊断引擎</a:t>
            </a: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 · RAG Knowledge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01 / 02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3" name="" descr="&lt;Slide style={{ width: 1280, height: 720, background: '#FFFFFF', padding: '20px 56px', flexDirection: 'column', fontFamily: 'Noto Sans SC' }}&gt;&#10;&#10;  &lt;Box style={{ height: 88, flexDirection: 'row', alignItems: 'flex-start', justifyContent: 'space-between' }}&gt;&#10;    &lt;Box style={{ flexDirection: 'column', gap: 6 }}&gt;&#10;      &lt;Text style={{ fontSize: 32, fontWeight: 'bold', color: '#0F172A', lineHeight: 1.25 }}&gt;三系统核心功能与关键结果&lt;/Text&gt;&#10;      &lt;Text style={{ fontSize: 14, color: '#64748B', lineHeight: 1.5 }}&gt;&#10;        真实运行界面 · 真实分析产物（BOPET 数据平台 / IDD 诊断引擎 / RAG 知识平台）&#10;      &lt;/Text&gt;&#10;    &lt;/Box&gt;&#10;    &lt;Box style={{ flexDirection: 'column', alignItems: 'flex-end', gap: 3, paddingTop: 8 }}&gt;&#10;      &lt;Text style={{ fontSize: 12, color: '#94A3B8', fontFamily: 'Cascadia Mono' }}&gt;FEATURES&lt;/Text&gt;&#10;      &lt;Text style={{ fontSize: 12, color: '#94A3B8', fontFamily: 'Cascadia Mono' }}&gt;AND RESULTS&lt;/Text&gt;&#10;    &lt;/Box&gt;&#10;  &lt;/Box&gt;&#10;&#10;  &lt;Box style={{ height: 12 }} /&gt;&#10;&#10;  &lt;Box style={{ height: 324, flexDirection: 'row', gap: 18 }}&gt;&#10;&#10;    &lt;Box style={{ flex: 1, flexDirection: 'column' }}&gt;&#10;      &lt;Box style={{ flexDirection: 'row', alignItems: 'center', gap: 7 }}&gt;&#10;        &lt;Box style={{ width: 4, height: 14, background: '#0D9488', borderRadius: 2 }} /&gt;&#10;        &lt;Text style={{ fontSize: 14, fontWeight: 'bold', color: '#0F172A' }}&gt;BOPET 数据平台&lt;/Text&gt;&#10;      &lt;/Box&gt;&#10;      &lt;Box style={{ height: 6 }} /&gt;&#10;      &lt;Box style={{ width: '100%', height: 200, background: '#FFFFFF', border: '1px solid #E2E8F0', borderRadius: 8, padding: 3 }}&gt;&#10;        &lt;Image src=&quot;assets/bopet_dashboard.png&quot; style={{ width: '100%', height: '100%', objectFit: 'cover', borderRadius: 5 }} /&gt;&#10;      &lt;/Box&gt;&#10;      &lt;Box style={{ height: 8 }} /&gt;&#10;      &lt;Box style={{ flex: 1, background: '#F8FAFC', border: '1px solid #E2E8F0', borderRadius: 8, padding: '9px 12px', flexDirection: 'column', gap: 4, justifyContent: 'center' }}&gt;&#10;        &lt;Text style={{ fontSize: 11.5, color: '#0F172A', lineHeight: 1.55 }}&gt;&#10;          &lt;span style={{ color: '#0D9488', fontWeight: 'bold' }}&gt;▪ &lt;/span&gt;数据概览看板：总量 / 新增 / 待处理 / 已结案&#10;        &lt;/Text&gt;&#10;        &lt;Text style={{ fontSize: 11.5, color: '#0F172A', lineHeight: 1.55 }}&gt;&#10;          &lt;span style={{ color: '#0D9488', fontWeight: 'bold' }}&gt;▪ &lt;/span&gt;月度趋势与模板分布可视化，支撑质量例会&#10;        &lt;/Text&gt;&#10;        &lt;Text style={{ fontSize: 11.5, color: '#0F172A', lineHeight: 1.55 }}&gt;&#10;          &lt;span style={{ color: '#0D9488', fontWeight: 'bold' }}&gt;▪ &lt;/span&gt;跨部门权限、表单模板与记录全流程留痕&#10;        &lt;/Text&gt;&#10;      &lt;/Box&gt;&#10;    &lt;/Box&gt;&#10;&#10;    &lt;Box style={{ flex: 1, flexDirection: 'column' }}&gt;&#10;      &lt;Box style={{ flexDirection: 'row', alignItems: 'center', gap: 7 }}&gt;&#10;        &lt;Box style={{ width: 4, height: 14, background: '#2563EB', borderRadius: 2 }} /&gt;&#10;        &lt;Text style={{ fontSize: 14, fontWeight: 'bold', color: '#0F172A' }}&gt;IDD 诊断引擎&lt;/Text&gt;&#10;      &lt;/Box&gt;&#10;      &lt;Box style={{ height: 6 }} /&gt;&#10;      &lt;Box style={{ width: '100%', height: 200, background: '#FFFFFF', border: '1px solid #E2E8F0', borderRadius: 8, padding: 3 }}&gt;&#10;        &lt;Image src=&quot;assets/ui_diagnose.png&quot; style={{ width: '100%', height: '100%', objectFit: 'cover', borderRadius: 5 }} /&gt;&#10;      &lt;/Box&gt;&#10;      &lt;Box style={{ height: 8 }} /&gt;&#10;      &lt;Box style={{ flex: 1, background: '#F8FAFC', border: '1px solid #E2E8F0', borderRadius: 8, padding: '9px 12px', flexDirection: 'column', gap: 4, justifyContent: 'center' }}&gt;&#10;        &lt;Text style={{ fontSize: 11.5, color: '#0F172A', lineHeight: 1.55 }}&gt;&#10;          &lt;span style={{ color: '#2563EB', fontWeight: 'bold' }}&gt;▪ &lt;/span&gt;实时诊断工作台：状态 / 结论 / 评分一目了然&#10;        &lt;/Text&gt;&#10;        &lt;Text style={{ fontSize: 11.5, color: '#0F172A', lineHeight: 1.55 }}&gt;&#10;          &lt;span style={{ color: '#2563EB', fontWeight: 'bold' }}&gt;▪ &lt;/span&gt;本体图谱、通道校验与版本管理&#10;        &lt;/Text&gt;&#10;        &lt;Text style={{ fontSize: 11.5, color: '#0F172A', lineHeight: 1.55 }}&gt;&#10;          &lt;span style={{ color: '#2563EB', fontWeight: 'bold' }}&gt;▪ &lt;/span&gt;SSE / WebSocket 实时流，多引擎可切换&#10;        &lt;/Text&gt;&#10;      &lt;/Box&gt;&#10;    &lt;/Box&gt;&#10;&#10;    &lt;Box style={{ flex: 1, flexDirection: 'column' }}&gt;&#10;      &lt;Box style={{ flexDirection: 'row', alignItems: 'center', gap: 7 }}&gt;&#10;        &lt;Box style={{ width: 4, height: 14, background: '#7C3AED', borderRadius: 2 }} /&gt;&#10;        &lt;Text style={{ fontSize: 14, fontWeight: 'bold', color: '#0F172A' }}&gt;RAG 知识平台&lt;/Text&gt;&#10;      &lt;/Box&gt;&#10;      &lt;Box style={{ height: 6 }} /&gt;&#10;      &lt;Box style={{ width: '100%', height: 200, background: '#FFFFFF', border: '1px solid #E2E8F0', borderRadius: 8, padding: 3 }}&gt;&#10;        &lt;Image src=&quot;assets/rag_search.png&quot; style={{ width: '100%', height: '100%', objectFit: 'cover', borderRadius: 5 }} /&gt;&#10;      &lt;/Box&gt;&#10;      &lt;Box style={{ height: 8 }} /&gt;&#10;      &lt;Box style={{ flex: 1, background: '#F8FAFC', border: '1px solid #E2E8F0', borderRadius: 8, padding: '9px 12px', flexDirection: 'column', gap: 4, justifyContent: 'center' }}&gt;&#10;        &lt;Text style={{ fontSize: 11.5, color: '#0F172A', lineHeight: 1.55 }}&gt;&#10;          &lt;span style={{ color: '#7C3AED', fontWeight: 'bold' }}&gt;▪ &lt;/span&gt;QDCVR 内容验证检索：0-8 评分，低于 4 硬丢弃&#10;        &lt;/Text&gt;&#10;        &lt;Text style={{ fontSize: 11.5, color: '#0F172A', lineHeight: 1.55 }}&gt;&#10;          &lt;span style={{ color: '#7C3AED', fontWeight: 'bold' }}&gt;▪ &lt;/span&gt;BM25 + 向量 + 标签 + 图谱四路召回&#10;        &lt;/Text&gt;&#10;        &lt;Text style={{ fontSize: 11.5, color: '#0F172A', lineHeight: 1.55 }}&gt;&#10;          &lt;span style={{ color: '#7C3AED', fontWeight: 'bold' }}&gt;▪ &lt;/span&gt;94 MCP 工具 · 19 Skills · SOUL 人格增强&#10;        &lt;/Text&gt;&#10;      &lt;/Box&gt;&#10;    &lt;/Box&gt;&#10;&#10;  &lt;/Box&gt;&#10;&#10;  &lt;Box style={{ height: 16 }} /&gt;&#10;&#10;  &lt;Box style={{ height: 170, background: '#F1F5F9', border: '1px solid #E2E8F0', borderRadius: 12, padding: '14px 20px', flexDirection: 'row', alignItems: 'center', gap: 20 }}&gt;&#10;&#10;    &lt;Box style={{ width: 286, flexDirection: 'column', gap: 4 }}&gt;&#10;      &lt;Box style={{ flexDirection: 'row', alignItems: 'center', gap: 10 }}&gt;&#10;        &lt;Text style={{ fontSize: 48, fontWeight: 'bold', color: '#2563EB', fontFamily: 'Cascadia Mono', lineHeight: 1.0 }}&gt;96&lt;/Text&gt;&#10;        &lt;Box style={{ flexDirection: 'column', gap: 3 }}&gt;&#10;          &lt;Text style={{ fontSize: 13, fontWeight: 'bold', color: '#0F172A' }}&gt;ENDORSED&lt;/Text&gt;&#10;          &lt;Text style={{ fontSize: 11, color: '#64748B' }}&gt;物理终审通过&lt;/Text&gt;&#10;        &lt;/Box&gt;&#10;      &lt;/Box&gt;&#10;      &lt;Text style={{ fontSize: 11.5, color: '#475569', lineHeight: 1.6 }}&gt;&#10;        Judge 十维评分 ≥ 90 才放行，终审未见机理矛盾&#10;      &lt;/Text&gt;&#10;    &lt;/Box&gt;&#10;&#10;    &lt;Box style={{ width: 318, height: 142, background: '#FFFFFF', border: '1px solid #E2E8F0', borderRadius: 8, padding: 4 }}&gt;&#10;      &lt;Image src=&quot;assets/idd_mechanism_discrimination.png&quot; style={{ width: '100%', height: '100%', objectFit: 'contain' }} /&gt;&#10;    &lt;/Box&gt;&#10;&#10;    &lt;Box style={{ flex: 1, flexDirection: 'column', gap: 6 }}&gt;&#10;      &lt;Box style={{ flexDirection: 'row', alignItems: 'center', gap: 8 }}&gt;&#10;        &lt;Box style={{ width: 4, height: 15, background: '#2563EB', borderRadius: 2 }} /&gt;&#10;        &lt;Text style={{ fontSize: 14, fontWeight: 'bold', color: '#0F172A' }}&gt;关键结果与验证&lt;/Text&gt;&#10;      &lt;/Box&gt;&#10;      &lt;Text style={{ fontSize: 11.5, color: '#334155', lineHeight: 1.6 }}&gt;&#10;        &lt;span style={{ color: '#2563EB', fontWeight: 'bold' }}&gt;▪ &lt;/span&gt;真实案例：8# 拉伸扭矩与熔融缺陷族 ρ≈0.5 显著相关，与划伤 ρ=0.18 无关联 —— 判定划伤为独立机理&#10;      &lt;/Text&gt;&#10;      &lt;Text style={{ fontSize: 11.5, color: '#334155', lineHeight: 1.6 }}&gt;&#10;        &lt;span style={{ color: '#2563EB', fontWeight: 'bold' }}&gt;▪ &lt;/span&gt;基准批次已跑通：TEP / SKAB / IndPenSim，覆盖化工、水力、发酵三类工业过程&#10;      &lt;/Text&gt;&#10;      &lt;Text style={{ fontSize: 11.5, color: '#334155', lineHeight: 1.6 }}&gt;&#10;        &lt;span style={{ color: '#7C3AED', fontWeight: 'bold' }}&gt;▪ &lt;/span&gt;诊断结论回流知识库，形成&quot;诊断 → 沉淀 → 复用&quot;闭环&#10;      &lt;/Text&gt;&#10;    &lt;/Box&gt;&#10;&#10;  &lt;/Box&gt;&#10;&#10;  &lt;Box style={{ marginTop: 'auto', height: 34, flexDirection: 'row', alignItems: 'center', justifyContent: 'space-between' }}&gt;&#10;    &lt;Text style={{ fontSize: 12.5, color: '#94A3B8' }}&gt;BOPET EDA · IDD 诊断引擎 · RAG Knowledge 知识平台&lt;/Text&gt;&#10;    &lt;Text style={{ fontSize: 12.5, color: '#94A3B8', fontFamily: 'Cascadia Mono' }}&gt;02 / 0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33400" y="190500"/>
            <a:ext cx="48387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0F172A"/>
                </a:solidFill>
                <a:latin typeface="Noto Sans SC"/>
                <a:ea typeface="Noto Sans SC"/>
              </a:rPr>
              <a:t>三系统核心功能与关键结果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33400" y="704850"/>
            <a:ext cx="4838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真实运行界面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真实分析产物（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BOPET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数据平台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/ IDD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诊断引擎</a:t>
            </a: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> / RAG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知识平台）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115675" y="266700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FEATURES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915650" y="43815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Cascadia Mono"/>
                <a:ea typeface="Cascadia Mono"/>
              </a:rPr>
              <a:t>AND RESULTS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33400" y="1162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38175" y="114300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Noto Sans SC"/>
                <a:ea typeface="Noto Sans SC"/>
              </a:rPr>
              <a:t>BOPET </a:t>
            </a:r>
            <a:r>
              <a:rPr lang="zh-CN" sz="1050" b="1">
                <a:solidFill>
                  <a:srgbClr val="0F172A"/>
                </a:solidFill>
                <a:latin typeface="Noto Sans SC"/>
                <a:ea typeface="Noto Sans SC"/>
              </a:rPr>
              <a:t>数据平台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33400" y="1362075"/>
            <a:ext cx="3590925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52" name=""/>
          <p:cNvPicPr>
            <a:picLocks noChangeAspect="1"/>
          </p:cNvPicPr>
          <p:nvPr/>
        </p:nvPicPr>
        <p:blipFill>
          <a:blip r:embed="rId1"/>
          <a:srcRect l="0" t="8167" r="0" b="8167"/>
          <a:stretch>
            <a:fillRect/>
          </a:stretch>
        </p:blipFill>
        <p:spPr>
          <a:xfrm rot="0" flipH="0" flipV="0">
            <a:off x="561975" y="1390650"/>
            <a:ext cx="3533775" cy="1847850"/>
          </a:xfrm>
          <a:prstGeom prst="roundRect">
            <a:avLst>
              <a:gd name="adj" fmla="val 2577"/>
            </a:avLst>
          </a:prstGeom>
          <a:ln/>
        </p:spPr>
      </p:pic>
      <p:sp>
        <p:nvSpPr>
          <p:cNvPr id="53" name=""/>
          <p:cNvSpPr/>
          <p:nvPr/>
        </p:nvSpPr>
        <p:spPr>
          <a:xfrm rot="0" flipH="0" flipV="0">
            <a:off x="533400" y="3343275"/>
            <a:ext cx="3590925" cy="885825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47700" y="3438525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0D9488"/>
                </a:solidFill>
                <a:latin typeface="Noto Sans SC"/>
                <a:ea typeface="Noto Sans SC"/>
              </a:rPr>
              <a:t>▪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数据概览看板：总量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/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新增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/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待处理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/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已结案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47700" y="3686175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0D9488"/>
                </a:solidFill>
                <a:latin typeface="Noto Sans SC"/>
                <a:ea typeface="Noto Sans SC"/>
              </a:rPr>
              <a:t>▪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月度趋势与模板分布可视化，支撑质量例会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47700" y="3933825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0D9488"/>
                </a:solidFill>
                <a:latin typeface="Noto Sans SC"/>
                <a:ea typeface="Noto Sans SC"/>
              </a:rPr>
              <a:t>▪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跨部门权限、表单模板与记录全流程留痕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295775" y="1162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400550" y="1143000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Noto Sans SC"/>
                <a:ea typeface="Noto Sans SC"/>
              </a:rPr>
              <a:t>IDD </a:t>
            </a:r>
            <a:r>
              <a:rPr lang="zh-CN" sz="1050" b="1">
                <a:solidFill>
                  <a:srgbClr val="0F172A"/>
                </a:solidFill>
                <a:latin typeface="Noto Sans SC"/>
                <a:ea typeface="Noto Sans SC"/>
              </a:rPr>
              <a:t>诊断引擎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295775" y="1362075"/>
            <a:ext cx="360045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60" name=""/>
          <p:cNvPicPr>
            <a:picLocks noChangeAspect="1"/>
          </p:cNvPicPr>
          <p:nvPr/>
        </p:nvPicPr>
        <p:blipFill>
          <a:blip r:embed="rId2"/>
          <a:srcRect l="0" t="8279" r="0" b="8279"/>
          <a:stretch>
            <a:fillRect/>
          </a:stretch>
        </p:blipFill>
        <p:spPr>
          <a:xfrm rot="0" flipH="0" flipV="0">
            <a:off x="4324350" y="1390650"/>
            <a:ext cx="3543300" cy="1847850"/>
          </a:xfrm>
          <a:prstGeom prst="roundRect">
            <a:avLst>
              <a:gd name="adj" fmla="val 2577"/>
            </a:avLst>
          </a:prstGeom>
          <a:ln/>
        </p:spPr>
      </p:pic>
      <p:sp>
        <p:nvSpPr>
          <p:cNvPr id="61" name=""/>
          <p:cNvSpPr/>
          <p:nvPr/>
        </p:nvSpPr>
        <p:spPr>
          <a:xfrm rot="0" flipH="0" flipV="0">
            <a:off x="4295775" y="3343275"/>
            <a:ext cx="3600450" cy="885825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410075" y="3438525"/>
            <a:ext cx="337185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实时诊断工作台：状态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/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结论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/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评分一目了然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410075" y="3686175"/>
            <a:ext cx="337185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本体图谱、通道校验与版本管理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410075" y="3933825"/>
            <a:ext cx="337185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SSE / WebSocket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实时流，多引擎可切换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067675" y="1162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172450" y="114300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Noto Sans SC"/>
                <a:ea typeface="Noto Sans SC"/>
              </a:rPr>
              <a:t>RAG </a:t>
            </a:r>
            <a:r>
              <a:rPr lang="zh-CN" sz="1050" b="1">
                <a:solidFill>
                  <a:srgbClr val="0F172A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8067675" y="1362075"/>
            <a:ext cx="3590925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 r:embed="rId3"/>
          <a:srcRect l="0" t="3519" r="0" b="3519"/>
          <a:stretch>
            <a:fillRect/>
          </a:stretch>
        </p:blipFill>
        <p:spPr>
          <a:xfrm rot="0" flipH="0" flipV="0">
            <a:off x="8096250" y="1390650"/>
            <a:ext cx="3533775" cy="1847850"/>
          </a:xfrm>
          <a:prstGeom prst="roundRect">
            <a:avLst>
              <a:gd name="adj" fmla="val 2577"/>
            </a:avLst>
          </a:prstGeom>
          <a:ln/>
        </p:spPr>
      </p:pic>
      <p:sp>
        <p:nvSpPr>
          <p:cNvPr id="69" name=""/>
          <p:cNvSpPr/>
          <p:nvPr/>
        </p:nvSpPr>
        <p:spPr>
          <a:xfrm rot="0" flipH="0" flipV="0">
            <a:off x="8067675" y="3343275"/>
            <a:ext cx="3590925" cy="885825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181975" y="3438525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QDCVR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内容验证检索：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0-8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评分，低于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4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硬丢弃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181975" y="3686175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BM25 +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向量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+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标签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+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图谱四路召回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181975" y="3933825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94 MCP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工具</a:t>
            </a:r>
            <a:r>
              <a:rPr lang="en-US" sz="863">
                <a:solidFill>
                  <a:srgbClr val="0F172A"/>
                </a:solidFill>
                <a:latin typeface="Noto Sans SC"/>
                <a:ea typeface="Noto Sans SC"/>
              </a:rPr>
              <a:t> · 19 Skills · SOUL </a:t>
            </a:r>
            <a:r>
              <a:rPr lang="zh-CN" sz="863">
                <a:solidFill>
                  <a:srgbClr val="0F172A"/>
                </a:solidFill>
                <a:latin typeface="Noto Sans SC"/>
                <a:ea typeface="Noto Sans SC"/>
              </a:rPr>
              <a:t>人格增强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33400" y="4381500"/>
            <a:ext cx="11125200" cy="161925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23900" y="4791075"/>
            <a:ext cx="54292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563EB"/>
                </a:solidFill>
                <a:latin typeface="Cascadia Mono"/>
                <a:ea typeface="Cascadia Mono"/>
              </a:rPr>
              <a:t>96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362075" y="4914900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Noto Sans SC"/>
                <a:ea typeface="Noto Sans SC"/>
              </a:rPr>
              <a:t>ENDORSED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362075" y="50958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Noto Sans SC"/>
                <a:ea typeface="Noto Sans SC"/>
              </a:rPr>
              <a:t>物理终审通过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23900" y="5381625"/>
            <a:ext cx="272415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Judge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十维评分</a:t>
            </a:r>
            <a:r>
              <a:rPr lang="en-US" sz="863">
                <a:solidFill>
                  <a:srgbClr val="475569"/>
                </a:solidFill>
                <a:latin typeface="Noto Sans SC"/>
                <a:ea typeface="Noto Sans SC"/>
              </a:rPr>
              <a:t> ≥ 90 </a:t>
            </a:r>
            <a:r>
              <a:rPr lang="zh-CN" sz="863">
                <a:solidFill>
                  <a:srgbClr val="475569"/>
                </a:solidFill>
                <a:latin typeface="Noto Sans SC"/>
                <a:ea typeface="Noto Sans SC"/>
              </a:rPr>
              <a:t>才放行，终审未见机理矛盾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3638550" y="4514850"/>
            <a:ext cx="30289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79" name=""/>
          <p:cNvPicPr>
            <a:picLocks noChangeAspect="1"/>
          </p:cNvPicPr>
          <p:nvPr/>
        </p:nvPicPr>
        <p:blipFill>
          <a:blip r:embed="rId4"/>
          <a:srcRect l="0" t="1370" r="0" b="1370"/>
          <a:stretch>
            <a:fillRect/>
          </a:stretch>
        </p:blipFill>
        <p:spPr>
          <a:xfrm rot="0" flipH="0" flipV="0">
            <a:off x="3676650" y="4552950"/>
            <a:ext cx="2952750" cy="1276350"/>
          </a:xfrm>
          <a:prstGeom prst="rect">
            <a:avLst/>
          </a:prstGeom>
          <a:ln/>
        </p:spPr>
      </p:pic>
      <p:sp>
        <p:nvSpPr>
          <p:cNvPr id="80" name=""/>
          <p:cNvSpPr/>
          <p:nvPr/>
        </p:nvSpPr>
        <p:spPr>
          <a:xfrm rot="0" flipH="0" flipV="0">
            <a:off x="6858000" y="4600575"/>
            <a:ext cx="38100" cy="1428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972300" y="45910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72A"/>
                </a:solidFill>
                <a:latin typeface="Noto Sans SC"/>
                <a:ea typeface="Noto Sans SC"/>
              </a:rPr>
              <a:t>关键结果与验证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0" y="4810125"/>
            <a:ext cx="46101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63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真实案例：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8#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拉伸扭矩与熔融缺陷族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ρ≈0.5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显著相关，与划伤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ρ=0.18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无关联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——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判定划伤为独立机理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0" y="5295900"/>
            <a:ext cx="46101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63" b="1">
                <a:solidFill>
                  <a:srgbClr val="2563EB"/>
                </a:solidFill>
                <a:latin typeface="Noto Sans SC"/>
                <a:ea typeface="Noto Sans SC"/>
              </a:rPr>
              <a:t>▪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基准批次已跑通：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TEP / SKAB / IndPenSim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，覆盖化工、水力、发酵三类工业过程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858000" y="5572125"/>
            <a:ext cx="46101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63" b="1">
                <a:solidFill>
                  <a:srgbClr val="7C3AED"/>
                </a:solidFill>
                <a:latin typeface="Noto Sans SC"/>
                <a:ea typeface="Noto Sans SC"/>
              </a:rPr>
              <a:t>▪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诊断结论回流知识库，形成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"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诊断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→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沉淀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 → 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复用</a:t>
            </a:r>
            <a:r>
              <a:rPr lang="en-US" sz="863">
                <a:solidFill>
                  <a:srgbClr val="334155"/>
                </a:solidFill>
                <a:latin typeface="Noto Sans SC"/>
                <a:ea typeface="Noto Sans SC"/>
              </a:rPr>
              <a:t>"</a:t>
            </a:r>
            <a:r>
              <a:rPr lang="zh-CN" sz="863">
                <a:solidFill>
                  <a:srgbClr val="334155"/>
                </a:solidFill>
                <a:latin typeface="Noto Sans SC"/>
                <a:ea typeface="Noto Sans SC"/>
              </a:rPr>
              <a:t>闭环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33400" y="643890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BOPET EDA · IDD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诊断引擎</a:t>
            </a:r>
            <a:r>
              <a:rPr lang="en-US" sz="938">
                <a:solidFill>
                  <a:srgbClr val="94A3B8"/>
                </a:solidFill>
                <a:latin typeface="Noto Sans SC"/>
                <a:ea typeface="Noto Sans SC"/>
              </a:rPr>
              <a:t> · RAG Knowledge </a:t>
            </a:r>
            <a:r>
              <a:rPr lang="zh-CN" sz="938">
                <a:solidFill>
                  <a:srgbClr val="94A3B8"/>
                </a:solidFill>
                <a:latin typeface="Noto Sans SC"/>
                <a:ea typeface="Noto Sans SC"/>
              </a:rPr>
              <a:t>知识平台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163300" y="643890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94A3B8"/>
                </a:solidFill>
                <a:latin typeface="Cascadia Mono"/>
                <a:ea typeface="Cascadia Mono"/>
              </a:rPr>
              <a:t>02 / 02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2026-09-15T10:26:08Z</dcterms:created>
  <dcterms:modified xsi:type="dcterms:W3CDTF">2026-09-15T10:26:08Z</dcterms:modified>
</cp:coreProperties>
</file>