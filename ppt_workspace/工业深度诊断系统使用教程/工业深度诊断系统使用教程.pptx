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3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4" Type="http://schemas.openxmlformats.org/officeDocument/2006/relationships/slide" Target="slides/slide4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16" Type="http://schemas.openxmlformats.org/officeDocument/2006/relationships/slide" Target="slides/slide16.xml" /><Relationship Id="rId6" Type="http://schemas.openxmlformats.org/officeDocument/2006/relationships/slide" Target="slides/slide6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5" Type="http://schemas.openxmlformats.org/officeDocument/2006/relationships/slide" Target="slides/slide5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8" Type="http://schemas.openxmlformats.org/officeDocument/2006/relationships/slide" Target="slides/slide28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9" Type="http://schemas.openxmlformats.org/officeDocument/2006/relationships/slide" Target="slides/slide9.xml" /><Relationship Id="rId26" Type="http://schemas.openxmlformats.org/officeDocument/2006/relationships/slide" Target="slides/slide26.xml" /><Relationship Id="rId32" Type="http://schemas.openxmlformats.org/officeDocument/2006/relationships/notesMaster" Target="notesMasters/notesMaster1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pn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24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png" /><Relationship Id="rId2" Type="http://schemas.openxmlformats.org/officeDocument/2006/relationships/image" Target="media/image26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7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pn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pn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png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0, background: '#1D1B16', position: 'relative', overflow: 'hidden' }}&gt;&#10;    &lt;Box style={{ position: 'absolute', top: -120, right: -80, width: 620, height: 620, background: 'linear-gradient(135deg, #B8730F 0%, #1D1B16 100%)', opacity: 0.30 }} /&gt;&#10;    &lt;Box style={{ position: 'absolute', left: 0, bottom: 0, width: 1280, height: 6, background: '#B8730F' }} /&gt;&#10;    &lt;Box style={{ flexDirection: 'column', width: 1280, height: 720, padding: '64px 76px 56px 76px', position: 'relative' }}&gt;&#10;        &lt;Box style={{ flexDirection: 'row', alignItems: 'center', gap: 16 }}&gt;&#10;            &lt;Box style={{ width: 56, height: 56, border: '2px solid #B8730F', borderRadius: 12, justifyContent: 'center', alignItems: 'center' }}&gt;&#10;                &lt;Text style={{ fontSize: 22, fontWeight: 'bold', color: '#B8730F', letterSpacing: 1 }}&gt;ID&lt;/Text&gt;&#10;            &lt;/Box&gt;&#10;            &lt;Box style={{ flexDirection: 'column' }}&gt;&#10;                &lt;Text style={{ fontSize: 13, color: '#B8730F', letterSpacing: 3, fontWeight: 'bold' }}&gt;ENTERPRISE WORKSPACE&lt;/Text&gt;&#10;                &lt;Text style={{ fontSize: 13, color: 'rgba(247,244,236,0.55)', letterSpacing: 1 }}&gt;工业缺陷诊断与知识协同工作台 · v4.2&lt;/Text&gt;&#10;            &lt;/Box&gt;&#10;        &lt;/Box&gt;&#10;        &lt;Text style={{ fontSize: 14, color: '#B8730F', letterSpacing: 5, fontWeight: 'bold', marginTop: 68 }}&gt;INDUSTRIAL DEEP DIAGNOSTIC&lt;/Text&gt;&#10;        &lt;Text style={{ fontSize: 76, fontWeight: 'bold', color: '#F7F4EC', lineHeight: 1.18, marginTop: 16 }}&gt;从零到投产&lt;br /&gt;完整使用教程&lt;/Text&gt;&#10;        &lt;Text style={{ fontSize: 20, color: 'rgba(247,244,236,0.72)', lineHeight: 1.6, marginTop: 22, width: 860 }}&gt;装好即用：三个命令启动三个服务，上传一份工业数据，拿到一份可追溯、可审计的中文根因报告。&lt;/Text&gt;&#10;        &lt;Text style={{ fontSize: 20, color: 'rgba(247,244,236,0.72)', lineHeight: 1.6, marginTop: 6, width: 860 }}&gt;全篇 27 张图，全部截自本机真实运行实例，编号与引线一一指到该点的控件上。&lt;/Text&gt;&#10;        &lt;Box style={{ flexDirection: 'row', gap: 14, marginTop: 'auto' }}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9&lt;/Text&gt;&#10;                &lt;Text style={{ fontSize: 15, color: '#F7F4EC' }}&gt;步全自动诊断管线&lt;/Text&gt;&#10;            &lt;/Box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14&lt;/Text&gt;&#10;                &lt;Text style={{ fontSize: 15, color: '#F7F4EC' }}&gt;个可热切换执行引擎&lt;/Text&gt;&#10;            &lt;/Box&gt;&#10;            &lt;Box style={{ flexDirection: 'row', alignItems: 'center', gap: 10, padding: '11px 20px', background: 'rgba(184,115,15,0.16)', border: '1px solid rgba(184,115,15,0.55)', borderRadius: 8 }}&gt;&#10;                &lt;Text style={{ fontSize: 26, fontWeight: 'bold', color: '#B8730F' }}&gt;3&lt;/Text&gt;&#10;                &lt;Text style={{ fontSize: 15, color: '#F7F4EC' }}&gt;个命令即可投产&lt;/Text&gt;&#10;            &lt;/Box&gt;&#10;            &lt;Box style={{ justifyContent: 'center', marginLeft: 'auto' }}&gt;&#10;                &lt;Text style={{ fontSize: 14, color: 'rgba(247,244,236,0.45)' }}&gt;Industrial Deep Diagnostic · 使用教程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B8730F">
                  <a:alpha val="30000"/>
                </a:srgbClr>
              </a:gs>
              <a:gs pos="100000">
                <a:srgbClr val="1D1B16">
                  <a:alpha val="3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23900" y="609600"/>
            <a:ext cx="533400" cy="533400"/>
          </a:xfrm>
          <a:prstGeom prst="roundRect">
            <a:avLst>
              <a:gd name="adj" fmla="val 21429"/>
            </a:avLst>
          </a:prstGeom>
          <a:ln w="25400">
            <a:solidFill>
              <a:srgbClr val="B8730F"/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66775" y="75247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B8730F"/>
                </a:solidFill>
                <a:latin typeface="Microsoft YaHei"/>
                <a:ea typeface="Microsoft YaHei"/>
              </a:rPr>
              <a:t>ID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409700" y="723900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B8730F"/>
                </a:solidFill>
                <a:latin typeface="Microsoft YaHei"/>
                <a:ea typeface="Microsoft YaHei"/>
              </a:rPr>
              <a:t>ENTERPRISE WORKSPACE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876300"/>
            <a:ext cx="228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工业缺陷诊断与知识协同工作台</a:t>
            </a:r>
            <a:r>
              <a:rPr lang="en-US" sz="975" spc="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 · v4.2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1790700"/>
            <a:ext cx="1074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Microsoft YaHei"/>
                <a:ea typeface="Microsoft YaHei"/>
              </a:rPr>
              <a:t>INDUSTRIAL DEEP DIAGNOSTIC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3900" y="2105025"/>
            <a:ext cx="107442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7F4EC"/>
                </a:solidFill>
                <a:latin typeface="Microsoft YaHei"/>
                <a:ea typeface="Microsoft YaHei"/>
              </a:rPr>
              <a:t>从零到投产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7F4EC"/>
                </a:solidFill>
                <a:latin typeface="Microsoft YaHei"/>
                <a:ea typeface="Microsoft YaHei"/>
              </a:rPr>
              <a:t>完整使用教程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4371975"/>
            <a:ext cx="8191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装好即用：三个命令启动三个服务，上传一份工业数据，拿到一份可追溯、可审计的中文根因报告。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23900" y="5162550"/>
            <a:ext cx="8191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全篇</a:t>
            </a:r>
            <a:r>
              <a:rPr lang="en-US" sz="15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27 </a:t>
            </a:r>
            <a:r>
              <a:rPr lang="zh-CN" sz="15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张图，全部截自本机真实运行实例，编号与引线一一指到该点的控件上。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723900" y="5810250"/>
            <a:ext cx="1781175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14400" y="59150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71575" y="59817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步全自动诊断管线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2638425" y="5810250"/>
            <a:ext cx="2076450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828925" y="59150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238500" y="59817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个可热切换执行引擎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848225" y="5810250"/>
            <a:ext cx="1638300" cy="514350"/>
          </a:xfrm>
          <a:prstGeom prst="roundRect">
            <a:avLst>
              <a:gd name="adj" fmla="val 14815"/>
            </a:avLst>
          </a:prstGeom>
          <a:solidFill>
            <a:srgbClr val="B8730F">
              <a:alpha val="16000"/>
            </a:srgbClr>
          </a:solidFill>
          <a:ln w="12700">
            <a:solidFill>
              <a:srgbClr val="B8730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038725" y="59150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295900" y="59817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个命令即可投产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24950" y="5991225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30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本教程怎么读&lt;/Text&gt;&#10;            &lt;Text style={{ fontSize: 16, color: 'rgba(29,27,22,0.62)', marginTop: 6 }}&gt;四幕结构 · 31 页 · 每一页都能照着操作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全篇 27 张图均为本机真实运行截图&lt;/Text&gt;&#10;        &lt;/Box&gt;&#10;    &lt;/Box&gt;&#10;    &lt;Box style={{ width: 1160, height: 540, flexDirection: 'row', gap: 22 }}&gt;&#10;        &lt;Box style={{ width: 338, height: 540, padding: 22, background: 'rgba(228,220,203,0.55)', borderRadius: 12, flexDirection: 'column' }}&gt;&#10;            &lt;Text style={{ fontSize: 21, fontWeight: 'bold', color: '#1D1B16' }}&gt;两条读法&lt;/Text&gt;&#10;            &lt;Text style={{ fontSize: 17, color: 'rgba(29,27,22,0.78)', lineHeight: 1.62, marginTop: 12 }}&gt;只想尽快跑起来：直接跳到第 5 页，按 0 到 1 的四个命令走完，再回到第 11 页开始点界面。&lt;/Text&gt;&#10;            &lt;Text style={{ fontSize: 17, color: 'rgba(29,27,22,0.78)', lineHeight: 1.62, marginTop: 10 }}&gt;想先弄懂再动手：从第 3 页的架构图读起，理解「谁在干活、产物落在哪」之后再上手。&lt;/Text&gt;&#10;            &lt;Box style={{ height: 1, background: 'rgba(29,27,22,0.14)', marginTop: 18, marginBottom: 18 }} /&gt;&#10;            &lt;Text style={{ fontSize: 21, fontWeight: 'bold', color: '#1D1B16' }}&gt;图上的编号&lt;/Text&gt;&#10;            &lt;Text style={{ fontSize: 17, color: 'rgba(29,27,22,0.78)', lineHeight: 1.62, marginTop: 12 }}&gt;截图里的 ① ② ③ 与图下方的编号说明一一对应；编号坐标取自抓图同一次会话的页面元素位置，指向永远准确。&lt;/Text&gt;&#10;            &lt;Box style={{ marginTop: 'auto', padding: '12px 14px', background: '#1D1B16', borderRadius: 9 }}&gt;&#10;                &lt;Text style={{ fontSize: 15, color: '#EFE9DA', lineHeight: 1.55 }}&gt;本机实测环境：Node 22 / npm 10 / Python 3.13 / uv 0.11&lt;/Text&gt;&#10;            &lt;/Box&gt;&#10;        &lt;/Box&gt;&#10;        &lt;Box style={{ width: 800, height: 540, flexDirection: 'column', gap: 17 }}&gt;&#10;            &lt;Box style={{ height: 122, flexDirection: 'row', gap: 18, padding: 18, background: '#FFFFFF', borderRadius: 12, border: '1px solid rgba(29,27,22,0.10)' }}&gt;&#10;                &lt;Box style={{ width: 56, height: 56, borderRadius: 10, background: '#1D1B16', justifyContent: 'center', alignItems: 'center' }}&gt;&#10;                    &lt;Text style={{ fontSize: 26, fontWeight: 'bold', color: '#B8730F' }}&gt;1&lt;/Text&gt;&#10;                &lt;/Box&gt;&#10;                &lt;Box style={{ flexDirection: 'column', width: 690 }}&gt;&#10;                    &lt;Text style={{ fontSize: 21, fontWeight: 'bold', color: '#1D1B16' }}&gt;认识它 —— 它是什么，凭什么信它&lt;/Text&gt;&#10;                    &lt;Text style={{ fontSize: 17, color: 'rgba(29,27,22,0.70)', lineHeight: 1.55, marginTop: 8 }}&gt;三个服务、14 个执行引擎、9 步管线；以及「诊断是排除不是确认」这条铁律。第 3–4 页。&lt;/Text&gt;&#10;                &lt;/Box&gt;&#10;            &lt;/Box&gt;&#10;            &lt;Box style={{ height: 122, flexDirection: 'row', gap: 18, padding: 18, background: '#FFFFFF', borderRadius: 12, border: '1px solid rgba(29,27,22,0.10)' }}&gt;&#10;                &lt;Box style={{ width: 56, height: 56, borderRadius: 10, background: '#1D1B16', justifyContent: 'center', alignItems: 'center' }}&gt;&#10;                    &lt;Text style={{ fontSize: 26, fontWeight: 'bold', color: '#B8730F' }}&gt;2&lt;/Text&gt;&#10;                &lt;/Box&gt;&#10;                &lt;Box style={{ flexDirection: 'column', width: 690 }}&gt;&#10;                    &lt;Text style={{ fontSize: 21, fontWeight: 'bold', color: '#1D1B16' }}&gt;装起来 —— 从零到能打开浏览器&lt;/Text&gt;&#10;                    &lt;Text style={{ fontSize: 17, color: 'rgba(29,27,22,0.70)', lineHeight: 1.55, marginTop: 8 }}&gt;查依赖、看端口、克隆安装、一键启动、验证健康、预检引擎。全程命令行，第 5–9 页。&lt;/Text&gt;&#10;                &lt;/Box&gt;&#10;            &lt;/Box&gt;&#10;            &lt;Box style={{ height: 122, flexDirection: 'row', gap: 18, padding: 18, background: '#FFFFFF', borderRadius: 12, border: '1px solid rgba(29,27,22,0.10)' }}&gt;&#10;                &lt;Box style={{ width: 56, height: 56, borderRadius: 10, background: '#1D1B16', justifyContent: 'center', alignItems: 'center' }}&gt;&#10;                    &lt;Text style={{ fontSize: 26, fontWeight: 'bold', color: '#B8730F' }}&gt;3&lt;/Text&gt;&#10;                &lt;/Box&gt;&#10;                &lt;Box style={{ flexDirection: 'column', width: 690 }}&gt;&#10;                    &lt;Text style={{ fontSize: 21, fontWeight: 'bold', color: '#1D1B16' }}&gt;用起来 —— 上传、配置、跑、盯着看&lt;/Text&gt;&#10;                    &lt;Text style={{ fontSize: 17, color: 'rgba(29,27,22,0.70)', lineHeight: 1.55, marginTop: 8 }}&gt;登录、导航、选引擎、上传数据、发起分析、配置八控件、实时监控工作台。第 10–18 页。&lt;/Text&gt;&#10;                &lt;/Box&gt;&#10;            &lt;/Box&gt;&#10;            &lt;Box style={{ height: 122, flexDirection: 'row', gap: 18, padding: 18, background: '#FFFFFF', borderRadius: 12, border: '1px solid rgba(29,27,22,0.10)' }}&gt;&#10;                &lt;Box style={{ width: 56, height: 56, borderRadius: 10, background: '#1D1B16', justifyContent: 'center', alignItems: 'center' }}&gt;&#10;                    &lt;Text style={{ fontSize: 26, fontWeight: 'bold', color: '#B8730F' }}&gt;4&lt;/Text&gt;&#10;                &lt;/Box&gt;&#10;                &lt;Box style={{ flexDirection: 'column', width: 690 }}&gt;&#10;                    &lt;Text style={{ fontSize: 21, fontWeight: 'bold', color: '#1D1B16' }}&gt;读懂它、用久它 —— 从一次运行到一套体系&lt;/Text&gt;&#10;                    &lt;Text style={{ fontSize: 17, color: 'rgba(29,27,22,0.70)', lineHeight: 1.55, marginTop: 8 }}&gt;报告三视图、审计裁定、历史与深度增强、本体资产库、产物清单、排错速查。第 19–31 页。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Industrial Deep Diagnostic · 使用教程&lt;/Text&gt;&#10;        &lt;Text style={{ fontSize: 14, color: 'rgba(29,27,22,0.45)' }}&gt;02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26193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本教程怎么读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2619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四幕结构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· 31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页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每一页都能照着操作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9048750" y="495300"/>
            <a:ext cx="25717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201150" y="581025"/>
            <a:ext cx="226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全篇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27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张图均为本机真实运行截图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71500" y="1143000"/>
            <a:ext cx="3219450" cy="5143500"/>
          </a:xfrm>
          <a:prstGeom prst="roundRect">
            <a:avLst>
              <a:gd name="adj" fmla="val 3550"/>
            </a:avLst>
          </a:prstGeom>
          <a:solidFill>
            <a:srgbClr val="E4DCCB">
              <a:alpha val="55000"/>
            </a:srgbClr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两条读法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81050" y="1714500"/>
            <a:ext cx="28003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只想尽快跑起来：直接跳到第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页，按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0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的四个命令走完，再回到第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11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页开始点界面。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81050" y="2762250"/>
            <a:ext cx="28003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想先弄懂再动手：从第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页的架构图读起，理解「谁在干活、产物落在哪」之后再上手。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81050" y="3886200"/>
            <a:ext cx="2800350" cy="9525"/>
          </a:xfrm>
          <a:prstGeom prst="rect">
            <a:avLst/>
          </a:prstGeom>
          <a:solidFill>
            <a:srgbClr val="1D1B16">
              <a:alpha val="14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图上的编号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28003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截图里的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① ② ③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与图下方的编号说明一一对应；编号坐标取自抓图同一次会话的页面元素位置，指向永远准确。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81050" y="5314950"/>
            <a:ext cx="2800350" cy="762000"/>
          </a:xfrm>
          <a:prstGeom prst="roundRect">
            <a:avLst>
              <a:gd name="adj" fmla="val 11250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14400" y="5429250"/>
            <a:ext cx="25336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EFE9DA"/>
                </a:solidFill>
                <a:latin typeface="Microsoft YaHei"/>
                <a:ea typeface="Microsoft YaHei"/>
              </a:rPr>
              <a:t>本机实测环境：</a:t>
            </a:r>
            <a:r>
              <a:rPr lang="en-US" sz="1125">
                <a:solidFill>
                  <a:srgbClr val="EFE9DA"/>
                </a:solidFill>
                <a:latin typeface="Microsoft YaHei"/>
                <a:ea typeface="Microsoft YaHei"/>
              </a:rPr>
              <a:t>Node 22 / npm 10 / Python 3.13 / uv 0.11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000500" y="1143000"/>
            <a:ext cx="76200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4171950" y="13144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362450" y="14287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876800" y="1314450"/>
            <a:ext cx="6572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认识它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它是什么，凭什么信它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876800" y="1638300"/>
            <a:ext cx="6572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三个服务、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14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个执行引擎、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9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步管线；以及「诊断是排除不是确认」这条铁律。第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3–4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000500" y="2466975"/>
            <a:ext cx="76200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4171950" y="26384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362450" y="27527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4876800" y="2638425"/>
            <a:ext cx="6572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装起来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从零到能打开浏览器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876800" y="2962275"/>
            <a:ext cx="6572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查依赖、看端口、克隆安装、一键启动、验证健康、预检引擎。全程命令行，第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5–9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4000500" y="3790950"/>
            <a:ext cx="76200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4171950" y="39624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362450" y="407670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876800" y="3962400"/>
            <a:ext cx="6572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用起来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上传、配置、跑、盯着看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876800" y="4286250"/>
            <a:ext cx="6572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登录、导航、选引擎、上传数据、发起分析、配置八控件、实时监控工作台。第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10–18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000500" y="5114925"/>
            <a:ext cx="76200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4171950" y="52863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362450" y="540067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B8730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876800" y="5286375"/>
            <a:ext cx="6572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读懂它、用久它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从一次运行到一套体系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876800" y="5610225"/>
            <a:ext cx="6572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报告三视图、审计裁定、历史与深度增强、本体资产库、产物清单、排错速查。第</a:t>
            </a:r>
            <a:r>
              <a:rPr lang="en-US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19–31 </a:t>
            </a:r>
            <a:r>
              <a:rPr lang="zh-CN" sz="127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02 / 31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59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它是什么：三个服务 + 14 个可热切换执行引擎&lt;/Text&gt;&#10;            &lt;Text style={{ fontSize: 16, color: 'rgba(29,27,22,0.62)', marginTop: 6 }}&gt;浏览器只跟后端说话；后端把一次诊断派发给所选引擎，并按需调用 RAG 与本体资产库&lt;/Text&gt;&#10;        &lt;/Box&gt;&#10;        &lt;Box style={{ flexDirection: 'column', alignItems: 'flex-end' }}&gt;&#10;            &lt;Text style={{ fontSize: 13, color: '#B8730F', letterSpacing: 3, fontWeight: 'bold' }}&gt;ARCHITECTURE&lt;/Text&gt;&#10;            &lt;Text style={{ fontSize: 13, color: 'rgba(29,27,22,0.45)', marginTop: 4 }}&gt;依据仓库源码与 README 绘制&lt;/Text&gt;&#10;        &lt;/Box&gt;&#10;    &lt;/Box&gt;&#10;    &lt;Box style={{ width: 1160, height: 540, justifyContent: 'center', alignItems: 'center' }}&gt;&#10;        &lt;Image src=&quot;assets/d_runtime.png&quot; style={{ width: 1080, height: 522, borderRadius: 10, border: '1px solid rgba(29,27,22,0.10)' }} /&gt;&#10;    &lt;/Box&gt;&#10;    &lt;Box style={{ width: 1160, height: 40, flexDirection: 'row', alignItems: 'center', justifyContent: 'space-between' }}&gt;&#10;        &lt;Text style={{ fontSize: 14, color: 'rgba(29,27,22,0.45)' }}&gt;端口 3210 后端 · 5180 前端 · 8764 RAG&lt;/Text&gt;&#10;        &lt;Text style={{ fontSize: 14, color: 'rgba(29,27,22,0.45)' }}&gt;0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7722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它是什么：三个服务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+ 14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个可热切换执行引擎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772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浏览器只跟后端说话；后端把一次诊断派发给所选引擎，并按需调用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RAG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与本体资产库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0306050" y="495300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B8730F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906000" y="6858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依据仓库源码与</a:t>
            </a:r>
            <a:r>
              <a:rPr lang="en-US" sz="975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README </a:t>
            </a:r>
            <a:r>
              <a:rPr lang="zh-CN" sz="975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绘制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952500" y="1228725"/>
            <a:ext cx="10287000" cy="49720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66" name=""/>
          <p:cNvPicPr>
            <a:picLocks noChangeAspect="1"/>
          </p:cNvPicPr>
          <p:nvPr/>
        </p:nvPicPr>
        <p:blipFill>
          <a:blip r:embed="rId1"/>
          <a:srcRect l="20" t="0" r="20" b="0"/>
          <a:stretch>
            <a:fillRect/>
          </a:stretch>
        </p:blipFill>
        <p:spPr>
          <a:xfrm rot="0" flipH="0" flipV="0">
            <a:off x="952500" y="1228725"/>
            <a:ext cx="10287000" cy="4972050"/>
          </a:xfrm>
          <a:prstGeom prst="roundRect">
            <a:avLst>
              <a:gd name="adj" fmla="val 1916"/>
            </a:avLst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端口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3210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后端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· 5180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· 8764 RAG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03 / 31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4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凭什么信它：诊断是排除，不是确认&lt;/Text&gt;&#13;&#10;            &lt;Text style={{ fontSize: 16, color: 'rgba(29,27,22,0.62)', marginTop: 6 }}&gt;每个结论必须同时满足四个条件；做不到就明说做不到，并按协议封住自己的置信度&lt;/Text&gt;&#13;&#10;        &lt;/Box&gt;&#13;&#10;        &lt;Box style={{ padding: '9px 16px', background: '#1D1B16', borderRadius: 8 }}&gt;&#13;&#10;            &lt;Text style={{ fontSize: 15, fontWeight: 'bold', color: '#B8730F' }}&gt;本机实测&lt;/Text&gt;&#13;&#10;        &lt;/Box&gt;&#13;&#10;    &lt;/Box&gt;&#13;&#10;    &lt;Box style={{ width: 1160, height: 540, flexDirection: 'column', gap: 20 }}&gt;&#13;&#10;        &lt;Box style={{ flexDirection: 'row', gap: 22, height: 300 }}&gt;&#13;&#10;            &lt;Box style={{ width: 372, height: 300, padding: 22, background: '#FFFFFF', borderRadius: 12, border: '1px solid rgba(29,27,22,0.10)' }}&gt;&#13;&#10;                &lt;Text style={{ fontSize: 88, fontWeight: 'bold', color: '#B8730F', lineHeight: 1 }}&gt;89%&lt;/Text&gt;&#13;&#10;                &lt;Text style={{ fontSize: 21, fontWeight: 'bold', color: '#1D1B16', marginTop: 12 }}&gt;运行收敛到单一根因&lt;/Text&gt;&#13;&#10;                &lt;Text style={{ fontSize: 17, color: 'rgba(29,27,22,0.72)', lineHeight: 1.62, marginTop: 10 }}&gt;本机 38 次完成的诊断里，34 次把竞争假设排除到只剩一个根因。&lt;/Text&gt;&#13;&#10;                &lt;Box style={{ marginTop: 'auto', padding: '10px 12px', background: 'rgba(184,115,15,0.12)', borderRadius: 8 }}&gt;&#13;&#10;                    &lt;Text style={{ fontSize: 15, color: '#8A5608' }}&gt;剩余 11% 如实报告不确定&lt;/Text&gt;&#13;&#10;                &lt;/Box&gt;&#13;&#10;            &lt;/Box&gt;&#13;&#10;            &lt;Box style={{ width: 372, height: 300, padding: 22, background: '#FFFFFF', borderRadius: 12, border: '1px solid rgba(29,27,22,0.10)' }}&gt;&#13;&#10;                &lt;Text style={{ fontSize: 88, fontWeight: 'bold', color: '#B8730F', lineHeight: 1 }}&gt;9&lt;/Text&gt;&#13;&#10;                &lt;Text style={{ fontSize: 21, fontWeight: 'bold', color: '#1D1B16', marginTop: 12 }}&gt;道质量闸门 CP-1 ~ CP-9&lt;/Text&gt;&#13;&#10;                &lt;Text style={{ fontSize: 17, color: 'rgba(29,27,22,0.72)', lineHeight: 1.62, marginTop: 10 }}&gt;每两步之间设一道校验：产物缺失、Schema 不合法、评分不足 90 都会让管线停下回退。&lt;/Text&gt;&#13;&#10;                &lt;Box style={{ marginTop: 'auto', padding: '10px 12px', background: 'rgba(184,115,15,0.12)', borderRadius: 8 }}&gt;&#13;&#10;                    &lt;Text style={{ fontSize: 15, color: '#8A5608' }}&gt;CP-8 不过，报告不许发布&lt;/Text&gt;&#13;&#10;                &lt;/Box&gt;&#13;&#10;            &lt;/Box&gt;&#13;&#10;            &lt;Box style={{ width: 372, height: 300, padding: 22, background: '#FFFFFF', borderRadius: 12, border: '1px solid rgba(29,27,22,0.10)' }}&gt;&#13;&#10;                &lt;Text style={{ fontSize: 88, fontWeight: 'bold', color: '#B8730F', lineHeight: 1 }}&gt;7&lt;/Text&gt;&#13;&#10;                &lt;Text style={{ fontSize: 21, fontWeight: 'bold', color: '#1D1B16', marginTop: 12 }}&gt;级证据体系 L1 ~ L7&lt;/Text&gt;&#13;&#10;                &lt;Text style={{ fontSize: 17, color: 'rgba(29,27,22,0.72)', lineHeight: 1.62, marginTop: 10 }}&gt;从直接测量到无支撑假设。铁律：结论被它最低的那一级证据封顶。&lt;/Text&gt;&#13;&#10;                &lt;Box style={{ marginTop: 'auto', padding: '10px 12px', background: 'rgba(184,115,15,0.12)', borderRadius: 8 }}&gt;&#13;&#10;                    &lt;Text style={{ fontSize: 15, color: '#8A5608' }}&gt;L4 的读图观察撑不起 L1 的断言&lt;/Text&gt;&#13;&#10;                &lt;/Box&gt;&#13;&#10;            &lt;/Box&gt;&#13;&#10;        &lt;/Box&gt;&#13;&#10;        &lt;Box style={{ height: 220, padding: 22, background: '#1D1B16', borderRadius: 12, flexDirection: 'column' }}&gt;&#13;&#10;            &lt;Text style={{ fontSize: 21, fontWeight: 'bold', color: '#F7F4EC' }}&gt;四个条件必须同时成立，缺一不成结论&lt;/Text&gt;&#13;&#10;            &lt;Box style={{ flexDirection: 'row', gap: 16, marginTop: 16 }}&gt;&#13;&#10;                &lt;Box style={{ flex: 1, padding: '14px 16px', background: 'rgba(184,115,15,0.18)', borderRadius: 9 }}&gt;&#13;&#10;                    &lt;Text style={{ fontSize: 18, fontWeight: 'bold', color: '#F0A93B' }}&gt;时间上先发生&lt;/Text&gt;&#13;&#10;                    &lt;Text style={{ fontSize: 15, color: 'rgba(247,244,236,0.72)', marginTop: 6, lineHeight: 1.5 }}&gt;有滞后补偿的互相关&lt;/Text&gt;&#13;&#10;                &lt;/Box&gt;&#13;&#10;                &lt;Box style={{ flex: 1, padding: '14px 16px', background: 'rgba(184,115,15,0.18)', borderRadius: 9 }}&gt;&#13;&#10;                    &lt;Text style={{ fontSize: 18, fontWeight: 'bold', color: '#F0A93B' }}&gt;统计上显著&lt;/Text&gt;&#13;&#10;                    &lt;Text style={{ fontSize: 15, color: 'rgba(247,244,236,0.72)', marginTop: 6, lineHeight: 1.5 }}&gt;逐点剔除杠杆点复核&lt;/Text&gt;&#13;&#10;                &lt;/Box&gt;&#13;&#10;                &lt;Box style={{ flex: 1, padding: '14px 16px', background: 'rgba(184,115,15,0.18)', borderRadius: 9 }}&gt;&#13;&#10;                    &lt;Text style={{ fontSize: 18, fontWeight: 'bold', color: '#F0A93B' }}&gt;物理机理成立&lt;/Text&gt;&#13;&#10;                    &lt;Text style={{ fontSize: 15, color: 'rgba(247,244,236,0.72)', marginTop: 6, lineHeight: 1.5 }}&gt;两位独立物理审计&lt;/Text&gt;&#13;&#10;                &lt;/Box&gt;&#13;&#10;                &lt;Box style={{ flex: 1, padding: '14px 16px', background: 'rgba(184,115,15,0.18)', borderRadius: 9 }}&gt;&#13;&#10;                    &lt;Text style={{ fontSize: 18, fontWeight: 'bold', color: '#F0A93B' }}&gt;无反证&lt;/Text&gt;&#13;&#10;                    &lt;Text style={{ fontSize: 15, color: 'rgba(247,244,236,0.72)', marginTop: 6, lineHeight: 1.5 }}&gt;有反例即撤回结论&lt;/Text&gt;&#13;&#10;                &lt;/Box&gt;&#13;&#10;            &lt;/Box&gt;&#13;&#10;            &lt;Text style={{ fontSize: 17, color: 'rgba(247,244,236,0.80)', lineHeight: 1.6, marginTop: 16 }}&gt;数据无法区分幸存假设时，它返回 COMPETING_SET 并把置信度硬顶到 65 分以下 —— 在真实产线上，这是唯一诚实的选项。&lt;/Text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Industrial Deep Diagnostic · 使用教程&lt;/Text&gt;&#13;&#10;        &lt;Text style={{ fontSize: 14, color: 'rgba(29,27,22,0.45)' }}&gt;04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6388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凭什么信它：诊断是排除，不是确认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63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每个结论必须同时满足四个条件；做不到就明说做不到，并按协议封住自己的置信度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10744200" y="495300"/>
            <a:ext cx="87630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0896600" y="581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本机实测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571500" y="1143000"/>
            <a:ext cx="35433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81050" y="1352550"/>
            <a:ext cx="31242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Microsoft YaHei"/>
                <a:ea typeface="Microsoft YaHei"/>
              </a:rPr>
              <a:t>89%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81050" y="2476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运行收敛到单一根因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31242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本机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38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次完成的诊断里，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34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次把竞争假设排除到只剩一个根因。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81050" y="3429000"/>
            <a:ext cx="3124200" cy="361950"/>
          </a:xfrm>
          <a:prstGeom prst="roundRect">
            <a:avLst>
              <a:gd name="adj" fmla="val 21053"/>
            </a:avLst>
          </a:prstGeom>
          <a:solidFill>
            <a:srgbClr val="B8730F">
              <a:alpha val="12000"/>
            </a:srgbClr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95350" y="35242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剩余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11%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如实报告不确定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4324350" y="1143000"/>
            <a:ext cx="35433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533900" y="1352550"/>
            <a:ext cx="31242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533900" y="2476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道质量闸门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CP-1 ~ CP-9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533900" y="2819400"/>
            <a:ext cx="31242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每两步之间设一道校验：产物缺失、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Schema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不合法、评分不足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90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都会让管线停下回退。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4533900" y="3429000"/>
            <a:ext cx="3124200" cy="361950"/>
          </a:xfrm>
          <a:prstGeom prst="roundRect">
            <a:avLst>
              <a:gd name="adj" fmla="val 21053"/>
            </a:avLst>
          </a:prstGeom>
          <a:solidFill>
            <a:srgbClr val="B8730F">
              <a:alpha val="12000"/>
            </a:srgbClr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4648200" y="35242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CP-8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不过，报告不许发布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8077200" y="1143000"/>
            <a:ext cx="35433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286750" y="1352550"/>
            <a:ext cx="31242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B8730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286750" y="2476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级证据体系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L1 ~ L7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286750" y="2819400"/>
            <a:ext cx="31242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从直接测量到无支撑假设。铁律：结论被它最低的那一级证据封顶。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8286750" y="3429000"/>
            <a:ext cx="3124200" cy="361950"/>
          </a:xfrm>
          <a:prstGeom prst="roundRect">
            <a:avLst>
              <a:gd name="adj" fmla="val 21053"/>
            </a:avLst>
          </a:prstGeom>
          <a:solidFill>
            <a:srgbClr val="B8730F">
              <a:alpha val="12000"/>
            </a:srgbClr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401050" y="352425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L4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的读图观察撑不起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L1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的断言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71500" y="4191000"/>
            <a:ext cx="11049000" cy="2095500"/>
          </a:xfrm>
          <a:prstGeom prst="roundRect">
            <a:avLst>
              <a:gd name="adj" fmla="val 5455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10629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四个条件必须同时成立，缺一不成结论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781050" y="4800600"/>
            <a:ext cx="2543175" cy="790575"/>
          </a:xfrm>
          <a:prstGeom prst="roundRect">
            <a:avLst>
              <a:gd name="adj" fmla="val 10843"/>
            </a:avLst>
          </a:prstGeom>
          <a:solidFill>
            <a:srgbClr val="B8730F">
              <a:alpha val="18000"/>
            </a:srgbClr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时间上先发生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33450" y="5200650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有滞后补偿的互相关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3476625" y="4800600"/>
            <a:ext cx="2543175" cy="790575"/>
          </a:xfrm>
          <a:prstGeom prst="roundRect">
            <a:avLst>
              <a:gd name="adj" fmla="val 10843"/>
            </a:avLst>
          </a:prstGeom>
          <a:solidFill>
            <a:srgbClr val="B8730F">
              <a:alpha val="18000"/>
            </a:srgbClr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629025" y="4933950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统计上显著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629025" y="5200650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逐点剔除杠杆点复核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172200" y="4800600"/>
            <a:ext cx="2543175" cy="790575"/>
          </a:xfrm>
          <a:prstGeom prst="roundRect">
            <a:avLst>
              <a:gd name="adj" fmla="val 10843"/>
            </a:avLst>
          </a:prstGeom>
          <a:solidFill>
            <a:srgbClr val="B8730F">
              <a:alpha val="18000"/>
            </a:srgbClr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324600" y="4933950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物理机理成立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324600" y="5200650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两位独立物理审计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8867775" y="4800600"/>
            <a:ext cx="2543175" cy="790575"/>
          </a:xfrm>
          <a:prstGeom prst="roundRect">
            <a:avLst>
              <a:gd name="adj" fmla="val 10843"/>
            </a:avLst>
          </a:prstGeom>
          <a:solidFill>
            <a:srgbClr val="B8730F">
              <a:alpha val="18000"/>
            </a:srgbClr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020175" y="4933950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无反证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020175" y="5200650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有反例即撤回结论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81050" y="5743575"/>
            <a:ext cx="10629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数据无法区分幸存假设时，它返回</a:t>
            </a:r>
            <a:r>
              <a:rPr lang="en-US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COMPETING_SET </a:t>
            </a:r>
            <a:r>
              <a:rPr lang="zh-CN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并把置信度硬顶到</a:t>
            </a:r>
            <a:r>
              <a:rPr lang="en-US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65 </a:t>
            </a:r>
            <a:r>
              <a:rPr lang="zh-CN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分以下</a:t>
            </a:r>
            <a:r>
              <a:rPr lang="en-US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在真实产线上，这是唯一诚实的选项。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04 / 31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65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0 章 · 环境准备：四个依赖一次查完&lt;/Text&gt;&#13;&#10;            &lt;Text style={{ fontSize: 16, color: 'rgba(29,27,22,0.62)', marginTop: 6 }}&gt;缺任何一项，启动都会直接失败 —— 所以先花 30 秒把版本查清楚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本机真实输出&lt;/Text&gt;&#13;&#10;        &lt;/Box&gt;&#13;&#10;    &lt;/Box&gt;&#13;&#10;    &lt;Box style={{ width: 1160, height: 540, flexDirection: 'column', gap: 18 }}&gt;&#13;&#10;        &lt;Box style={{ height: 310, flexDirection: 'row', gap: 18 }}&gt;&#13;&#10;            &lt;Image src=&quot;assets/t_prereq.png&quot; style={{ width: 830, height: 223, borderRadius: 10 }} /&gt;&#13;&#10;            &lt;Box style={{ width: 312, height: 310, padding: 20, background: '#1D1B16', borderRadius: 12, flexDirection: 'column' }}&gt;&#13;&#10;                &lt;Text style={{ fontSize: 13, color: '#B8730F', letterSpacing: 3, fontWeight: 'bold' }}&gt;CHECKLIST&lt;/Text&gt;&#13;&#10;                &lt;Text style={{ fontSize: 21, fontWeight: 'bold', color: '#F7F4EC', marginTop: 10 }}&gt;四个依赖的下限&lt;/Text&gt;&#13;&#10;                &lt;Text style={{ fontSize: 17, color: 'rgba(247,244,236,0.78)', lineHeight: 1.7, marginTop: 12 }}&gt;Node.js ≥ 18（推荐 22+）&lt;br /&gt;npm ≥ 9&lt;br /&gt;Python ≥ 3.10&lt;br /&gt;uv（推荐；缺失时回退系统 pip）&lt;/Text&gt;&#13;&#10;                &lt;Box style={{ marginTop: 'auto', padding: '10px 12px', background: 'rgba(184,115,15,0.18)', borderRadius: 8 }}&gt;&#13;&#10;                    &lt;Text style={{ fontSize: 15, color: '#F0A93B', lineHeight: 1.5 }}&gt;依赖是自动装的：后端/前端会自动 npm install，RAG 会自建虚拟环境&lt;/Text&gt;&#13;&#10;                &lt;/Box&gt;&#13;&#10;            &lt;/Box&gt;&#13;&#10;        &lt;/Box&gt;&#13;&#10;        &lt;Box style={{ height: 212, flexDirection: 'row', gap: 22 }}&gt;&#13;&#10;            &lt;Box style={{ flex: 1, padding: 20, background: '#FFFFFF', borderRadius: 12, border: '1px solid rgba(29,27,22,0.10)', flexDirection: 'column' }}&gt;&#13;&#10;                &lt;Text style={{ fontSize: 21, fontWeight: 'bold', color: '#1D1B16' }}&gt;① 检查命令&lt;/Text&gt;&#13;&#10;                &lt;Text style={{ fontSize: 17, color: 'rgba(29,27,22,0.72)', lineHeight: 1.62, marginTop: 10 }}&gt;四条命令分别对应四个依赖，回车即可。输出与左图一致就说明环境没问题。&lt;/Text&gt;&#13;&#10;                &lt;Box style={{ marginTop: 'auto', padding: '9px 12px', background: 'rgba(228,220,203,0.75)', borderRadius: 7 }}&gt;&#13;&#10;                    &lt;Text style={{ fontSize: 15, color: 'rgba(29,27,22,0.80)' }}&gt;node --version / npm --version&lt;/Text&gt;&#13;&#10;                &lt;/Box&gt;&#13;&#10;            &lt;/Box&gt;&#13;&#10;            &lt;Box style={{ flex: 1, padding: 20, background: '#FFFFFF', borderRadius: 12, border: '1px solid rgba(29,27,22,0.10)', flexDirection: 'column' }}&gt;&#13;&#10;                &lt;Text style={{ fontSize: 21, fontWeight: 'bold', color: '#1D1B16' }}&gt;② 版本不达标怎么办&lt;/Text&gt;&#13;&#10;                &lt;Text style={{ fontSize: 17, color: 'rgba(29,27,22,0.72)', lineHeight: 1.62, marginTop: 10 }}&gt;Node 用 nvm 切版本，Python 用官网安装包；uv 是可选项，不装也能跑（走 pip）。&lt;/Text&gt;&#13;&#10;                &lt;Box style={{ marginTop: 'auto', padding: '9px 12px', background: 'rgba(228,220,203,0.75)', borderRadius: 7 }}&gt;&#13;&#10;                    &lt;Text style={{ fontSize: 15, color: 'rgba(29,27,22,0.80)' }}&gt;先解决依赖，再看下一章&lt;/Text&gt;&#13;&#10;                &lt;/Box&gt;&#13;&#10;            &lt;/Box&gt;&#13;&#10;            &lt;Box style={{ flex: 1, padding: 20, background: 'rgba(184,115,15,0.10)', borderRadius: 12, border: '1px solid rgba(184,115,15,0.40)', flexDirection: 'column' }}&gt;&#13;&#10;                &lt;Text style={{ fontSize: 21, fontWeight: 'bold', color: '#8A5608' }}&gt;③ 网络慢的时候&lt;/Text&gt;&#13;&#10;                &lt;Text style={{ fontSize: 17, color: 'rgba(29,27,22,0.78)', lineHeight: 1.62, marginTop: 10 }}&gt;RAG 引擎的 Python 依赖体积较大，国内网络可以先切到镜像源再启动，避免卡在 uv sync。&lt;/Text&gt;&#13;&#10;                &lt;Box style={{ marginTop: 'auto', padding: '9px 12px', background: 'rgba(184,115,15,0.20)', borderRadius: 7 }}&gt;&#13;&#10;                    &lt;Text style={{ fontSize: 15, color: '#8A5608' }}&gt;UV_INDEX_URL=清华镜像&lt;/Text&gt;&#13;&#10;                &lt;/Box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Industrial Deep Diagnostic · 使用教程&lt;/Text&gt;&#13;&#10;        &lt;Text style={{ fontSize: 14, color: 'rgba(29,27,22,0.45)' }}&gt;05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5911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0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环境准备：四个依赖一次查完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59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缺任何一项，启动都会直接失败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所以先花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秒把版本查清楚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10458450" y="4953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0610850" y="58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本机真实输出</a:t>
            </a:r>
            <a:endParaRPr/>
          </a:p>
        </p:txBody>
      </p:sp>
      <p:pic>
        <p:nvPicPr>
          <p:cNvPr id="571" name=""/>
          <p:cNvPicPr>
            <a:picLocks noChangeAspect="1"/>
          </p:cNvPicPr>
          <p:nvPr/>
        </p:nvPicPr>
        <p:blipFill>
          <a:blip r:embed="rId1"/>
          <a:srcRect l="0" t="44" r="0" b="44"/>
          <a:stretch>
            <a:fillRect/>
          </a:stretch>
        </p:blipFill>
        <p:spPr>
          <a:xfrm rot="0" flipH="0" flipV="0">
            <a:off x="571500" y="1143000"/>
            <a:ext cx="7905750" cy="2124075"/>
          </a:xfrm>
          <a:prstGeom prst="roundRect">
            <a:avLst>
              <a:gd name="adj" fmla="val 4484"/>
            </a:avLst>
          </a:prstGeom>
          <a:ln/>
        </p:spPr>
      </p:pic>
      <p:sp>
        <p:nvSpPr>
          <p:cNvPr id="572" name=""/>
          <p:cNvSpPr/>
          <p:nvPr/>
        </p:nvSpPr>
        <p:spPr>
          <a:xfrm rot="0" flipH="0" flipV="0">
            <a:off x="8648700" y="1143000"/>
            <a:ext cx="2971800" cy="2952750"/>
          </a:xfrm>
          <a:prstGeom prst="roundRect">
            <a:avLst>
              <a:gd name="adj" fmla="val 3871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839200" y="1333500"/>
            <a:ext cx="259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B8730F"/>
                </a:solidFill>
                <a:latin typeface="Microsoft YaHei"/>
                <a:ea typeface="Microsoft YaHei"/>
              </a:rPr>
              <a:t>CHECKLIST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839200" y="15811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四个依赖的下限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839200" y="1943100"/>
            <a:ext cx="2590800" cy="13239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Node.js ≥ 18</a:t>
            </a:r>
            <a:r>
              <a:rPr lang="zh-CN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（推荐</a:t>
            </a: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 22+</a:t>
            </a:r>
            <a:r>
              <a:rPr lang="zh-CN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npm ≥ 9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Python ≥ 3.10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uv</a:t>
            </a:r>
            <a:r>
              <a:rPr lang="zh-CN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（推荐；缺失时回退系统</a:t>
            </a:r>
            <a:r>
              <a:rPr lang="en-US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 pip</a:t>
            </a:r>
            <a:r>
              <a:rPr lang="zh-CN" sz="127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8839200" y="3200400"/>
            <a:ext cx="2590800" cy="704850"/>
          </a:xfrm>
          <a:prstGeom prst="roundRect">
            <a:avLst>
              <a:gd name="adj" fmla="val 10811"/>
            </a:avLst>
          </a:prstGeom>
          <a:solidFill>
            <a:srgbClr val="B8730F">
              <a:alpha val="18000"/>
            </a:srgbClr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953500" y="3295650"/>
            <a:ext cx="2362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0A93B"/>
                </a:solidFill>
                <a:latin typeface="Microsoft YaHei"/>
                <a:ea typeface="Microsoft YaHei"/>
              </a:rPr>
              <a:t>依赖是自动装的：后端</a:t>
            </a:r>
            <a:r>
              <a:rPr lang="en-US" sz="1125">
                <a:solidFill>
                  <a:srgbClr val="F0A93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F0A93B"/>
                </a:solidFill>
                <a:latin typeface="Microsoft YaHei"/>
                <a:ea typeface="Microsoft YaHei"/>
              </a:rPr>
              <a:t>前端会自动</a:t>
            </a:r>
            <a:r>
              <a:rPr lang="en-US" sz="1125">
                <a:solidFill>
                  <a:srgbClr val="F0A93B"/>
                </a:solidFill>
                <a:latin typeface="Microsoft YaHei"/>
                <a:ea typeface="Microsoft YaHei"/>
              </a:rPr>
              <a:t> npm install</a:t>
            </a:r>
            <a:r>
              <a:rPr lang="zh-CN" sz="1125">
                <a:solidFill>
                  <a:srgbClr val="F0A93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F0A93B"/>
                </a:solidFill>
                <a:latin typeface="Microsoft YaHei"/>
                <a:ea typeface="Microsoft YaHei"/>
              </a:rPr>
              <a:t>RAG </a:t>
            </a:r>
            <a:r>
              <a:rPr lang="zh-CN" sz="1125">
                <a:solidFill>
                  <a:srgbClr val="F0A93B"/>
                </a:solidFill>
                <a:latin typeface="Microsoft YaHei"/>
                <a:ea typeface="Microsoft YaHei"/>
              </a:rPr>
              <a:t>会自建虚拟环境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571500" y="4267200"/>
            <a:ext cx="35433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检查命令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62000" y="48006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四条命令分别对应四个依赖，回车即可。输出与左图一致就说明环境没问题。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76200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7630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node --version / npm --version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324350" y="4267200"/>
            <a:ext cx="35433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514850" y="4457700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版本不达标怎么办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514850" y="48006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Node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用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nvm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切版本，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Python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用官网安装包；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uv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是可选项，不装也能跑（走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pip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51485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62915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先解决依赖，再看下一章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077200" y="4267200"/>
            <a:ext cx="3543300" cy="2019300"/>
          </a:xfrm>
          <a:prstGeom prst="roundRect">
            <a:avLst>
              <a:gd name="adj" fmla="val 5660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267700" y="4457700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Microsoft YaHei"/>
                <a:ea typeface="Microsoft YaHei"/>
              </a:rPr>
              <a:t>网络慢的时候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267700" y="4800600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RAG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引擎的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Python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依赖体积较大，国内网络可以先切到镜像源再启动，避免卡在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uv sync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826770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38200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UV_INDEX_URL=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清华镜像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05 / 31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95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0 章 · 三个服务、三个端口&lt;/Text&gt;&#10;            &lt;Text style={{ fontSize: 16, color: 'rgba(29,27,22,0.62)', marginTop: 6 }}&gt;启动之后你会同时跑起三个进程；诊断时真正必须活着的只有一个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记不住端口也没关系&lt;/Text&gt;&#10;        &lt;/Box&gt;&#10;    &lt;/Box&gt;&#10;    &lt;Box style={{ width: 1160, height: 540, flexDirection: 'column', gap: 16 }}&gt;&#10;        &lt;Box style={{ height: 330, justifyContent: 'center', alignItems: 'center' }}&gt;&#10;            &lt;Image src=&quot;assets/d_ports.png&quot; style={{ width: 1160, height: 330, borderRadius: 10, border: '1px solid rgba(29,27,22,0.10)' }} /&gt;&#10;        &lt;/Box&gt;&#10;        &lt;Box style={{ height: 100, flexDirection: 'row', gap: 18 }}&gt;&#10;            &lt;Box style={{ flex: 1, padding: 16, background: '#1D1B16', borderRadius: 10, flexDirection: 'row', alignItems: 'center', gap: 14 }}&gt;&#10;                &lt;Text style={{ fontSize: 30, fontWeight: 'bold', color: '#B8730F' }}&gt;3210&lt;/Text&gt;&#10;                &lt;Text style={{ fontSize: 16, color: '#EFE9DA', lineHeight: 1.5 }}&gt;后端 API 与实时推送&lt;br /&gt;浏览器里所有操作都落到这里&lt;/Text&gt;&#10;            &lt;/Box&gt;&#10;            &lt;Box style={{ flex: 1, padding: 16, background: '#1D1B16', borderRadius: 10, flexDirection: 'row', alignItems: 'center', gap: 14 }}&gt;&#10;                &lt;Text style={{ fontSize: 30, fontWeight: 'bold', color: '#B8730F' }}&gt;5180&lt;/Text&gt;&#10;                &lt;Text style={{ fontSize: 16, color: '#EFE9DA', lineHeight: 1.5 }}&gt;你唯一需要记的地址&lt;br /&gt;http://localhost:5180&lt;/Text&gt;&#10;            &lt;/Box&gt;&#10;            &lt;Box style={{ flex: 1, padding: 16, background: '#1D1B16', borderRadius: 10, flexDirection: 'row', alignItems: 'center', gap: 14 }}&gt;&#10;                &lt;Text style={{ fontSize: 30, fontWeight: 'bold', color: '#B8730F' }}&gt;8764&lt;/Text&gt;&#10;                &lt;Text style={{ fontSize: 16, color: '#EFE9DA', lineHeight: 1.5 }}&gt;RAG 检索增强&lt;br /&gt;挂了会自动降级，不会中断诊断&lt;/Text&gt;&#10;            &lt;/Box&gt;&#10;        &lt;/Box&gt;&#10;        &lt;Box style={{ height: 78, padding: 18, background: 'rgba(255,255,255,0.85)', borderRadius: 10, borderLeft: '4px solid #B8730F', justifyContent: 'center' }}&gt;&#10;            &lt;Text style={{ fontSize: 17, color: '#1D1B16', lineHeight: 1.6 }}&gt;启动服务不需要任何模型凭据；&lt;span style={{ fontWeight: 'bold', color: '#8A5608' }}&gt;真正跑诊断才需要&lt;/span&gt; —— 所选执行引擎的 CLI 必须已登录。&lt;/Text&gt;&#10;        &lt;/Box&gt;&#10;    &lt;/Box&gt;&#10;    &lt;Box style={{ width: 1160, height: 40, flexDirection: 'row', alignItems: 'center', justifyContent: 'space-between' }}&gt;&#10;        &lt;Text style={{ fontSize: 14, color: 'rgba(29,27,22,0.45)' }}&gt;Industrial Deep Diagnostic · 使用教程&lt;/Text&gt;&#10;        &lt;Text style={{ fontSize: 14, color: 'rgba(29,27,22,0.45)' }}&gt;06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4419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0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三个服务、三个端口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启动之后你会同时跑起三个进程；诊断时真正必须活着的只有一个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10029825" y="495300"/>
            <a:ext cx="1590675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0182225" y="5810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记不住端口也没关系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571500" y="1143000"/>
            <a:ext cx="11049000" cy="31432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02" name=""/>
          <p:cNvPicPr>
            <a:picLocks noChangeAspect="1"/>
          </p:cNvPicPr>
          <p:nvPr/>
        </p:nvPicPr>
        <p:blipFill>
          <a:blip r:embed="rId1"/>
          <a:srcRect l="25" t="0" r="25" b="0"/>
          <a:stretch>
            <a:fillRect/>
          </a:stretch>
        </p:blipFill>
        <p:spPr>
          <a:xfrm rot="0" flipH="0" flipV="0">
            <a:off x="571500" y="1143000"/>
            <a:ext cx="11049000" cy="3143250"/>
          </a:xfrm>
          <a:prstGeom prst="roundRect">
            <a:avLst>
              <a:gd name="adj" fmla="val 3030"/>
            </a:avLst>
          </a:prstGeom>
          <a:ln/>
        </p:spPr>
      </p:pic>
      <p:sp>
        <p:nvSpPr>
          <p:cNvPr id="603" name=""/>
          <p:cNvSpPr/>
          <p:nvPr/>
        </p:nvSpPr>
        <p:spPr>
          <a:xfrm rot="0" flipH="0" flipV="0">
            <a:off x="571500" y="4438650"/>
            <a:ext cx="3571875" cy="952500"/>
          </a:xfrm>
          <a:prstGeom prst="roundRect">
            <a:avLst>
              <a:gd name="adj" fmla="val 10000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23900" y="474345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8730F"/>
                </a:solidFill>
                <a:latin typeface="Microsoft YaHei"/>
                <a:ea typeface="Microsoft YaHei"/>
              </a:rPr>
              <a:t>3210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571625" y="4638675"/>
            <a:ext cx="19812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后端</a:t>
            </a:r>
            <a:r>
              <a:rPr lang="en-US" sz="1200">
                <a:solidFill>
                  <a:srgbClr val="EFE9DA"/>
                </a:solidFill>
                <a:latin typeface="Microsoft YaHei"/>
                <a:ea typeface="Microsoft YaHei"/>
              </a:rPr>
              <a:t> API </a:t>
            </a: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与实时推送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浏览器里所有操作都落到这里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314825" y="4438650"/>
            <a:ext cx="3562350" cy="952500"/>
          </a:xfrm>
          <a:prstGeom prst="roundRect">
            <a:avLst>
              <a:gd name="adj" fmla="val 10000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467225" y="474345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8730F"/>
                </a:solidFill>
                <a:latin typeface="Microsoft YaHei"/>
                <a:ea typeface="Microsoft YaHei"/>
              </a:rPr>
              <a:t>5180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314950" y="4638675"/>
            <a:ext cx="15240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你唯一需要记的地址</a:t>
            </a:r>
            <a:endParaRPr/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EFE9DA"/>
                </a:solidFill>
                <a:latin typeface="Microsoft YaHei"/>
                <a:ea typeface="Microsoft YaHei"/>
              </a:rPr>
              <a:t>http://localhost:5180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8048625" y="4438650"/>
            <a:ext cx="3571875" cy="952500"/>
          </a:xfrm>
          <a:prstGeom prst="roundRect">
            <a:avLst>
              <a:gd name="adj" fmla="val 10000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201025" y="474345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8730F"/>
                </a:solidFill>
                <a:latin typeface="Microsoft YaHei"/>
                <a:ea typeface="Microsoft YaHei"/>
              </a:rPr>
              <a:t>8764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048750" y="4638675"/>
            <a:ext cx="21336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FE9DA"/>
                </a:solidFill>
                <a:latin typeface="Microsoft YaHei"/>
                <a:ea typeface="Microsoft YaHei"/>
              </a:rPr>
              <a:t>RAG </a:t>
            </a: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检索增强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EFE9DA"/>
                </a:solidFill>
                <a:latin typeface="Microsoft YaHei"/>
                <a:ea typeface="Microsoft YaHei"/>
              </a:rPr>
              <a:t>挂了会自动降级，不会中断诊断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5543550"/>
            <a:ext cx="11049000" cy="742950"/>
          </a:xfrm>
          <a:prstGeom prst="roundRect">
            <a:avLst>
              <a:gd name="adj" fmla="val 12821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609600" y="5543550"/>
            <a:ext cx="11049000" cy="742950"/>
          </a:xfrm>
          <a:custGeom>
            <a:pathLst>
              <a:path w="1160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8730F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81050" y="5762625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启动服务不需要任何模型凭据；</a:t>
            </a:r>
            <a:r>
              <a:rPr lang="zh-CN" sz="1275" b="1">
                <a:solidFill>
                  <a:srgbClr val="8A5608"/>
                </a:solidFill>
                <a:latin typeface="Microsoft YaHei"/>
                <a:ea typeface="Microsoft YaHei"/>
              </a:rPr>
              <a:t>真正跑诊断才需要</a:t>
            </a:r>
            <a:r>
              <a:rPr lang="en-US" sz="1275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所选执行引擎的</a:t>
            </a:r>
            <a:r>
              <a:rPr lang="en-US" sz="1275">
                <a:solidFill>
                  <a:srgbClr val="1D1B16"/>
                </a:solidFill>
                <a:latin typeface="Microsoft YaHei"/>
                <a:ea typeface="Microsoft YaHei"/>
              </a:rPr>
              <a:t> CLI </a:t>
            </a: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必须已登录。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06 / 31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17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 章 · 三步起飞：克隆 → 启动 → 验证&lt;/Text&gt;&#10;            &lt;Text style={{ fontSize: 16, color: 'rgba(29,27,22,0.62)', marginTop: 6 }}&gt;两条命令装好，一条命令起飞；首次启动会自动补齐所有依赖&lt;/Text&gt;&#10;        &lt;/Box&gt;&#10;        &lt;Box style={{ flexDirection: 'row', alignItems: 'center', gap: 8, padding: '9px 16px', background: '#1D1B16', borderRadius: 8 }}&gt;&#10;            &lt;Text style={{ fontSize: 15, fontWeight: 'bold', color: '#B8730F' }}&gt;命令逐字可用&lt;/Text&gt;&#10;        &lt;/Box&gt;&#10;    &lt;/Box&gt;&#10;    &lt;Box style={{ width: 1160, height: 540, flexDirection: 'column', gap: 16 }}&gt;&#10;        &lt;Box style={{ height: 223, flexDirection: 'row', gap: 18 }}&gt;&#10;            &lt;Image src=&quot;assets/t_clone.png&quot; style={{ width: 830, height: 223, borderRadius: 10 }} /&gt;&#10;            &lt;Box style={{ width: 312, height: 223, padding: 18, background: '#FFFFFF', borderRadius: 12, border: '1px solid rgba(29,27,22,0.10)', flexDirection: 'column' }}&gt;&#10;                &lt;Text style={{ fontSize: 21, fontWeight: 'bold', color: '#1D1B16' }}&gt;① 克隆并安装&lt;/Text&gt;&#10;                &lt;Text style={{ fontSize: 17, color: 'rgba(29,27,22,0.72)', lineHeight: 1.6, marginTop: 10 }}&gt;git clone 拉下仓库，npm install 装根依赖，npm link 注册全局命令 ind-diag。&lt;/Text&gt;&#10;                &lt;Box style={{ marginTop: 'auto', padding: '9px 12px', background: 'rgba(228,220,203,0.75)', borderRadius: 7 }}&gt;&#10;                    &lt;Text style={{ fontSize: 15, color: 'rgba(29,27,22,0.80)' }}&gt;不想 link：node commands/cli.mjs&lt;/Text&gt;&#10;                &lt;/Box&gt;&#10;            &lt;/Box&gt;&#10;        &lt;/Box&gt;&#10;        &lt;Box style={{ height: 223, flexDirection: 'row', gap: 18 }}&gt;&#10;            &lt;Image src=&quot;assets/t_start.png&quot; style={{ width: 830, height: 223, borderRadius: 10 }} /&gt;&#10;            &lt;Box style={{ width: 312, height: 223, padding: 18, background: 'rgba(184,115,15,0.10)', borderRadius: 12, border: '1px solid rgba(184,115,15,0.40)', flexDirection: 'column' }}&gt;&#10;                &lt;Text style={{ fontSize: 21, fontWeight: 'bold', color: '#8A5608' }}&gt;② 一键启动全部服务&lt;/Text&gt;&#10;                &lt;Text style={{ fontSize: 17, color: 'rgba(29,27,22,0.78)', lineHeight: 1.6, marginTop: 10 }}&gt;--all 拉起后端、前端、RAG 三个服务；--detach 让它后台常驻并立刻返回。&lt;/Text&gt;&#10;                &lt;Box style={{ marginTop: 'auto', padding: '9px 12px', background: 'rgba(184,115,15,0.20)', borderRadius: 7 }}&gt;&#10;                    &lt;Text style={{ fontSize: 15, color: '#8A5608' }}&gt;必须带 --detach&lt;/Text&gt;&#10;                &lt;/Box&gt;&#10;            &lt;/Box&gt;&#10;        &lt;/Box&gt;&#10;        &lt;Box style={{ height: 62, padding: 16, background: '#1D1B16', borderRadius: 10, flexDirection: 'row', alignItems: 'center', gap: 16, justifyContent: 'center' }}&gt;&#10;            &lt;Text style={{ fontSize: 18, fontWeight: 'bold', color: '#F0A93B' }}&gt;不加 --detach 会怎样？&lt;/Text&gt;&#10;            &lt;Text style={{ fontSize: 17, color: 'rgba(247,244,236,0.82)' }}&gt;前台模式会一直阻塞，120 秒后打印 FATAL: Service manager timeout —— 服务其实已经起来了，只是命令不返回，很容易被误判为失败。&lt;/Text&gt;&#10;        &lt;/Box&gt;&#10;    &lt;/Box&gt;&#10;    &lt;Box style={{ width: 1160, height: 40, flexDirection: 'row', alignItems: 'center', justifyContent: 'space-between' }}&gt;&#10;        &lt;Text style={{ fontSize: 14, color: 'rgba(29,27,22,0.45)' }}&gt;Industrial Deep Diagnostic · 使用教程&lt;/Text&gt;&#10;        &lt;Text style={{ fontSize: 14, color: 'rgba(29,27,22,0.45)' }}&gt;0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721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三步起飞：克隆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→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启动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→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7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两条命令装好，一条命令起飞；首次启动会自动补齐所有依赖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10458450" y="4953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0610850" y="58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命令逐字可用</a:t>
            </a:r>
            <a:endParaRPr/>
          </a:p>
        </p:txBody>
      </p:sp>
      <p:pic>
        <p:nvPicPr>
          <p:cNvPr id="623" name=""/>
          <p:cNvPicPr>
            <a:picLocks noChangeAspect="1"/>
          </p:cNvPicPr>
          <p:nvPr/>
        </p:nvPicPr>
        <p:blipFill>
          <a:blip r:embed="rId1"/>
          <a:srcRect l="0" t="44" r="0" b="44"/>
          <a:stretch>
            <a:fillRect/>
          </a:stretch>
        </p:blipFill>
        <p:spPr>
          <a:xfrm rot="0" flipH="0" flipV="0">
            <a:off x="571500" y="1143000"/>
            <a:ext cx="7905750" cy="2124075"/>
          </a:xfrm>
          <a:prstGeom prst="roundRect">
            <a:avLst>
              <a:gd name="adj" fmla="val 4484"/>
            </a:avLst>
          </a:prstGeom>
          <a:ln/>
        </p:spPr>
      </p:pic>
      <p:sp>
        <p:nvSpPr>
          <p:cNvPr id="624" name=""/>
          <p:cNvSpPr/>
          <p:nvPr/>
        </p:nvSpPr>
        <p:spPr>
          <a:xfrm rot="0" flipH="0" flipV="0">
            <a:off x="8648700" y="1143000"/>
            <a:ext cx="2971800" cy="2124075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820150" y="1314450"/>
            <a:ext cx="262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克隆并安装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8820150" y="1657350"/>
            <a:ext cx="2628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git clone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拉下仓库，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npm install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装根依赖，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npm link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注册全局命令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ind-diag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8820150" y="2752725"/>
            <a:ext cx="26289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934450" y="2838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不想</a:t>
            </a:r>
            <a:r>
              <a:rPr lang="en-US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link</a:t>
            </a: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node commands/cli.mjs</a:t>
            </a:r>
            <a:endParaRPr/>
          </a:p>
        </p:txBody>
      </p:sp>
      <p:pic>
        <p:nvPicPr>
          <p:cNvPr id="629" name=""/>
          <p:cNvPicPr>
            <a:picLocks noChangeAspect="1"/>
          </p:cNvPicPr>
          <p:nvPr/>
        </p:nvPicPr>
        <p:blipFill>
          <a:blip r:embed="rId2"/>
          <a:srcRect l="0" t="44" r="0" b="44"/>
          <a:stretch>
            <a:fillRect/>
          </a:stretch>
        </p:blipFill>
        <p:spPr>
          <a:xfrm rot="0" flipH="0" flipV="0">
            <a:off x="571500" y="3419475"/>
            <a:ext cx="7905750" cy="2124075"/>
          </a:xfrm>
          <a:prstGeom prst="roundRect">
            <a:avLst>
              <a:gd name="adj" fmla="val 4484"/>
            </a:avLst>
          </a:prstGeom>
          <a:ln/>
        </p:spPr>
      </p:pic>
      <p:sp>
        <p:nvSpPr>
          <p:cNvPr id="630" name=""/>
          <p:cNvSpPr/>
          <p:nvPr/>
        </p:nvSpPr>
        <p:spPr>
          <a:xfrm rot="0" flipH="0" flipV="0">
            <a:off x="8648700" y="3419475"/>
            <a:ext cx="2971800" cy="2124075"/>
          </a:xfrm>
          <a:prstGeom prst="roundRect">
            <a:avLst>
              <a:gd name="adj" fmla="val 5381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820150" y="3590925"/>
            <a:ext cx="262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8A5608"/>
                </a:solidFill>
                <a:latin typeface="Microsoft YaHei"/>
                <a:ea typeface="Microsoft YaHei"/>
              </a:rPr>
              <a:t>一键启动全部服务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820150" y="3933825"/>
            <a:ext cx="2628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--all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拉起后端、前端、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RAG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三个服务；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--detach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让它后台常驻并立刻返回。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8820150" y="5029200"/>
            <a:ext cx="2628900" cy="342900"/>
          </a:xfrm>
          <a:prstGeom prst="roundRect">
            <a:avLst>
              <a:gd name="adj" fmla="val 19444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934450" y="511492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必须带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--detach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23900" y="5886450"/>
            <a:ext cx="164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不加</a:t>
            </a:r>
            <a:r>
              <a:rPr lang="en-US" sz="1350" b="1">
                <a:solidFill>
                  <a:srgbClr val="F0A93B"/>
                </a:solidFill>
                <a:latin typeface="Microsoft YaHei"/>
                <a:ea typeface="Microsoft YaHei"/>
              </a:rPr>
              <a:t> --detach </a:t>
            </a:r>
            <a:r>
              <a:rPr lang="zh-CN" sz="1350" b="1">
                <a:solidFill>
                  <a:srgbClr val="F0A93B"/>
                </a:solidFill>
                <a:latin typeface="Microsoft YaHei"/>
                <a:ea typeface="Microsoft YaHei"/>
              </a:rPr>
              <a:t>会怎样？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2524125" y="5895975"/>
            <a:ext cx="8943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前台模式会一直阻塞，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120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秒后打印</a:t>
            </a:r>
            <a:r>
              <a:rPr lang="en-US" sz="1275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 FATAL: Service manager timeout —— </a:t>
            </a:r>
            <a:r>
              <a:rPr lang="zh-CN" sz="1275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服务其实已经起来了，只是命令不返回，很容易被误判为失败。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07 / 31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40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 章 · 验证：三个服务是否真的活着&lt;/Text&gt;&#10;            &lt;Text style={{ fontSize: 16, color: 'rgba(29,27,22,0.62)', marginTop: 6 }}&gt;看一眼状态表，再打两个健康检查接口 —— 别急着开浏览器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本机真实输出&lt;/Text&gt;&#10;        &lt;/Box&gt;&#10;    &lt;/Box&gt;&#10;    &lt;Box style={{ width: 1160, height: 540, flexDirection: 'column', gap: 16 }}&gt;&#10;        &lt;Box style={{ height: 363, justifyContent: 'center', alignItems: 'center' }}&gt;&#10;            &lt;Image src=&quot;assets/t_status.png&quot; style={{ width: 1160, height: 363, borderRadius: 10 }} /&gt;&#10;        &lt;/Box&gt;&#10;        &lt;Box style={{ height: 161, flexDirection: 'row', gap: 18 }}&gt;&#10;            &lt;Image src=&quot;assets/t_health.png&quot; style={{ width: 716, height: 161, borderRadius: 10 }} /&gt;&#10;            &lt;Box style={{ width: 426, height: 161, padding: 18, background: '#FFFFFF', borderRadius: 12, border: '1px solid rgba(29,27,22,0.10)', flexDirection: 'column' }}&gt;&#10;                &lt;Text style={{ fontSize: 21, fontWeight: 'bold', color: '#1D1B16' }}&gt;三行全绿才算启动成功&lt;/Text&gt;&#10;                &lt;Text style={{ fontSize: 17, color: 'rgba(29,27,22,0.72)', lineHeight: 1.6, marginTop: 10 }}&gt;状态表三行都是 ● running / healthy；再确认后端返回 status ok、RAG 返回 kb_ready true。&lt;/Text&gt;&#10;                &lt;Box style={{ marginTop: 'auto', padding: '9px 12px', background: 'rgba(228,220,203,0.75)', borderRadius: 7 }}&gt;&#10;                    &lt;Text style={{ fontSize: 15, color: 'rgba(29,27,22,0.80)' }}&gt;现在可以打开 http://localhost:5180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日志在 .runtime/backend.log · frontend.log · rag.log&lt;/Text&gt;&#10;        &lt;Text style={{ fontSize: 14, color: 'rgba(29,27,22,0.45)' }}&gt;0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5911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验证：三个服务是否真的活着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59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看一眼状态表，再打两个健康检查接口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别急着开浏览器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10458450" y="4953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0610850" y="58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本机真实输出</a:t>
            </a:r>
            <a:endParaRPr/>
          </a:p>
        </p:txBody>
      </p:sp>
      <p:pic>
        <p:nvPicPr>
          <p:cNvPr id="646" name=""/>
          <p:cNvPicPr>
            <a:picLocks noChangeAspect="1"/>
          </p:cNvPicPr>
          <p:nvPr/>
        </p:nvPicPr>
        <p:blipFill>
          <a:blip r:embed="rId1"/>
          <a:srcRect l="68" t="0" r="68" b="0"/>
          <a:stretch>
            <a:fillRect/>
          </a:stretch>
        </p:blipFill>
        <p:spPr>
          <a:xfrm rot="0" flipH="0" flipV="0">
            <a:off x="571500" y="1143000"/>
            <a:ext cx="11049000" cy="3457575"/>
          </a:xfrm>
          <a:prstGeom prst="roundRect">
            <a:avLst>
              <a:gd name="adj" fmla="val 2755"/>
            </a:avLst>
          </a:prstGeom>
          <a:ln/>
        </p:spPr>
      </p:pic>
      <p:pic>
        <p:nvPicPr>
          <p:cNvPr id="647" name=""/>
          <p:cNvPicPr>
            <a:picLocks noChangeAspect="1"/>
          </p:cNvPicPr>
          <p:nvPr/>
        </p:nvPicPr>
        <p:blipFill>
          <a:blip r:embed="rId2"/>
          <a:srcRect l="78" t="0" r="78" b="0"/>
          <a:stretch>
            <a:fillRect/>
          </a:stretch>
        </p:blipFill>
        <p:spPr>
          <a:xfrm rot="0" flipH="0" flipV="0">
            <a:off x="571500" y="4752975"/>
            <a:ext cx="6819900" cy="1533525"/>
          </a:xfrm>
          <a:prstGeom prst="roundRect">
            <a:avLst>
              <a:gd name="adj" fmla="val 6211"/>
            </a:avLst>
          </a:prstGeom>
          <a:ln/>
        </p:spPr>
      </p:pic>
      <p:sp>
        <p:nvSpPr>
          <p:cNvPr id="648" name=""/>
          <p:cNvSpPr/>
          <p:nvPr/>
        </p:nvSpPr>
        <p:spPr>
          <a:xfrm rot="0" flipH="0" flipV="0">
            <a:off x="7562850" y="4752975"/>
            <a:ext cx="405765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734300" y="4924425"/>
            <a:ext cx="3714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三行全绿才算启动成功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734300" y="5267325"/>
            <a:ext cx="37147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状态表三行都是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● running / healthy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；再确认后端返回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status ok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RAG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返回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kb_ready true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7734300" y="5772150"/>
            <a:ext cx="371475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848600" y="5857875"/>
            <a:ext cx="3486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现在可以打开</a:t>
            </a:r>
            <a:r>
              <a:rPr lang="en-US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http://localhost:5180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日志在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.runtime/backend.log · frontend.log · rag.log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08 / 31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55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 章 · 引擎预检：选谁来干活&lt;/Text&gt;&#10;            &lt;Text style={{ fontSize: 16, color: 'rgba(29,27,22,0.62)', marginTop: 6 }}&gt;14 个引擎里，本机装好哪个就用哪个；未安装的会被前端灰显为「离线」&lt;/Text&gt;&#10;        &lt;/Box&gt;&#10;        &lt;Box style={{ flexDirection: 'row', alignItems: 'center', gap: 8, padding: '9px 16px', background: '#1D1B16', borderRadius: 8 }}&gt;&#10;            &lt;Text style={{ fontSize: 15, fontWeight: 'bold', color: '#B8730F' }}&gt;OMP Engine 为本机默认&lt;/Text&gt;&#10;        &lt;/Box&gt;&#10;    &lt;/Box&gt;&#10;    &lt;Box style={{ width: 1160, height: 540, flexDirection: 'column', gap: 16 }}&gt;&#10;        &lt;Box style={{ height: 261, justifyContent: 'center', alignItems: 'center' }}&gt;&#10;            &lt;Image src=&quot;assets/t_engine.png&quot; style={{ width: 1160, height: 261, borderRadius: 10 }} /&gt;&#10;        &lt;/Box&gt;&#10;        &lt;Box style={{ height: 263, flexDirection: 'row', gap: 22 }}&gt;&#10;            &lt;Box style={{ width: 372, height: 263, padding: 20, background: '#FFFFFF', borderRadius: 12, border: '1px solid rgba(29,27,22,0.10)', flexDirection: 'column' }}&gt;&#10;                &lt;Box style={{ flexDirection: 'row', alignItems: 'center', gap: 10 }}&gt;&#10;                    &lt;Box style={{ width: 12, height: 12, borderRadius: 6, background: '#3E8E63' }} /&gt;&#10;                    &lt;Text style={{ fontSize: 21, fontWeight: 'bold', color: '#1D1B16' }}&gt;已就绪&lt;/Text&gt;&#10;                &lt;/Box&gt;&#10;                &lt;Text style={{ fontSize: 17, color: 'rgba(29,27,22,0.72)', lineHeight: 1.62, marginTop: 12 }}&gt;CLI 已安装且已登录。选中它就能跑真实诊断：OMP Engine、Claude Code、Mock Engine 在本机均可用。&lt;/Text&gt;&#10;                &lt;Box style={{ marginTop: 'auto', padding: '9px 12px', background: 'rgba(62,142,99,0.12)', borderRadius: 7 }}&gt;&#10;                    &lt;Text style={{ fontSize: 15, color: '#2F6F4C' }}&gt;可直接发起诊断&lt;/Text&gt;&#10;                &lt;/Box&gt;&#10;            &lt;/Box&gt;&#10;            &lt;Box style={{ width: 372, height: 263, padding: 20, background: '#FFFFFF', borderRadius: 12, border: '1px solid rgba(29,27,22,0.10)', flexDirection: 'column' }}&gt;&#10;                &lt;Box style={{ flexDirection: 'row', alignItems: 'center', gap: 10 }}&gt;&#10;                    &lt;Box style={{ width: 12, height: 12, borderRadius: 6, background: '#A8442A' }} /&gt;&#10;                    &lt;Text style={{ fontSize: 21, fontWeight: 'bold', color: '#1D1B16' }}&gt;未安装&lt;/Text&gt;&#10;                &lt;/Box&gt;&#10;                &lt;Text style={{ fontSize: 17, color: 'rgba(29,27,22,0.72)', lineHeight: 1.62, marginTop: 12 }}&gt;前端列表里是灰色并标注「离线」。强行通过接口调用不会跑起来，而是返回 409 HARNESS_UNAVAILABLE。&lt;/Text&gt;&#10;                &lt;Box style={{ marginTop: 'auto', padding: '9px 12px', background: 'rgba(168,68,42,0.10)', borderRadius: 7 }}&gt;&#10;                    &lt;Text style={{ fontSize: 15, color: '#A8442A' }}&gt;409 而不是 500，预检生效&lt;/Text&gt;&#10;                &lt;/Box&gt;&#10;            &lt;/Box&gt;&#10;            &lt;Box style={{ width: 372, height: 263, padding: 20, background: '#FFFFFF', borderRadius: 12, border: '1px solid rgba(29,27,22,0.10)', flexDirection: 'column' }}&gt;&#10;                &lt;Box style={{ flexDirection: 'row', alignItems: 'center', gap: 10 }}&gt;&#10;                    &lt;Box style={{ width: 12, height: 12, borderRadius: 6, background: '#B8730F' }} /&gt;&#10;                    &lt;Text style={{ fontSize: 21, fontWeight: 'bold', color: '#1D1B16' }}&gt;Mock 引擎&lt;/Text&gt;&#10;                &lt;/Box&gt;&#10;                &lt;Text style={{ fontSize: 17, color: 'rgba(29,27,22,0.72)', lineHeight: 1.62, marginTop: 12 }}&gt;进程内脚本引擎，零成本、秒级完成，适合第一次演练流程、验证上传与报告链路，以及 CI 冒烟测试。&lt;/Text&gt;&#10;                &lt;Box style={{ marginTop: 'auto', padding: '9px 12px', background: 'rgba(184,115,15,0.12)', borderRadius: 7 }}&gt;&#10;                    &lt;Text style={{ fontSize: 15, color: '#8A5608' }}&gt;新手先拿它走一遍全流程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启动服务不需要模型凭据，跑诊断才需要&lt;/Text&gt;&#10;        &lt;Text style={{ fontSize: 14, color: 'rgba(29,27,22,0.45)' }}&gt;0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49530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引擎预检：选谁来干活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14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个引擎里，本机装好哪个就用哪个；未安装的会被前端灰显为「离线」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9667875" y="495300"/>
            <a:ext cx="195262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820275" y="581025"/>
            <a:ext cx="164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OMP Engine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为本机默认</a:t>
            </a:r>
            <a:endParaRPr/>
          </a:p>
        </p:txBody>
      </p:sp>
      <p:pic>
        <p:nvPicPr>
          <p:cNvPr id="661" name=""/>
          <p:cNvPicPr>
            <a:picLocks noChangeAspect="1"/>
          </p:cNvPicPr>
          <p:nvPr/>
        </p:nvPicPr>
        <p:blipFill>
          <a:blip r:embed="rId1"/>
          <a:srcRect l="109" t="0" r="109" b="0"/>
          <a:stretch>
            <a:fillRect/>
          </a:stretch>
        </p:blipFill>
        <p:spPr>
          <a:xfrm rot="0" flipH="0" flipV="0">
            <a:off x="571500" y="1143000"/>
            <a:ext cx="11049000" cy="2486025"/>
          </a:xfrm>
          <a:prstGeom prst="roundRect">
            <a:avLst>
              <a:gd name="adj" fmla="val 3831"/>
            </a:avLst>
          </a:prstGeom>
          <a:ln/>
        </p:spPr>
      </p:pic>
      <p:sp>
        <p:nvSpPr>
          <p:cNvPr id="662" name=""/>
          <p:cNvSpPr/>
          <p:nvPr/>
        </p:nvSpPr>
        <p:spPr>
          <a:xfrm rot="0" flipH="0" flipV="0">
            <a:off x="571500" y="3781425"/>
            <a:ext cx="3543300" cy="2505075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762000" y="4038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E8E63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71550" y="397192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已就绪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762000" y="433387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CLI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已安装且已登录。选中它就能跑真实诊断：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OMP Engine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Claude Code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Mock Engine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在本机均可用。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76200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3E8E63">
              <a:alpha val="12000"/>
            </a:srgbClr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7630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6F4C"/>
                </a:solidFill>
                <a:latin typeface="Microsoft YaHei"/>
                <a:ea typeface="Microsoft YaHei"/>
              </a:rPr>
              <a:t>可直接发起诊断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4324350" y="3781425"/>
            <a:ext cx="3543300" cy="2505075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9" name=""/>
          <p:cNvSpPr/>
          <p:nvPr/>
        </p:nvSpPr>
        <p:spPr>
          <a:xfrm rot="0" flipH="0" flipV="0">
            <a:off x="4514850" y="4038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8442A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724400" y="397192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未安装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514850" y="433387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前端列表里是灰色并标注「离线」。强行通过接口调用不会跑起来，而是返回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409 HARNESS_UNAVAILABLE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451485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A8442A">
              <a:alpha val="10000"/>
            </a:srgbClr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62915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442A"/>
                </a:solidFill>
                <a:latin typeface="Microsoft YaHei"/>
                <a:ea typeface="Microsoft YaHei"/>
              </a:rPr>
              <a:t>409 </a:t>
            </a:r>
            <a:r>
              <a:rPr lang="zh-CN" sz="1125">
                <a:solidFill>
                  <a:srgbClr val="A8442A"/>
                </a:solidFill>
                <a:latin typeface="Microsoft YaHei"/>
                <a:ea typeface="Microsoft YaHei"/>
              </a:rPr>
              <a:t>而不是</a:t>
            </a:r>
            <a:r>
              <a:rPr lang="en-US" sz="1125">
                <a:solidFill>
                  <a:srgbClr val="A8442A"/>
                </a:solidFill>
                <a:latin typeface="Microsoft YaHei"/>
                <a:ea typeface="Microsoft YaHei"/>
              </a:rPr>
              <a:t> 500</a:t>
            </a:r>
            <a:r>
              <a:rPr lang="zh-CN" sz="1125">
                <a:solidFill>
                  <a:srgbClr val="A8442A"/>
                </a:solidFill>
                <a:latin typeface="Microsoft YaHei"/>
                <a:ea typeface="Microsoft YaHei"/>
              </a:rPr>
              <a:t>，预检生效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8077200" y="3781425"/>
            <a:ext cx="3543300" cy="2505075"/>
          </a:xfrm>
          <a:prstGeom prst="roundRect">
            <a:avLst>
              <a:gd name="adj" fmla="val 456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8267700" y="4038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477250" y="3971925"/>
            <a:ext cx="102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Mock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67700" y="433387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进程内脚本引擎，零成本、秒级完成，适合第一次演练流程、验证上传与报告链路，以及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CI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冒烟测试。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267700" y="5753100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B8730F">
              <a:alpha val="12000"/>
            </a:srgbClr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382000" y="58388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新手先拿它走一遍全流程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启动服务不需要模型凭据，跑诊断才需要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09 / 31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padding: 0, background: '#F7F4EC', position: 'relative', overflow: 'hidden' }}&gt;&#10;    &lt;Box style={{ position: 'absolute', right: 0, top: 0, width: 470, height: 720, background: '#1D1B16' }} /&gt;&#10;    &lt;Box style={{ position: 'absolute', right: 470, top: 0, width: 5, height: 720, background: '#B8730F' }} /&gt;&#10;    &lt;Box style={{ flexDirection: 'row', width: 1280, height: 720 }}&gt;&#10;        &lt;Box style={{ width: 810, height: 720, padding: '0 0 0 76px', flexDirection: 'column', justifyContent: 'center' }}&gt;&#10;            &lt;Text style={{ fontSize: 14, color: '#B8730F', letterSpacing: 5, fontWeight: 'bold' }}&gt;ACT THREE&lt;/Text&gt;&#10;            &lt;Text style={{ fontSize: 60, fontWeight: 'bold', color: '#1D1B16', lineHeight: 1.12, marginTop: 20 }}&gt;上机操作&lt;br /&gt;从登录到跑起来&lt;/Text&gt;&#10;            &lt;Box style={{ width: 120, height: 5, background: '#B8730F', marginTop: 28 }} /&gt;&#10;            &lt;Text style={{ fontSize: 19, color: 'rgba(29,27,22,0.76)', lineHeight: 1.72, marginTop: 28, width: 660 }}&gt;八页，每一页一张真实界面截图，编号与引线直接指到你要点的那个控件。照着顺序点一遍，你就完成了一次真实的工业诊断。&lt;/Text&gt;&#10;            &lt;Text style={{ fontSize: 17, color: 'rgba(29,27,22,0.56)', lineHeight: 1.7, marginTop: 18, width: 660 }}&gt;登录注册 → 认识导航 → 切换引擎 → 数据工作台 → 选中数据 → 配置诊断 → 任务列表 → 实时监控&lt;/Text&gt;&#10;            &lt;Box style={{ flexDirection: 'row', gap: 10, marginTop: 34 }}&gt;&#10;                &lt;Box style={{ padding: '8px 16px', border: '1px solid rgba(29,27,22,0.22)', borderRadius: 20 }}&gt;&#10;                    &lt;Text style={{ fontSize: 15, color: 'rgba(29,27,22,0.70)' }}&gt;第 11 页起&lt;/Text&gt;&#10;                &lt;/Box&gt;&#10;                &lt;Box style={{ padding: '8px 16px', border: '1px solid rgba(29,27,22,0.22)', borderRadius: 20 }}&gt;&#10;                    &lt;Text style={{ fontSize: 15, color: 'rgba(29,27,22,0.70)' }}&gt;共 8 页&lt;/Text&gt;&#10;                &lt;/Box&gt;&#10;            &lt;/Box&gt;&#10;        &lt;/Box&gt;&#10;        &lt;Box style={{ width: 470, height: 720, justifyContent: 'center', alignItems: 'center', flexDirection: 'column' }}&gt;&#10;            &lt;Text style={{ fontSize: 172, fontWeight: 'bold', color: '#B8730F', lineHeight: 1 }}&gt;03&lt;/Text&gt;&#10;            &lt;Text style={{ fontSize: 20, color: 'rgba(247,244,236,0.62)', letterSpacing: 3, marginTop: 12 }}&gt;USE IT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23900" y="1076325"/>
            <a:ext cx="699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Microsoft YaHei"/>
                <a:ea typeface="Microsoft YaHei"/>
              </a:rPr>
              <a:t>ACT THREE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23900" y="1428750"/>
            <a:ext cx="6991350" cy="154305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4500" b="1">
                <a:solidFill>
                  <a:srgbClr val="1D1B16"/>
                </a:solidFill>
                <a:latin typeface="Microsoft YaHei"/>
                <a:ea typeface="Microsoft YaHei"/>
              </a:rPr>
              <a:t>上机操作</a:t>
            </a:r>
            <a:endParaRPr/>
          </a:p>
          <a:p>
            <a:pPr>
              <a:lnSpc>
                <a:spcPct val="112000"/>
              </a:lnSpc>
            </a:pPr>
            <a:r>
              <a:rPr lang="zh-CN" sz="4500" b="1">
                <a:solidFill>
                  <a:srgbClr val="1D1B16"/>
                </a:solidFill>
                <a:latin typeface="Microsoft YaHei"/>
                <a:ea typeface="Microsoft YaHei"/>
              </a:rPr>
              <a:t>从登录到跑起来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23900" y="3238500"/>
            <a:ext cx="1143000" cy="47625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3900" y="3552825"/>
            <a:ext cx="6286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425">
                <a:solidFill>
                  <a:srgbClr val="1D1B16">
                    <a:alpha val="76000"/>
                  </a:srgbClr>
                </a:solidFill>
                <a:latin typeface="Microsoft YaHei"/>
                <a:ea typeface="Microsoft YaHei"/>
              </a:rPr>
              <a:t>八页，每一页一张真实界面截图，编号与引线直接指到你要点的那个控件。照着顺序点一遍，你就完成了一次真实的工业诊断。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3900" y="4476750"/>
            <a:ext cx="6286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登录注册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认识导航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切换引擎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数据工作台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选中数据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配置诊断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任务列表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实时监控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23900" y="5467350"/>
            <a:ext cx="990600" cy="323850"/>
          </a:xfrm>
          <a:prstGeom prst="roundRect">
            <a:avLst>
              <a:gd name="adj" fmla="val 58824"/>
            </a:avLst>
          </a:prstGeom>
          <a:ln w="12700">
            <a:solidFill>
              <a:srgbClr val="1D1B1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6300" y="55435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11 </a:t>
            </a: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页起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809750" y="5467350"/>
            <a:ext cx="762000" cy="323850"/>
          </a:xfrm>
          <a:prstGeom prst="roundRect">
            <a:avLst>
              <a:gd name="adj" fmla="val 58824"/>
            </a:avLst>
          </a:prstGeom>
          <a:ln w="12700">
            <a:solidFill>
              <a:srgbClr val="1D1B1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962150" y="5543550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943975" y="2276475"/>
            <a:ext cx="2028825" cy="1971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900" b="1">
                <a:solidFill>
                  <a:srgbClr val="B8730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582150" y="4362450"/>
            <a:ext cx="75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USE IT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715250" y="0"/>
            <a:ext cx="4476750" cy="6858000"/>
          </a:xfrm>
          <a:prstGeom prst="rect">
            <a:avLst/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7667625" y="0"/>
            <a:ext cx="47625" cy="6858000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2 章 · 进门：登录注册与整张地图&lt;/Text&gt;&#13;&#10;            &lt;Text style={{ fontSize: 16, color: 'rgba(29,27,22,0.62)', marginTop: 6 }}&gt;浏览器打开 http://localhost:5180 就是这一页；左边那一条，是你之后所有操作的总入口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真实界面截图&lt;/Text&gt;&#13;&#10;        &lt;/Box&gt;&#13;&#10;    &lt;/Box&gt;&#13;&#10;    &lt;Box style={{ width: 1160, height: 540, flexDirection: 'column', gap: 12 }}&gt;&#13;&#10;        &lt;Box style={{ height: 376, flexDirection: 'row', gap: 22, justifyContent: 'center' }}&gt;&#13;&#10;            &lt;Image src=&quot;assets/01_auth.png&quot; style={{ width: 526, height: 376, borderRadius: 10, border: '1px solid rgba(29,27,22,0.10)' }} /&gt;&#13;&#10;            &lt;Image src=&quot;assets/02_rail.png&quot; style={{ width: 212, height: 376, borderRadius: 10, border: '1px solid rgba(29,27,22,0.10)' }} /&gt;&#13;&#10;        &lt;/Box&gt;&#13;&#10;        &lt;Box style={{ height: 152, flexDirection: 'row', gap: 18 }}&gt;&#13;&#10;            &lt;Box style={{ flex: 1, padding: 16, background: '#FFFFFF', borderRadius: 10, border: '1px solid rgba(29,27,22,0.10)' }}&gt;&#13;&#10;                &lt;Text style={{ fontSize: 18, fontWeight: 'bold', color: '#1D1B16' }}&gt;① 第一次用先注册&lt;/Text&gt;&#13;&#10;                &lt;Text style={{ fontSize: 16, color: 'rgba(29,27,22,0.72)', lineHeight: 1.55, marginTop: 8 }}&gt;用户名 3–32 位字母/数字；密码至少 8 位且含字母与数字。首个注册用户自动获得管理员权限。&lt;/Text&gt;&#13;&#10;            &lt;/Box&gt;&#13;&#10;            &lt;Box style={{ flex: 1, padding: 16, background: '#FFFFFF', borderRadius: 10, border: '1px solid rgba(29,27,22,0.10)' }}&gt;&#13;&#10;                &lt;Text style={{ fontSize: 18, fontWeight: 'bold', color: '#1D1B16' }}&gt;② 左侧七项，按顺序用&lt;/Text&gt;&#13;&#10;                &lt;Text style={{ fontSize: 16, color: 'rgba(29,27,22,0.72)', lineHeight: 1.55, marginTop: 8 }}&gt;日常主线只有三个：数据（传文件）→ 诊断（发起与监控）→ 报告（读结论）。其余是进阶能力。&lt;/Text&gt;&#13;&#10;            &lt;/Box&gt;&#13;&#10;            &lt;Box style={{ flex: 1, padding: 16, background: 'rgba(184,115,15,0.10)', borderRadius: 10, border: '1px solid rgba(184,115,15,0.40)' }}&gt;&#13;&#10;                &lt;Text style={{ fontSize: 18, fontWeight: 'bold', color: '#8A5608' }}&gt;③ 左下角是引擎开关&lt;/Text&gt;&#13;&#10;                &lt;Text style={{ fontSize: 16, color: 'rgba(29,27,22,0.78)', lineHeight: 1.55, marginTop: 8 }}&gt;引擎决定「谁来跑诊断」，随时可换；右下角能看实时连接状态，掉线会立刻变色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登录状态由 24 小时会话保持&lt;/Text&gt;&#13;&#10;        &lt;Text style={{ fontSize: 14, color: 'rgba(29,27,22,0.45)' }}&gt;11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0388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2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进门：登录注册与整张地图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浏览器打开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http://localhost:5180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就是这一页；左边那一条，是你之后所有操作的总入口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10458450" y="4953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610850" y="58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真实界面截图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2476500" y="1143000"/>
            <a:ext cx="5010150" cy="35814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5" name=""/>
          <p:cNvPicPr>
            <a:picLocks noChangeAspect="1"/>
          </p:cNvPicPr>
          <p:nvPr/>
        </p:nvPicPr>
        <p:blipFill>
          <a:blip r:embed="rId1"/>
          <a:srcRect l="37" t="0" r="37" b="0"/>
          <a:stretch>
            <a:fillRect/>
          </a:stretch>
        </p:blipFill>
        <p:spPr>
          <a:xfrm rot="0" flipH="0" flipV="0">
            <a:off x="2476500" y="1143000"/>
            <a:ext cx="5010150" cy="3581400"/>
          </a:xfrm>
          <a:prstGeom prst="roundRect">
            <a:avLst>
              <a:gd name="adj" fmla="val 2660"/>
            </a:avLst>
          </a:prstGeom>
          <a:ln/>
        </p:spPr>
      </p:pic>
      <p:sp>
        <p:nvSpPr>
          <p:cNvPr id="46" name=""/>
          <p:cNvSpPr/>
          <p:nvPr/>
        </p:nvSpPr>
        <p:spPr>
          <a:xfrm rot="0" flipH="0" flipV="0">
            <a:off x="7696200" y="1143000"/>
            <a:ext cx="2019300" cy="35814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 r:embed="rId2"/>
          <a:srcRect l="0" t="17" r="0" b="17"/>
          <a:stretch>
            <a:fillRect/>
          </a:stretch>
        </p:blipFill>
        <p:spPr>
          <a:xfrm rot="0" flipH="0" flipV="0">
            <a:off x="7696200" y="1143000"/>
            <a:ext cx="2019300" cy="3581400"/>
          </a:xfrm>
          <a:prstGeom prst="roundRect">
            <a:avLst>
              <a:gd name="adj" fmla="val 4717"/>
            </a:avLst>
          </a:prstGeom>
          <a:ln/>
        </p:spPr>
      </p:pic>
      <p:sp>
        <p:nvSpPr>
          <p:cNvPr id="48" name=""/>
          <p:cNvSpPr/>
          <p:nvPr/>
        </p:nvSpPr>
        <p:spPr>
          <a:xfrm rot="0" flipH="0" flipV="0">
            <a:off x="571500" y="4838700"/>
            <a:ext cx="3571875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23900" y="4991100"/>
            <a:ext cx="3267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第一次用先注册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3900" y="5276850"/>
            <a:ext cx="32670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用户名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3–32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位字母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数字；密码至少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位且含字母与数字。首个注册用户自动获得管理员权限。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14825" y="4838700"/>
            <a:ext cx="356235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467225" y="49911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左侧七项，按顺序用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67225" y="5276850"/>
            <a:ext cx="32575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日常主线只有三个：数据（传文件）→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诊断（发起与监控）→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报告（读结论）。其余是进阶能力。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48625" y="4838700"/>
            <a:ext cx="3571875" cy="1447800"/>
          </a:xfrm>
          <a:prstGeom prst="roundRect">
            <a:avLst>
              <a:gd name="adj" fmla="val 6579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201025" y="4991100"/>
            <a:ext cx="3267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左下角是引擎开关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201025" y="5276850"/>
            <a:ext cx="32670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引擎决定「谁来跑诊断」，随时可换；右下角能看实时连接状态，掉线会立刻变色。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70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登录状态由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24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小时会话保持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11 / 31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9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2 章 · 换引擎：14 个里挑一个干活&lt;/Text&gt;&#13;&#10;            &lt;Text style={{ fontSize: 16, color: 'rgba(29,27,22,0.62)', marginTop: 6 }}&gt;点左下角引擎名展开清单；这台机器上，OMP Engine 是唯一「实时 + 运行浏览 + 增强」全能力的默认引擎&lt;/Text&gt;&#13;&#10;        &lt;/Box&gt;&#13;&#10;        &lt;Box style={{ flexDirection: 'row', alignItems: 'center', gap: 8, padding: '9px 16px', background: '#1D1B16', borderRadius: 8 }}&gt;&#13;&#10;            &lt;Text style={{ fontSize: 15, fontWeight: 'bold', color: '#B8730F' }}&gt;OMP Engine 已就绪&lt;/Text&gt;&#13;&#10;        &lt;/Box&gt;&#13;&#10;    &lt;/Box&gt;&#13;&#10;    &lt;Box style={{ width: 1160, height: 540, flexDirection: 'row', gap: 20 }}&gt;&#13;&#10;        &lt;Box style={{ width: 620, height: 540, justifyContent: 'center', alignItems: 'center' }}&gt;&#13;&#10;            &lt;Image src=&quot;assets/03_engine.png&quot; style={{ width: 620, height: 395, borderRadius: 10, border: '1px solid rgba(29,27,22,0.10)' }} /&gt;&#13;&#10;        &lt;/Box&gt;&#13;&#10;        &lt;Box style={{ width: 520, height: 540, flexDirection: 'column', gap: 18 }}&gt;&#13;&#10;            &lt;Box style={{ height: 168, padding: 18, background: '#FFFFFF', borderRadius: 12, border: '1px solid rgba(29,27,22,0.10)', flexDirection: 'column' }}&gt;&#13;&#10;                &lt;Text style={{ fontSize: 21, fontWeight: 'bold', color: '#1D1B16' }}&gt;① 绿点 = 能跑，灰点 = 没装&lt;/Text&gt;&#13;&#10;                &lt;Text style={{ fontSize: 17, color: 'rgba(29,27,22,0.72)', lineHeight: 1.6, marginTop: 8 }}&gt;每个引擎后面标注自己的定位：实时引擎、原生运行浏览、零成本演练。挑之前先看状态点。&lt;/Text&gt;&#13;&#10;            &lt;/Box&gt;&#13;&#10;            &lt;Box style={{ height: 168, padding: 18, background: 'rgba(184,115,15,0.10)', borderRadius: 12, border: '1px solid rgba(184,115,15,0.40)', flexDirection: 'column' }}&gt;&#13;&#10;                &lt;Text style={{ fontSize: 21, fontWeight: 'bold', color: '#8A5608' }}&gt;② 换引擎会影响历史记录吗&lt;/Text&gt;&#13;&#10;                &lt;Text style={{ fontSize: 17, color: 'rgba(29,27,22,0.78)', lineHeight: 1.6, marginTop: 8 }}&gt;不会。每次运行都会把自己的引擎记下来，历史账本上会打出 MOCK / CLAUDE / OMP 徽标，随时可追溯。&lt;/Text&gt;&#13;&#10;            &lt;/Box&gt;&#13;&#10;            &lt;Box style={{ height: 168, padding: 18, background: '#1D1B16', borderRadius: 12, flexDirection: 'column' }}&gt;&#13;&#10;                &lt;Text style={{ fontSize: 21, fontWeight: 'bold', color: '#F7F4EC' }}&gt;③ 第一次建议先用 Mock&lt;/Text&gt;&#13;&#10;                &lt;Text style={{ fontSize: 17, color: 'rgba(247,244,236,0.80)', lineHeight: 1.6, marginTop: 8 }}&gt;它几秒就能跑完一遍完整管线，帮你把上传、配置、报告三件事先走通，再换成真实引擎跑正式诊断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引擎预检与实际启动共用同一条解析链路&lt;/Text&gt;&#13;&#10;        &lt;Text style={{ fontSize: 14, color: 'rgba(29,27,22,0.45)' }}&gt;12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73056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2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换引擎：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14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个里挑一个干活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7305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点左下角引擎名展开清单；这台机器上，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OMP Engine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是唯一「实时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运行浏览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增强」全能力的默认引擎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953625" y="495300"/>
            <a:ext cx="166687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106025" y="581025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OMP Engine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已就绪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71500" y="1838325"/>
            <a:ext cx="5905500" cy="37623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"/>
          <a:srcRect l="57" t="0" r="57" b="0"/>
          <a:stretch>
            <a:fillRect/>
          </a:stretch>
        </p:blipFill>
        <p:spPr>
          <a:xfrm rot="0" flipH="0" flipV="0">
            <a:off x="571500" y="1838325"/>
            <a:ext cx="5905500" cy="3762375"/>
          </a:xfrm>
          <a:prstGeom prst="roundRect">
            <a:avLst>
              <a:gd name="adj" fmla="val 2532"/>
            </a:avLst>
          </a:prstGeom>
          <a:ln/>
        </p:spPr>
      </p:pic>
      <p:sp>
        <p:nvSpPr>
          <p:cNvPr id="67" name=""/>
          <p:cNvSpPr/>
          <p:nvPr/>
        </p:nvSpPr>
        <p:spPr>
          <a:xfrm rot="0" flipH="0" flipV="0">
            <a:off x="6667500" y="114300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38950" y="131445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绿点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=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能跑，灰点</a:t>
            </a: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 =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没装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38950" y="1638300"/>
            <a:ext cx="4610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每个引擎后面标注自己的定位：实时引擎、原生运行浏览、零成本演练。挑之前先看状态点。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667500" y="291465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38950" y="308610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8A5608"/>
                </a:solidFill>
                <a:latin typeface="Microsoft YaHei"/>
                <a:ea typeface="Microsoft YaHei"/>
              </a:rPr>
              <a:t>换引擎会影响历史记录吗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38950" y="3409950"/>
            <a:ext cx="4610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不会。每次运行都会把自己的引擎记下来，历史账本上会打出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MOCK / CLAUDE / OMP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徽标，随时可追溯。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667500" y="468630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38950" y="485775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7F4EC"/>
                </a:solidFill>
                <a:latin typeface="Microsoft YaHei"/>
                <a:ea typeface="Microsoft YaHei"/>
              </a:rPr>
              <a:t>③ </a:t>
            </a: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第一次建议先用</a:t>
            </a:r>
            <a:r>
              <a:rPr lang="en-US" sz="1575" b="1">
                <a:solidFill>
                  <a:srgbClr val="F7F4EC"/>
                </a:solidFill>
                <a:latin typeface="Microsoft YaHei"/>
                <a:ea typeface="Microsoft YaHei"/>
              </a:rPr>
              <a:t> Mock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38950" y="5181600"/>
            <a:ext cx="4610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它几秒就能跑完一遍完整管线，帮你把上传、配置、报告三件事先走通，再换成真实引擎跑正式诊断。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引擎预检与实际启动共用同一条解析链路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12 / 31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8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3 章 · 数据工作台：把数据放进来&lt;/Text&gt;&#10;            &lt;Text style={{ fontSize: 16, color: 'rgba(29,27,22,0.62)', marginTop: 6 }}&gt;点左侧「数据」。文件夹与文件同列，CSV / Excel / MAT / JSON / TXT 都能直接上传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单文件上限 500 MB · 可多选&lt;/Text&gt;&#10;        &lt;/Box&gt;&#10;    &lt;/Box&gt;&#10;    &lt;Box style={{ width: 1160, height: 540, flexDirection: 'column', gap: 12 }}&gt;&#10;        &lt;Box style={{ height: 64, flexDirection: 'row', gap: 16 }}&gt;&#10;            &lt;Box style={{ flex: 1, padding: '12px 16px', background: '#FFFFFF', borderRadius: 9, border: '1px solid rgba(29,27,22,0.10)', flexDirection: 'row', alignItems: 'center', gap: 12 }}&gt;&#10;                &lt;Text style={{ fontSize: 24, fontWeight: 'bold', color: '#B8730F' }}&gt;①&lt;/Text&gt;&#10;                &lt;Text style={{ fontSize: 16, color: 'rgba(29,27,22,0.78)', lineHeight: 1.45 }}&gt;统计条一眼读出：13 个文件夹 / 5 个文件 / 17.9 MB&lt;/Text&gt;&#10;            &lt;/Box&gt;&#10;            &lt;Box style={{ flex: 1, padding: '12px 16px', background: '#FFFFFF', borderRadius: 9, border: '1px solid rgba(29,27,22,0.10)', flexDirection: 'row', alignItems: 'center', gap: 12 }}&gt;&#10;                &lt;Text style={{ fontSize: 24, fontWeight: 'bold', color: '#B8730F' }}&gt;②&lt;/Text&gt;&#10;                &lt;Text style={{ fontSize: 16, color: 'rgba(29,27,22,0.78)', lineHeight: 1.45 }}&gt;右上角两个动作：新建文件夹、上传文件&lt;/Text&gt;&#10;            &lt;/Box&gt;&#10;        &lt;/Box&gt;&#10;        &lt;Box style={{ height: 464, justifyContent: 'center', alignItems: 'center' }}&gt;&#10;            &lt;Image src=&quot;assets/04_data.png&quot; style={{ width: 946, height: 464, borderRadius: 10, border: '1px solid rgba(29,27,22,0.10)' }} /&gt;&#10;        &lt;/Box&gt;&#10;    &lt;/Box&gt;&#10;    &lt;Box style={{ width: 1160, height: 40, flexDirection: 'row', alignItems: 'center', justifyContent: 'space-between' }}&gt;&#10;        &lt;Text style={{ fontSize: 14, color: 'rgba(29,27,22,0.45)' }}&gt;也可直接把文件拷进项目 data/ 目录，这里同样能看到&lt;/Text&gt;&#10;        &lt;Text style={{ fontSize: 14, color: 'rgba(29,27,22,0.45)' }}&gt;1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8388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3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数据工作台：把数据放进来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83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点左侧「数据」。文件夹与文件同列，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CSV / Excel / MAT / JSON / TXT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都能直接上传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429750" y="495300"/>
            <a:ext cx="21907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582150" y="581025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单文件上限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500 MB ·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可多选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71500" y="1143000"/>
            <a:ext cx="5448300" cy="6096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23900" y="13144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B8730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66800" y="1314450"/>
            <a:ext cx="35528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统计条一眼读出：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13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个文件夹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/ 5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个文件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/ 17.9 MB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172200" y="1143000"/>
            <a:ext cx="5448300" cy="6096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24600" y="13144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B8730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667500" y="1314450"/>
            <a:ext cx="27432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右上角两个动作：新建文件夹、上传文件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1590675" y="1866900"/>
            <a:ext cx="9010650" cy="44196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1" name=""/>
          <p:cNvPicPr>
            <a:picLocks noChangeAspect="1"/>
          </p:cNvPicPr>
          <p:nvPr/>
        </p:nvPicPr>
        <p:blipFill>
          <a:blip r:embed="rId1"/>
          <a:srcRect l="10" t="0" r="10" b="0"/>
          <a:stretch>
            <a:fillRect/>
          </a:stretch>
        </p:blipFill>
        <p:spPr>
          <a:xfrm rot="0" flipH="0" flipV="0">
            <a:off x="1590675" y="1866900"/>
            <a:ext cx="9010650" cy="4419600"/>
          </a:xfrm>
          <a:prstGeom prst="roundRect">
            <a:avLst>
              <a:gd name="adj" fmla="val 2155"/>
            </a:avLst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也可直接把文件拷进项目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data/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目录，这里同样能看到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13 / 31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4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3 章 · 选中数据 → 发起分析&lt;/Text&gt;&#10;            &lt;Text style={{ fontSize: 16, color: 'rgba(29,27,22,0.62)', marginTop: 6 }}&gt;勾上左侧复选框，工具条才会出现；点「分析选中文件」，系统带着数据跳到诊断工作台&lt;/Text&gt;&#10;        &lt;/Box&gt;&#10;        &lt;Box style={{ flexDirection: 'row', alignItems: 'center', gap: 8, padding: '9px 16px', background: '#1D1B16', borderRadius: 8 }}&gt;&#10;            &lt;Text style={{ fontSize: 15, fontWeight: 'bold', color: '#B8730F' }}&gt;两种发起方式&lt;/Text&gt;&#10;        &lt;/Box&gt;&#10;    &lt;/Box&gt;&#10;    &lt;Box style={{ width: 1160, height: 540, flexDirection: 'column', gap: 16 }}&gt;&#10;        &lt;Box style={{ height: 221, justifyContent: 'center', alignItems: 'center' }}&gt;&#10;            &lt;Image src=&quot;assets/05_selected.png&quot; style={{ width: 1160, height: 221, borderRadius: 10, border: '1px solid rgba(29,27,22,0.10)' }} /&gt;&#10;        &lt;/Box&gt;&#10;        &lt;Box style={{ height: 240, flexDirection: 'row', gap: 22 }}&gt;&#10;            &lt;Box style={{ flex: 1, padding: 20, background: '#FFFFFF', borderRadius: 12, border: '1px solid rgba(29,27,22,0.10)', flexDirection: 'column' }}&gt;&#10;                &lt;Text style={{ fontSize: 21, fontWeight: 'bold', color: '#1D1B16' }}&gt;① 批量：勾选后统一分析&lt;/Text&gt;&#10;                &lt;Text style={{ fontSize: 17, color: 'rgba(29,27,22,0.72)', lineHeight: 1.62, marginTop: 10 }}&gt;适合多个文件属于同一场景的情况。勾选后点工具条上的「分析选中文件」，之后在配置页里确认数据源即可。&lt;/Text&gt;&#10;                &lt;Box style={{ marginTop: 'auto', padding: '9px 12px', background: 'rgba(228,220,203,0.75)', borderRadius: 7 }}&gt;&#10;                    &lt;Text style={{ fontSize: 15, color: 'rgba(29,27,22,0.80)' }}&gt;可多选，也可全选&lt;/Text&gt;&#10;                &lt;/Box&gt;&#10;            &lt;/Box&gt;&#10;            &lt;Box style={{ flex: 1, padding: 20, background: '#FFFFFF', borderRadius: 12, border: '1px solid rgba(29,27,22,0.10)', flexDirection: 'column' }}&gt;&#10;                &lt;Text style={{ fontSize: 21, fontWeight: 'bold', color: '#1D1B16' }}&gt;② 单个：行尾「分析」按钮&lt;/Text&gt;&#10;                &lt;Text style={{ fontSize: 17, color: 'rgba(29,27,22,0.72)', lineHeight: 1.62, marginTop: 10 }}&gt;只跑一个文件时最快。点下去效果与批量完全一致，只是数据源被锁定成这一个文件，不会误带上别的数据。&lt;/Text&gt;&#10;                &lt;Box style={{ marginTop: 'auto', padding: '9px 12px', background: 'rgba(228,220,203,0.75)', borderRadius: 7 }}&gt;&#10;                    &lt;Text style={{ fontSize: 15, color: 'rgba(29,27,22,0.80)' }}&gt;行尾还有「预览」可先看内容&lt;/Text&gt;&#10;                &lt;/Box&gt;&#10;            &lt;/Box&gt;&#10;            &lt;Box style={{ flex: 1, padding: 20, background: 'rgba(184,115,15,0.10)', borderRadius: 12, border: '1px solid rgba(184,115,15,0.40)', flexDirection: 'column' }}&gt;&#10;                &lt;Text style={{ fontSize: 21, fontWeight: 'bold', color: '#8A5608' }}&gt;③ 整个文件夹一起分析&lt;/Text&gt;&#10;                &lt;Text style={{ fontSize: 17, color: 'rgba(29,27,22,0.78)', lineHeight: 1.62, marginTop: 10 }}&gt;双击进入文件夹后，顶部会出现「分析整个文件夹」。当一次诊断需要同时吃过程数据与质检数据时，这样最省事。&lt;/Text&gt;&#10;                &lt;Box style={{ marginTop: 'auto', padding: '9px 12px', background: 'rgba(184,115,15,0.20)', borderRadius: 7 }}&gt;&#10;                    &lt;Text style={{ fontSize: 15, color: '#8A5608' }}&gt;过程数据 + 质检数据同批送入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选中状态会显示在左下方：1 files selected&lt;/Text&gt;&#10;        &lt;Text style={{ fontSize: 14, color: 'rgba(29,27,22,0.45)' }}&gt;14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43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3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选中数据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→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发起分析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勾上左侧复选框，工具条才会出现；点「分析选中文件」，系统带着数据跳到诊断工作台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10458450" y="4953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610850" y="581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两种发起方式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71500" y="1143000"/>
            <a:ext cx="11049000" cy="210502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 r:embed="rId1"/>
          <a:srcRect l="0" t="59" r="0" b="59"/>
          <a:stretch>
            <a:fillRect/>
          </a:stretch>
        </p:blipFill>
        <p:spPr>
          <a:xfrm rot="0" flipH="0" flipV="0">
            <a:off x="571500" y="1143000"/>
            <a:ext cx="11049000" cy="2105025"/>
          </a:xfrm>
          <a:prstGeom prst="roundRect">
            <a:avLst>
              <a:gd name="adj" fmla="val 4525"/>
            </a:avLst>
          </a:prstGeom>
          <a:ln/>
        </p:spPr>
      </p:pic>
      <p:sp>
        <p:nvSpPr>
          <p:cNvPr id="102" name=""/>
          <p:cNvSpPr/>
          <p:nvPr/>
        </p:nvSpPr>
        <p:spPr>
          <a:xfrm rot="0" flipH="0" flipV="0">
            <a:off x="571500" y="3400425"/>
            <a:ext cx="35433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62000" y="3590925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批量：勾选后统一分析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2000" y="393382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适合多个文件属于同一场景的情况。勾选后点工具条上的「分析选中文件」，之后在配置页里确认数据源即可。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62000" y="5153025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76300" y="5238750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可多选，也可全选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324350" y="3400425"/>
            <a:ext cx="35433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514850" y="3590925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575" b="1">
                <a:solidFill>
                  <a:srgbClr val="1D1B16"/>
                </a:solidFill>
                <a:latin typeface="Microsoft YaHei"/>
                <a:ea typeface="Microsoft YaHei"/>
              </a:rPr>
              <a:t>单个：行尾「分析」按钮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514850" y="393382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只跑一个文件时最快。点下去效果与批量完全一致，只是数据源被锁定成这一个文件，不会误带上别的数据。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514850" y="5153025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629150" y="5238750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行尾还有「预览」可先看内容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077200" y="3400425"/>
            <a:ext cx="3543300" cy="2286000"/>
          </a:xfrm>
          <a:prstGeom prst="roundRect">
            <a:avLst>
              <a:gd name="adj" fmla="val 5000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267700" y="3590925"/>
            <a:ext cx="3162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575" b="1">
                <a:solidFill>
                  <a:srgbClr val="8A5608"/>
                </a:solidFill>
                <a:latin typeface="Microsoft YaHei"/>
                <a:ea typeface="Microsoft YaHei"/>
              </a:rPr>
              <a:t>整个文件夹一起分析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267700" y="3933825"/>
            <a:ext cx="31623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双击进入文件夹后，顶部会出现「分析整个文件夹」。当一次诊断需要同时吃过程数据与质检数据时，这样最省事。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8267700" y="5153025"/>
            <a:ext cx="3162300" cy="342900"/>
          </a:xfrm>
          <a:prstGeom prst="roundRect">
            <a:avLst>
              <a:gd name="adj" fmla="val 19444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0" y="5238750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过程数据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质检数据同批送入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543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选中状态会显示在左下方：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 files selected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14 / 31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9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4 章 · 配置一次诊断：八个控件怎么填&lt;/Text&gt;&#10;            &lt;Text style={{ fontSize: 16, color: 'rgba(29,27,22,0.62)', marginTop: 6 }}&gt;数据源已经带过来了，这里只需要做两件事：说清楚要问什么，然后决定用什么策略&lt;/Text&gt;&#10;        &lt;/Box&gt;&#10;        &lt;Box style={{ flexDirection: 'row', alignItems: 'center', gap: 8, padding: '9px 16px', background: '#1D1B16', borderRadius: 8 }}&gt;&#10;            &lt;Text style={{ fontSize: 15, fontWeight: 'bold', color: '#B8730F' }}&gt;③ 写得越具体，结论越贴题&lt;/Text&gt;&#10;        &lt;/Box&gt;&#10;    &lt;/Box&gt;&#10;    &lt;Box style={{ width: 1160, height: 540, flexDirection: 'column', gap: 16 }}&gt;&#10;        &lt;Box style={{ height: 319, justifyContent: 'center', alignItems: 'center' }}&gt;&#10;            &lt;Image src=&quot;assets/06_configure.png&quot; style={{ width: 1160, height: 319, borderRadius: 10, border: '1px solid rgba(29,27,22,0.10)' }} /&gt;&#10;        &lt;/Box&gt;&#10;        &lt;Box style={{ height: 205, flexDirection: 'row', gap: 22 }}&gt;&#10;            &lt;Box style={{ flex: 1, padding: 18, background: '#FFFFFF', borderRadius: 12, border: '1px solid rgba(29,27,22,0.10)', flexDirection: 'column' }}&gt;&#10;                &lt;Text style={{ fontSize: 20, fontWeight: 'bold', color: '#1D1B16' }}&gt;必填的两栏&lt;/Text&gt;&#10;                &lt;Text style={{ fontSize: 16, color: 'rgba(29,27,22,0.72)', lineHeight: 1.6, marginTop: 9 }}&gt;② 场景名与 ③ 诊断问题会原样写进报告首页。写清楚对象与现象，例如「请判断本批次工艺数据是否发生真实工况漂移，并定位根因」。&lt;/Text&gt;&#10;                &lt;Box style={{ marginTop: 'auto', padding: '8px 11px', background: 'rgba(228,220,203,0.75)', borderRadius: 7 }}&gt;&#10;                    &lt;Text style={{ fontSize: 15, color: 'rgba(29,27,22,0.80)' }}&gt;问题留空也能跑，但结论会很泛&lt;/Text&gt;&#10;                &lt;/Box&gt;&#10;            &lt;/Box&gt;&#10;            &lt;Box style={{ flex: 1, padding: 18, background: '#FFFFFF', borderRadius: 12, border: '1px solid rgba(29,27,22,0.10)', flexDirection: 'column' }}&gt;&#10;                &lt;Text style={{ fontSize: 20, fontWeight: 'bold', color: '#1D1B16' }}&gt;四个策略下拉&lt;/Text&gt;&#10;                &lt;Text style={{ fontSize: 16, color: 'rgba(29,27,22,0.72)', lineHeight: 1.6, marginTop: 9 }}&gt;④ 最大轮次 ⑤ 报告语言 ⑥ 本体策略 ⑦ 诊断深度。第一次保持默认值即可：不限轮次、中文、自动、自动识别意图。&lt;/Text&gt;&#10;                &lt;Box style={{ marginTop: 'auto', padding: '8px 11px', background: 'rgba(228,220,203,0.75)', borderRadius: 7 }}&gt;&#10;                    &lt;Text style={{ fontSize: 15, color: 'rgba(29,27,22,0.80)' }}&gt;「诊断深度」设为开启即自动跑 E0–E8&lt;/Text&gt;&#10;                &lt;/Box&gt;&#10;            &lt;/Box&gt;&#10;            &lt;Box style={{ flex: 1, padding: 18, background: 'rgba(184,115,15,0.10)', borderRadius: 12, border: '1px solid rgba(184,115,15,0.40)', flexDirection: 'column' }}&gt;&#10;                &lt;Text style={{ fontSize: 20, fontWeight: 'bold', color: '#8A5608' }}&gt;① 数据源卡片要核对&lt;/Text&gt;&#10;                &lt;Text style={{ fontSize: 16, color: 'rgba(29,27,22,0.78)', lineHeight: 1.6, marginTop: 9 }}&gt;左上角明确写出「已选择 N 个文件」。如果这里数量不对，说明选错了数据；点「新建任务」可以回到数据页重选。&lt;/Text&gt;&#10;                &lt;Box style={{ marginTop: 'auto', padding: '8px 11px', background: 'rgba(184,115,15,0.20)', borderRadius: 7 }}&gt;&#10;                    &lt;Text style={{ fontSize: 15, color: '#8A5608' }}&gt;按下 ⑧ 开始诊断即进入运行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配置只在这一刻生效，运行开始后不可改&lt;/Text&gt;&#10;        &lt;Text style={{ fontSize: 14, color: 'rgba(29,27,22,0.45)' }}&gt;15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150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4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配置一次诊断：八个控件怎么填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1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数据源已经带过来了，这里只需要做两件事：说清楚要问什么，然后决定用什么策略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9553575" y="495300"/>
            <a:ext cx="206692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705975" y="58102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③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写得越具体，结论越贴题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1500" y="1143000"/>
            <a:ext cx="11049000" cy="30384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6" name=""/>
          <p:cNvPicPr>
            <a:picLocks noChangeAspect="1"/>
          </p:cNvPicPr>
          <p:nvPr/>
        </p:nvPicPr>
        <p:blipFill>
          <a:blip r:embed="rId1"/>
          <a:srcRect l="0" t="37" r="0" b="37"/>
          <a:stretch>
            <a:fillRect/>
          </a:stretch>
        </p:blipFill>
        <p:spPr>
          <a:xfrm rot="0" flipH="0" flipV="0">
            <a:off x="571500" y="1143000"/>
            <a:ext cx="11049000" cy="3038475"/>
          </a:xfrm>
          <a:prstGeom prst="roundRect">
            <a:avLst>
              <a:gd name="adj" fmla="val 3135"/>
            </a:avLst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571500" y="4333875"/>
            <a:ext cx="35433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2950" y="45053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1B16"/>
                </a:solidFill>
                <a:latin typeface="Microsoft YaHei"/>
                <a:ea typeface="Microsoft YaHei"/>
              </a:rPr>
              <a:t>必填的两栏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2950" y="4819650"/>
            <a:ext cx="32004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②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场景名与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③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诊断问题会原样写进报告首页。写清楚对象与现象，例如「请判断本批次工艺数据是否发生真实工况漂移，并定位根因」。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42950" y="5791200"/>
            <a:ext cx="3200400" cy="323850"/>
          </a:xfrm>
          <a:prstGeom prst="roundRect">
            <a:avLst>
              <a:gd name="adj" fmla="val 20588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47725" y="5867400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问题留空也能跑，但结论会很泛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324350" y="4333875"/>
            <a:ext cx="354330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495800" y="45053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1B16"/>
                </a:solidFill>
                <a:latin typeface="Microsoft YaHei"/>
                <a:ea typeface="Microsoft YaHei"/>
              </a:rPr>
              <a:t>四个策略下拉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95800" y="4819650"/>
            <a:ext cx="32004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④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最大轮次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⑤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报告语言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⑥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本体策略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⑦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诊断深度。第一次保持默认值即可：不限轮次、中文、自动、自动识别意图。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495800" y="5791200"/>
            <a:ext cx="3200400" cy="323850"/>
          </a:xfrm>
          <a:prstGeom prst="roundRect">
            <a:avLst>
              <a:gd name="adj" fmla="val 20588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600575" y="5867400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「诊断深度」设为开启即自动跑</a:t>
            </a:r>
            <a:r>
              <a:rPr lang="en-US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E0–E8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077200" y="4333875"/>
            <a:ext cx="3543300" cy="1952625"/>
          </a:xfrm>
          <a:prstGeom prst="roundRect">
            <a:avLst>
              <a:gd name="adj" fmla="val 5854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248650" y="45053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A5608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8A5608"/>
                </a:solidFill>
                <a:latin typeface="Microsoft YaHei"/>
                <a:ea typeface="Microsoft YaHei"/>
              </a:rPr>
              <a:t>数据源卡片要核对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248650" y="4819650"/>
            <a:ext cx="32004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左上角明确写出「已选择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N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个文件」。如果这里数量不对，说明选错了数据；点「新建任务」可以回到数据页重选。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248650" y="5791200"/>
            <a:ext cx="3200400" cy="323850"/>
          </a:xfrm>
          <a:prstGeom prst="roundRect">
            <a:avLst>
              <a:gd name="adj" fmla="val 20588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353425" y="5867400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按下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⑧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开始诊断即进入运行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配置只在这一刻生效，运行开始后不可改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15 / 31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4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4 章 · 任务列表：一屏读完全局状态&lt;/Text&gt;&#13;&#10;            &lt;Text style={{ fontSize: 16, color: 'rgba(29,27,22,0.62)', marginTop: 6 }}&gt;发起之后回到这里。任务按状态分组，结论与评分直接摆在列表里，不用点进去看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本机当前：活跃 3 · 历史 135&lt;/Text&gt;&#13;&#10;        &lt;/Box&gt;&#13;&#10;    &lt;/Box&gt;&#13;&#10;    &lt;Box style={{ width: 1160, height: 540, flexDirection: 'column', gap: 16 }}&gt;&#13;&#10;        &lt;Box style={{ height: 408, justifyContent: 'center', alignItems: 'center' }}&gt;&#13;&#10;            &lt;Image src=&quot;assets/07_tasklist.png&quot; style={{ width: 973, height: 408, borderRadius: 10, border: '1px solid rgba(29,27,22,0.10)' }} /&gt;&#13;&#10;        &lt;/Box&gt;&#13;&#10;        &lt;Box style={{ height: 116, flexDirection: 'row', gap: 18 }}&gt;&#13;&#10;            &lt;Box style={{ flex: 1, padding: 14, background: '#FFFFFF', borderRadius: 10, border: '1px solid rgba(29,27,22,0.10)' }}&gt;&#13;&#10;                &lt;Text style={{ fontSize: 18, fontWeight: 'bold', color: '#1D1B16' }}&gt;① 活跃任务&lt;/Text&gt;&#13;&#10;                &lt;Text style={{ fontSize: 16, color: 'rgba(29,27,22,0.72)', lineHeight: 1.5, marginTop: 6 }}&gt;正在运行或等待你回答的任务，排在最上面&lt;/Text&gt;&#13;&#10;            &lt;/Box&gt;&#13;&#10;            &lt;Box style={{ flex: 1, padding: 14, background: '#FFFFFF', borderRadius: 10, border: '1px solid rgba(29,27,22,0.10)' }}&gt;&#13;&#10;                &lt;Text style={{ fontSize: 18, fontWeight: 'bold', color: '#1D1B16' }}&gt;② 结论列&lt;/Text&gt;&#13;&#10;                &lt;Text style={{ fontSize: 16, color: 'rgba(29,27,22,0.72)', lineHeight: 1.5, marginTop: 6 }}&gt;ENDORSED / COMPETING_SET 一眼可辨，评分 0–100&lt;/Text&gt;&#13;&#10;            &lt;/Box&gt;&#13;&#10;            &lt;Box style={{ flex: 1, padding: 14, background: 'rgba(184,115,15,0.10)', borderRadius: 10, border: '1px solid rgba(184,115,15,0.40)' }}&gt;&#13;&#10;                &lt;Text style={{ fontSize: 18, fontWeight: 'bold', color: '#8A5608' }}&gt;③ 点行即看&lt;/Text&gt;&#13;&#10;                &lt;Text style={{ fontSize: 16, color: 'rgba(29,27,22,0.78)', lineHeight: 1.5, marginTop: 6 }}&gt;点任务名进入实时工作台；已完成的会直接打开报告&lt;/Text&gt;&#13;&#10;            &lt;/Box&gt;&#13;&#10;            &lt;Box style={{ flex: 1, padding: 14, background: '#1D1B16', borderRadius: 10 }}&gt;&#13;&#10;                &lt;Text style={{ fontSize: 18, fontWeight: 'bold', color: '#F7F4EC' }}&gt;④ 新建任务&lt;/Text&gt;&#13;&#10;                &lt;Text style={{ fontSize: 16, color: 'rgba(247,244,236,0.78)', lineHeight: 1.5, marginTop: 6 }}&gt;回到数据页重新选一份数据，开始下一轮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表头固定，向下滚动时列名始终可见&lt;/Text&gt;&#13;&#10;        &lt;Text style={{ fontSize: 14, color: 'rgba(29,27,22,0.45)' }}&gt;16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5911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4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任务列表：一屏读完全局状态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59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发起之后回到这里。任务按状态分组，结论与评分直接摆在列表里，不用点进去看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439275" y="495300"/>
            <a:ext cx="2181225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591675" y="58102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本机当前：活跃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3 ·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历史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135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1466850" y="1143000"/>
            <a:ext cx="9267825" cy="38862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 r:embed="rId1"/>
          <a:srcRect l="0" t="9" r="0" b="9"/>
          <a:stretch>
            <a:fillRect/>
          </a:stretch>
        </p:blipFill>
        <p:spPr>
          <a:xfrm rot="0" flipH="0" flipV="0">
            <a:off x="1466850" y="1143000"/>
            <a:ext cx="9267825" cy="3886200"/>
          </a:xfrm>
          <a:prstGeom prst="roundRect">
            <a:avLst>
              <a:gd name="adj" fmla="val 2451"/>
            </a:avLst>
          </a:prstGeom>
          <a:ln/>
        </p:spPr>
      </p:pic>
      <p:sp>
        <p:nvSpPr>
          <p:cNvPr id="152" name=""/>
          <p:cNvSpPr/>
          <p:nvPr/>
        </p:nvSpPr>
        <p:spPr>
          <a:xfrm rot="0" flipH="0" flipV="0">
            <a:off x="571500" y="5181600"/>
            <a:ext cx="2638425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04850" y="531495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活跃任务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04850" y="5581650"/>
            <a:ext cx="2371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正在运行或等待你回答的任务，排在最上面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3381375" y="5181600"/>
            <a:ext cx="26289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514725" y="5314950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结论列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514725" y="5581650"/>
            <a:ext cx="2362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ENDORSED / COMPETING_SET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一眼可辨，评分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0–100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181725" y="5181600"/>
            <a:ext cx="2638425" cy="1104900"/>
          </a:xfrm>
          <a:prstGeom prst="roundRect">
            <a:avLst>
              <a:gd name="adj" fmla="val 8621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15075" y="531495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点行即看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315075" y="5581650"/>
            <a:ext cx="2371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点任务名进入实时工作台；已完成的会直接打开报告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991600" y="5181600"/>
            <a:ext cx="2628900" cy="1104900"/>
          </a:xfrm>
          <a:prstGeom prst="roundRect">
            <a:avLst>
              <a:gd name="adj" fmla="val 8621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124950" y="5314950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7F4EC"/>
                </a:solidFill>
                <a:latin typeface="Microsoft YaHei"/>
                <a:ea typeface="Microsoft YaHei"/>
              </a:rPr>
              <a:t>④ </a:t>
            </a: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新建任务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124950" y="5581650"/>
            <a:ext cx="2362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回到数据页重新选一份数据，开始下一轮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表头固定，向下滚动时列名始终可见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16 / 31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6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5 章 · 实时监控工作台&lt;/Text&gt;&#10;            &lt;Text style={{ fontSize: 16, color: 'rgba(29,27,22,0.62)', marginTop: 6 }}&gt;这是全篇信息密度最高的一屏：点进任务后，你会一直盯着它，直到报告出来&lt;/Text&gt;&#10;        &lt;/Box&gt;&#10;        &lt;Box style={{ flexDirection: 'row', alignItems: 'center', gap: 8, padding: '9px 16px', background: '#1D1B16', borderRadius: 8 }}&gt;&#10;            &lt;Text style={{ fontSize: 15, fontWeight: 'bold', color: '#B8730F' }}&gt;真实 OMP 运行 #0060f47b&lt;/Text&gt;&#10;        &lt;/Box&gt;&#10;    &lt;/Box&gt;&#10;    &lt;Box style={{ width: 1160, height: 540, flexDirection: 'row', gap: 22 }}&gt;&#10;        &lt;Box style={{ width: 700, height: 540, justifyContent: 'center' }}&gt;&#10;            &lt;Image src=&quot;assets/08_liverun.png&quot; style={{ width: 700, height: 535, borderRadius: 10, border: '1px solid rgba(29,27,22,0.10)' }} /&gt;&#10;        &lt;/Box&gt;&#10;        &lt;Box style={{ width: 438, height: 540, flexDirection: 'column', gap: 14 }}&gt;&#10;            &lt;Box style={{ height: 168, padding: 18, background: '#1D1B16', borderRadius: 12, flexDirection: 'column' }}&gt;&#10;                &lt;Text style={{ fontSize: 20, fontWeight: 'bold', color: '#F7F4EC' }}&gt;顶部：状态与进度&lt;/Text&gt;&#10;                &lt;Text style={{ fontSize: 16, color: 'rgba(247,244,236,0.80)', lineHeight: 1.6, marginTop: 10 }}&gt;① 停止按钮随时可中断　② 状态点显示诊断中 / 已完成 / 失败　③ 阶段进度条下方写着当前正在执行的动作，例如「执行工具：bash」&lt;/Text&gt;&#10;            &lt;/Box&gt;&#10;            &lt;Box style={{ height: 150, padding: 18, background: '#FFFFFF', borderRadius: 12, border: '1px solid rgba(29,27,22,0.10)', flexDirection: 'column' }}&gt;&#10;                &lt;Text style={{ fontSize: 20, fontWeight: 'bold', color: '#1D1B16' }}&gt;中间：四个计数器&lt;/Text&gt;&#10;                &lt;Text style={{ fontSize: 16, color: 'rgba(29,27,22,0.72)', lineHeight: 1.6, marginTop: 10 }}&gt;轮次 / 工具 / 消息 / 计时。本图放大后是 0 轮次、26 工具、6 消息、489:38 —— 长跑任务靠它判断是否还在推进。&lt;/Text&gt;&#10;            &lt;/Box&gt;&#10;            &lt;Box style={{ height: 194, padding: 18, background: 'rgba(184,115,15,0.10)', borderRadius: 12, border: '1px solid rgba(184,115,15,0.40)', flexDirection: 'column' }}&gt;&#10;                &lt;Text style={{ fontSize: 20, fontWeight: 'bold', color: '#8A5608' }}&gt;下方：事件流&lt;/Text&gt;&#10;                &lt;Text style={{ fontSize: 16, color: 'rgba(29,27,22,0.78)', lineHeight: 1.6, marginTop: 10 }}&gt;④ 思考过程、工具调用、命令行原文、返回结果逐条留痕。这就是「证据可回溯」在界面上的样子 —— 结论里的每个数字，都能顺着这条流找到它是怎么算出来的。&lt;/Text&gt;&#10;                &lt;Box style={{ marginTop: 'auto', padding: '8px 11px', background: 'rgba(184,115,15,0.20)', borderRadius: 7 }}&gt;&#10;                    &lt;Text style={{ fontSize: 15, color: '#8A5608' }}&gt;⑤ 底部输入框可随时插话引导&lt;/Text&gt;&#10;                &lt;/Box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一场完整诊断可能跑几十分钟，随时刷新页面都不会丢进度&lt;/Text&gt;&#10;        &lt;Text style={{ fontSize: 14, color: 'rgba(29,27,22,0.45)' }}&gt;1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181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5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实时监控工作台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这是全篇信息密度最高的一屏：点进任务后，你会一直盯着它，直到报告出来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9477375" y="495300"/>
            <a:ext cx="214312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629775" y="581025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真实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OMP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运行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#0060f47b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1171575"/>
            <a:ext cx="6667500" cy="50958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3" name=""/>
          <p:cNvPicPr>
            <a:picLocks noChangeAspect="1"/>
          </p:cNvPicPr>
          <p:nvPr/>
        </p:nvPicPr>
        <p:blipFill>
          <a:blip r:embed="rId1"/>
          <a:srcRect l="0" t="11" r="0" b="11"/>
          <a:stretch>
            <a:fillRect/>
          </a:stretch>
        </p:blipFill>
        <p:spPr>
          <a:xfrm rot="0" flipH="0" flipV="0">
            <a:off x="571500" y="1171575"/>
            <a:ext cx="6667500" cy="5095875"/>
          </a:xfrm>
          <a:prstGeom prst="roundRect">
            <a:avLst>
              <a:gd name="adj" fmla="val 1869"/>
            </a:avLst>
          </a:prstGeom>
          <a:ln/>
        </p:spPr>
      </p:pic>
      <p:sp>
        <p:nvSpPr>
          <p:cNvPr id="174" name=""/>
          <p:cNvSpPr/>
          <p:nvPr/>
        </p:nvSpPr>
        <p:spPr>
          <a:xfrm rot="0" flipH="0" flipV="0">
            <a:off x="7448550" y="1143000"/>
            <a:ext cx="4171950" cy="1600200"/>
          </a:xfrm>
          <a:prstGeom prst="roundRect">
            <a:avLst>
              <a:gd name="adj" fmla="val 7143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620000" y="131445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顶部：状态与进度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620000" y="1638300"/>
            <a:ext cx="3829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停止按钮随时可中断　②</a:t>
            </a: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状态点显示诊断中</a:t>
            </a: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已完成</a:t>
            </a: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失败　③</a:t>
            </a: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阶段进度条下方写着当前正在执行的动作，例如「执行工具：</a:t>
            </a:r>
            <a:r>
              <a:rPr lang="en-US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bash</a:t>
            </a:r>
            <a:r>
              <a:rPr lang="zh-CN" sz="1200">
                <a:solidFill>
                  <a:srgbClr val="F7F4EC">
                    <a:alpha val="80000"/>
                  </a:srgbClr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7448550" y="2876550"/>
            <a:ext cx="41719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20000" y="304800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1B16"/>
                </a:solidFill>
                <a:latin typeface="Microsoft YaHei"/>
                <a:ea typeface="Microsoft YaHei"/>
              </a:rPr>
              <a:t>中间：四个计数器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620000" y="3371850"/>
            <a:ext cx="3829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轮次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工具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消息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计时。本图放大后是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0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轮次、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26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工具、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消息、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489:38 ——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长跑任务靠它判断是否还在推进。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448550" y="4438650"/>
            <a:ext cx="4171950" cy="1847850"/>
          </a:xfrm>
          <a:prstGeom prst="roundRect">
            <a:avLst>
              <a:gd name="adj" fmla="val 6186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620000" y="461010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A5608"/>
                </a:solidFill>
                <a:latin typeface="Microsoft YaHei"/>
                <a:ea typeface="Microsoft YaHei"/>
              </a:rPr>
              <a:t>下方：事件流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620000" y="4933950"/>
            <a:ext cx="38290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④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思考过程、工具调用、命令行原文、返回结果逐条留痕。这就是「证据可回溯」在界面上的样子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结论里的每个数字，都能顺着这条流找到它是怎么算出来的。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620000" y="5791200"/>
            <a:ext cx="3829050" cy="323850"/>
          </a:xfrm>
          <a:prstGeom prst="roundRect">
            <a:avLst>
              <a:gd name="adj" fmla="val 20588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724775" y="58674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⑤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底部输入框可随时插话引导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一场完整诊断可能跑几十分钟，随时刷新页面都不会丢进度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17 / 31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padding: 0, background: '#F7F4EC', position: 'relative', overflow: 'hidden' }}&gt;&#10;    &lt;Box style={{ position: 'absolute', left: 0, top: 0, width: 470, height: 720, background: '#1D1B16' }} /&gt;&#10;    &lt;Box style={{ position: 'absolute', left: 470, top: 0, width: 5, height: 720, background: '#B8730F' }} /&gt;&#10;    &lt;Box style={{ flexDirection: 'row', width: 1280, height: 720 }}&gt;&#10;        &lt;Box style={{ width: 470, height: 720, justifyContent: 'center', alignItems: 'center', flexDirection: 'column' }}&gt;&#10;            &lt;Text style={{ fontSize: 172, fontWeight: 'bold', color: '#B8730F', lineHeight: 1 }}&gt;04&lt;/Text&gt;&#10;            &lt;Text style={{ fontSize: 20, color: 'rgba(247,244,236,0.62)', letterSpacing: 3, marginTop: 12 }}&gt;READ IT&lt;/Text&gt;&#10;        &lt;/Box&gt;&#10;        &lt;Box style={{ width: 810, height: 720, padding: '0 76px 0 0', flexDirection: 'column', justifyContent: 'center' }}&gt;&#10;            &lt;Text style={{ fontSize: 14, color: '#B8730F', letterSpacing: 5, fontWeight: 'bold' }}&gt;ACT FOUR&lt;/Text&gt;&#10;            &lt;Text style={{ fontSize: 60, fontWeight: 'bold', color: '#1D1B16', lineHeight: 1.12, marginTop: 20 }}&gt;读懂它&lt;br /&gt;并且用久它&lt;/Text&gt;&#10;            &lt;Box style={{ width: 120, height: 5, background: '#B8730F', marginTop: 28 }} /&gt;&#10;            &lt;Text style={{ fontSize: 19, color: 'rgba(29,27,22,0.76)', lineHeight: 1.72, marginTop: 28, width: 660 }}&gt;报告出来只是开始。这一幕讲清楚：一份结论由哪几份产物互相背书、审计为什么能否决它、以及怎么把一次运行沉淀成可复用的资产。&lt;/Text&gt;&#10;            &lt;Text style={{ fontSize: 17, color: 'rgba(29,27,22,0.56)', lineHeight: 1.7, marginTop: 18, width: 660 }}&gt;报告三视图 → 审计裁定 → HTML 报告 → 报告清单 → 历史与增强 → 本体资产 → 引擎产物 → 产物清单 → 管线全貌 → 移动端 → 排错&lt;/Text&gt;&#10;            &lt;Box style={{ flexDirection: 'row', gap: 10, marginTop: 34 }}&gt;&#10;                &lt;Box style={{ padding: '8px 16px', border: '1px solid rgba(29,27,22,0.22)', borderRadius: 20 }}&gt;&#10;                    &lt;Text style={{ fontSize: 15, color: 'rgba(29,27,22,0.70)' }}&gt;第 19 页起&lt;/Text&gt;&#10;                &lt;/Box&gt;&#10;                &lt;Box style={{ padding: '8px 16px', border: '1px solid rgba(29,27,22,0.22)', borderRadius: 20 }}&gt;&#10;                    &lt;Text style={{ fontSize: 15, color: 'rgba(29,27,22,0.70)' }}&gt;共 13 页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228725" y="2276475"/>
            <a:ext cx="2028825" cy="1971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900" b="1">
                <a:solidFill>
                  <a:srgbClr val="B8730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771650" y="4362450"/>
            <a:ext cx="933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READ IT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76750" y="1076325"/>
            <a:ext cx="699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B8730F"/>
                </a:solidFill>
                <a:latin typeface="Microsoft YaHei"/>
                <a:ea typeface="Microsoft YaHei"/>
              </a:rPr>
              <a:t>ACT FOUR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76750" y="1428750"/>
            <a:ext cx="6991350" cy="154305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4500" b="1">
                <a:solidFill>
                  <a:srgbClr val="1D1B16"/>
                </a:solidFill>
                <a:latin typeface="Microsoft YaHei"/>
                <a:ea typeface="Microsoft YaHei"/>
              </a:rPr>
              <a:t>读懂它</a:t>
            </a:r>
            <a:endParaRPr/>
          </a:p>
          <a:p>
            <a:pPr>
              <a:lnSpc>
                <a:spcPct val="112000"/>
              </a:lnSpc>
            </a:pPr>
            <a:r>
              <a:rPr lang="zh-CN" sz="4500" b="1">
                <a:solidFill>
                  <a:srgbClr val="1D1B16"/>
                </a:solidFill>
                <a:latin typeface="Microsoft YaHei"/>
                <a:ea typeface="Microsoft YaHei"/>
              </a:rPr>
              <a:t>并且用久它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476750" y="3238500"/>
            <a:ext cx="1143000" cy="47625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476750" y="3552825"/>
            <a:ext cx="6286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425">
                <a:solidFill>
                  <a:srgbClr val="1D1B16">
                    <a:alpha val="76000"/>
                  </a:srgbClr>
                </a:solidFill>
                <a:latin typeface="Microsoft YaHei"/>
                <a:ea typeface="Microsoft YaHei"/>
              </a:rPr>
              <a:t>报告出来只是开始。这一幕讲清楚：一份结论由哪几份产物互相背书、审计为什么能否决它、以及怎么把一次运行沉淀成可复用的资产。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476750" y="4476750"/>
            <a:ext cx="6286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报告三视图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审计裁定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HTML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报告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报告清单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历史与增强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本体资产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引擎产物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产物清单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管线全貌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移动端</a:t>
            </a:r>
            <a:r>
              <a:rPr lang="en-US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D1B16">
                    <a:alpha val="56000"/>
                  </a:srgbClr>
                </a:solidFill>
                <a:latin typeface="Microsoft YaHei"/>
                <a:ea typeface="Microsoft YaHei"/>
              </a:rPr>
              <a:t>排错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476750" y="5467350"/>
            <a:ext cx="990600" cy="323850"/>
          </a:xfrm>
          <a:prstGeom prst="roundRect">
            <a:avLst>
              <a:gd name="adj" fmla="val 58824"/>
            </a:avLst>
          </a:prstGeom>
          <a:ln w="12700">
            <a:solidFill>
              <a:srgbClr val="1D1B1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629150" y="55435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19 </a:t>
            </a: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页起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562600" y="5467350"/>
            <a:ext cx="847725" cy="323850"/>
          </a:xfrm>
          <a:prstGeom prst="roundRect">
            <a:avLst>
              <a:gd name="adj" fmla="val 58824"/>
            </a:avLst>
          </a:prstGeom>
          <a:ln w="12700">
            <a:solidFill>
              <a:srgbClr val="1D1B16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715000" y="5543550"/>
            <a:ext cx="542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 13 </a:t>
            </a:r>
            <a:r>
              <a:rPr lang="zh-CN" sz="1125">
                <a:solidFill>
                  <a:srgbClr val="1D1B16">
                    <a:alpha val="70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0" y="0"/>
            <a:ext cx="4476750" cy="6858000"/>
          </a:xfrm>
          <a:prstGeom prst="rect">
            <a:avLst/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4476750" y="0"/>
            <a:ext cx="47625" cy="6858000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2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6 章 · 一份结论，三种读法&lt;/Text&gt;&#10;            &lt;Text style={{ fontSize: 16, color: 'rgba(29,27,22,0.62)', marginTop: 6 }}&gt;同一个运行下挂着三个页签：报告看结论、审计看背书、HTML 拿去汇报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真实报告：bench_tep_d00&lt;/Text&gt;&#10;        &lt;/Box&gt;&#10;    &lt;/Box&gt;&#10;    &lt;Box style={{ width: 1160, height: 540, flexDirection: 'column', gap: 15 }}&gt;&#10;        &lt;Box style={{ height: 455, flexDirection: 'row', gap: 22 }}&gt;&#10;            &lt;Image src=&quot;assets/11_report.png&quot; style={{ width: 760, height: 455, borderRadius: 10, border: '1px solid rgba(29,27,22,0.10)' }} /&gt;&#10;            &lt;Box style={{ width: 378, height: 455, flexDirection: 'column', gap: 14 }}&gt;&#10;                &lt;Box style={{ height: 142, padding: 16, background: '#FFFFFF', borderRadius: 11, border: '1px solid rgba(29,27,22,0.10)', flexDirection: 'column' }}&gt;&#10;                    &lt;Box style={{ flexDirection: 'row', alignItems: 'center', gap: 9 }}&gt;&#10;                        &lt;Box style={{ padding: '3px 9px', background: '#1D1B16', borderRadius: 5 }}&gt;&#10;                            &lt;Text style={{ fontSize: 13, fontWeight: 'bold', color: '#B8730F' }}&gt;① 报告&lt;/Text&gt;&#10;                        &lt;/Box&gt;&#10;                        &lt;Text style={{ fontSize: 18, fontWeight: 'bold', color: '#1D1B16' }}&gt;正文&lt;/Text&gt;&#10;                    &lt;/Box&gt;&#10;                    &lt;Text style={{ fontSize: 16, color: 'rgba(29,27,22,0.72)', lineHeight: 1.55, marginTop: 9 }}&gt;首屏给出阅读指南，逐条标注证据等级与可复现来源。&lt;/Text&gt;&#10;                &lt;/Box&gt;&#10;                &lt;Box style={{ height: 142, padding: 16, background: '#FFFFFF', borderRadius: 11, border: '1px solid rgba(29,27,22,0.10)', flexDirection: 'column' }}&gt;&#10;                    &lt;Box style={{ flexDirection: 'row', alignItems: 'center', gap: 9 }}&gt;&#10;                        &lt;Box style={{ padding: '3px 9px', background: 'rgba(62,142,99,0.16)', borderRadius: 5 }}&gt;&#10;                            &lt;Text style={{ fontSize: 13, fontWeight: 'bold', color: '#2F6F4C' }}&gt;② 审计&lt;/Text&gt;&#10;                        &lt;/Box&gt;&#10;                        &lt;Text style={{ fontSize: 18, fontWeight: 'bold', color: '#1D1B16' }}&gt;物理终审&lt;/Text&gt;&#10;                    &lt;/Box&gt;&#10;                    &lt;Text style={{ fontSize: 16, color: 'rgba(29,27,22,0.72)', lineHeight: 1.55, marginTop: 9 }}&gt;独立审计员给出 ENDORSED 或驳回，是发布许可。&lt;/Text&gt;&#10;                &lt;/Box&gt;&#10;                &lt;Box style={{ height: 142, padding: 16, background: 'rgba(184,115,15,0.10)', borderRadius: 11, border: '1px solid rgba(184,115,15,0.40)', flexDirection: 'column' }}&gt;&#10;                    &lt;Box style={{ flexDirection: 'row', alignItems: 'center', gap: 9 }}&gt;&#10;                        &lt;Box style={{ padding: '3px 9px', background: 'rgba(184,115,15,0.28)', borderRadius: 5 }}&gt;&#10;                            &lt;Text style={{ fontSize: 13, fontWeight: 'bold', color: '#8A5608' }}&gt;③ HTML&lt;/Text&gt;&#10;                        &lt;/Box&gt;&#10;                        &lt;Text style={{ fontSize: 18, fontWeight: 'bold', color: '#8A5608' }}&gt;交互可视化&lt;/Text&gt;&#10;                    &lt;/Box&gt;&#10;                    &lt;Text style={{ fontSize: 16, color: 'rgba(29,27,22,0.78)', lineHeight: 1.55, marginTop: 9 }}&gt;ECharts + Three.js 生成，适合拿去汇报与现场追溯。&lt;/Text&gt;&#10;                &lt;/Box&gt;&#10;            &lt;/Box&gt;&#10;        &lt;/Box&gt;&#10;        &lt;Box style={{ height: 70, padding: 16, background: '#1D1B16', borderRadius: 10, flexDirection: 'row', alignItems: 'center', gap: 18 }}&gt;&#10;            &lt;Text style={{ fontSize: 17, fontWeight: 'bold', color: '#F0A93B' }}&gt;右上角还有两个按钮&lt;/Text&gt;&#10;            &lt;Text style={{ fontSize: 16, color: 'rgba(247,244,236,0.82)' }}&gt;④ 刷新重新拉取产物　·　⑤ 下载报告把 Markdown 存到本地；「查看原文」可看未渲染的原始文本。&lt;/Text&gt;&#10;        &lt;/Box&gt;&#10;    &lt;/Box&gt;&#10;    &lt;Box style={{ width: 1160, height: 40, flexDirection: 'row', alignItems: 'center', justifyContent: 'space-between' }}&gt;&#10;        &lt;Text style={{ fontSize: 14, color: 'rgba(29,27,22,0.45)' }}&gt;面包屑可以随时退回报告清单&lt;/Text&gt;&#10;        &lt;Text style={{ fontSize: 14, color: 'rgba(29,27,22,0.45)' }}&gt;1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49053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一份结论，三种读法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同一个运行下挂着三个页签：报告看结论、审计看背书、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HTML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拿去汇报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525000" y="495300"/>
            <a:ext cx="209550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9677400" y="581025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真实报告：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bench_tep_d00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143000"/>
            <a:ext cx="7239000" cy="43338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9" name=""/>
          <p:cNvPicPr>
            <a:picLocks noChangeAspect="1"/>
          </p:cNvPicPr>
          <p:nvPr/>
        </p:nvPicPr>
        <p:blipFill>
          <a:blip r:embed="rId1"/>
          <a:srcRect l="0" t="16" r="0" b="16"/>
          <a:stretch>
            <a:fillRect/>
          </a:stretch>
        </p:blipFill>
        <p:spPr>
          <a:xfrm rot="0" flipH="0" flipV="0">
            <a:off x="571500" y="1143000"/>
            <a:ext cx="7239000" cy="4333875"/>
          </a:xfrm>
          <a:prstGeom prst="roundRect">
            <a:avLst>
              <a:gd name="adj" fmla="val 2198"/>
            </a:avLst>
          </a:prstGeom>
          <a:ln/>
        </p:spPr>
      </p:pic>
      <p:sp>
        <p:nvSpPr>
          <p:cNvPr id="210" name=""/>
          <p:cNvSpPr/>
          <p:nvPr/>
        </p:nvSpPr>
        <p:spPr>
          <a:xfrm rot="0" flipH="0" flipV="0">
            <a:off x="8020050" y="1143000"/>
            <a:ext cx="3600450" cy="1352550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8172450" y="1295400"/>
            <a:ext cx="581025" cy="209550"/>
          </a:xfrm>
          <a:prstGeom prst="roundRect">
            <a:avLst>
              <a:gd name="adj" fmla="val 2272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258175" y="1323975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B8730F"/>
                </a:solidFill>
                <a:latin typeface="Microsoft YaHei"/>
                <a:ea typeface="Microsoft YaHei"/>
              </a:rPr>
              <a:t>① </a:t>
            </a:r>
            <a:r>
              <a:rPr lang="zh-CN" sz="975" b="1">
                <a:solidFill>
                  <a:srgbClr val="B8730F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839200" y="129540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正文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172450" y="1590675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首屏给出阅读指南，逐条标注证据等级与可复现来源。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8020050" y="2628900"/>
            <a:ext cx="3600450" cy="1352550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8172450" y="2781300"/>
            <a:ext cx="581025" cy="209550"/>
          </a:xfrm>
          <a:prstGeom prst="roundRect">
            <a:avLst>
              <a:gd name="adj" fmla="val 22727"/>
            </a:avLst>
          </a:prstGeom>
          <a:solidFill>
            <a:srgbClr val="3E8E63">
              <a:alpha val="16000"/>
            </a:srgbClr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258175" y="2809875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F6F4C"/>
                </a:solidFill>
                <a:latin typeface="Microsoft YaHei"/>
                <a:ea typeface="Microsoft YaHei"/>
              </a:rPr>
              <a:t>② </a:t>
            </a:r>
            <a:r>
              <a:rPr lang="zh-CN" sz="975" b="1">
                <a:solidFill>
                  <a:srgbClr val="2F6F4C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839200" y="2781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物理终审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172450" y="3076575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独立审计员给出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ENDORSED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或驳回，是发布许可。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020050" y="4114800"/>
            <a:ext cx="3600450" cy="1352550"/>
          </a:xfrm>
          <a:prstGeom prst="roundRect">
            <a:avLst>
              <a:gd name="adj" fmla="val 7746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8172450" y="4267200"/>
            <a:ext cx="714375" cy="209550"/>
          </a:xfrm>
          <a:prstGeom prst="roundRect">
            <a:avLst>
              <a:gd name="adj" fmla="val 22727"/>
            </a:avLst>
          </a:prstGeom>
          <a:solidFill>
            <a:srgbClr val="B8730F">
              <a:alpha val="28000"/>
            </a:srgbClr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258175" y="4295775"/>
            <a:ext cx="54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5608"/>
                </a:solidFill>
                <a:latin typeface="Microsoft YaHei"/>
                <a:ea typeface="Microsoft YaHei"/>
              </a:rPr>
              <a:t>③ HTML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972550" y="42672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交互可视化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172450" y="4562475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ECharts + Three.js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生成，适合拿去汇报与现场追溯。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5619750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23900" y="585787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A93B"/>
                </a:solidFill>
                <a:latin typeface="Microsoft YaHei"/>
                <a:ea typeface="Microsoft YaHei"/>
              </a:rPr>
              <a:t>右上角还有两个按钮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352675" y="5857875"/>
            <a:ext cx="6943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④ </a:t>
            </a:r>
            <a:r>
              <a:rPr lang="zh-CN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刷新重新拉取产物　·　⑤</a:t>
            </a:r>
            <a:r>
              <a:rPr lang="en-US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下载报告把</a:t>
            </a:r>
            <a:r>
              <a:rPr lang="en-US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 Markdown </a:t>
            </a:r>
            <a:r>
              <a:rPr lang="zh-CN" sz="1200">
                <a:solidFill>
                  <a:srgbClr val="F7F4EC">
                    <a:alpha val="82000"/>
                  </a:srgbClr>
                </a:solidFill>
                <a:latin typeface="Microsoft YaHei"/>
                <a:ea typeface="Microsoft YaHei"/>
              </a:rPr>
              <a:t>存到本地；「查看原文」可看未渲染的原始文本。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面包屑可以随时退回报告清单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19 / 31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7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6 章 · 审计页签：ENDORSED 才是发布许可&lt;/Text&gt;&#13;&#10;            &lt;Text style={{ fontSize: 16, color: 'rgba(29,27,22,0.62)', marginTop: 6 }}&gt;这一步由独立的物理审计员完成，它有权直接否掉诊断结论 —— 报告写完了不等于能发出去&lt;/Text&gt;&#13;&#10;        &lt;/Box&gt;&#13;&#10;        &lt;Box style={{ flexDirection: 'row', alignItems: 'center', gap: 8, padding: '9px 16px', background: '#1D1B16', borderRadius: 8 }}&gt;&#13;&#10;            &lt;Text style={{ fontSize: 15, fontWeight: 'bold', color: '#B8730F' }}&gt;Step 7 · FINAL_AUDIT&lt;/Text&gt;&#13;&#10;        &lt;/Box&gt;&#13;&#10;    &lt;/Box&gt;&#13;&#10;    &lt;Box style={{ width: 1160, height: 540, flexDirection: 'column', gap: 16 }}&gt;&#13;&#10;        &lt;Box style={{ height: 387, justifyContent: 'center', alignItems: 'center' }}&gt;&#13;&#10;            &lt;Image src=&quot;assets/12_audit.png&quot; style={{ width: 819, height: 387, borderRadius: 10, border: '1px solid rgba(29,27,22,0.10)' }} /&gt;&#13;&#10;        &lt;/Box&gt;&#13;&#10;        &lt;Box style={{ height: 137, flexDirection: 'row', gap: 18 }}&gt;&#13;&#10;            &lt;Box style={{ flex: 1, padding: 14, background: '#FFFFFF', borderRadius: 10, border: '1px solid rgba(29,27,22,0.10)' }}&gt;&#13;&#10;                &lt;Text style={{ fontSize: 18, fontWeight: 'bold', color: '#1D1B16' }}&gt;① 页首先声明范围&lt;/Text&gt;&#13;&#10;                &lt;Text style={{ fontSize: 15, color: 'rgba(29,27,22,0.72)', lineHeight: 1.5, marginTop: 6 }}&gt;审计只读本运行目录，输入件与隔离边界逐条列出，避免&quot;审了个寂寞&quot;。&lt;/Text&gt;&#13;&#10;            &lt;/Box&gt;&#13;&#10;            &lt;Box style={{ flex: 1, padding: 14, background: '#FFFFFF', borderRadius: 10, border: '1px solid rgba(29,27,22,0.10)' }}&gt;&#13;&#10;                &lt;Text style={{ fontSize: 18, fontWeight: 'bold', color: '#1D1B16' }}&gt;② 复核数字不靠信任&lt;/Text&gt;&#13;&#10;                &lt;Text style={{ fontSize: 15, color: 'rgba(29,27,22,0.72)', lineHeight: 1.5, marginTop: 6 }}&gt;审计员会自己重算关键统计量，而不是复述报告里的话 —— 对不上就判 FATAL。&lt;/Text&gt;&#13;&#10;            &lt;/Box&gt;&#13;&#10;            &lt;Box style={{ flex: 1, padding: 14, background: 'rgba(62,142,99,0.10)', borderRadius: 10, border: '1px solid rgba(62,142,99,0.35)' }}&gt;&#13;&#10;                &lt;Text style={{ fontSize: 18, fontWeight: 'bold', color: '#2F6F4C' }}&gt;③ ENDORSED 的含义&lt;/Text&gt;&#13;&#10;                &lt;Text style={{ fontSize: 15, color: 'rgba(29,27,22,0.78)', lineHeight: 1.5, marginTop: 6 }}&gt;本轮 FATAL 0 / MAJOR 0 / MINOR 3 · INFO 3，结论可对外发布。&lt;/Text&gt;&#13;&#10;            &lt;/Box&gt;&#13;&#10;            &lt;Box style={{ flex: 1, padding: 14, background: '#1D1B16', borderRadius: 10 }}&gt;&#13;&#10;                &lt;Text style={{ fontSize: 18, fontWeight: 'bold', color: '#F7F4EC' }}&gt;④ 不通过会怎样&lt;/Text&gt;&#13;&#10;                &lt;Text style={{ fontSize: 15, color: 'rgba(247,244,236,0.78)', lineHeight: 1.5, marginTop: 6 }}&gt;触发审计修复回路，最多两轮；仍不过则报告被拦在门外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页签读的是 optimizer.md —— 最终物理审计记录&lt;/Text&gt;&#13;&#10;        &lt;Text style={{ fontSize: 14, color: 'rgba(29,27,22,0.45)' }}&gt;20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88657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审计页签：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ENDORSED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才是发布许可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88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这一步由独立的物理审计员完成，它有权直接否掉诊断结论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报告写完了不等于能发出去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753600" y="495300"/>
            <a:ext cx="186690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906000" y="581025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Step 7 · FINAL_AUDIT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2200275" y="1143000"/>
            <a:ext cx="7800975" cy="36861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"/>
          <p:cNvPicPr>
            <a:picLocks noChangeAspect="1"/>
          </p:cNvPicPr>
          <p:nvPr/>
        </p:nvPicPr>
        <p:blipFill>
          <a:blip r:embed="rId1"/>
          <a:srcRect l="0" t="13" r="0" b="13"/>
          <a:stretch>
            <a:fillRect/>
          </a:stretch>
        </p:blipFill>
        <p:spPr>
          <a:xfrm rot="0" flipH="0" flipV="0">
            <a:off x="2200275" y="1143000"/>
            <a:ext cx="7800975" cy="3686175"/>
          </a:xfrm>
          <a:prstGeom prst="roundRect">
            <a:avLst>
              <a:gd name="adj" fmla="val 2584"/>
            </a:avLst>
          </a:prstGeom>
          <a:ln/>
        </p:spPr>
      </p:pic>
      <p:sp>
        <p:nvSpPr>
          <p:cNvPr id="275" name=""/>
          <p:cNvSpPr/>
          <p:nvPr/>
        </p:nvSpPr>
        <p:spPr>
          <a:xfrm rot="0" flipH="0" flipV="0">
            <a:off x="571500" y="4981575"/>
            <a:ext cx="2638425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4850" y="511492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页首先声明范围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4850" y="5381625"/>
            <a:ext cx="23717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审计只读本运行目录，输入件与隔离边界逐条列出，避免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审了个寂寞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381375" y="4981575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514725" y="51149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复核数字不靠信任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514725" y="5381625"/>
            <a:ext cx="23622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审计员会自己重算关键统计量，而不是复述报告里的话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对不上就判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FATAL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181725" y="4981575"/>
            <a:ext cx="2638425" cy="1304925"/>
          </a:xfrm>
          <a:prstGeom prst="roundRect">
            <a:avLst>
              <a:gd name="adj" fmla="val 7299"/>
            </a:avLst>
          </a:prstGeom>
          <a:solidFill>
            <a:srgbClr val="3E8E63">
              <a:alpha val="10000"/>
            </a:srgbClr>
          </a:solidFill>
          <a:ln w="12700">
            <a:solidFill>
              <a:srgbClr val="3E8E63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315075" y="511492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6F4C"/>
                </a:solidFill>
                <a:latin typeface="Microsoft YaHei"/>
                <a:ea typeface="Microsoft YaHei"/>
              </a:rPr>
              <a:t>③ ENDORSED </a:t>
            </a:r>
            <a:r>
              <a:rPr lang="zh-CN" sz="1350" b="1">
                <a:solidFill>
                  <a:srgbClr val="2F6F4C"/>
                </a:solidFill>
                <a:latin typeface="Microsoft YaHei"/>
                <a:ea typeface="Microsoft YaHei"/>
              </a:rPr>
              <a:t>的含义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315075" y="5381625"/>
            <a:ext cx="23717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本轮</a:t>
            </a:r>
            <a:r>
              <a:rPr lang="en-US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FATAL 0 / MAJOR 0 / MINOR 3 · INFO 3</a:t>
            </a: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，结论可对外发布。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991600" y="4981575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124950" y="51149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7F4EC"/>
                </a:solidFill>
                <a:latin typeface="Microsoft YaHei"/>
                <a:ea typeface="Microsoft YaHei"/>
              </a:rPr>
              <a:t>④ </a:t>
            </a: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不通过会怎样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124950" y="5381625"/>
            <a:ext cx="2362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7F4EC">
                    <a:alpha val="78000"/>
                  </a:srgbClr>
                </a:solidFill>
                <a:latin typeface="Microsoft YaHei"/>
                <a:ea typeface="Microsoft YaHei"/>
              </a:rPr>
              <a:t>触发审计修复回路，最多两轮；仍不过则报告被拦在门外。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页签读的是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optimizer.md ——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最终物理审计记录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20 / 31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89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6 章 · HTML 报告：拿去汇报的那一版&lt;/Text&gt;&#13;&#10;            &lt;Text style={{ fontSize: 16, color: 'rgba(29,27,22,0.62)', marginTop: 6 }}&gt;第三个页签在页面里直接渲染交互式可视化；图表可缩放、可悬停取值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ECharts + Three.js&lt;/Text&gt;&#13;&#10;        &lt;/Box&gt;&#13;&#10;    &lt;/Box&gt;&#13;&#10;    &lt;Box style={{ width: 1160, height: 540, flexDirection: 'column', gap: 16 }}&gt;&#13;&#10;        &lt;Box style={{ height: 412, justifyContent: 'center', alignItems: 'center' }}&gt;&#13;&#10;            &lt;Image src=&quot;assets/13_htmlreport.png&quot; style={{ width: 872, height: 412, borderRadius: 10, border: '1px solid rgba(29,27,22,0.10)' }} /&gt;&#13;&#10;        &lt;/Box&gt;&#13;&#10;        &lt;Box style={{ height: 112, flexDirection: 'row', gap: 18 }}&gt;&#13;&#10;            &lt;Box style={{ flex: 1, padding: 14, background: '#FFFFFF', borderRadius: 10, border: '1px solid rgba(29,27,22,0.10)' }}&gt;&#13;&#10;                &lt;Text style={{ fontSize: 18, fontWeight: 'bold', color: '#1D1B16' }}&gt;① 谁生成它&lt;/Text&gt;&#13;&#10;                &lt;Text style={{ fontSize: 15, color: 'rgba(29,27,22,0.72)', lineHeight: 1.5, marginTop: 6 }}&gt;Step 8 的可视化代理产出，随后 Step 8.5 由 HTML 复审代理检查可用性。&lt;/Text&gt;&#13;&#10;            &lt;/Box&gt;&#13;&#10;            &lt;Box style={{ flex: 1, padding: 14, background: '#FFFFFF', borderRadius: 10, border: '1px solid rgba(29,27,22,0.10)' }}&gt;&#13;&#10;                &lt;Text style={{ fontSize: 18, fontWeight: 'bold', color: '#1D1B16' }}&gt;② 事实源仍是 Markdown&lt;/Text&gt;&#13;&#10;                &lt;Text style={{ fontSize: 15, color: 'rgba(29,27,22,0.72)', lineHeight: 1.5, marginTop: 6 }}&gt;HTML 只是 report.md 的可视化外观；两者不一致时，以 Markdown 为准。&lt;/Text&gt;&#13;&#10;            &lt;/Box&gt;&#13;&#10;            &lt;Box style={{ flex: 1, padding: 14, background: 'rgba(184,115,15,0.10)', borderRadius: 10, border: '1px solid rgba(184,115,15,0.40)' }}&gt;&#13;&#10;                &lt;Text style={{ fontSize: 18, fontWeight: 'bold', color: '#8A5608' }}&gt;③ 什么时候用&lt;/Text&gt;&#13;&#10;                &lt;Text style={{ fontSize: 15, color: 'rgba(29,27,22,0.78)', lineHeight: 1.5, marginTop: 6 }}&gt;跨部门汇报、产线现场追溯、给不懂统计的人讲一次波动是怎么发生的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HTML 文件也可以单独发给别人，双击即可打开&lt;/Text&gt;&#13;&#10;        &lt;Text style={{ fontSize: 14, color: 'rgba(29,27,22,0.45)' }}&gt;21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0198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HTML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报告：拿去汇报的那一版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01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第三个页签在页面里直接渲染交互式可视化；图表可缩放、可悬停取值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10010775" y="495300"/>
            <a:ext cx="1609725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163175" y="581025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ECharts + Three.js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1943100" y="1143000"/>
            <a:ext cx="8305800" cy="39243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96" name=""/>
          <p:cNvPicPr>
            <a:picLocks noChangeAspect="1"/>
          </p:cNvPicPr>
          <p:nvPr/>
        </p:nvPicPr>
        <p:blipFill>
          <a:blip r:embed="rId1"/>
          <a:srcRect l="0" t="18" r="0" b="18"/>
          <a:stretch>
            <a:fillRect/>
          </a:stretch>
        </p:blipFill>
        <p:spPr>
          <a:xfrm rot="0" flipH="0" flipV="0">
            <a:off x="1943100" y="1143000"/>
            <a:ext cx="8305800" cy="3924300"/>
          </a:xfrm>
          <a:prstGeom prst="roundRect">
            <a:avLst>
              <a:gd name="adj" fmla="val 2427"/>
            </a:avLst>
          </a:prstGeom>
          <a:ln/>
        </p:spPr>
      </p:pic>
      <p:sp>
        <p:nvSpPr>
          <p:cNvPr id="297" name=""/>
          <p:cNvSpPr/>
          <p:nvPr/>
        </p:nvSpPr>
        <p:spPr>
          <a:xfrm rot="0" flipH="0" flipV="0">
            <a:off x="571500" y="5219700"/>
            <a:ext cx="3571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4850" y="535305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谁生成它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04850" y="5619750"/>
            <a:ext cx="33051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Step 8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的可视化代理产出，随后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Step 8.5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由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HTML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复审代理检查可用性。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314825" y="5219700"/>
            <a:ext cx="35623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48175" y="5353050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事实源仍是</a:t>
            </a: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 Markdown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448175" y="5619750"/>
            <a:ext cx="3295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HTML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只是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report.md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的可视化外观；两者不一致时，以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Markdown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为准。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048625" y="5219700"/>
            <a:ext cx="3571875" cy="1066800"/>
          </a:xfrm>
          <a:prstGeom prst="roundRect">
            <a:avLst>
              <a:gd name="adj" fmla="val 8929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181975" y="535305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什么时候用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81975" y="5619750"/>
            <a:ext cx="33051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跨部门汇报、产线现场追溯、给不懂统计的人讲一次波动是怎么发生的。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HTML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文件也可以单独发给别人，双击即可打开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21 / 31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8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6 章 · 报告清单：你要找的东西都在这&lt;/Text&gt;&#13;&#10;            &lt;Text style={{ fontSize: 16, color: 'rgba(29,27,22,0.62)', marginTop: 6 }}&gt;点左侧「报告」。这里按时间倒序列出所有运行，一行两个按钮，分工明确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本机 29 次运行&lt;/Text&gt;&#13;&#10;        &lt;/Box&gt;&#13;&#10;    &lt;/Box&gt;&#13;&#10;    &lt;Box style={{ width: 1160, height: 540, flexDirection: 'column', gap: 16 }}&gt;&#13;&#10;        &lt;Box style={{ height: 412, justifyContent: 'center', alignItems: 'center' }}&gt;&#13;&#10;            &lt;Image src=&quot;assets/10_reportlist.png&quot; style={{ width: 872, height: 412, borderRadius: 10, border: '1px solid rgba(29,27,22,0.10)' }} /&gt;&#13;&#10;        &lt;/Box&gt;&#13;&#10;        &lt;Box style={{ height: 112, flexDirection: 'row', gap: 18 }}&gt;&#13;&#10;            &lt;Box style={{ flex: 1, padding: 14, background: '#FFFFFF', borderRadius: 10, border: '1px solid rgba(29,27,22,0.10)' }}&gt;&#13;&#10;                &lt;Text style={{ fontSize: 18, fontWeight: 'bold', color: '#1D1B16' }}&gt;① 查看 = 全部产物&lt;/Text&gt;&#13;&#10;                &lt;Text style={{ fontSize: 15, color: 'rgba(29,27,22,0.72)', lineHeight: 1.5, marginTop: 6 }}&gt;列出这个运行目录下的每一件东西：报告、审计、HTML、中间件，都能点开。&lt;/Text&gt;&#13;&#10;            &lt;/Box&gt;&#13;&#10;            &lt;Box style={{ flex: 1, padding: 14, background: '#FFFFFF', borderRadius: 10, border: '1px solid rgba(29,27,22,0.10)' }}&gt;&#13;&#10;                &lt;Text style={{ fontSize: 18, fontWeight: 'bold', color: '#1D1B16' }}&gt;② 阅读报告 = 直接看结论&lt;/Text&gt;&#13;&#10;                &lt;Text style={{ fontSize: 15, color: 'rgba(29,27,22,0.72)', lineHeight: 1.5, marginTop: 6 }}&gt;跳过文件树，直接打开 Markdown 正文 —— 只想看结论时用这个。&lt;/Text&gt;&#13;&#10;            &lt;/Box&gt;&#13;&#10;            &lt;Box style={{ flex: 1, padding: 14, background: 'rgba(184,115,15,0.10)', borderRadius: 10, border: '1px solid rgba(184,115,15,0.40)' }}&gt;&#13;&#10;                &lt;Text style={{ fontSize: 18, fontWeight: 'bold', color: '#8A5608' }}&gt;③ 徽标看完整度&lt;/Text&gt;&#13;&#10;                &lt;Text style={{ fontSize: 15, color: 'rgba(29,27,22,0.78)', lineHeight: 1.5, marginTop: 6 }}&gt;带「审计」「HTML 报告」标签的运行说明产物更完整，优先看这些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只有「查看」没有「阅读报告」，说明该次运行没产出报告&lt;/Text&gt;&#13;&#10;        &lt;Text style={{ fontSize: 14, color: 'rgba(29,27,22,0.45)' }}&gt;22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150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报告清单：你要找的东西都在这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1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点左侧「报告」。这里按时间倒序列出所有运行，一行两个按钮，分工明确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0334625" y="495300"/>
            <a:ext cx="1285875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487025" y="58102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本机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29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次运行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1943100" y="1143000"/>
            <a:ext cx="8305800" cy="39243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 r:embed="rId1"/>
          <a:srcRect l="0" t="18" r="0" b="18"/>
          <a:stretch>
            <a:fillRect/>
          </a:stretch>
        </p:blipFill>
        <p:spPr>
          <a:xfrm rot="0" flipH="0" flipV="0">
            <a:off x="1943100" y="1143000"/>
            <a:ext cx="8305800" cy="3924300"/>
          </a:xfrm>
          <a:prstGeom prst="roundRect">
            <a:avLst>
              <a:gd name="adj" fmla="val 2427"/>
            </a:avLst>
          </a:prstGeom>
          <a:ln/>
        </p:spPr>
      </p:pic>
      <p:sp>
        <p:nvSpPr>
          <p:cNvPr id="316" name=""/>
          <p:cNvSpPr/>
          <p:nvPr/>
        </p:nvSpPr>
        <p:spPr>
          <a:xfrm rot="0" flipH="0" flipV="0">
            <a:off x="571500" y="5219700"/>
            <a:ext cx="3571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04850" y="535305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查看</a:t>
            </a: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 =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全部产物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04850" y="5619750"/>
            <a:ext cx="33051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列出这个运行目录下的每一件东西：报告、审计、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HTML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、中间件，都能点开。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314825" y="5219700"/>
            <a:ext cx="35623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448175" y="5353050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阅读报告</a:t>
            </a: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 =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直接看结论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448175" y="5619750"/>
            <a:ext cx="3295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跳过文件树，直接打开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Markdown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正文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只想看结论时用这个。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048625" y="5219700"/>
            <a:ext cx="3571875" cy="1066800"/>
          </a:xfrm>
          <a:prstGeom prst="roundRect">
            <a:avLst>
              <a:gd name="adj" fmla="val 8929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181975" y="535305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徽标看完整度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181975" y="5619750"/>
            <a:ext cx="33051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带「审计」「</a:t>
            </a:r>
            <a:r>
              <a:rPr lang="en-US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HTML </a:t>
            </a: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报告」标签的运行说明产物更完整，优先看这些。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只有「查看」没有「阅读报告」，说明该次运行没产出报告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22 / 31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27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7 章 · 历史账本与一键深度增强&lt;/Text&gt;&#10;            &lt;Text style={{ fontSize: 16, color: 'rgba(29,27,22,0.62)', marginTop: 6 }}&gt;这里回看每一次运行：谁跑的、跑到什么状态、拿了多少分、下一步能做什么&lt;/Text&gt;&#10;        &lt;/Box&gt;&#10;        &lt;Box style={{ flexDirection: 'row', alignItems: 'center', gap: 8, padding: '9px 16px', background: '#1D1B16', borderRadius: 8 }}&gt;&#10;            &lt;Text style={{ fontSize: 15, fontWeight: 'bold', color: '#B8730F' }}&gt;115 条历史记录&lt;/Text&gt;&#10;        &lt;/Box&gt;&#10;    &lt;/Box&gt;&#10;    &lt;Box style={{ width: 1160, height: 540, flexDirection: 'column', gap: 16 }}&gt;&#10;        &lt;Box style={{ height: 391, flexDirection: 'row', gap: 22 }}&gt;&#10;            &lt;Image src=&quot;assets/15_history.png&quot; style={{ width: 740, height: 391, borderRadius: 10, border: '1px solid rgba(29,27,22,0.10)' }} /&gt;&#10;            &lt;Box style={{ width: 398, height: 391, flexDirection: 'column', gap: 14 }}&gt;&#10;                &lt;Box style={{ height: 121, padding: 16, background: '#FFFFFF', borderRadius: 11, border: '1px solid rgba(29,27,22,0.10)', flexDirection: 'column' }}&gt;&#10;                    &lt;Text style={{ fontSize: 18, fontWeight: 'bold', color: '#1D1B16' }}&gt;① 引擎徽标&lt;/Text&gt;&#10;                    &lt;Text style={{ fontSize: 16, color: 'rgba(29,27,22,0.72)', lineHeight: 1.55, marginTop: 8 }}&gt;MOCK / CLAUDE / OMP —— 一眼看出这次是谁跑的。&lt;/Text&gt;&#10;                &lt;/Box&gt;&#10;                &lt;Box style={{ height: 121, padding: 16, background: '#FFFFFF', borderRadius: 11, border: '1px solid rgba(29,27,22,0.10)', flexDirection: 'column' }}&gt;&#10;                    &lt;Text style={{ fontSize: 18, fontWeight: 'bold', color: '#1D1B16' }}&gt;② 会话与报告&lt;/Text&gt;&#10;                    &lt;Text style={{ fontSize: 16, color: 'rgba(29,27,22,0.72)', lineHeight: 1.55, marginTop: 8 }}&gt;「会话」带着上下文继续追问；「报告」直接跳转产物。&lt;/Text&gt;&#10;                &lt;/Box&gt;&#10;                &lt;Box style={{ height: 121, padding: 16, background: 'rgba(184,115,15,0.10)', borderRadius: 11, border: '1px solid rgba(184,115,15,0.40)', flexDirection: 'column' }}&gt;&#10;                    &lt;Text style={{ fontSize: 18, fontWeight: 'bold', color: '#8A5608' }}&gt;③ 继续诊断 / 删除&lt;/Text&gt;&#10;                    &lt;Text style={{ fontSize: 16, color: 'rgba(29,27,22,0.78)', lineHeight: 1.55, marginTop: 8 }}&gt;被中断的运行可恢复；确认无用的记录可清理。&lt;/Text&gt;&#10;                &lt;/Box&gt;&#10;            &lt;/Box&gt;&#10;        &lt;/Box&gt;&#10;        &lt;Box style={{ height: 133, padding: 20, background: '#1D1B16', borderRadius: 12, flexDirection: 'row', alignItems: 'center', gap: 24 }}&gt;&#10;            &lt;Box style={{ width: 200, flexDirection: 'column' }}&gt;&#10;                &lt;Text style={{ fontSize: 30, fontWeight: 'bold', color: '#B8730F' }}&gt;深度增强&lt;/Text&gt;&#10;                &lt;Text style={{ fontSize: 15, color: 'rgba(247,244,236,0.62)', marginTop: 4 }}&gt;E0 – E8 确定性管线&lt;/Text&gt;&#10;            &lt;/Box&gt;&#10;            &lt;Text style={{ fontSize: 17, color: 'rgba(247,244,236,0.86)', lineHeight: 1.62, width: 880 }}&gt;对一个已经完成的运行点「深度增强」，系统会接着跑一段确定性增强管线：不调用大模型、不额外花钱，约 3–5 分钟，产出更细的覆盖矩阵与工况条件。增强产物还会回流进 RAG 知识库，越用越准。&lt;/Text&gt;&#10;        &lt;/Box&gt;&#10;    &lt;/Box&gt;&#10;    &lt;Box style={{ width: 1160, height: 40, flexDirection: 'row', alignItems: 'center', justifyContent: 'space-between' }}&gt;&#10;        &lt;Text style={{ fontSize: 14, color: 'rgba(29,27,22,0.45)' }}&gt;刷新与清空记录在右上角&lt;/Text&gt;&#10;        &lt;Text style={{ fontSize: 14, color: 'rgba(29,27,22,0.45)' }}&gt;2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181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7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历史账本与一键深度增强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这里回看每一次运行：谁跑的、跑到什么状态、拿了多少分、下一步能做什么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10287000" y="495300"/>
            <a:ext cx="133350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0439400" y="5810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115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条历史记录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71500" y="1143000"/>
            <a:ext cx="7048500" cy="372427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4" name=""/>
          <p:cNvPicPr>
            <a:picLocks noChangeAspect="1"/>
          </p:cNvPicPr>
          <p:nvPr/>
        </p:nvPicPr>
        <p:blipFill>
          <a:blip r:embed="rId1"/>
          <a:srcRect l="0" t="35" r="0" b="35"/>
          <a:stretch>
            <a:fillRect/>
          </a:stretch>
        </p:blipFill>
        <p:spPr>
          <a:xfrm rot="0" flipH="0" flipV="0">
            <a:off x="571500" y="1143000"/>
            <a:ext cx="7048500" cy="3724275"/>
          </a:xfrm>
          <a:prstGeom prst="roundRect">
            <a:avLst>
              <a:gd name="adj" fmla="val 2558"/>
            </a:avLst>
          </a:prstGeom>
          <a:ln/>
        </p:spPr>
      </p:pic>
      <p:sp>
        <p:nvSpPr>
          <p:cNvPr id="335" name=""/>
          <p:cNvSpPr/>
          <p:nvPr/>
        </p:nvSpPr>
        <p:spPr>
          <a:xfrm rot="0" flipH="0" flipV="0">
            <a:off x="7829550" y="1143000"/>
            <a:ext cx="3790950" cy="11525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981950" y="1295400"/>
            <a:ext cx="3486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引擎徽标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981950" y="1581150"/>
            <a:ext cx="3486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MOCK / CLAUDE / OMP ——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一眼看出这次是谁跑的。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7829550" y="2428875"/>
            <a:ext cx="3790950" cy="11525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981950" y="2581275"/>
            <a:ext cx="3486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会话与报告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981950" y="2867025"/>
            <a:ext cx="3486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「会话」带着上下文继续追问；「报告」直接跳转产物。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7829550" y="3714750"/>
            <a:ext cx="3790950" cy="1152525"/>
          </a:xfrm>
          <a:prstGeom prst="roundRect">
            <a:avLst>
              <a:gd name="adj" fmla="val 9091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981950" y="3867150"/>
            <a:ext cx="3486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继续诊断</a:t>
            </a: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981950" y="4152900"/>
            <a:ext cx="3486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被中断的运行可恢复；确认无用的记录可清理。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571500" y="5019675"/>
            <a:ext cx="11049000" cy="1266825"/>
          </a:xfrm>
          <a:prstGeom prst="roundRect">
            <a:avLst>
              <a:gd name="adj" fmla="val 9023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62000" y="5381625"/>
            <a:ext cx="1905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8730F"/>
                </a:solidFill>
                <a:latin typeface="Microsoft YaHei"/>
                <a:ea typeface="Microsoft YaHei"/>
              </a:rPr>
              <a:t>深度增强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62000" y="57626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E0 – E8 </a:t>
            </a:r>
            <a:r>
              <a:rPr lang="zh-CN" sz="11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确定性管线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2895600" y="5334000"/>
            <a:ext cx="83820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F7F4EC">
                    <a:alpha val="86000"/>
                  </a:srgbClr>
                </a:solidFill>
                <a:latin typeface="Microsoft YaHei"/>
                <a:ea typeface="Microsoft YaHei"/>
              </a:rPr>
              <a:t>对一个已经完成的运行点「深度增强」，系统会接着跑一段确定性增强管线：不调用大模型、不额外花钱，约</a:t>
            </a:r>
            <a:r>
              <a:rPr lang="en-US" sz="1275">
                <a:solidFill>
                  <a:srgbClr val="F7F4EC">
                    <a:alpha val="86000"/>
                  </a:srgbClr>
                </a:solidFill>
                <a:latin typeface="Microsoft YaHei"/>
                <a:ea typeface="Microsoft YaHei"/>
              </a:rPr>
              <a:t> 3–5 </a:t>
            </a:r>
            <a:r>
              <a:rPr lang="zh-CN" sz="1275">
                <a:solidFill>
                  <a:srgbClr val="F7F4EC">
                    <a:alpha val="86000"/>
                  </a:srgbClr>
                </a:solidFill>
                <a:latin typeface="Microsoft YaHei"/>
                <a:ea typeface="Microsoft YaHei"/>
              </a:rPr>
              <a:t>分钟，产出更细的覆盖矩阵与工况条件。增强产物还会回流进</a:t>
            </a:r>
            <a:r>
              <a:rPr lang="en-US" sz="1275">
                <a:solidFill>
                  <a:srgbClr val="F7F4EC">
                    <a:alpha val="86000"/>
                  </a:srgbClr>
                </a:solidFill>
                <a:latin typeface="Microsoft YaHei"/>
                <a:ea typeface="Microsoft YaHei"/>
              </a:rPr>
              <a:t> RAG </a:t>
            </a:r>
            <a:r>
              <a:rPr lang="zh-CN" sz="1275">
                <a:solidFill>
                  <a:srgbClr val="F7F4EC">
                    <a:alpha val="86000"/>
                  </a:srgbClr>
                </a:solidFill>
                <a:latin typeface="Microsoft YaHei"/>
                <a:ea typeface="Microsoft YaHei"/>
              </a:rPr>
              <a:t>知识库，越用越准。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刷新与清空记录在右上角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23 / 31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50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8 章 · 本体资产库：让下一次更快&lt;/Text&gt;&#10;            &lt;Text style={{ fontSize: 16, color: 'rgba(29,27,22,0.62)', marginTop: 6 }}&gt;把领域理解沉淀成可复用资产。同一场景再跑一次，本体构建能从 15.6 分钟压到半分钟以内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单次诊断提速约 70%&lt;/Text&gt;&#10;        &lt;/Box&gt;&#10;    &lt;/Box&gt;&#10;    &lt;Box style={{ width: 1160, height: 540, flexDirection: 'column', gap: 12 }}&gt;&#10;        &lt;Box style={{ height: 488, flexDirection: 'row', gap: 22 }}&gt;&#10;            &lt;Image src=&quot;assets/14_ontology.png&quot; style={{ width: 760, height: 488, borderRadius: 10, border: '1px solid rgba(29,27,22,0.10)' }} /&gt;&#10;            &lt;Box style={{ width: 378, height: 488, flexDirection: 'column', gap: 13 }}&gt;&#10;                &lt;Box style={{ height: 152, padding: 16, background: '#FFFFFF', borderRadius: 11, border: '1px solid rgba(29,27,22,0.10)', flexDirection: 'column' }}&gt;&#10;                    &lt;Text style={{ fontSize: 18, fontWeight: 'bold', color: '#1D1B16' }}&gt;① 资产清单&lt;/Text&gt;&#10;                    &lt;Text style={{ fontSize: 16, color: 'rgba(29,27,22,0.72)', lineHeight: 1.55, marginTop: 8 }}&gt;按场景 × 版本列出。每个场景后面标着多少工序、多少关系、是否校验通过。&lt;/Text&gt;&#10;                &lt;/Box&gt;&#10;                &lt;Box style={{ height: 152, padding: 16, background: '#FFFFFF', borderRadius: 11, border: '1px solid rgba(29,27,22,0.10)', flexDirection: 'column' }}&gt;&#10;                    &lt;Text style={{ fontSize: 18, fontWeight: 'bold', color: '#1D1B16' }}&gt;② 知识图谱&lt;/Text&gt;&#10;                    &lt;Text style={{ fontSize: 16, color: 'rgba(29,27,22,0.72)', lineHeight: 1.55, marginTop: 8 }}&gt;设备、测量点、工艺阶段、控制量之间的连线就是本次诊断的物理假设空间。&lt;/Text&gt;&#10;                &lt;/Box&gt;&#10;                &lt;Box style={{ height: 158, padding: 16, background: 'rgba(184,115,15,0.10)', borderRadius: 11, border: '1px solid rgba(184,115,15,0.40)', flexDirection: 'column' }}&gt;&#10;                    &lt;Text style={{ fontSize: 18, fontWeight: 'bold', color: '#8A5608' }}&gt;③ 质检与冲突清单&lt;/Text&gt;&#10;                    &lt;Text style={{ fontSize: 16, color: 'rgba(29,27,22,0.78)', lineHeight: 1.55, marginTop: 8 }}&gt;右侧给出模型健康分与冲突项，区分「孤立关系」「矛盾关系」等具体缺陷。&lt;/Text&gt;&#10;                &lt;/Box&gt;&#10;            &lt;/Box&gt;&#10;        &lt;/Box&gt;&#10;        &lt;Box style={{ height: 40, flexDirection: 'row', alignItems: 'center', gap: 12 }}&gt;&#10;            &lt;Text style={{ fontSize: 15, fontWeight: 'bold', color: '#B8730F' }}&gt;④ 三个页签随时切换&lt;/Text&gt;&#10;            &lt;Text style={{ fontSize: 15, color: 'rgba(29,27,22,0.68)' }}&gt;知识图谱 · 结构编辑 · 覆盖率 —— 只想看结论就留在图谱，要改结构就切到编辑。&lt;/Text&gt;&#10;        &lt;/Box&gt;&#10;    &lt;/Box&gt;&#10;    &lt;Box style={{ width: 1160, height: 40, flexDirection: 'row', alignItems: 'center', justifyContent: 'space-between' }}&gt;&#10;        &lt;Text style={{ fontSize: 14, color: 'rgba(29,27,22,0.45)' }}&gt;新增数据列会触发增量构建，只补差异、不重跑全量&lt;/Text&gt;&#10;        &lt;Text style={{ fontSize: 14, color: 'rgba(29,27,22,0.45)' }}&gt;24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1912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8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本体资产库：让下一次更快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19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把领域理解沉淀成可复用资产。同一场景再跑一次，本体构建能从</a:t>
            </a:r>
            <a:r>
              <a:rPr lang="en-US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 15.6 </a:t>
            </a: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分钟压到半分钟以内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9963150" y="495300"/>
            <a:ext cx="16573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0115550" y="58102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单次诊断提速约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70%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71500" y="1143000"/>
            <a:ext cx="7239000" cy="46482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"/>
          <p:cNvPicPr>
            <a:picLocks noChangeAspect="1"/>
          </p:cNvPicPr>
          <p:nvPr/>
        </p:nvPicPr>
        <p:blipFill>
          <a:blip r:embed="rId1"/>
          <a:srcRect l="28" t="0" r="28" b="0"/>
          <a:stretch>
            <a:fillRect/>
          </a:stretch>
        </p:blipFill>
        <p:spPr>
          <a:xfrm rot="0" flipH="0" flipV="0">
            <a:off x="571500" y="1143000"/>
            <a:ext cx="7239000" cy="4648200"/>
          </a:xfrm>
          <a:prstGeom prst="roundRect">
            <a:avLst>
              <a:gd name="adj" fmla="val 2049"/>
            </a:avLst>
          </a:prstGeom>
          <a:ln/>
        </p:spPr>
      </p:pic>
      <p:sp>
        <p:nvSpPr>
          <p:cNvPr id="358" name=""/>
          <p:cNvSpPr/>
          <p:nvPr/>
        </p:nvSpPr>
        <p:spPr>
          <a:xfrm rot="0" flipH="0" flipV="0">
            <a:off x="8020050" y="1143000"/>
            <a:ext cx="3600450" cy="14478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72450" y="1295400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资产清单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172450" y="1581150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按场景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×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版本列出。每个场景后面标着多少工序、多少关系、是否校验通过。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020050" y="2714625"/>
            <a:ext cx="3600450" cy="14478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72450" y="2867025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知识图谱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172450" y="3152775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设备、测量点、工艺阶段、控制量之间的连线就是本次诊断的物理假设空间。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8020050" y="4286250"/>
            <a:ext cx="3600450" cy="1504950"/>
          </a:xfrm>
          <a:prstGeom prst="roundRect">
            <a:avLst>
              <a:gd name="adj" fmla="val 6962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172450" y="4438650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A5608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8A5608"/>
                </a:solidFill>
                <a:latin typeface="Microsoft YaHei"/>
                <a:ea typeface="Microsoft YaHei"/>
              </a:rPr>
              <a:t>质检与冲突清单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72450" y="4724400"/>
            <a:ext cx="3295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右侧给出模型健康分与冲突项，区分「孤立关系」「矛盾关系」等具体缺陷。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60102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④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三个页签随时切换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019300" y="6010275"/>
            <a:ext cx="521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知识图谱</a:t>
            </a:r>
            <a:r>
              <a:rPr lang="en-US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结构编辑</a:t>
            </a:r>
            <a:r>
              <a:rPr lang="en-US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覆盖率</a:t>
            </a:r>
            <a:r>
              <a:rPr lang="en-US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1D1B16">
                    <a:alpha val="68000"/>
                  </a:srgbClr>
                </a:solidFill>
                <a:latin typeface="Microsoft YaHei"/>
                <a:ea typeface="Microsoft YaHei"/>
              </a:rPr>
              <a:t>只想看结论就留在图谱，要改结构就切到编辑。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新增数据列会触发增量构建，只补差异、不重跑全量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24 / 31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1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9 章 · 引擎原生产物：绕过界面看底层&lt;/Text&gt;&#13;&#10;            &lt;Text style={{ fontSize: 16, color: 'rgba(29,27,22,0.62)', marginTop: 6 }}&gt;点左侧最后一项。这里直接读引擎自己在磁盘上写下的运行目录，只读、不干预&lt;/Text&gt;&#13;&#10;        &lt;/Box&gt;&#13;&#10;        &lt;Box style={{ flexDirection: 'row', alignItems: 'center', gap: 8, padding: '9px 16px', background: '#1D1B16', borderRadius: 8 }}&gt;&#13;&#10;            &lt;Text style={{ fontSize: 15, fontWeight: 'bold', color: '#B8730F' }}&gt;25 总运行 · 17 已完成 · 16 HTML&lt;/Text&gt;&#13;&#10;        &lt;/Box&gt;&#13;&#10;    &lt;/Box&gt;&#13;&#10;    &lt;Box style={{ width: 1160, height: 540, flexDirection: 'column', gap: 16 }}&gt;&#13;&#10;        &lt;Box style={{ height: 418, justifyContent: 'center', alignItems: 'center' }}&gt;&#13;&#10;            &lt;Image src=&quot;assets/16_engines.png&quot; style={{ width: 886, height: 418, borderRadius: 10, border: '1px solid rgba(29,27,22,0.10)' }} /&gt;&#13;&#10;        &lt;/Box&gt;&#13;&#10;        &lt;Box style={{ height: 106, flexDirection: 'row', gap: 14 }}&gt;&#13;&#10;            &lt;Box style={{ flex: 1, padding: 13, background: '#FFFFFF', borderRadius: 10, border: '1px solid rgba(29,27,22,0.10)' }}&gt;&#13;&#10;                &lt;Text style={{ fontSize: 17, fontWeight: 'bold', color: '#1D1B16' }}&gt;① 在线状态 + 刷新&lt;/Text&gt;&#13;&#10;                &lt;Text style={{ fontSize: 15, color: 'rgba(29,27,22,0.72)', lineHeight: 1.45, marginTop: 5 }}&gt;显示引擎是否在线与已发现多少个运行目录。&lt;/Text&gt;&#13;&#10;            &lt;/Box&gt;&#13;&#10;            &lt;Box style={{ flex: 1, padding: 13, background: '#FFFFFF', borderRadius: 10, border: '1px solid rgba(29,27,22,0.10)' }}&gt;&#13;&#10;                &lt;Text style={{ fontSize: 17, fontWeight: 'bold', color: '#1D1B16' }}&gt;② 四个统计卡&lt;/Text&gt;&#13;&#10;                &lt;Text style={{ fontSize: 15, color: 'rgba(29,27,22,0.72)', lineHeight: 1.45, marginTop: 5 }}&gt;总运行 / 已完成 / 增强完成 / HTML 报告，一屏看产出总量。&lt;/Text&gt;&#13;&#10;            &lt;/Box&gt;&#13;&#10;            &lt;Box style={{ flex: 1, padding: 13, background: '#FFFFFF', borderRadius: 10, border: '1px solid rgba(29,27,22,0.10)' }}&gt;&#13;&#10;                &lt;Text style={{ fontSize: 17, fontWeight: 'bold', color: '#1D1B16' }}&gt;③ 运行卡片&lt;/Text&gt;&#13;&#10;                &lt;Text style={{ fontSize: 15, color: 'rgba(29,27,22,0.72)', lineHeight: 1.45, marginTop: 5 }}&gt;每张卡显示原生运行号、阶段状态与产物 / 代理计数。&lt;/Text&gt;&#13;&#10;            &lt;/Box&gt;&#13;&#10;            &lt;Box style={{ flex: 1, padding: 13, background: 'rgba(184,115,15,0.10)', borderRadius: 10, border: '1px solid rgba(184,115,15,0.40)' }}&gt;&#13;&#10;                &lt;Text style={{ fontSize: 17, fontWeight: 'bold', color: '#8A5608' }}&gt;④ 什么时候用它&lt;/Text&gt;&#13;&#10;                &lt;Text style={{ fontSize: 15, color: 'rgba(29,27,22,0.78)', lineHeight: 1.45, marginTop: 5 }}&gt;界面里看不到的中间件，来这里翻磁盘上的原始产物。&lt;/Text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读的是 workspace/diagnostic-runs 下的真实目录&lt;/Text&gt;&#13;&#10;        &lt;Text style={{ fontSize: 14, color: 'rgba(29,27,22,0.45)' }}&gt;25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150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9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引擎原生产物：绕过界面看底层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1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点左侧最后一项。这里直接读引擎自己在磁盘上写下的运行目录，只读、不干预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9067800" y="495300"/>
            <a:ext cx="2552700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220200" y="5810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25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总运行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· 17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已完成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· 16 HTML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1876425" y="1143000"/>
            <a:ext cx="8439150" cy="39814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8" name=""/>
          <p:cNvPicPr>
            <a:picLocks noChangeAspect="1"/>
          </p:cNvPicPr>
          <p:nvPr/>
        </p:nvPicPr>
        <p:blipFill>
          <a:blip r:embed="rId1"/>
          <a:srcRect l="0" t="0" r="0" b="0"/>
          <a:stretch>
            <a:fillRect/>
          </a:stretch>
        </p:blipFill>
        <p:spPr>
          <a:xfrm rot="0" flipH="0" flipV="0">
            <a:off x="1876425" y="1143000"/>
            <a:ext cx="8439150" cy="3981450"/>
          </a:xfrm>
          <a:prstGeom prst="roundRect">
            <a:avLst>
              <a:gd name="adj" fmla="val 2392"/>
            </a:avLst>
          </a:prstGeom>
          <a:ln/>
        </p:spPr>
      </p:pic>
      <p:sp>
        <p:nvSpPr>
          <p:cNvPr id="379" name=""/>
          <p:cNvSpPr/>
          <p:nvPr/>
        </p:nvSpPr>
        <p:spPr>
          <a:xfrm rot="0" flipH="0" flipV="0">
            <a:off x="571500" y="5276850"/>
            <a:ext cx="26670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95325" y="5400675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1D1B16"/>
                </a:solidFill>
                <a:latin typeface="Microsoft YaHei"/>
                <a:ea typeface="Microsoft YaHei"/>
              </a:rPr>
              <a:t>在线状态</a:t>
            </a:r>
            <a:r>
              <a:rPr lang="en-US" sz="1275" b="1">
                <a:solidFill>
                  <a:srgbClr val="1D1B16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1D1B16"/>
                </a:solidFill>
                <a:latin typeface="Microsoft YaHei"/>
                <a:ea typeface="Microsoft YaHei"/>
              </a:rPr>
              <a:t>刷新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95325" y="5648325"/>
            <a:ext cx="2419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显示引擎是否在线与已发现多少个运行目录。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371850" y="5276850"/>
            <a:ext cx="2657475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495675" y="5400675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1B16"/>
                </a:solidFill>
                <a:latin typeface="Microsoft YaHei"/>
                <a:ea typeface="Microsoft YaHei"/>
              </a:rPr>
              <a:t>② </a:t>
            </a:r>
            <a:r>
              <a:rPr lang="zh-CN" sz="1275" b="1">
                <a:solidFill>
                  <a:srgbClr val="1D1B16"/>
                </a:solidFill>
                <a:latin typeface="Microsoft YaHei"/>
                <a:ea typeface="Microsoft YaHei"/>
              </a:rPr>
              <a:t>四个统计卡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495675" y="5648325"/>
            <a:ext cx="24098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总运行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已完成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增强完成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HTML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报告，一屏看产出总量。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162675" y="5276850"/>
            <a:ext cx="26670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286500" y="5400675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1B16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1D1B16"/>
                </a:solidFill>
                <a:latin typeface="Microsoft YaHei"/>
                <a:ea typeface="Microsoft YaHei"/>
              </a:rPr>
              <a:t>运行卡片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286500" y="5648325"/>
            <a:ext cx="24193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每张卡显示原生运行号、阶段状态与产物</a:t>
            </a:r>
            <a:r>
              <a:rPr lang="en-US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代理计数。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8963025" y="5276850"/>
            <a:ext cx="2657475" cy="1009650"/>
          </a:xfrm>
          <a:prstGeom prst="roundRect">
            <a:avLst>
              <a:gd name="adj" fmla="val 9434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086850" y="5400675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A5608"/>
                </a:solidFill>
                <a:latin typeface="Microsoft YaHei"/>
                <a:ea typeface="Microsoft YaHei"/>
              </a:rPr>
              <a:t>④ </a:t>
            </a:r>
            <a:r>
              <a:rPr lang="zh-CN" sz="1275" b="1">
                <a:solidFill>
                  <a:srgbClr val="8A5608"/>
                </a:solidFill>
                <a:latin typeface="Microsoft YaHei"/>
                <a:ea typeface="Microsoft YaHei"/>
              </a:rPr>
              <a:t>什么时候用它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9086850" y="5648325"/>
            <a:ext cx="24098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界面里看不到的中间件，来这里翻磁盘上的原始产物。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300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读的是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workspace/diagnostic-runs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下的真实目录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25 / 31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93" name="" descr="&lt;Slide style={{ padding: '20px 60px', background: '#F7F4EC' }}&gt;&#13;&#10;    &lt;Box style={{ width: 1160, height: 100, flexDirection: 'row', alignItems: 'center', justifyContent: 'space-between' }}&gt;&#13;&#10;        &lt;Box style={{ flexDirection: 'column' }}&gt;&#13;&#10;            &lt;Text style={{ fontSize: 34, fontWeight: 'bold', color: '#1D1B16', lineHeight: 1.25 }}&gt;第 9 章 · 展开一个运行：五个页签看全证据面&lt;/Text&gt;&#13;&#10;            &lt;Text style={{ fontSize: 16, color: 'rgba(29,27,22,0.62)', marginTop: 6 }}&gt;点任意一张运行卡片展开，就能看到这次运行的全部分级产物与执行证明&lt;/Text&gt;&#13;&#10;        &lt;/Box&gt;&#13;&#10;        &lt;Box style={{ flexDirection: 'row', alignItems: 'center', gap: 8, padding: '9px 16px', background: 'rgba(184,115,15,0.12)', border: '1px solid rgba(184,115,15,0.45)', borderRadius: 8 }}&gt;&#13;&#10;            &lt;Text style={{ fontSize: 15, fontWeight: 'bold', color: '#B8730F' }}&gt;真实运行 #r18-omp-cement&lt;/Text&gt;&#13;&#10;        &lt;/Box&gt;&#13;&#10;    &lt;/Box&gt;&#13;&#10;    &lt;Box style={{ width: 1160, height: 540, flexDirection: 'column', gap: 16 }}&gt;&#13;&#10;        &lt;Box style={{ height: 358, justifyContent: 'center', alignItems: 'center' }}&gt;&#13;&#10;            &lt;Image src=&quot;assets/17_enginedetail.png&quot; style={{ width: 1117, height: 358, borderRadius: 10, border: '1px solid rgba(29,27,22,0.10)' }} /&gt;&#13;&#10;        &lt;/Box&gt;&#13;&#10;        &lt;Box style={{ height: 166, flexDirection: 'row', gap: 20 }}&gt;&#13;&#10;            &lt;Box style={{ flex: 1, padding: 18, background: '#FFFFFF', borderRadius: 12, border: '1px solid rgba(29,27,22,0.10)', flexDirection: 'column' }}&gt;&#13;&#10;                &lt;Text style={{ fontSize: 19, fontWeight: 'bold', color: '#1D1B16' }}&gt;① 五个页签，一条证据链&lt;/Text&gt;&#13;&#10;                &lt;Text style={{ fontSize: 16, color: 'rgba(29,27,22,0.72)', lineHeight: 1.6, marginTop: 9 }}&gt;概览看运行态与代理；执行证明列出每一步的执行记录；报告与 HTML 预览直接读产物；增强产物放 E0–E8 的产出一共存。&lt;/Text&gt;&#13;&#10;                &lt;Box style={{ marginTop: 'auto', padding: '8px 11px', background: 'rgba(228,220,203,0.75)', borderRadius: 7 }}&gt;&#13;&#10;                    &lt;Text style={{ fontSize: 15, color: 'rgba(29,27,22,0.80)' }}&gt;五页签位置固定，不随运行变化&lt;/Text&gt;&#13;&#10;                &lt;/Box&gt;&#13;&#10;            &lt;/Box&gt;&#13;&#10;            &lt;Box style={{ flex: 1, padding: 18, background: 'rgba(184,115,15,0.10)', borderRadius: 12, border: '1px solid rgba(184,115,15,0.40)', flexDirection: 'column' }}&gt;&#13;&#10;                &lt;Text style={{ fontSize: 19, fontWeight: 'bold', color: '#8A5608' }}&gt;② 两条管线状态并列&lt;/Text&gt;&#13;&#10;                &lt;Text style={{ fontSize: 16, color: 'rgba(29,27,22,0.78)', lineHeight: 1.6, marginTop: 9 }}&gt;基线管线显示执行状态、审批结果、报告与结论；增量管线显示增强是否触发。本图显示 in_progress，说明它还在跑 —— 这正是实时性的一部分。&lt;/Text&gt;&#13;&#10;                &lt;Box style={{ marginTop: 'auto', padding: '8px 11px', background: 'rgba(184,115,15,0.20)', borderRadius: 7 }}&gt;&#13;&#10;                    &lt;Text style={{ fontSize: 15, color: '#8A5608' }}&gt;跑完这里会变成 complete&lt;/Text&gt;&#13;&#10;                &lt;/Box&gt;&#13;&#10;            &lt;/Box&gt;&#13;&#10;        &lt;/Box&gt;&#13;&#10;    &lt;/Box&gt;&#13;&#10;    &lt;Box style={{ width: 1160, height: 40, flexDirection: 'row', alignItems: 'center', justifyContent: 'space-between' }}&gt;&#13;&#10;        &lt;Text style={{ fontSize: 14, color: 'rgba(29,27,22,0.45)' }}&gt;这一页是排查「跑没跑完」最直接的证据&lt;/Text&gt;&#13;&#10;        &lt;Text style={{ fontSize: 14, color: 'rgba(29,27,22,0.45)' }}&gt;26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5627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9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展开一个运行：五个页签看全证据面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56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点任意一张运行卡片展开，就能看到这次运行的全部分级产物与执行证明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9382125" y="495300"/>
            <a:ext cx="2238375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534525" y="581025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真实运行</a:t>
            </a: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 #r18-omp-cement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781050" y="1143000"/>
            <a:ext cx="10639425" cy="340995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00" name=""/>
          <p:cNvPicPr>
            <a:picLocks noChangeAspect="1"/>
          </p:cNvPicPr>
          <p:nvPr/>
        </p:nvPicPr>
        <p:blipFill>
          <a:blip r:embed="rId1"/>
          <a:srcRect l="0" t="18" r="0" b="18"/>
          <a:stretch>
            <a:fillRect/>
          </a:stretch>
        </p:blipFill>
        <p:spPr>
          <a:xfrm rot="0" flipH="0" flipV="0">
            <a:off x="781050" y="1143000"/>
            <a:ext cx="10639425" cy="3409950"/>
          </a:xfrm>
          <a:prstGeom prst="roundRect">
            <a:avLst>
              <a:gd name="adj" fmla="val 2793"/>
            </a:avLst>
          </a:prstGeom>
          <a:ln/>
        </p:spPr>
      </p:pic>
      <p:sp>
        <p:nvSpPr>
          <p:cNvPr id="401" name=""/>
          <p:cNvSpPr/>
          <p:nvPr/>
        </p:nvSpPr>
        <p:spPr>
          <a:xfrm rot="0" flipH="0" flipV="0">
            <a:off x="571500" y="4705350"/>
            <a:ext cx="542925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42950" y="4876800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425" b="1">
                <a:solidFill>
                  <a:srgbClr val="1D1B16"/>
                </a:solidFill>
                <a:latin typeface="Microsoft YaHei"/>
                <a:ea typeface="Microsoft YaHei"/>
              </a:rPr>
              <a:t>五个页签，一条证据链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42950" y="5181600"/>
            <a:ext cx="5086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概览看运行态与代理；执行证明列出每一步的执行记录；报告与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HTML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预览直接读产物；增强产物放</a:t>
            </a:r>
            <a:r>
              <a:rPr lang="en-US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E0–E8 </a:t>
            </a:r>
            <a:r>
              <a:rPr lang="zh-CN" sz="1200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的产出一共存。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742950" y="5791200"/>
            <a:ext cx="5086350" cy="323850"/>
          </a:xfrm>
          <a:prstGeom prst="roundRect">
            <a:avLst>
              <a:gd name="adj" fmla="val 20588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47725" y="58674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五页签位置固定，不随运行变化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191250" y="4705350"/>
            <a:ext cx="5429250" cy="1581150"/>
          </a:xfrm>
          <a:prstGeom prst="roundRect">
            <a:avLst>
              <a:gd name="adj" fmla="val 7229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362700" y="4876800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8A5608"/>
                </a:solidFill>
                <a:latin typeface="Microsoft YaHei"/>
                <a:ea typeface="Microsoft YaHei"/>
              </a:rPr>
              <a:t>② </a:t>
            </a:r>
            <a:r>
              <a:rPr lang="zh-CN" sz="1425" b="1">
                <a:solidFill>
                  <a:srgbClr val="8A5608"/>
                </a:solidFill>
                <a:latin typeface="Microsoft YaHei"/>
                <a:ea typeface="Microsoft YaHei"/>
              </a:rPr>
              <a:t>两条管线状态并列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362700" y="5181600"/>
            <a:ext cx="5086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基线管线显示执行状态、审批结果、报告与结论；增量管线显示增强是否触发。本图显示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in_progress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，说明它还在跑</a:t>
            </a:r>
            <a:r>
              <a:rPr lang="en-US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这正是实时性的一部分。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362700" y="5791200"/>
            <a:ext cx="5086350" cy="323850"/>
          </a:xfrm>
          <a:prstGeom prst="roundRect">
            <a:avLst>
              <a:gd name="adj" fmla="val 20588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467475" y="58674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跑完这里会变成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complete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这一页是排查「跑没跑完」最直接的证据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26 / 31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13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0 章 · 一次诊断到底留下了什么&lt;/Text&gt;&#10;            &lt;Text style={{ fontSize: 16, color: 'rgba(29,27,22,0.62)', marginTop: 6 }}&gt;磁盘上的目录结构才是硬证据；界面上的状态只是它的一个视图&lt;/Text&gt;&#10;        &lt;/Box&gt;&#10;        &lt;Box style={{ flexDirection: 'row', alignItems: 'center', gap: 8, padding: '9px 16px', background: '#1D1B16', borderRadius: 8 }}&gt;&#10;            &lt;Text style={{ fontSize: 15, fontWeight: 'bold', color: '#B8730F' }}&gt;跑完就能在本地找到&lt;/Text&gt;&#10;        &lt;/Box&gt;&#10;    &lt;/Box&gt;&#10;    &lt;Box style={{ width: 1160, height: 540, flexDirection: 'column', gap: 16 }}&gt;&#10;        &lt;Box style={{ height: 449, justifyContent: 'center', alignItems: 'center' }}&gt;&#10;            &lt;Image src=&quot;assets/d_layout.png&quot; style={{ width: 1160, height: 449, borderRadius: 10, border: '1px solid rgba(29,27,22,0.10)' }} /&gt;&#10;        &lt;/Box&gt;&#10;        &lt;Box style={{ height: 75, padding: 16, background: 'rgba(184,115,15,0.10)', borderRadius: 10, borderLeft: '4px solid #B8730F', justifyContent: 'center' }}&gt;&#10;            &lt;Text style={{ fontSize: 17, color: '#1D1B16', lineHeight: 1.6 }}&gt;只有 &lt;span style={{ fontWeight: 'bold', color: '#8A5608' }}&gt;.pipeline_events.jsonl&lt;/span&gt; 能通过管线日志校验，这次运行才算真正执行完毕 —— 界面状态与磁盘证据是两套独立口径，后者才是可交付的凭据。&lt;/Text&gt;&#10;        &lt;/Box&gt;&#10;    &lt;/Box&gt;&#10;    &lt;Box style={{ width: 1160, height: 40, flexDirection: 'row', alignItems: 'center', justifyContent: 'space-between' }}&gt;&#10;        &lt;Text style={{ fontSize: 14, color: 'rgba(29,27,22,0.45)' }}&gt;每个运行一个目录，编号带时间戳，不会互相覆盖&lt;/Text&gt;&#10;        &lt;Text style={{ fontSize: 14, color: 'rgba(29,27,22,0.45)' }}&gt;2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1435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10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一次诊断到底留下了什么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14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磁盘上的目录结构才是硬证据；界面上的状态只是它的一个视图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10029825" y="495300"/>
            <a:ext cx="159067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182225" y="5810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跑完就能在本地找到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571500" y="1143000"/>
            <a:ext cx="11049000" cy="4276725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0" name=""/>
          <p:cNvPicPr>
            <a:picLocks noChangeAspect="1"/>
          </p:cNvPicPr>
          <p:nvPr/>
        </p:nvPicPr>
        <p:blipFill>
          <a:blip r:embed="rId1"/>
          <a:srcRect l="41" t="0" r="41" b="0"/>
          <a:stretch>
            <a:fillRect/>
          </a:stretch>
        </p:blipFill>
        <p:spPr>
          <a:xfrm rot="0" flipH="0" flipV="0">
            <a:off x="571500" y="1143000"/>
            <a:ext cx="11049000" cy="4276725"/>
          </a:xfrm>
          <a:prstGeom prst="roundRect">
            <a:avLst>
              <a:gd name="adj" fmla="val 2227"/>
            </a:avLst>
          </a:prstGeom>
          <a:ln/>
        </p:spPr>
      </p:pic>
      <p:sp>
        <p:nvSpPr>
          <p:cNvPr id="421" name=""/>
          <p:cNvSpPr/>
          <p:nvPr/>
        </p:nvSpPr>
        <p:spPr>
          <a:xfrm rot="0" flipH="0" flipV="0">
            <a:off x="609600" y="557212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B8730F">
              <a:alpha val="10000"/>
            </a:srgbClr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609600" y="5572125"/>
            <a:ext cx="11049000" cy="714375"/>
          </a:xfrm>
          <a:custGeom>
            <a:pathLst>
              <a:path w="1160" h="7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9"/>
                </a:lnTo>
                <a:cubicBezTo>
                  <a:pt x="4" y="72"/>
                  <a:pt x="6" y="74"/>
                  <a:pt x="9" y="75"/>
                </a:cubicBezTo>
                <a:cubicBezTo>
                  <a:pt x="4" y="74"/>
                  <a:pt x="0" y="70"/>
                  <a:pt x="0" y="6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B8730F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62000" y="5772150"/>
            <a:ext cx="10706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只有</a:t>
            </a:r>
            <a:r>
              <a:rPr lang="en-US" sz="1275">
                <a:solidFill>
                  <a:srgbClr val="1D1B16"/>
                </a:solidFill>
                <a:latin typeface="Microsoft YaHei"/>
                <a:ea typeface="Microsoft YaHei"/>
              </a:rPr>
              <a:t> </a:t>
            </a:r>
            <a:r>
              <a:rPr lang="en-US" sz="1275" b="1">
                <a:solidFill>
                  <a:srgbClr val="8A5608"/>
                </a:solidFill>
                <a:latin typeface="Microsoft YaHei"/>
                <a:ea typeface="Microsoft YaHei"/>
              </a:rPr>
              <a:t>.pipeline_events.jsonl</a:t>
            </a:r>
            <a:r>
              <a:rPr lang="en-US" sz="1275">
                <a:solidFill>
                  <a:srgbClr val="1D1B16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能通过管线日志校验，这次运行才算真正执行完毕</a:t>
            </a:r>
            <a:r>
              <a:rPr lang="en-US" sz="1275">
                <a:solidFill>
                  <a:srgbClr val="1D1B16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D1B16"/>
                </a:solidFill>
                <a:latin typeface="Microsoft YaHei"/>
                <a:ea typeface="Microsoft YaHei"/>
              </a:rPr>
              <a:t>界面状态与磁盘证据是两套独立口径，后者才是可交付的凭据。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每个运行一个目录，编号带时间戳，不会互相覆盖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27 / 31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26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1 章 · 全貌：9 步 + 9 道闸门&lt;/Text&gt;&#10;            &lt;Text style={{ fontSize: 16, color: 'rgba(29,27,22,0.62)', marginTop: 6 }}&gt;把前面所有操作串起来看：诊断是排除、每一道闸门都可能回退重跑，最后只留下守得住的结论&lt;/Text&gt;&#10;        &lt;/Box&gt;&#10;        &lt;Box style={{ flexDirection: 'row', alignItems: 'center', gap: 8, padding: '9px 16px', background: 'rgba(184,115,15,0.12)', border: '1px solid rgba(184,115,15,0.45)', borderRadius: 8 }}&gt;&#10;            &lt;Text style={{ fontSize: 15, fontWeight: 'bold', color: '#B8730F' }}&gt;Step 5a ∥ 5b 是唯一并行段&lt;/Text&gt;&#10;        &lt;/Box&gt;&#10;    &lt;/Box&gt;&#10;    &lt;Box style={{ width: 1160, height: 540, justifyContent: 'center', alignItems: 'center' }}&gt;&#10;        &lt;Image src=&quot;assets/d_pipeline.png&quot; style={{ width: 1028, height: 540, borderRadius: 10, border: '1px solid rgba(29,27,22,0.10)' }} /&gt;&#10;    &lt;/Box&gt;&#10;    &lt;Box style={{ width: 1160, height: 40, flexDirection: 'row', alignItems: 'center', justifyContent: 'space-between' }}&gt;&#10;        &lt;Text style={{ fontSize: 14, color: 'rgba(29,27,22,0.45)' }}&gt;CP-6 不过 → 自愈回路；CP-8 不过 → 审计修复回路；全局重诊上限 5 次&lt;/Text&gt;&#10;        &lt;Text style={{ fontSize: 14, color: 'rgba(29,27,22,0.45)' }}&gt;2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4008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11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全貌：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9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步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+ 9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道闸门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40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把前面所有操作串起来看：诊断是排除、每一道闸门都可能回退重跑，最后只留下守得住的结论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9505950" y="495300"/>
            <a:ext cx="2114550" cy="342900"/>
          </a:xfrm>
          <a:prstGeom prst="roundRect">
            <a:avLst>
              <a:gd name="adj" fmla="val 22222"/>
            </a:avLst>
          </a:prstGeom>
          <a:solidFill>
            <a:srgbClr val="B8730F">
              <a:alpha val="12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658350" y="5810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Step 5a ∥ 5b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是唯一并行段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1200150" y="1143000"/>
            <a:ext cx="9791700" cy="51435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33" name=""/>
          <p:cNvPicPr>
            <a:picLocks noChangeAspect="1"/>
          </p:cNvPicPr>
          <p:nvPr/>
        </p:nvPicPr>
        <p:blipFill>
          <a:blip r:embed="rId1"/>
          <a:srcRect l="0" t="0" r="0" b="0"/>
          <a:stretch>
            <a:fillRect/>
          </a:stretch>
        </p:blipFill>
        <p:spPr>
          <a:xfrm rot="0" flipH="0" flipV="0">
            <a:off x="1200150" y="1143000"/>
            <a:ext cx="9791700" cy="5143500"/>
          </a:xfrm>
          <a:prstGeom prst="roundRect">
            <a:avLst>
              <a:gd name="adj" fmla="val 1852"/>
            </a:avLst>
          </a:prstGeom>
          <a:ln/>
        </p:spPr>
      </p:pic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CP-6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不过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自愈回路；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CP-8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不过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审计修复回路；全局重诊上限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28 / 31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36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1 章 · 手机上也能用&lt;/Text&gt;&#10;            &lt;Text style={{ fontSize: 16, color: 'rgba(29,27,22,0.62)', marginTop: 6 }}&gt;同一套代码覆盖手机、平板、笔电、桌面与超宽屏；窄屏时侧栏折成顶部条，导航进抽屉&lt;/Text&gt;&#10;        &lt;/Box&gt;&#10;        &lt;Box style={{ flexDirection: 'row', alignItems: 'center', gap: 8, padding: '9px 16px', background: '#1D1B16', borderRadius: 8 }}&gt;&#10;            &lt;Text style={{ fontSize: 15, fontWeight: 'bold', color: '#B8730F' }}&gt;390px 宽度实测&lt;/Text&gt;&#10;        &lt;/Box&gt;&#10;    &lt;/Box&gt;&#10;    &lt;Box style={{ width: 1160, height: 540, flexDirection: 'column', gap: 16 }}&gt;&#10;        &lt;Box style={{ height: 460, flexDirection: 'row', gap: 22 }}&gt;&#10;            &lt;Box style={{ width: 470, height: 460, justifyContent: 'center', alignItems: 'center' }}&gt;&#10;                &lt;Image src=&quot;assets/18_phone.png&quot; style={{ width: 470, height: 460, borderRadius: 10, border: '1px solid rgba(29,27,22,0.10)' }} /&gt;&#10;            &lt;/Box&gt;&#10;            &lt;Box style={{ width: 668, height: 460, flexDirection: 'column', gap: 16 }}&gt;&#10;                &lt;Box style={{ height: 214, padding: 20, background: '#FFFFFF', borderRadius: 12, border: '1px solid rgba(29,27,22,0.10)', flexDirection: 'column' }}&gt;&#10;                    &lt;Text style={{ fontSize: 20, fontWeight: 'bold', color: '#1D1B16' }}&gt;① 折行发生在 900px&lt;/Text&gt;&#10;                    &lt;Text style={{ fontSize: 17, color: 'rgba(29,27,22,0.72)', lineHeight: 1.62, marginTop: 10 }}&gt;宽于 900px 时，左侧是一条竖向导航栏；窄于 900px 时，它自动折成页面顶部的横条，并把七个入口收进右侧抽屉，不占内容区。&lt;/Text&gt;&#10;                    &lt;Box style={{ marginTop: 'auto', padding: '9px 12px', background: 'rgba(228,220,203,0.75)', borderRadius: 7 }}&gt;&#10;                        &lt;Text style={{ fontSize: 15, color: 'rgba(29,27,22,0.80)' }}&gt;布局切换无横向滚动条&lt;/Text&gt;&#10;                    &lt;/Box&gt;&#10;                &lt;/Box&gt;&#10;                &lt;Box style={{ height: 214, padding: 20, background: 'rgba(184,115,15,0.10)', borderRadius: 12, border: '1px solid rgba(184,115,15,0.40)', flexDirection: 'column' }}&gt;&#10;                    &lt;Text style={{ fontSize: 20, fontWeight: 'bold', color: '#8A5608' }}&gt;② 手机上能做完整个闭环&lt;/Text&gt;&#10;                    &lt;Text style={{ fontSize: 17, color: 'rgba(29,27,22,0.78)', lineHeight: 1.62, marginTop: 10 }}&gt;上传数据、发起诊断、盯运行进度、读报告、看历史 —— 全部可用。产线上巡检时掏出手机就能确认昨晚那批料的结论，不用回办公室。&lt;/Text&gt;&#10;                    &lt;Box style={{ marginTop: 'auto', padding: '9px 12px', background: 'rgba(184,115,15,0.20)', borderRadius: 7 }}&gt;&#10;                        &lt;Text style={{ fontSize: 15, color: '#8A5608' }}&gt;报表型 HTML 在手机上也自适应&lt;/Text&gt;&#10;                    &lt;/Box&gt;&#10;                &lt;/Box&gt;&#10;            &lt;/Box&gt;&#10;        &lt;/Box&gt;&#10;        &lt;Box style={{ height: 60, padding: 16, background: '#1D1B16', borderRadius: 10, flexDirection: 'row', alignItems: 'center', gap: 16 }}&gt;&#10;            &lt;Text style={{ fontSize: 17, fontWeight: 'bold', color: '#F0A93B' }}&gt;注意&lt;/Text&gt;&#10;            &lt;Text style={{ fontSize: 16, color: 'rgba(247,244,236,0.84)' }}&gt;窄屏下表格会保留列语义但压缩内边距，长文本以省略号截断，鼠标悬停可看全文 —— 不会出现错位或遮挡。&lt;/Text&gt;&#10;        &lt;/Box&gt;&#10;    &lt;/Box&gt;&#10;    &lt;Box style={{ width: 1160, height: 40, flexDirection: 'row', alignItems: 'center', justifyContent: 'space-between' }}&gt;&#10;        &lt;Text style={{ fontSize: 14, color: 'rgba(29,27,22,0.45)' }}&gt;手机访问用电脑的局域网 IP 即可，端口仍是 5180&lt;/Text&gt;&#10;        &lt;Text style={{ fontSize: 14, color: 'rgba(29,27,22,0.45)' }}&gt;2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9436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11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手机上也能用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同一套代码覆盖手机、平板、笔电、桌面与超宽屏；窄屏时侧栏折成顶部条，导航进抽屉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10258425" y="495300"/>
            <a:ext cx="1362075" cy="342900"/>
          </a:xfrm>
          <a:prstGeom prst="roundRect">
            <a:avLst>
              <a:gd name="adj" fmla="val 22222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0410825" y="58102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8730F"/>
                </a:solidFill>
                <a:latin typeface="Microsoft YaHei"/>
                <a:ea typeface="Microsoft YaHei"/>
              </a:rPr>
              <a:t>390px </a:t>
            </a:r>
            <a:r>
              <a:rPr lang="zh-CN" sz="1125" b="1">
                <a:solidFill>
                  <a:srgbClr val="B8730F"/>
                </a:solidFill>
                <a:latin typeface="Microsoft YaHei"/>
                <a:ea typeface="Microsoft YaHei"/>
              </a:rPr>
              <a:t>宽度实测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571500" y="1143000"/>
            <a:ext cx="4476750" cy="4381500"/>
          </a:xfrm>
          <a:prstGeom prst="rect">
            <a:avLst/>
          </a:prstGeom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3" name=""/>
          <p:cNvPicPr>
            <a:picLocks noChangeAspect="1"/>
          </p:cNvPicPr>
          <p:nvPr/>
        </p:nvPicPr>
        <p:blipFill>
          <a:blip r:embed="rId1"/>
          <a:srcRect l="0" t="11" r="0" b="11"/>
          <a:stretch>
            <a:fillRect/>
          </a:stretch>
        </p:blipFill>
        <p:spPr>
          <a:xfrm rot="0" flipH="0" flipV="0">
            <a:off x="571500" y="1143000"/>
            <a:ext cx="4476750" cy="4381500"/>
          </a:xfrm>
          <a:prstGeom prst="roundRect">
            <a:avLst>
              <a:gd name="adj" fmla="val 2174"/>
            </a:avLst>
          </a:prstGeom>
          <a:ln/>
        </p:spPr>
      </p:pic>
      <p:sp>
        <p:nvSpPr>
          <p:cNvPr id="444" name=""/>
          <p:cNvSpPr/>
          <p:nvPr/>
        </p:nvSpPr>
        <p:spPr>
          <a:xfrm rot="0" flipH="0" flipV="0">
            <a:off x="5257800" y="1143000"/>
            <a:ext cx="63627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1D1B1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448300" y="133350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D1B16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1D1B16"/>
                </a:solidFill>
                <a:latin typeface="Microsoft YaHei"/>
                <a:ea typeface="Microsoft YaHei"/>
              </a:rPr>
              <a:t>折行发生在</a:t>
            </a:r>
            <a:r>
              <a:rPr lang="en-US" sz="1500" b="1">
                <a:solidFill>
                  <a:srgbClr val="1D1B16"/>
                </a:solidFill>
                <a:latin typeface="Microsoft YaHei"/>
                <a:ea typeface="Microsoft YaHei"/>
              </a:rPr>
              <a:t> 900px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448300" y="1657350"/>
            <a:ext cx="59817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宽于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900px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时，左侧是一条竖向导航栏；窄于</a:t>
            </a:r>
            <a:r>
              <a:rPr lang="en-US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 900px </a:t>
            </a:r>
            <a:r>
              <a:rPr lang="zh-CN" sz="1275">
                <a:solidFill>
                  <a:srgbClr val="1D1B16">
                    <a:alpha val="72000"/>
                  </a:srgbClr>
                </a:solidFill>
                <a:latin typeface="Microsoft YaHei"/>
                <a:ea typeface="Microsoft YaHei"/>
              </a:rPr>
              <a:t>时，它自动折成页面顶部的横条，并把七个入口收进右侧抽屉，不占内容区。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5448300" y="2647950"/>
            <a:ext cx="5981700" cy="342900"/>
          </a:xfrm>
          <a:prstGeom prst="roundRect">
            <a:avLst>
              <a:gd name="adj" fmla="val 19444"/>
            </a:avLst>
          </a:prstGeom>
          <a:solidFill>
            <a:srgbClr val="E4DCCB">
              <a:alpha val="75000"/>
            </a:srgbClr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562600" y="2733675"/>
            <a:ext cx="575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布局切换无横向滚动条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5257800" y="3333750"/>
            <a:ext cx="6362700" cy="2038350"/>
          </a:xfrm>
          <a:prstGeom prst="roundRect">
            <a:avLst>
              <a:gd name="adj" fmla="val 5607"/>
            </a:avLst>
          </a:prstGeom>
          <a:solidFill>
            <a:srgbClr val="B8730F">
              <a:alpha val="10000"/>
            </a:srgbClr>
          </a:solidFill>
          <a:ln w="12700">
            <a:solidFill>
              <a:srgbClr val="B8730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448300" y="352425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A5608"/>
                </a:solidFill>
                <a:latin typeface="Microsoft YaHei"/>
                <a:ea typeface="Microsoft YaHei"/>
              </a:rPr>
              <a:t>② </a:t>
            </a:r>
            <a:r>
              <a:rPr lang="zh-CN" sz="1500" b="1">
                <a:solidFill>
                  <a:srgbClr val="8A5608"/>
                </a:solidFill>
                <a:latin typeface="Microsoft YaHei"/>
                <a:ea typeface="Microsoft YaHei"/>
              </a:rPr>
              <a:t>手机上能做完整个闭环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448300" y="3848100"/>
            <a:ext cx="59817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上传数据、发起诊断、盯运行进度、读报告、看历史</a:t>
            </a:r>
            <a:r>
              <a:rPr lang="en-US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D1B16">
                    <a:alpha val="78000"/>
                  </a:srgbClr>
                </a:solidFill>
                <a:latin typeface="Microsoft YaHei"/>
                <a:ea typeface="Microsoft YaHei"/>
              </a:rPr>
              <a:t>全部可用。产线上巡检时掏出手机就能确认昨晚那批料的结论，不用回办公室。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5448300" y="4838700"/>
            <a:ext cx="5981700" cy="342900"/>
          </a:xfrm>
          <a:prstGeom prst="roundRect">
            <a:avLst>
              <a:gd name="adj" fmla="val 19444"/>
            </a:avLst>
          </a:prstGeom>
          <a:solidFill>
            <a:srgbClr val="B8730F">
              <a:alpha val="20000"/>
            </a:srgbClr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5562600" y="4924425"/>
            <a:ext cx="575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报表型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HTML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在手机上也自适应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71500" y="56769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23900" y="58674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A93B"/>
                </a:solidFill>
                <a:latin typeface="Microsoft YaHei"/>
                <a:ea typeface="Microsoft YaHei"/>
              </a:rPr>
              <a:t>注意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200150" y="5867400"/>
            <a:ext cx="7439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84000"/>
                  </a:srgbClr>
                </a:solidFill>
                <a:latin typeface="Microsoft YaHei"/>
                <a:ea typeface="Microsoft YaHei"/>
              </a:rPr>
              <a:t>窄屏下表格会保留列语义但压缩内边距，长文本以省略号截断，鼠标悬停可看全文</a:t>
            </a:r>
            <a:r>
              <a:rPr lang="en-US" sz="1200">
                <a:solidFill>
                  <a:srgbClr val="F7F4EC">
                    <a:alpha val="84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F7F4EC">
                    <a:alpha val="84000"/>
                  </a:srgbClr>
                </a:solidFill>
                <a:latin typeface="Microsoft YaHei"/>
                <a:ea typeface="Microsoft YaHei"/>
              </a:rPr>
              <a:t>不会出现错位或遮挡。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95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手机访问用电脑的局域网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IP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即可，端口仍是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5180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29 / 31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469" name="" descr="&lt;Slide style={{ padding: '20px 60px', background: '#F7F4EC' }}&gt;&#10;    &lt;Box style={{ width: 1160, height: 100, flexDirection: 'row', alignItems: 'center', justifyContent: 'space-between' }}&gt;&#10;        &lt;Box style={{ flexDirection: 'column' }}&gt;&#10;            &lt;Text style={{ fontSize: 34, fontWeight: 'bold', color: '#1D1B16', lineHeight: 1.25 }}&gt;第 12 章 · 排错速查：三个等级，按顺序查&lt;/Text&gt;&#10;            &lt;Text style={{ fontSize: 16, color: 'rgba(29,27,22,0.62)', marginTop: 6 }}&gt;九成问题落在这三类里；先看现象，再按顺序做检查，不用猜&lt;/Text&gt;&#10;        &lt;/Box&gt;&#10;        &lt;Box style={{ flexDirection: 'row', alignItems: 'center', gap: 8, padding: '9px 16px', background: 'rgba(168,68,42,0.12)', border: '1px solid rgba(168,68,42,0.45)', borderRadius: 8 }}&gt;&#10;            &lt;Text style={{ fontSize: 15, fontWeight: 'bold', color: '#A8442A' }}&gt;先查 L1，再查 L2&lt;/Text&gt;&#10;        &lt;/Box&gt;&#10;    &lt;/Box&gt;&#10;    &lt;Box style={{ width: 1160, height: 540, flexDirection: 'row', gap: 20 }}&gt;&#10;        &lt;Box style={{ flex: 1, height: 540, padding: 20, background: '#FFFFFF', borderRadius: 12, border: '1px solid rgba(29,27,22,0.10)', borderTop: '4px solid #A8442A', flexDirection: 'column' }}&gt;&#10;            &lt;Box style={{ flexDirection: 'row', alignItems: 'center', gap: 10 }}&gt;&#10;                &lt;Box style={{ padding: '4px 10px', background: '#A8442A', borderRadius: 6 }}&gt;&#10;                    &lt;Text style={{ fontSize: 14, fontWeight: 'bold', color: '#FFFFFF' }}&gt;L1 · 起不来&lt;/Text&gt;&#10;                &lt;/Box&gt;&#10;                &lt;Text style={{ fontSize: 18, fontWeight: 'bold', color: '#1D1B16' }}&gt;服务根本没跑&lt;/Text&gt;&#10;            &lt;/Box&gt;&#10;            &lt;Text style={{ fontSize: 16, color: 'rgba(29,27,22,0.80)', lineHeight: 1.72, marginTop: 14 }}&gt;现象：访问 5180 打不开，或 ind-diag status 里某一行不是 running。&lt;br /&gt;&lt;br /&gt;① 端口被占用：查 3210 / 5180 / 8764 三个端口，杀掉占用的进程再启动。&lt;br /&gt;&lt;br /&gt;② 命令不返回、报 Service manager timeout：几乎一定是漏了 --detach，服务其实已经起来。&lt;br /&gt;&lt;br /&gt;③ RAG 起不来：先确认 Python ≥ 3.10，再切镜像源重跑 uv sync，日志看 .runtime/rag.log。&lt;/Text&gt;&#10;            &lt;Box style={{ marginTop: 'auto', padding: '10px 12px', background: 'rgba(168,68,42,0.10)', borderRadius: 8 }}&gt;&#10;                &lt;Text style={{ fontSize: 15, color: '#A8442A', lineHeight: 1.5 }}&gt;先看日志再动手：三个日志文件都在 .runtime/ 下&lt;/Text&gt;&#10;            &lt;/Box&gt;&#10;        &lt;/Box&gt;&#10;        &lt;Box style={{ flex: 1, height: 540, padding: 20, background: '#FFFFFF', borderRadius: 12, border: '1px solid rgba(29,27,22,0.10)', borderTop: '4px solid #B8730F', flexDirection: 'column' }}&gt;&#10;            &lt;Box style={{ flexDirection: 'row', alignItems: 'center', gap: 10 }}&gt;&#10;                &lt;Box style={{ padding: '4px 10px', background: '#B8730F', borderRadius: 6 }}&gt;&#10;                    &lt;Text style={{ fontSize: 14, fontWeight: 'bold', color: '#FFFFFF' }}&gt;L2 · 跑不起来&lt;/Text&gt;&#10;                &lt;/Box&gt;&#10;                &lt;Text style={{ fontSize: 18, fontWeight: 'bold', color: '#1D1B16' }}&gt;服务活着，诊断发不出去&lt;/Text&gt;&#10;            &lt;/Box&gt;&#10;            &lt;Text style={{ fontSize: 16, color: 'rgba(29,27,22,0.80)', lineHeight: 1.72, marginTop: 14 }}&gt;现象：点了开始诊断没反应，或立刻失败。&lt;br /&gt;&lt;br /&gt;① 引擎未登录：跑 claude --version / omp --version 确认 CLI 可用；缺 Key 就补 .env。&lt;br /&gt;&lt;br /&gt;② 返回 400 HARNESS_UNKNOWN：引擎名拼错了，前端下拉里选。&lt;br /&gt;&lt;br /&gt;③ 返回 409 HARNESS_UNAVAILABLE：引擎没装，换一个已就绪的，或先装 CLI。&lt;/Text&gt;&#10;            &lt;Box style={{ marginTop: 'auto', padding: '10px 12px', background: 'rgba(184,115,15,0.12)', borderRadius: 8 }}&gt;&#10;                &lt;Text style={{ fontSize: 15, color: '#8A5608', lineHeight: 1.5 }}&gt;先拿 Mock 引擎跑一遍，能通说明是引擎问题不是系统问题&lt;/Text&gt;&#10;            &lt;/Box&gt;&#10;        &lt;/Box&gt;&#10;        &lt;Box style={{ flex: 1, height: 540, padding: 20, background: '#FFFFFF', borderRadius: 12, border: '1px solid rgba(29,27,22,0.10)', borderTop: '4px solid #2F6FA8', flexDirection: 'column' }}&gt;&#10;            &lt;Box style={{ flexDirection: 'row', alignItems: 'center', gap: 10 }}&gt;&#10;                &lt;Box style={{ padding: '4px 10px', background: '#2F6FA8', borderRadius: 6 }}&gt;&#10;                    &lt;Text style={{ fontSize: 14, fontWeight: 'bold', color: '#FFFFFF' }}&gt;L3 · 结果不对&lt;/Text&gt;&#10;                &lt;/Box&gt;&#10;                &lt;Text style={{ fontSize: 18, fontWeight: 'bold', color: '#1D1B16' }}&gt;跑完了但结论奇怪&lt;/Text&gt;&#10;            &lt;/Box&gt;&#10;            &lt;Text style={{ fontSize: 16, color: 'rgba(29,27,22,0.80)', lineHeight: 1.72, marginTop: 14 }}&gt;现象：结论不合理、评分低、或反复重跑。&lt;br /&gt;&lt;br /&gt;① 先读结论列：COMPETING_SET 不代表失败，它是在告诉你数据不足以区分假设，页面上会列出「最小判别数据集」。&lt;br /&gt;&lt;br /&gt;② 检查问题栏写清楚没有 —— 泛泛的问题只会得到泛泛的结论。&lt;br /&gt;&lt;br /&gt;③ 查 .pipeline_events.jsonl 确认是否真的执行完；没跑完的运行不算证据。&lt;/Text&gt;&#10;            &lt;Box style={{ marginTop: 'auto', padding: '10px 12px', background: 'rgba(47,111,168,0.10)', borderRadius: 8 }}&gt;&#10;                &lt;Text style={{ fontSize: 15, color: '#2F6FA8', lineHeight: 1.5 }}&gt;不确定是否正常？去引擎运行页看产物覆盖是否齐全&lt;/Text&gt;&#10;            &lt;/Box&gt;&#10;        &lt;/Box&gt;&#10;    &lt;/Box&gt;&#10;    &lt;Box style={{ width: 1160, height: 40, flexDirection: 'row', alignItems: 'center', justifyContent: 'space-between' }}&gt;&#10;        &lt;Text style={{ fontSize: 14, color: 'rgba(29,27,22,0.45)' }}&gt;三张卡已按「先看现象 → 再定位」的顺序排好&lt;/Text&gt;&#10;        &lt;Text style={{ fontSize: 14, color: 'rgba(29,27,22,0.45)' }}&gt;30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611505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12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章</a:t>
            </a:r>
            <a:r>
              <a:rPr lang="en-US" sz="2550" b="1">
                <a:solidFill>
                  <a:srgbClr val="1D1B16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D1B16"/>
                </a:solidFill>
                <a:latin typeface="Microsoft YaHei"/>
                <a:ea typeface="Microsoft YaHei"/>
              </a:rPr>
              <a:t>排错速查：三个等级，按顺序查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11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B16">
                    <a:alpha val="62000"/>
                  </a:srgbClr>
                </a:solidFill>
                <a:latin typeface="Microsoft YaHei"/>
                <a:ea typeface="Microsoft YaHei"/>
              </a:rPr>
              <a:t>九成问题落在这三类里；先看现象，再按顺序做检查，不用猜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10182225" y="495300"/>
            <a:ext cx="1438275" cy="342900"/>
          </a:xfrm>
          <a:prstGeom prst="roundRect">
            <a:avLst>
              <a:gd name="adj" fmla="val 22222"/>
            </a:avLst>
          </a:prstGeom>
          <a:solidFill>
            <a:srgbClr val="A8442A">
              <a:alpha val="12000"/>
            </a:srgbClr>
          </a:solidFill>
          <a:ln w="12700">
            <a:solidFill>
              <a:srgbClr val="A8442A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0334625" y="581025"/>
            <a:ext cx="113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442A"/>
                </a:solidFill>
                <a:latin typeface="Microsoft YaHei"/>
                <a:ea typeface="Microsoft YaHei"/>
              </a:rPr>
              <a:t>先查</a:t>
            </a:r>
            <a:r>
              <a:rPr lang="en-US" sz="1125" b="1">
                <a:solidFill>
                  <a:srgbClr val="A8442A"/>
                </a:solidFill>
                <a:latin typeface="Microsoft YaHei"/>
                <a:ea typeface="Microsoft YaHei"/>
              </a:rPr>
              <a:t> L1</a:t>
            </a:r>
            <a:r>
              <a:rPr lang="zh-CN" sz="1125" b="1">
                <a:solidFill>
                  <a:srgbClr val="A8442A"/>
                </a:solidFill>
                <a:latin typeface="Microsoft YaHei"/>
                <a:ea typeface="Microsoft YaHei"/>
              </a:rPr>
              <a:t>，再查</a:t>
            </a:r>
            <a:r>
              <a:rPr lang="en-US" sz="1125" b="1">
                <a:solidFill>
                  <a:srgbClr val="A8442A"/>
                </a:solidFill>
                <a:latin typeface="Microsoft YaHei"/>
                <a:ea typeface="Microsoft YaHei"/>
              </a:rPr>
              <a:t> L2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571500" y="1181100"/>
            <a:ext cx="3552825" cy="51054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571500" y="1181100"/>
            <a:ext cx="3552825" cy="5105400"/>
          </a:xfrm>
          <a:custGeom>
            <a:pathLst>
              <a:path w="373" h="536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A8442A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762000" y="1371600"/>
            <a:ext cx="885825" cy="238125"/>
          </a:xfrm>
          <a:prstGeom prst="roundRect">
            <a:avLst>
              <a:gd name="adj" fmla="val 24000"/>
            </a:avLst>
          </a:prstGeom>
          <a:solidFill>
            <a:srgbClr val="A8442A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57250" y="1409700"/>
            <a:ext cx="695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L1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起不来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743075" y="13906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服务根本没跑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62000" y="1743075"/>
            <a:ext cx="3171825" cy="409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现象：访问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5180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打不开，或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ind-diag status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里某一行不是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running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端口被占用：查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3210 / 5180 / 8764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三个端口，杀掉占用的进程再启动。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②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命令不返回、报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Service manager timeout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：几乎一定是漏了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--detach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，服务其实已经起来。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③ RAG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起不来：先确认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Python ≥ 3.10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，再切镜像源重跑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uv sync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，日志看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.runtime/rag.log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762000" y="5391150"/>
            <a:ext cx="3171825" cy="704850"/>
          </a:xfrm>
          <a:prstGeom prst="roundRect">
            <a:avLst>
              <a:gd name="adj" fmla="val 10811"/>
            </a:avLst>
          </a:prstGeom>
          <a:solidFill>
            <a:srgbClr val="A8442A">
              <a:alpha val="10000"/>
            </a:srgbClr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76300" y="5486400"/>
            <a:ext cx="2943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A8442A"/>
                </a:solidFill>
                <a:latin typeface="Microsoft YaHei"/>
                <a:ea typeface="Microsoft YaHei"/>
              </a:rPr>
              <a:t>先看日志再动手：三个日志文件都在</a:t>
            </a:r>
            <a:r>
              <a:rPr lang="en-US" sz="1125">
                <a:solidFill>
                  <a:srgbClr val="A8442A"/>
                </a:solidFill>
                <a:latin typeface="Microsoft YaHei"/>
                <a:ea typeface="Microsoft YaHei"/>
              </a:rPr>
              <a:t> .runtime/ </a:t>
            </a:r>
            <a:r>
              <a:rPr lang="zh-CN" sz="1125">
                <a:solidFill>
                  <a:srgbClr val="A8442A"/>
                </a:solidFill>
                <a:latin typeface="Microsoft YaHei"/>
                <a:ea typeface="Microsoft YaHei"/>
              </a:rPr>
              <a:t>下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4314825" y="1181100"/>
            <a:ext cx="3562350" cy="510540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4314825" y="1181100"/>
            <a:ext cx="3562350" cy="5105400"/>
          </a:xfrm>
          <a:custGeom>
            <a:pathLst>
              <a:path w="374" h="536">
                <a:moveTo>
                  <a:pt x="363" y="0"/>
                </a:moveTo>
                <a:cubicBezTo>
                  <a:pt x="368" y="0"/>
                  <a:pt x="373" y="4"/>
                  <a:pt x="374" y="10"/>
                </a:cubicBezTo>
                <a:cubicBezTo>
                  <a:pt x="373" y="6"/>
                  <a:pt x="370" y="4"/>
                  <a:pt x="3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B8730F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4505325" y="1371600"/>
            <a:ext cx="1019175" cy="238125"/>
          </a:xfrm>
          <a:prstGeom prst="roundRect">
            <a:avLst>
              <a:gd name="adj" fmla="val 24000"/>
            </a:avLst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4600575" y="14097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L2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跑不起来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619750" y="139065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服务活着，诊断发不出去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505325" y="1743075"/>
            <a:ext cx="3181350" cy="3152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现象：点了开始诊断没反应，或立刻失败。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引擎未登录：跑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claude --version / omp --version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确认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CLI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可用；缺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Key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就补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.env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②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返回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400 HARNESS_UNKNOWN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：引擎名拼错了，前端下拉里选。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③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返回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409 HARNESS_UNAVAILABLE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：引擎没装，换一个已就绪的，或先装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CLI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4505325" y="5391150"/>
            <a:ext cx="3181350" cy="704850"/>
          </a:xfrm>
          <a:prstGeom prst="roundRect">
            <a:avLst>
              <a:gd name="adj" fmla="val 10811"/>
            </a:avLst>
          </a:prstGeom>
          <a:solidFill>
            <a:srgbClr val="B8730F">
              <a:alpha val="12000"/>
            </a:srgbClr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4619625" y="5486400"/>
            <a:ext cx="2952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先拿</a:t>
            </a:r>
            <a:r>
              <a:rPr lang="en-US" sz="1125">
                <a:solidFill>
                  <a:srgbClr val="8A5608"/>
                </a:solidFill>
                <a:latin typeface="Microsoft YaHei"/>
                <a:ea typeface="Microsoft YaHei"/>
              </a:rPr>
              <a:t> Mock </a:t>
            </a:r>
            <a:r>
              <a:rPr lang="zh-CN" sz="1125">
                <a:solidFill>
                  <a:srgbClr val="8A5608"/>
                </a:solidFill>
                <a:latin typeface="Microsoft YaHei"/>
                <a:ea typeface="Microsoft YaHei"/>
              </a:rPr>
              <a:t>引擎跑一遍，能通说明是引擎问题不是系统问题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8067675" y="1181100"/>
            <a:ext cx="3552825" cy="510540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8067675" y="1181100"/>
            <a:ext cx="3552825" cy="5105400"/>
          </a:xfrm>
          <a:custGeom>
            <a:pathLst>
              <a:path w="373" h="536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2F6FA8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8258175" y="1371600"/>
            <a:ext cx="1019175" cy="238125"/>
          </a:xfrm>
          <a:prstGeom prst="roundRect">
            <a:avLst>
              <a:gd name="adj" fmla="val 24000"/>
            </a:avLst>
          </a:prstGeom>
          <a:solidFill>
            <a:srgbClr val="2F6FA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353425" y="14097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L3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结果不对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372600" y="13906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1B16"/>
                </a:solidFill>
                <a:latin typeface="Microsoft YaHei"/>
                <a:ea typeface="Microsoft YaHei"/>
              </a:rPr>
              <a:t>跑完了但结论奇怪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258175" y="1743075"/>
            <a:ext cx="3171825" cy="3467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现象：结论不合理、评分低、或反复重跑。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先读结论列：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COMPETING_SET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不代表失败，它是在告诉你数据不足以区分假设，页面上会列出「最小判别数据集」。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②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检查问题栏写清楚没有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泛泛的问题只会得到泛泛的结论。</a:t>
            </a:r>
            <a:endParaRPr/>
          </a:p>
          <a:p>
            <a:pPr>
              <a:lnSpc>
                <a:spcPct val="172000"/>
              </a:lnSpc>
            </a:pPr>
            <a:r>
              <a:rPr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③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查</a:t>
            </a:r>
            <a:r>
              <a:rPr lang="en-US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 .pipeline_events.jsonl </a:t>
            </a:r>
            <a:r>
              <a:rPr lang="zh-CN" sz="1200">
                <a:solidFill>
                  <a:srgbClr val="1D1B16">
                    <a:alpha val="80000"/>
                  </a:srgbClr>
                </a:solidFill>
                <a:latin typeface="Microsoft YaHei"/>
                <a:ea typeface="Microsoft YaHei"/>
              </a:rPr>
              <a:t>确认是否真的执行完；没跑完的运行不算证据。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8258175" y="5391150"/>
            <a:ext cx="3171825" cy="704850"/>
          </a:xfrm>
          <a:prstGeom prst="roundRect">
            <a:avLst>
              <a:gd name="adj" fmla="val 10811"/>
            </a:avLst>
          </a:prstGeom>
          <a:solidFill>
            <a:srgbClr val="2F6FA8">
              <a:alpha val="10000"/>
            </a:srgbClr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72475" y="5486400"/>
            <a:ext cx="2943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2F6FA8"/>
                </a:solidFill>
                <a:latin typeface="Microsoft YaHei"/>
                <a:ea typeface="Microsoft YaHei"/>
              </a:rPr>
              <a:t>不确定是否正常？去引擎运行页看产物覆盖是否齐全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71500" y="6400800"/>
            <a:ext cx="2752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三张卡已按「先看现象</a:t>
            </a: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再定位」的顺序排好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11633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1B16">
                    <a:alpha val="45000"/>
                  </a:srgbClr>
                </a:solidFill>
                <a:latin typeface="Microsoft YaHei"/>
                <a:ea typeface="Microsoft YaHei"/>
              </a:rPr>
              <a:t>30 / 31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style={{ padding: 0, background: '#1D1B16', position: 'relative', overflow: 'hidden' }}&gt;&#10;    &lt;Box style={{ position: 'absolute', left: -140, bottom: -180, width: 620, height: 620, background: 'linear-gradient(135deg, #B8730F 0%, #1D1B16 100%)', opacity: 0.30 }} /&gt;&#10;    &lt;Box style={{ position: 'absolute', left: 0, top: 0, width: 1280, height: 6, background: '#B8730F' }} /&gt;&#10;    &lt;Box style={{ flexDirection: 'column', width: 1280, height: 720, padding: '72px 76px 56px 76px', position: 'relative' }}&gt;&#10;        &lt;Box style={{ flexDirection: 'row', alignItems: 'center', gap: 16 }}&gt;&#10;            &lt;Box style={{ width: 48, height: 48, border: '2px solid #B8730F', borderRadius: 10, justifyContent: 'center', alignItems: 'center' }}&gt;&#10;                &lt;Text style={{ fontSize: 19, fontWeight: 'bold', color: '#B8730F' }}&gt;ID&lt;/Text&gt;&#10;            &lt;/Box&gt;&#10;            &lt;Text style={{ fontSize: 13, color: 'rgba(247,244,236,0.55)', letterSpacing: 3 }}&gt;INDUSTRIAL DEEP DIAGNOSTIC · 使用教程&lt;/Text&gt;&#10;        &lt;/Box&gt;&#10;        &lt;Text style={{ fontSize: 64, fontWeight: 'bold', color: '#F7F4EC', lineHeight: 1.2, marginTop: 54 }}&gt;三个命令起来，&lt;br /&gt;一次诊断到底。&lt;/Text&gt;&#10;        &lt;Text style={{ fontSize: 19, color: 'rgba(247,244,236,0.72)', lineHeight: 1.7, marginTop: 24, width: 900 }}&gt;剩下的交给那九步管线：它不会为了取悦你而编造根因，也不会在数据说不清的时候硬给一个答案。你现在已经知道每一步该点哪里了。&lt;/Text&gt;&#10;        &lt;Box style={{ flexDirection: 'row', gap: 16, marginTop: 44 }}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01&lt;/Text&gt;&#10;                &lt;Text style={{ fontSize: 17, color: '#F7F4EC', fontWeight: 'bold', marginTop: 8 }}&gt;装好&lt;/Text&gt;&#10;                &lt;Text style={{ fontSize: 15, color: 'rgba(247,244,236,0.68)', marginTop: 6, lineHeight: 1.5 }}&gt;npm install &amp;amp;&amp;amp; npm link&lt;/Text&gt;&#10;            &lt;/Box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02&lt;/Text&gt;&#10;                &lt;Text style={{ fontSize: 17, color: '#F7F4EC', fontWeight: 'bold', marginTop: 8 }}&gt;起服务&lt;/Text&gt;&#10;                &lt;Text style={{ fontSize: 15, color: 'rgba(247,244,236,0.68)', marginTop: 6, lineHeight: 1.5 }}&gt;ind-diag start --all --detach&lt;/Text&gt;&#10;            &lt;/Box&gt;&#10;            &lt;Box style={{ flex: 1, padding: '18px 20px', background: 'rgba(184,115,15,0.14)', border: '1px solid rgba(184,115,15,0.45)', borderRadius: 10 }}&gt;&#10;                &lt;Text style={{ fontSize: 13, color: '#B8730F', letterSpacing: 2, fontWeight: 'bold' }}&gt;03&lt;/Text&gt;&#10;                &lt;Text style={{ fontSize: 17, color: '#F7F4EC', fontWeight: 'bold', marginTop: 8 }}&gt;开浏览器&lt;/Text&gt;&#10;                &lt;Text style={{ fontSize: 15, color: 'rgba(247,244,236,0.68)', marginTop: 6, lineHeight: 1.5 }}&gt;http://localhost:5180&lt;/Text&gt;&#10;            &lt;/Box&gt;&#10;        &lt;/Box&gt;&#10;        &lt;Box style={{ flexDirection: 'row', alignItems: 'center', justifyContent: 'space-between', marginTop: 'auto' }}&gt;&#10;            &lt;Text style={{ fontSize: 15, color: 'rgba(247,244,236,0.55)', lineHeight: 1.6 }}&gt;下一步：换一份你自己的数据，按第 13 页上传，走一遍完整闭环。&lt;/Text&gt;&#10;            &lt;Text style={{ fontSize: 14, color: 'rgba(247,244,236,0.40)' }}&gt;31 / 31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D1B16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-1333500" y="2667000"/>
            <a:ext cx="5905500" cy="5905500"/>
          </a:xfrm>
          <a:custGeom>
            <a:pathLst>
              <a:path w="620" h="620">
                <a:moveTo>
                  <a:pt x="620" y="440"/>
                </a:moveTo>
                <a:lnTo>
                  <a:pt x="140" y="440"/>
                </a:lnTo>
                <a:lnTo>
                  <a:pt x="140" y="0"/>
                </a:lnTo>
                <a:lnTo>
                  <a:pt x="620" y="0"/>
                </a:lnTo>
                <a:close/>
              </a:path>
            </a:pathLst>
          </a:custGeom>
          <a:gradFill>
            <a:gsLst>
              <a:gs pos="0">
                <a:srgbClr val="B8730F">
                  <a:alpha val="30000"/>
                </a:srgbClr>
              </a:gs>
              <a:gs pos="100000">
                <a:srgbClr val="1D1B16">
                  <a:alpha val="3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B8730F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723900" y="685800"/>
            <a:ext cx="457200" cy="457200"/>
          </a:xfrm>
          <a:prstGeom prst="roundRect">
            <a:avLst>
              <a:gd name="adj" fmla="val 20833"/>
            </a:avLst>
          </a:prstGeom>
          <a:ln w="25400">
            <a:solidFill>
              <a:srgbClr val="B8730F"/>
            </a:solidFill>
            <a:prstDash val="solid"/>
          </a:ln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47725" y="8096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B8730F"/>
                </a:solidFill>
                <a:latin typeface="Microsoft YaHei"/>
                <a:ea typeface="Microsoft YaHei"/>
              </a:rPr>
              <a:t>ID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333500" y="838200"/>
            <a:ext cx="342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INDUSTRIAL DEEP DIAGNOSTIC · </a:t>
            </a:r>
            <a:r>
              <a:rPr lang="zh-CN" sz="975" spc="22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使用教程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23900" y="1657350"/>
            <a:ext cx="107442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7F4EC"/>
                </a:solidFill>
                <a:latin typeface="Microsoft YaHei"/>
                <a:ea typeface="Microsoft YaHei"/>
              </a:rPr>
              <a:t>三个命令起来，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7F4EC"/>
                </a:solidFill>
                <a:latin typeface="Microsoft YaHei"/>
                <a:ea typeface="Microsoft YaHei"/>
              </a:rPr>
              <a:t>一次诊断到底。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8572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剩下的交给那九步管线：它不会为了取悦你而编造根因，也不会在数据说不清的时候硬给一个答案。你现在已经知道每一步该点哪里了。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23900" y="4810125"/>
            <a:ext cx="3476625" cy="1085850"/>
          </a:xfrm>
          <a:prstGeom prst="roundRect">
            <a:avLst>
              <a:gd name="adj" fmla="val 8772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14400" y="4981575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914400" y="521017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装好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14400" y="546735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npm install &amp;&amp; npm link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4352925" y="4810125"/>
            <a:ext cx="3486150" cy="1085850"/>
          </a:xfrm>
          <a:prstGeom prst="roundRect">
            <a:avLst>
              <a:gd name="adj" fmla="val 8772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4543425" y="4981575"/>
            <a:ext cx="3105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4543425" y="5210175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起服务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543425" y="54673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ind-diag start --all --detach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7991475" y="4810125"/>
            <a:ext cx="3476625" cy="1085850"/>
          </a:xfrm>
          <a:prstGeom prst="roundRect">
            <a:avLst>
              <a:gd name="adj" fmla="val 8772"/>
            </a:avLst>
          </a:prstGeom>
          <a:solidFill>
            <a:srgbClr val="B8730F">
              <a:alpha val="14000"/>
            </a:srgbClr>
          </a:solidFill>
          <a:ln w="12700">
            <a:solidFill>
              <a:srgbClr val="B8730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181975" y="4981575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B8730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181975" y="521017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开浏览器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181975" y="5467350"/>
            <a:ext cx="3095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http://localhost:5180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23900" y="6048375"/>
            <a:ext cx="4257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下一步：换一份你自己的数据，按第</a:t>
            </a:r>
            <a:r>
              <a:rPr lang="en-US" sz="112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 13 </a:t>
            </a:r>
            <a:r>
              <a:rPr lang="zh-CN" sz="112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页上传，走一遍完整闭环。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1010900" y="61055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0000"/>
                  </a:srgbClr>
                </a:solidFill>
                <a:latin typeface="Microsoft YaHei"/>
                <a:ea typeface="Microsoft YaHei"/>
              </a:rPr>
              <a:t>31 / 31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2026-09-19T11:56:50Z</dcterms:created>
  <dcterms:modified xsi:type="dcterms:W3CDTF">2026-09-19T11:56:50Z</dcterms:modified>
</cp:coreProperties>
</file>