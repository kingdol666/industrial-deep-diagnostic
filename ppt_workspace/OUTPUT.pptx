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152400"/>
            <a:ext cx="698450" cy="25301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5550" y="228600"/>
            <a:ext cx="444401" cy="25301"/>
          </a:xfrm>
          <a:prstGeom prst="rect">
            <a:avLst/>
          </a:prstGeom>
          <a:solidFill>
            <a:srgbClr val="448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-121920" y="4254401"/>
            <a:ext cx="1243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多智能体+RAG驱动的工业深度诊断系统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587901" y="4775150"/>
            <a:ext cx="1015901" cy="38100"/>
          </a:xfrm>
          <a:prstGeom prst="roundRect">
            <a:avLst>
              <a:gd name="adj" fmla="val 66667"/>
            </a:avLst>
          </a:prstGeom>
          <a:solidFill>
            <a:srgbClr val="448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-121920" y="4953000"/>
            <a:ext cx="124358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从传感器数据到根因结论的8阶段自动化管线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-121920" y="6349901"/>
            <a:ext cx="124358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Industrial Deep Diagnostic  |  2024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64950" y="6680299"/>
            <a:ext cx="571500" cy="25301"/>
          </a:xfrm>
          <a:prstGeom prst="rect">
            <a:avLst/>
          </a:prstGeom>
          <a:solidFill>
            <a:srgbClr val="448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455450" y="6604099"/>
            <a:ext cx="381000" cy="25301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0" descr="/Volumes/laxer/codes/skills/industrial-deep-diagnostic/ppt_workspace/garden-gpt-image-2/image/p01_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7901" y="317450"/>
            <a:ext cx="8635901" cy="36829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152400"/>
            <a:ext cx="698450" cy="25301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5550" y="228600"/>
            <a:ext cx="444401" cy="25301"/>
          </a:xfrm>
          <a:prstGeom prst="rect">
            <a:avLst/>
          </a:prstGeom>
          <a:solidFill>
            <a:srgbClr val="448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444401"/>
            <a:ext cx="341985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这次分享你会看到什么？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7950" y="888950"/>
            <a:ext cx="1143000" cy="38100"/>
          </a:xfrm>
          <a:prstGeom prst="roundRect">
            <a:avLst>
              <a:gd name="adj" fmla="val 66667"/>
            </a:avLst>
          </a:prstGeom>
          <a:solidFill>
            <a:srgbClr val="448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1269950"/>
            <a:ext cx="3429000" cy="1524000"/>
          </a:xfrm>
          <a:prstGeom prst="roundRect">
            <a:avLst>
              <a:gd name="adj" fmla="val 2500"/>
            </a:avLst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04701" y="1466701"/>
            <a:ext cx="3096208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4488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04701" y="2181076"/>
            <a:ext cx="309620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诊断管线架构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701" y="2495401"/>
            <a:ext cx="30962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8步6智能体的根因分析流水线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7950" y="3048000"/>
            <a:ext cx="3429000" cy="1524000"/>
          </a:xfrm>
          <a:prstGeom prst="roundRect">
            <a:avLst>
              <a:gd name="adj" fmla="val 2500"/>
            </a:avLst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04701" y="3244751"/>
            <a:ext cx="3096208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4488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704701" y="3959126"/>
            <a:ext cx="309620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RAG知识引擎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4701" y="4273451"/>
            <a:ext cx="30962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FastAPI+ChromaDB的领域知识检索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7950" y="4825901"/>
            <a:ext cx="3429000" cy="1524000"/>
          </a:xfrm>
          <a:prstGeom prst="roundRect">
            <a:avLst>
              <a:gd name="adj" fmla="val 2500"/>
            </a:avLst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04701" y="5022652"/>
            <a:ext cx="3096208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4488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04701" y="5737027"/>
            <a:ext cx="309620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整体集成架构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4701" y="6051352"/>
            <a:ext cx="30962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三大模块如何协同工作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063901" y="3301901"/>
            <a:ext cx="1015901" cy="38100"/>
          </a:xfrm>
          <a:prstGeom prst="roundRect">
            <a:avLst>
              <a:gd name="adj" fmla="val 66667"/>
            </a:avLst>
          </a:prstGeom>
          <a:solidFill>
            <a:srgbClr val="448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991100" y="3282851"/>
            <a:ext cx="171450" cy="0"/>
          </a:xfrm>
          <a:prstGeom prst="line">
            <a:avLst/>
          </a:prstGeom>
          <a:noFill/>
          <a:ln w="1143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91100" y="3397151"/>
            <a:ext cx="171450" cy="0"/>
          </a:xfrm>
          <a:prstGeom prst="line">
            <a:avLst/>
          </a:prstGeom>
          <a:noFill/>
          <a:ln w="1143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76825" y="3225701"/>
            <a:ext cx="0" cy="228600"/>
          </a:xfrm>
          <a:prstGeom prst="line">
            <a:avLst/>
          </a:prstGeom>
          <a:noFill/>
          <a:ln w="171450">
            <a:solidFill>
              <a:srgbClr val="4488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1650950"/>
            <a:ext cx="3555950" cy="1524000"/>
          </a:xfrm>
          <a:prstGeom prst="roundRect">
            <a:avLst>
              <a:gd name="adj" fmla="val 2500"/>
            </a:avLst>
          </a:prstGeom>
          <a:solidFill>
            <a:srgbClr val="FFF8E1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054751" y="1847701"/>
            <a:ext cx="322569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4488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4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7054751" y="2431852"/>
            <a:ext cx="322569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关键技术决策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54751" y="2701677"/>
            <a:ext cx="32256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工程亮点与设计哲学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0" y="3555950"/>
            <a:ext cx="3555950" cy="1524000"/>
          </a:xfrm>
          <a:prstGeom prst="roundRect">
            <a:avLst>
              <a:gd name="adj" fmla="val 2500"/>
            </a:avLst>
          </a:prstGeom>
          <a:solidFill>
            <a:srgbClr val="FFF8E1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054751" y="3752701"/>
            <a:ext cx="322569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4488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5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7054751" y="4336852"/>
            <a:ext cx="322569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总结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54751" y="4606677"/>
            <a:ext cx="32256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系统核心价值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35609" y="5235821"/>
            <a:ext cx="742584" cy="221659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589562" y="5607540"/>
            <a:ext cx="504627" cy="113121"/>
          </a:xfrm>
          <a:prstGeom prst="rect">
            <a:avLst/>
          </a:prstGeom>
          <a:solidFill>
            <a:srgbClr val="448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8889950" y="1524000"/>
            <a:ext cx="177701" cy="177701"/>
          </a:xfrm>
          <a:prstGeom prst="roundRect">
            <a:avLst>
              <a:gd name="adj" fmla="val 514572"/>
            </a:avLst>
          </a:prstGeom>
          <a:noFill/>
          <a:ln w="19050">
            <a:solidFill>
              <a:srgbClr val="4488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0921901" y="3301901"/>
            <a:ext cx="126950" cy="126950"/>
          </a:xfrm>
          <a:prstGeom prst="roundRect">
            <a:avLst>
              <a:gd name="adj" fmla="val 720284"/>
            </a:avLst>
          </a:prstGeom>
          <a:noFill/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1175950" y="5079950"/>
            <a:ext cx="101501" cy="101501"/>
          </a:xfrm>
          <a:prstGeom prst="roundRect">
            <a:avLst>
              <a:gd name="adj" fmla="val 900878"/>
            </a:avLst>
          </a:prstGeom>
          <a:noFill/>
          <a:ln w="9525">
            <a:solidFill>
              <a:srgbClr val="4488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349886" y="1054594"/>
            <a:ext cx="571530" cy="75014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1733461" y="6486525"/>
            <a:ext cx="790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488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152400"/>
            <a:ext cx="698450" cy="25301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5550" y="228600"/>
            <a:ext cx="444401" cy="25301"/>
          </a:xfrm>
          <a:prstGeom prst="rect">
            <a:avLst/>
          </a:prstGeom>
          <a:solidFill>
            <a:srgbClr val="448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444401"/>
            <a:ext cx="562800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给它传感器数据，它还你根因结论 — 全自动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7950" y="888950"/>
            <a:ext cx="1143000" cy="38100"/>
          </a:xfrm>
          <a:prstGeom prst="roundRect">
            <a:avLst>
              <a:gd name="adj" fmla="val 66667"/>
            </a:avLst>
          </a:prstGeom>
          <a:solidFill>
            <a:srgbClr val="448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4421" y="1396901"/>
            <a:ext cx="3108960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488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8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604421" y="2504926"/>
            <a:ext cx="31089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阶段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4421" y="2806452"/>
            <a:ext cx="3108960" cy="571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800"/>
              </a:spcBef>
              <a:buNone/>
            </a:pPr>
            <a:r>
              <a:rPr lang="en-US" sz="10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从数据输入到最终报告的完整自动化管线，全程无人工干预。Setup → Inspect → Context → Process → Diagnose → Judge → Report → Review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82391" y="1396901"/>
            <a:ext cx="3627069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488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6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4282391" y="2504926"/>
            <a:ext cx="3627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智能体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82391" y="2806452"/>
            <a:ext cx="3627069" cy="571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800"/>
              </a:spcBef>
              <a:buNone/>
            </a:pPr>
            <a:r>
              <a:rPr lang="en-US" sz="10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各司其职：本体构建(context-builder) → 统计分析(data-processor) → 诊断(diagnostician) → 评审(judge) → 报告(reporter) → 审计(review-reviewer)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05421" y="1396901"/>
            <a:ext cx="3108960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488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8605421" y="2504926"/>
            <a:ext cx="31089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种结论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5421" y="2806452"/>
            <a:ext cx="3108960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800"/>
              </a:spcBef>
              <a:buNone/>
            </a:pPr>
            <a:r>
              <a:rPr lang="en-US" sz="10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DETERMINED / COMPETING_SET / NEEDS_DATA，从不假装确定，也不逃避结论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62000" y="3936950"/>
            <a:ext cx="10668000" cy="1265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031950" y="4254401"/>
            <a:ext cx="8127950" cy="1524000"/>
          </a:xfrm>
          <a:prstGeom prst="roundRect">
            <a:avLst>
              <a:gd name="adj" fmla="val 2500"/>
            </a:avLst>
          </a:prstGeom>
          <a:solidFill>
            <a:srgbClr val="FFF8E1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280998" y="4502051"/>
            <a:ext cx="762985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核心定位：场景自适应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280998" y="4860727"/>
            <a:ext cx="7629855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不绑定特定工业场景 — 数据自描述 + RAG领域知识 + 物理第一性原理 = 通用诊断引擎。无论BOPET薄膜、换热器还是反应器，同一个管线都能跑。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175950" y="4444901"/>
            <a:ext cx="203150" cy="203150"/>
          </a:xfrm>
          <a:prstGeom prst="roundRect">
            <a:avLst>
              <a:gd name="adj" fmla="val 450111"/>
            </a:avLst>
          </a:prstGeom>
          <a:noFill/>
          <a:ln w="19050">
            <a:solidFill>
              <a:srgbClr val="4488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88950" y="6032450"/>
            <a:ext cx="126950" cy="126950"/>
          </a:xfrm>
          <a:prstGeom prst="roundRect">
            <a:avLst>
              <a:gd name="adj" fmla="val 720284"/>
            </a:avLst>
          </a:prstGeom>
          <a:noFill/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1733461" y="6486525"/>
            <a:ext cx="790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488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152400"/>
            <a:ext cx="698450" cy="25301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5550" y="228600"/>
            <a:ext cx="444401" cy="25301"/>
          </a:xfrm>
          <a:prstGeom prst="rect">
            <a:avLst/>
          </a:prstGeom>
          <a:solidFill>
            <a:srgbClr val="448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381000"/>
            <a:ext cx="5096994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8步管线 x 6智能体：从原始数据到可信诊断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7950" y="762000"/>
            <a:ext cx="1143000" cy="38100"/>
          </a:xfrm>
          <a:prstGeom prst="roundRect">
            <a:avLst>
              <a:gd name="adj" fmla="val 66667"/>
            </a:avLst>
          </a:prstGeom>
          <a:solidFill>
            <a:srgbClr val="448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5524500"/>
            <a:ext cx="11175950" cy="698450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0151" y="5670500"/>
            <a:ext cx="10946181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修复循环：Judge评分 &lt; 90 重跑Diagnostician（最多3次）；Reviewer未通过则完整重跑D→J→R→R（全局上限5次）。计数器持久化在 </a:t>
            </a:r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.pipeline_events.jsonl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 中，断电不丢失。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733461" y="6486525"/>
            <a:ext cx="790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488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4</a:t>
            </a:r>
            <a:endParaRPr lang="en-US" sz="1000" dirty="0"/>
          </a:p>
        </p:txBody>
      </p:sp>
      <p:pic>
        <p:nvPicPr>
          <p:cNvPr id="10" name="Image 0" descr="/Volumes/laxer/codes/skills/industrial-deep-diagnostic/ppt_workspace/garden-gpt-image-2/image/p04_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50" y="1015901"/>
            <a:ext cx="11175950" cy="43179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152400"/>
            <a:ext cx="698450" cy="25301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5550" y="228600"/>
            <a:ext cx="444401" cy="25301"/>
          </a:xfrm>
          <a:prstGeom prst="rect">
            <a:avLst/>
          </a:prstGeom>
          <a:solidFill>
            <a:srgbClr val="448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381000"/>
            <a:ext cx="485653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诊断不是确认，是排除 — 竞争性假设协议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7950" y="787301"/>
            <a:ext cx="1143000" cy="38100"/>
          </a:xfrm>
          <a:prstGeom prst="roundRect">
            <a:avLst>
              <a:gd name="adj" fmla="val 66667"/>
            </a:avLst>
          </a:prstGeom>
          <a:solidFill>
            <a:srgbClr val="448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1079450"/>
            <a:ext cx="595878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四条反推测条件（全部满足才能确立因果）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7950" y="1450777"/>
            <a:ext cx="253901" cy="253901"/>
          </a:xfrm>
          <a:prstGeom prst="roundRect">
            <a:avLst>
              <a:gd name="adj" fmla="val 10004"/>
            </a:avLst>
          </a:prstGeom>
          <a:noFill/>
          <a:ln w="19050">
            <a:solidFill>
              <a:srgbClr val="4488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88802" y="1425476"/>
            <a:ext cx="22151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时间先后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88802" y="1650802"/>
            <a:ext cx="221513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原因必须发生在结果之前，建立时间方向性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7950" y="1964978"/>
            <a:ext cx="253901" cy="253901"/>
          </a:xfrm>
          <a:prstGeom prst="roundRect">
            <a:avLst>
              <a:gd name="adj" fmla="val 10004"/>
            </a:avLst>
          </a:prstGeom>
          <a:noFill/>
          <a:ln w="19050">
            <a:solidFill>
              <a:srgbClr val="4488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88802" y="1939677"/>
            <a:ext cx="22151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统计显著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8802" y="2165003"/>
            <a:ext cx="221513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相关性不能是偶然，需要通过多重检验校正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7950" y="2479179"/>
            <a:ext cx="253901" cy="253901"/>
          </a:xfrm>
          <a:prstGeom prst="roundRect">
            <a:avLst>
              <a:gd name="adj" fmla="val 10004"/>
            </a:avLst>
          </a:prstGeom>
          <a:noFill/>
          <a:ln w="19050">
            <a:solidFill>
              <a:srgbClr val="4488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88802" y="2453878"/>
            <a:ext cx="23317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物理机制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88802" y="2679204"/>
            <a:ext cx="2331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必须存在可解释的物理传导路径，非统计巧合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7950" y="2993380"/>
            <a:ext cx="253901" cy="253901"/>
          </a:xfrm>
          <a:prstGeom prst="roundRect">
            <a:avLst>
              <a:gd name="adj" fmla="val 10004"/>
            </a:avLst>
          </a:prstGeom>
          <a:noFill/>
          <a:ln w="19050">
            <a:solidFill>
              <a:srgbClr val="4488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88802" y="2968079"/>
            <a:ext cx="19819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无矛盾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88802" y="3193405"/>
            <a:ext cx="198196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假设不能与其他已确认的事实产生冲突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7950" y="3482280"/>
            <a:ext cx="595878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证据等级 1-7：从直接测量值（最高）到无支持假设（最低），结论受限最低证据等级。双驱动分析 = 纯工艺波动诊断 + 工艺-检测双驱动诊断。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30901" y="1079450"/>
            <a:ext cx="2667000" cy="1396901"/>
          </a:xfrm>
          <a:prstGeom prst="roundRect">
            <a:avLst>
              <a:gd name="adj" fmla="val 2727"/>
            </a:avLst>
          </a:prstGeom>
          <a:solidFill>
            <a:srgbClr val="F5F5F5"/>
          </a:solidFill>
          <a:ln w="19050">
            <a:solidFill>
              <a:srgbClr val="4488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927652" y="1250900"/>
            <a:ext cx="231896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4488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DETERMINED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27652" y="1612850"/>
            <a:ext cx="23189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已确定根因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27652" y="1854101"/>
            <a:ext cx="23189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数据充分排除所有竞争假设，唯一根因确立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730901" y="2730401"/>
            <a:ext cx="2412950" cy="1269950"/>
          </a:xfrm>
          <a:prstGeom prst="roundRect">
            <a:avLst>
              <a:gd name="adj" fmla="val 3000"/>
            </a:avLst>
          </a:prstGeom>
          <a:solidFill>
            <a:srgbClr val="FFF8E1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927652" y="2901851"/>
            <a:ext cx="205983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444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COMPETING_SET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27652" y="3200251"/>
            <a:ext cx="20598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多个假设不可区分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27652" y="3441502"/>
            <a:ext cx="205983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置信度上限受约束（INDISTINGUISHABLE设为65%）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525000" y="2031950"/>
            <a:ext cx="2158901" cy="114300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 w="19050">
            <a:solidFill>
              <a:srgbClr val="F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9696450" y="2177951"/>
            <a:ext cx="185232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444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NEEDS_DATA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696450" y="2447776"/>
            <a:ext cx="18523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数据不足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696450" y="2676376"/>
            <a:ext cx="18523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需补充数据后重新诊断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730901" y="4317950"/>
            <a:ext cx="1524000" cy="25301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730901" y="4444901"/>
            <a:ext cx="2111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源自情报分析方法论 ACH，防止LLM确认偏误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1733461" y="6486525"/>
            <a:ext cx="790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488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152400"/>
            <a:ext cx="698450" cy="25301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5550" y="228600"/>
            <a:ext cx="444401" cy="25301"/>
          </a:xfrm>
          <a:prstGeom prst="rect">
            <a:avLst/>
          </a:prstGeom>
          <a:solidFill>
            <a:srgbClr val="448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381000"/>
            <a:ext cx="492135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不通过？重跑！三层审查闭环保证诊断质量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7950" y="787301"/>
            <a:ext cx="1143000" cy="38100"/>
          </a:xfrm>
          <a:prstGeom prst="roundRect">
            <a:avLst>
              <a:gd name="adj" fmla="val 66667"/>
            </a:avLst>
          </a:prstGeom>
          <a:solidFill>
            <a:srgbClr val="448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2000" y="5079950"/>
            <a:ext cx="10668000" cy="1269950"/>
          </a:xfrm>
          <a:prstGeom prst="roundRect">
            <a:avLst>
              <a:gd name="adj" fmla="val 3000"/>
            </a:avLst>
          </a:prstGeom>
          <a:solidFill>
            <a:srgbClr val="FFF8E1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09650" y="5251400"/>
            <a:ext cx="103761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四套独立编号体系，各管各的，不可混用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9650" y="5527625"/>
            <a:ext cx="10376154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Pipeline Step 0-8（编排层面） / Agent Phase 0-7（Diagnostician内部流程） / Reasoning Segment R1-R8（reasoning_chain.json） / Method Stage 1-6（diagnosis_method.md）。计数器持久化在 </a:t>
            </a:r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.pipeline_events.jsonl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 中，只有通过 </a:t>
            </a:r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pipeline-log-check.mjs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 审计才算完整执行。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733461" y="6486525"/>
            <a:ext cx="790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488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6</a:t>
            </a:r>
            <a:endParaRPr lang="en-US" sz="1000" dirty="0"/>
          </a:p>
        </p:txBody>
      </p:sp>
      <p:pic>
        <p:nvPicPr>
          <p:cNvPr id="11" name="Image 0" descr="/Volumes/laxer/codes/skills/industrial-deep-diagnostic/ppt_workspace/garden-gpt-image-2/image/p06_repair_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50" y="1015901"/>
            <a:ext cx="1117595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152400"/>
            <a:ext cx="698450" cy="25301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5550" y="228600"/>
            <a:ext cx="444401" cy="25301"/>
          </a:xfrm>
          <a:prstGeom prst="rect">
            <a:avLst/>
          </a:prstGeom>
          <a:solidFill>
            <a:srgbClr val="448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381000"/>
            <a:ext cx="435178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给诊断装上知识大脑 — RAG检索引擎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7950" y="762000"/>
            <a:ext cx="1143000" cy="38100"/>
          </a:xfrm>
          <a:prstGeom prst="roundRect">
            <a:avLst>
              <a:gd name="adj" fmla="val 66667"/>
            </a:avLst>
          </a:prstGeom>
          <a:solidFill>
            <a:srgbClr val="448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5460950"/>
            <a:ext cx="11175950" cy="888950"/>
          </a:xfrm>
          <a:prstGeom prst="roundRect">
            <a:avLst>
              <a:gd name="adj" fmla="val 4286"/>
            </a:avLst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0151" y="5606951"/>
            <a:ext cx="10946181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技术栈：FastAPI (port 8765) + ChromaDB向量数据库 + sentence-transformers嵌入。多源知识：本地Markdown / JSON参数库 / 用户上传文档(PDF/TXT/CSV) / 目录批量索引 / Web搜索。便捷端点 </a:t>
            </a:r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/pipeline/retrieve-score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 一步到位。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733461" y="6486525"/>
            <a:ext cx="790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488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7</a:t>
            </a:r>
            <a:endParaRPr lang="en-US" sz="1000" dirty="0"/>
          </a:p>
        </p:txBody>
      </p:sp>
      <p:pic>
        <p:nvPicPr>
          <p:cNvPr id="10" name="Image 0" descr="/Volumes/laxer/codes/skills/industrial-deep-diagnostic/ppt_workspace/garden-gpt-image-2/image/p07_rag_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50" y="952500"/>
            <a:ext cx="11175950" cy="43179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152400"/>
            <a:ext cx="698450" cy="25301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5550" y="228600"/>
            <a:ext cx="444401" cy="25301"/>
          </a:xfrm>
          <a:prstGeom prst="rect">
            <a:avLst/>
          </a:prstGeom>
          <a:solidFill>
            <a:srgbClr val="448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381000"/>
            <a:ext cx="543582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不是所有知识都值得信赖 — 5维评分+Tier分级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7950" y="787301"/>
            <a:ext cx="1143000" cy="38100"/>
          </a:xfrm>
          <a:prstGeom prst="roundRect">
            <a:avLst>
              <a:gd name="adj" fmla="val 66667"/>
            </a:avLst>
          </a:prstGeom>
          <a:solidFill>
            <a:srgbClr val="448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1079450"/>
            <a:ext cx="544068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5维相关度评分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7950" y="1476226"/>
            <a:ext cx="54406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领域相关性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7950" y="1717477"/>
            <a:ext cx="4825901" cy="126950"/>
          </a:xfrm>
          <a:prstGeom prst="roundRect">
            <a:avLst>
              <a:gd name="adj" fmla="val 50020"/>
            </a:avLst>
          </a:prstGeom>
          <a:solidFill>
            <a:srgbClr val="F5F5F5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7475" y="1727002"/>
            <a:ext cx="4317950" cy="126950"/>
          </a:xfrm>
          <a:prstGeom prst="roundRect">
            <a:avLst>
              <a:gd name="adj" fmla="val 50020"/>
            </a:avLst>
          </a:prstGeom>
          <a:solidFill>
            <a:srgbClr val="448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7950" y="1869728"/>
            <a:ext cx="54406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检索内容与诊断场景的领域匹配程度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7950" y="2199829"/>
            <a:ext cx="54406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技术深度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7950" y="2441079"/>
            <a:ext cx="4825901" cy="126950"/>
          </a:xfrm>
          <a:prstGeom prst="roundRect">
            <a:avLst>
              <a:gd name="adj" fmla="val 50020"/>
            </a:avLst>
          </a:prstGeom>
          <a:solidFill>
            <a:srgbClr val="F5F5F5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17475" y="2450604"/>
            <a:ext cx="3810000" cy="126950"/>
          </a:xfrm>
          <a:prstGeom prst="roundRect">
            <a:avLst>
              <a:gd name="adj" fmla="val 50020"/>
            </a:avLst>
          </a:prstGeom>
          <a:solidFill>
            <a:srgbClr val="448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07950" y="2593330"/>
            <a:ext cx="54406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内容是否包含可操作的工程细节，而非泛泛而谈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7950" y="2923431"/>
            <a:ext cx="54406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时效性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7950" y="3164681"/>
            <a:ext cx="4825901" cy="126950"/>
          </a:xfrm>
          <a:prstGeom prst="roundRect">
            <a:avLst>
              <a:gd name="adj" fmla="val 50020"/>
            </a:avLst>
          </a:prstGeom>
          <a:solidFill>
            <a:srgbClr val="F5F5F5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17475" y="3174206"/>
            <a:ext cx="3301901" cy="126950"/>
          </a:xfrm>
          <a:prstGeom prst="roundRect">
            <a:avLst>
              <a:gd name="adj" fmla="val 50020"/>
            </a:avLst>
          </a:prstGeom>
          <a:solidFill>
            <a:srgbClr val="448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07950" y="3316932"/>
            <a:ext cx="54406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知识是否反映当前工艺标准和设备状态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07950" y="3647033"/>
            <a:ext cx="54406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来源权威性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7950" y="3888284"/>
            <a:ext cx="4825901" cy="126950"/>
          </a:xfrm>
          <a:prstGeom prst="roundRect">
            <a:avLst>
              <a:gd name="adj" fmla="val 50020"/>
            </a:avLst>
          </a:prstGeom>
          <a:solidFill>
            <a:srgbClr val="F5F5F5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17475" y="3897809"/>
            <a:ext cx="4063901" cy="126950"/>
          </a:xfrm>
          <a:prstGeom prst="roundRect">
            <a:avLst>
              <a:gd name="adj" fmla="val 50020"/>
            </a:avLst>
          </a:prstGeom>
          <a:solidFill>
            <a:srgbClr val="448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07950" y="4040535"/>
            <a:ext cx="54406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SOP手册 &gt; 内部文档 &gt; 网络来源，权重递减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7950" y="4370636"/>
            <a:ext cx="54406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诊断场景匹配度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7950" y="4611886"/>
            <a:ext cx="4825901" cy="126950"/>
          </a:xfrm>
          <a:prstGeom prst="roundRect">
            <a:avLst>
              <a:gd name="adj" fmla="val 50020"/>
            </a:avLst>
          </a:prstGeom>
          <a:solidFill>
            <a:srgbClr val="F5F5F5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17475" y="4621411"/>
            <a:ext cx="3555950" cy="126950"/>
          </a:xfrm>
          <a:prstGeom prst="roundRect">
            <a:avLst>
              <a:gd name="adj" fmla="val 50020"/>
            </a:avLst>
          </a:prstGeom>
          <a:solidFill>
            <a:srgbClr val="448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07950" y="4764137"/>
            <a:ext cx="54406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知识能否直接服务于当前诊断推理链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349901" y="1079450"/>
            <a:ext cx="544068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Tier分级金字塔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111901" y="1650950"/>
            <a:ext cx="3810000" cy="482501"/>
          </a:xfrm>
          <a:prstGeom prst="roundRect">
            <a:avLst>
              <a:gd name="adj" fmla="val 7896"/>
            </a:avLst>
          </a:prstGeom>
          <a:solidFill>
            <a:srgbClr val="4488FF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318296" y="1792188"/>
            <a:ext cx="13972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Tier 1 — 精选高质量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29351" y="2222450"/>
            <a:ext cx="3174950" cy="482501"/>
          </a:xfrm>
          <a:prstGeom prst="roundRect">
            <a:avLst>
              <a:gd name="adj" fmla="val 7896"/>
            </a:avLst>
          </a:prstGeom>
          <a:solidFill>
            <a:srgbClr val="4488FF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531736" y="2363688"/>
            <a:ext cx="97003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Tier 2 — 良好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746802" y="2793950"/>
            <a:ext cx="2539901" cy="482501"/>
          </a:xfrm>
          <a:prstGeom prst="roundRect">
            <a:avLst>
              <a:gd name="adj" fmla="val 7896"/>
            </a:avLst>
          </a:prstGeom>
          <a:solidFill>
            <a:srgbClr val="4488FF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8531736" y="2935188"/>
            <a:ext cx="97003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Tier 3 — 可用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064401" y="3365450"/>
            <a:ext cx="1905000" cy="482501"/>
          </a:xfrm>
          <a:prstGeom prst="roundRect">
            <a:avLst>
              <a:gd name="adj" fmla="val 7896"/>
            </a:avLst>
          </a:prstGeom>
          <a:solidFill>
            <a:srgbClr val="4488FF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8531885" y="3506688"/>
            <a:ext cx="97003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Tier 4 — 宽松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49901" y="4254401"/>
            <a:ext cx="5079950" cy="888950"/>
          </a:xfrm>
          <a:prstGeom prst="roundRect">
            <a:avLst>
              <a:gd name="adj" fmla="val 4286"/>
            </a:avLst>
          </a:prstGeom>
          <a:solidFill>
            <a:srgbClr val="FFF8E1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546652" y="4400401"/>
            <a:ext cx="47801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运行持久化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546652" y="4641652"/>
            <a:ext cx="478017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每次检索运行记录到SQLite，状态跟踪：created → retrieved → scored → injected。12+个API端点覆盖索引、检索、评分、注入、积累、查询增强全流程。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733461" y="6486525"/>
            <a:ext cx="790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488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152400"/>
            <a:ext cx="698450" cy="25301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5550" y="228600"/>
            <a:ext cx="444401" cy="25301"/>
          </a:xfrm>
          <a:prstGeom prst="rect">
            <a:avLst/>
          </a:prstGeom>
          <a:solidFill>
            <a:srgbClr val="448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381000"/>
            <a:ext cx="511566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不是黑盒 — 实时可视化让诊断过程透明可控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7950" y="787301"/>
            <a:ext cx="1143000" cy="38100"/>
          </a:xfrm>
          <a:prstGeom prst="roundRect">
            <a:avLst>
              <a:gd name="adj" fmla="val 66667"/>
            </a:avLst>
          </a:prstGeom>
          <a:solidFill>
            <a:srgbClr val="448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1079450"/>
            <a:ext cx="11175950" cy="1396901"/>
          </a:xfrm>
          <a:prstGeom prst="roundRect">
            <a:avLst>
              <a:gd name="adj" fmla="val 2727"/>
            </a:avLst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55600" y="1250900"/>
            <a:ext cx="1654225" cy="266700"/>
          </a:xfrm>
          <a:prstGeom prst="roundRect">
            <a:avLst>
              <a:gd name="adj" fmla="val 14286"/>
            </a:avLst>
          </a:prstGeom>
          <a:solidFill>
            <a:srgbClr val="448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82551" y="1289000"/>
            <a:ext cx="14283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Frontend — 用户界面层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55600" y="1619101"/>
            <a:ext cx="108942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Vue 3 + Vite + ECharts  (port 5180)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5600" y="1860352"/>
            <a:ext cx="108942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5个标签页完整覆盖用户旅程：Data（文件浏览） / Diagnose（诊断主视图+实时消息流+任务进度） / Chat（自由对话） / Reports（报告查看器） / History（历史记录）。SSE实时流 + WebSocket推送，诊断过程可视化。4种ECharts图表组件：折线 / 散点 / 热力 / 仪表盘。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66362" y="2514600"/>
            <a:ext cx="2589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88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↕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49901" y="2578001"/>
            <a:ext cx="9527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WebSocket + HTTP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7950" y="2768501"/>
            <a:ext cx="11175950" cy="1524000"/>
          </a:xfrm>
          <a:prstGeom prst="roundRect">
            <a:avLst>
              <a:gd name="adj" fmla="val 2500"/>
            </a:avLst>
          </a:prstGeom>
          <a:solidFill>
            <a:srgbClr val="FFF8E1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55600" y="2939951"/>
            <a:ext cx="1607344" cy="266700"/>
          </a:xfrm>
          <a:prstGeom prst="roundRect">
            <a:avLst>
              <a:gd name="adj" fmla="val 14286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82551" y="2978051"/>
            <a:ext cx="13805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Backend — 事件总线层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5600" y="3308152"/>
            <a:ext cx="108942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Express.js + SQLite WAL + WebSocket  (port 3210)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55600" y="3549402"/>
            <a:ext cx="108942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核心设计：EventEmitter事件总线解耦Claude CLI进程与WS/SSE传输。Per-run状态管理 + 双持久化（内存buffer快速replay + SQLite持久化） + 自动清理。5个路由（files/diagnosis/history/analysis/chat） + 5个服务层。Claude CLI子进程管理 + JSON streaming解析 + 错误恢复。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66362" y="4343400"/>
            <a:ext cx="2589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88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↕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49901" y="4406801"/>
            <a:ext cx="8801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SQLite + 文件系统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7950" y="4572000"/>
            <a:ext cx="11175950" cy="114300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55600" y="4743450"/>
            <a:ext cx="1276648" cy="266700"/>
          </a:xfrm>
          <a:prstGeom prst="roundRect">
            <a:avLst>
              <a:gd name="adj" fmla="val 14286"/>
            </a:avLst>
          </a:prstGeom>
          <a:solidFill>
            <a:srgbClr val="448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82551" y="4781550"/>
            <a:ext cx="10432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Data — 持久化层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55600" y="5111651"/>
            <a:ext cx="108942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SQLite WAL模式（并发读写 + Prepared statements）+ 诊断运行目录（workspace/diagnostic-runs/）。4张核心表：diagnosis_runs / diagnosis_events / chat_sessions / chat_messages。CLI工具 ind-diag 统一管理启停和配置。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66450" y="5841950"/>
            <a:ext cx="177701" cy="177701"/>
          </a:xfrm>
          <a:prstGeom prst="roundRect">
            <a:avLst>
              <a:gd name="adj" fmla="val 514572"/>
            </a:avLst>
          </a:prstGeom>
          <a:noFill/>
          <a:ln w="19050">
            <a:solidFill>
              <a:srgbClr val="4488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1733461" y="6486525"/>
            <a:ext cx="790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488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152400"/>
            <a:ext cx="698450" cy="25301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5550" y="228600"/>
            <a:ext cx="444401" cy="25301"/>
          </a:xfrm>
          <a:prstGeom prst="rect">
            <a:avLst/>
          </a:prstGeom>
          <a:solidFill>
            <a:srgbClr val="448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381000"/>
            <a:ext cx="550671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三位一体：Skill管线 + RAG知识 + Web可视化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7950" y="762000"/>
            <a:ext cx="1143000" cy="38100"/>
          </a:xfrm>
          <a:prstGeom prst="roundRect">
            <a:avLst>
              <a:gd name="adj" fmla="val 66667"/>
            </a:avLst>
          </a:prstGeom>
          <a:solidFill>
            <a:srgbClr val="448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5460950"/>
            <a:ext cx="11175950" cy="888950"/>
          </a:xfrm>
          <a:prstGeom prst="roundRect">
            <a:avLst>
              <a:gd name="adj" fmla="val 4286"/>
            </a:avLst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0151" y="5606951"/>
            <a:ext cx="10946181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数据流：用户Web上传 → Backend触发Skill → Step2 Context-Builder调用RAG → RAG返回领域知识 → 构建本体 → 诊断 → WebSocket推送Frontend。关键接口：</a:t>
            </a:r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rag_client.py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(Skill↔RAG) / </a:t>
            </a:r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WebSocket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(Backend↔Frontend) / </a:t>
            </a:r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SSE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(CLI→Frontend)。部署：Docker + nginx + Cloudflare Tunnel。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676311" y="6486525"/>
            <a:ext cx="13738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488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10</a:t>
            </a:r>
            <a:endParaRPr lang="en-US" sz="1000" dirty="0"/>
          </a:p>
        </p:txBody>
      </p:sp>
      <p:pic>
        <p:nvPicPr>
          <p:cNvPr id="10" name="Image 0" descr="/Volumes/laxer/codes/skills/industrial-deep-diagnostic/ppt_workspace/garden-gpt-image-2/image/p10_integra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50" y="952500"/>
            <a:ext cx="11175950" cy="43179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152400"/>
            <a:ext cx="698450" cy="25301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5550" y="228600"/>
            <a:ext cx="444401" cy="25301"/>
          </a:xfrm>
          <a:prstGeom prst="rect">
            <a:avLst/>
          </a:prstGeom>
          <a:solidFill>
            <a:srgbClr val="448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381000"/>
            <a:ext cx="4572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5个让这个系统能用而不只是能跑的工程决策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7950" y="736550"/>
            <a:ext cx="1143000" cy="38100"/>
          </a:xfrm>
          <a:prstGeom prst="roundRect">
            <a:avLst>
              <a:gd name="adj" fmla="val 66667"/>
            </a:avLst>
          </a:prstGeom>
          <a:solidFill>
            <a:srgbClr val="448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952500"/>
            <a:ext cx="37951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4488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269950" y="1028700"/>
            <a:ext cx="1062222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事件总线解耦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69950" y="1317575"/>
            <a:ext cx="1062222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EventEmitter将Claude CLI进程与WS/SSE传输完全分离。Per-run状态管理 + 双持久化（内存buffer + SQLite），支持断线重连和历史回放。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69950" y="1905000"/>
            <a:ext cx="9906000" cy="1265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7950" y="2006501"/>
            <a:ext cx="37951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4488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2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1269950" y="2082701"/>
            <a:ext cx="1062222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Agent文件解耦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69950" y="2371576"/>
            <a:ext cx="1062222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7个子智能体仅通过workspace文件通信，不共享主agent context。pipeline纪律规则禁止主agent代劳子智能体工作，确保独立性。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69950" y="2959001"/>
            <a:ext cx="9906000" cy="1265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81000" y="3048000"/>
            <a:ext cx="11430000" cy="1015901"/>
          </a:xfrm>
          <a:prstGeom prst="roundRect">
            <a:avLst>
              <a:gd name="adj" fmla="val 3750"/>
            </a:avLst>
          </a:prstGeom>
          <a:solidFill>
            <a:srgbClr val="FFF8E1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27000" y="3168551"/>
            <a:ext cx="37951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4488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1289000" y="3244751"/>
            <a:ext cx="104927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Schema-First写入协议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9000" y="3533626"/>
            <a:ext cx="1049274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14个JSON Schema覆盖所有结构化产出。写入前读schema → 一次写入 → 立即验证（validate.mjs）。Token经济性的关键设计——防止重写浪费。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69950" y="4127450"/>
            <a:ext cx="9906000" cy="1265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07950" y="4229100"/>
            <a:ext cx="37951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4488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4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1269950" y="4305300"/>
            <a:ext cx="1062222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三重执行证明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69950" y="4594175"/>
            <a:ext cx="1062222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.pipeline_events.jsonl（事件日志） + 产物文件（diagnosis.json等） + artifact-check.mjs校验。只有三者齐全并通过审计才算完整执行。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69950" y="5181600"/>
            <a:ext cx="9906000" cy="1265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07950" y="5283101"/>
            <a:ext cx="37951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4488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5</a:t>
            </a:r>
            <a:endParaRPr lang="en-US" sz="4800" dirty="0"/>
          </a:p>
        </p:txBody>
      </p:sp>
      <p:sp>
        <p:nvSpPr>
          <p:cNvPr id="25" name="Text 23"/>
          <p:cNvSpPr/>
          <p:nvPr/>
        </p:nvSpPr>
        <p:spPr>
          <a:xfrm>
            <a:off x="1269950" y="5359301"/>
            <a:ext cx="1062222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Agent Memory跨会话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69950" y="5648176"/>
            <a:ext cx="1062222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4个子智能体有独立记忆目录（.claude/agent-memory/），记录领域知识沉淀。从单次诊断到经验积累——系统越用越好。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696551" y="6486525"/>
            <a:ext cx="11673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488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152400"/>
            <a:ext cx="698450" cy="25301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5550" y="228600"/>
            <a:ext cx="444401" cy="25301"/>
          </a:xfrm>
          <a:prstGeom prst="rect">
            <a:avLst/>
          </a:prstGeom>
          <a:solidFill>
            <a:srgbClr val="448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968401" y="762000"/>
            <a:ext cx="8254901" cy="2158901"/>
          </a:xfrm>
          <a:prstGeom prst="roundRect">
            <a:avLst>
              <a:gd name="adj" fmla="val 2353"/>
            </a:avLst>
          </a:prstGeom>
          <a:solidFill>
            <a:srgbClr val="FFF8E1"/>
          </a:solidFill>
          <a:ln w="3810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313334" y="1104900"/>
            <a:ext cx="7565035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数据驱动不等于黑盒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313334" y="1612850"/>
            <a:ext cx="7565035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spcBef>
                <a:spcPts val="1200"/>
              </a:spcBef>
              <a:buNone/>
            </a:pPr>
            <a:r>
              <a:rPr lang="en-US" sz="1400" b="1" dirty="0">
                <a:solidFill>
                  <a:srgbClr val="4488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竞争性假设 + 物理第一性原理 = 可解释的AI诊断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313334" y="2014240"/>
            <a:ext cx="7565035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Bef>
                <a:spcPts val="1200"/>
              </a:spcBef>
              <a:buNone/>
            </a:pPr>
            <a:r>
              <a:rPr lang="en-US" sz="10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不假装确定，也不逃避结论。三种输出类型诚实表达诊断置信度。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62000" y="3429000"/>
            <a:ext cx="4572000" cy="1650950"/>
          </a:xfrm>
          <a:prstGeom prst="roundRect">
            <a:avLst>
              <a:gd name="adj" fmla="val 2308"/>
            </a:avLst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34951" y="3651200"/>
            <a:ext cx="410662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6智能体协同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34951" y="3990826"/>
            <a:ext cx="4106620" cy="571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每个智能体专注一件事。context-builder构建本体、data-processor做统计、diagnostician竞争假设诊断、judge质量门评审、reporter生成报告、reviewer独立审计。修复循环保证质量。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0" y="3429000"/>
            <a:ext cx="4572000" cy="1650950"/>
          </a:xfrm>
          <a:prstGeom prst="roundRect">
            <a:avLst>
              <a:gd name="adj" fmla="val 2308"/>
            </a:avLst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130951" y="3651200"/>
            <a:ext cx="4106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RAG + Memory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30951" y="3981301"/>
            <a:ext cx="4106620" cy="571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FastAPI+ChromaDB三阶段管线（Retrieve/Score/Inject）为诊断注入领域知识。Agent Memory跨会话积累经验——BOPET薄膜、CNC主轴磨损……诊断越做越好。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44901" y="2920901"/>
            <a:ext cx="25301" cy="507950"/>
          </a:xfrm>
          <a:prstGeom prst="rect">
            <a:avLst/>
          </a:prstGeom>
          <a:solidFill>
            <a:srgbClr val="448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746950" y="2920901"/>
            <a:ext cx="25301" cy="507950"/>
          </a:xfrm>
          <a:prstGeom prst="rect">
            <a:avLst/>
          </a:prstGeom>
          <a:solidFill>
            <a:srgbClr val="448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-121920" y="5587901"/>
            <a:ext cx="1243584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488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谢谢！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302901" y="1015901"/>
            <a:ext cx="203150" cy="203150"/>
          </a:xfrm>
          <a:prstGeom prst="roundRect">
            <a:avLst>
              <a:gd name="adj" fmla="val 450111"/>
            </a:avLst>
          </a:prstGeom>
          <a:noFill/>
          <a:ln w="19050">
            <a:solidFill>
              <a:srgbClr val="4488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34901" y="5587901"/>
            <a:ext cx="126950" cy="126950"/>
          </a:xfrm>
          <a:prstGeom prst="roundRect">
            <a:avLst>
              <a:gd name="adj" fmla="val 720284"/>
            </a:avLst>
          </a:prstGeom>
          <a:noFill/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1676311" y="6486525"/>
            <a:ext cx="13738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488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2026-06-09T06:59:10Z</dcterms:created>
  <dcterms:modified xsi:type="dcterms:W3CDTF">2026-06-09T06:59:10Z</dcterms:modified>
</cp:coreProperties>
</file>