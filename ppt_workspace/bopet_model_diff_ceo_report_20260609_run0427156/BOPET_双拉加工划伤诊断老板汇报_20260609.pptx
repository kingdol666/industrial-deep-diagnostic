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3401"/>
          </a:xfrm>
          <a:prstGeom prst="rect">
            <a:avLst/>
          </a:prstGeom>
          <a:solidFill>
            <a:srgbClr val="1C31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30101"/>
            <a:ext cx="29650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5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BOPET MODEL DIFFERENCE DIAGNOSIS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3400" y="609600"/>
            <a:ext cx="11347704" cy="418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BOPET划伤诊断：MD工艺参数基本排除，调查重点转向产品型号固有差异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3400" y="1295400"/>
            <a:ext cx="1396901" cy="38100"/>
          </a:xfrm>
          <a:prstGeom prst="roundRect">
            <a:avLst>
              <a:gd name="adj" fmla="val 66667"/>
            </a:avLst>
          </a:prstGeom>
          <a:solidFill>
            <a:srgbClr val="B44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422350"/>
            <a:ext cx="11347704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6A67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这是一份给企业老板的汇报版本。重点不是展示“分析做了多少”，而是帮助管理层判断：哪些方向已经可以停掉、哪些方向必须继续追、下一步资源该投到哪里。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3400" y="2133600"/>
            <a:ext cx="5943600" cy="3174950"/>
          </a:xfrm>
          <a:prstGeom prst="roundRect">
            <a:avLst>
              <a:gd name="adj" fmla="val 5600"/>
            </a:avLst>
          </a:prstGeom>
          <a:solidFill>
            <a:srgbClr val="F4F1EA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1525" y="2320826"/>
            <a:ext cx="557669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这次汇报只回答四个问题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8475" y="2778026"/>
            <a:ext cx="5264051" cy="921544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14"/>
              </a:lnSpc>
              <a:buSzPct val="100000"/>
              <a:buChar char="•"/>
            </a:pPr>
            <a:r>
              <a:rPr lang="en-US" sz="112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当前最稳的结论到底是什么？</a:t>
            </a:r>
            <a:endParaRPr lang="en-US" sz="1120" dirty="0"/>
          </a:p>
          <a:p>
            <a:pPr algn="l" marL="101600" indent="-101600">
              <a:lnSpc>
                <a:spcPts val="1814"/>
              </a:lnSpc>
              <a:buSzPct val="100000"/>
              <a:buChar char="•"/>
            </a:pPr>
            <a:r>
              <a:rPr lang="en-US" sz="112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为什么说 MD 工艺参数不是当前主战场？</a:t>
            </a:r>
            <a:endParaRPr lang="en-US" sz="1120" dirty="0"/>
          </a:p>
          <a:p>
            <a:pPr algn="l" marL="101600" indent="-101600">
              <a:lnSpc>
                <a:spcPts val="1814"/>
              </a:lnSpc>
              <a:buSzPct val="100000"/>
              <a:buChar char="•"/>
            </a:pPr>
            <a:r>
              <a:rPr lang="en-US" sz="112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哪些证据支持“产品型号差异更强”？</a:t>
            </a:r>
            <a:endParaRPr lang="en-US" sz="1120" dirty="0"/>
          </a:p>
          <a:p>
            <a:pPr algn="l" marL="101600" indent="-101600">
              <a:lnSpc>
                <a:spcPts val="1814"/>
              </a:lnSpc>
              <a:buSzPct val="100000"/>
              <a:buChar char="•"/>
            </a:pPr>
            <a:r>
              <a:rPr lang="en-US" sz="112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企业下一步具体要补什么数据、做什么动作？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6858000" y="2133600"/>
            <a:ext cx="4800600" cy="3174950"/>
          </a:xfrm>
          <a:prstGeom prst="roundRect">
            <a:avLst>
              <a:gd name="adj" fmla="val 5600"/>
            </a:avLst>
          </a:prstGeom>
          <a:solidFill>
            <a:srgbClr val="1C3144"/>
          </a:solidFill>
          <a:ln w="9525">
            <a:solidFill>
              <a:srgbClr val="1C31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096125" y="2320826"/>
            <a:ext cx="441083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一句话结论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96125" y="2981325"/>
            <a:ext cx="4410837" cy="37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5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先停掉错误方向。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096125" y="3514725"/>
            <a:ext cx="4410837" cy="1184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8"/>
              </a:lnSpc>
              <a:buNone/>
            </a:pPr>
            <a:r>
              <a:rPr lang="en-US" sz="2100" b="1" dirty="0">
                <a:solidFill>
                  <a:srgbClr val="FFD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当前最有证据支持的判断，不是“继续调 MD 参数”，而是“调查产品型号固有差异及其未观测子机制”。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096125" y="4632275"/>
            <a:ext cx="4410837" cy="441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8"/>
              </a:lnSpc>
              <a:buNone/>
            </a:pPr>
            <a:r>
              <a:rPr lang="en-US" sz="1100" dirty="0">
                <a:solidFill>
                  <a:srgbClr val="D8E4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这轮分析最大的价值，是排除了误诊风险，把调查范围缩小到了材料、规格和下游工艺三个方向。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3400" y="5562600"/>
            <a:ext cx="11125200" cy="711101"/>
          </a:xfrm>
          <a:prstGeom prst="roundRect">
            <a:avLst>
              <a:gd name="adj" fmla="val 25004"/>
            </a:avLst>
          </a:prstGeom>
          <a:solidFill>
            <a:srgbClr val="F1F6FA"/>
          </a:solidFill>
          <a:ln w="9525">
            <a:solidFill>
              <a:srgbClr val="C8D7E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71525" y="5775275"/>
            <a:ext cx="108619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 ID: 202606090427156_BOPET薄膜双拉加工 ｜ 149批次 ｜ Judge 96/100 PASS ｜ 诊断类型：COMPETING_SET ｜ 存活假说 H1 = 64/100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1750" y="6487269"/>
            <a:ext cx="11328350" cy="15180"/>
          </a:xfrm>
          <a:prstGeom prst="rect">
            <a:avLst/>
          </a:prstGeom>
          <a:solidFill>
            <a:srgbClr val="D7D2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415861" y="6569125"/>
            <a:ext cx="2995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3401"/>
          </a:xfrm>
          <a:prstGeom prst="rect">
            <a:avLst/>
          </a:prstGeom>
          <a:solidFill>
            <a:srgbClr val="B44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30101"/>
            <a:ext cx="18155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5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EXECUTIVE TAKEAWAYS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3400" y="609600"/>
            <a:ext cx="11347704" cy="385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这次最重要的不是“继续调MD参数”，而是“不要把错误方向当改善方向”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3400" y="1295400"/>
            <a:ext cx="1396901" cy="38100"/>
          </a:xfrm>
          <a:prstGeom prst="roundRect">
            <a:avLst>
              <a:gd name="adj" fmla="val 66667"/>
            </a:avLst>
          </a:prstGeom>
          <a:solidFill>
            <a:srgbClr val="B44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803350"/>
            <a:ext cx="5308550" cy="19050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1525" y="1990576"/>
            <a:ext cx="492894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现在能确认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1525" y="2523976"/>
            <a:ext cx="4928946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12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MD纵拉段温度、扭矩、速度与划伤之间没有稳定的因果证据。温度相关在稳健性检查和分层分析后明显变弱，不能作为主根因方向。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6349901" y="1803350"/>
            <a:ext cx="5308550" cy="1905000"/>
          </a:xfrm>
          <a:prstGeom prst="roundRect">
            <a:avLst>
              <a:gd name="adj" fmla="val 9333"/>
            </a:avLst>
          </a:prstGeom>
          <a:solidFill>
            <a:srgbClr val="FFF5EE"/>
          </a:solidFill>
          <a:ln w="9525">
            <a:solidFill>
              <a:srgbClr val="E7C8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88026" y="1990576"/>
            <a:ext cx="492894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现在不能确认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8026" y="2523976"/>
            <a:ext cx="4928946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12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还不能直接宣布“就是原材料”或“就是厚度”或“就是TD段”。当前只能确认它们比 MD 参数更值得调查，但三者仍处于竞争假设集合。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533400" y="3962400"/>
            <a:ext cx="5308550" cy="1905000"/>
          </a:xfrm>
          <a:prstGeom prst="roundRect">
            <a:avLst>
              <a:gd name="adj" fmla="val 9333"/>
            </a:avLst>
          </a:prstGeom>
          <a:solidFill>
            <a:srgbClr val="F1F6FA"/>
          </a:solidFill>
          <a:ln w="9525">
            <a:solidFill>
              <a:srgbClr val="C8D7E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71525" y="4149626"/>
            <a:ext cx="492894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已经被纠偏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1525" y="4683026"/>
            <a:ext cx="4928946" cy="691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12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原本看起来存在的温度相关，在 Spearman、去趋势和按型号分层后被证明不稳。原始“分类变量直接做相关”的做法也被修正为更合适的 Kruskal-Wallis 检验。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6349901" y="3962400"/>
            <a:ext cx="5308550" cy="1905000"/>
          </a:xfrm>
          <a:prstGeom prst="roundRect">
            <a:avLst>
              <a:gd name="adj" fmla="val 9333"/>
            </a:avLst>
          </a:prstGeom>
          <a:solidFill>
            <a:srgbClr val="F4F1EA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88026" y="4149626"/>
            <a:ext cx="492894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企业要立刻做什么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8026" y="4683026"/>
            <a:ext cx="4928946" cy="691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12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补原材料配方、厚度规格、TD横拉与收卷段数据；同时清洗型号字段、回放极端批次。下一轮要做的不是再调MD参数，而是让 H1-A / H1-B / H1-C 真正可区分。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431750" y="6487269"/>
            <a:ext cx="11328350" cy="15180"/>
          </a:xfrm>
          <a:prstGeom prst="rect">
            <a:avLst/>
          </a:prstGeom>
          <a:solidFill>
            <a:srgbClr val="D7D2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393091" y="6569125"/>
            <a:ext cx="3227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3401"/>
          </a:xfrm>
          <a:prstGeom prst="rect">
            <a:avLst/>
          </a:prstGeom>
          <a:solidFill>
            <a:srgbClr val="1C31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30101"/>
            <a:ext cx="16501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5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PROCESS AND TERMS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3400" y="609600"/>
            <a:ext cx="11347704" cy="385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这次报告分析的是 MD 纵拉加工段，但最终结论指向“问题未必发生在这一段”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3400" y="1295400"/>
            <a:ext cx="1396901" cy="38100"/>
          </a:xfrm>
          <a:prstGeom prst="roundRect">
            <a:avLst>
              <a:gd name="adj" fmla="val 66667"/>
            </a:avLst>
          </a:prstGeom>
          <a:solidFill>
            <a:srgbClr val="B44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777901"/>
            <a:ext cx="3200400" cy="4089350"/>
          </a:xfrm>
          <a:prstGeom prst="roundRect">
            <a:avLst>
              <a:gd name="adj" fmla="val 5556"/>
            </a:avLst>
          </a:prstGeom>
          <a:solidFill>
            <a:srgbClr val="F4F1EA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1525" y="1965127"/>
            <a:ext cx="277863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先把几个术语翻成老板能听懂的话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1525" y="2498527"/>
            <a:ext cx="2778633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120" b="1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</a:t>
            </a:r>
            <a:pPr algn="l" indent="0" marL="0">
              <a:lnSpc>
                <a:spcPts val="1814"/>
              </a:lnSpc>
              <a:buNone/>
            </a:pPr>
            <a:r>
              <a:rPr lang="en-US" sz="112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：薄膜在纵向被拉开的工段，是本次已有数据最完整的段。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771525" y="3311426"/>
            <a:ext cx="2778633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120" b="1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</a:t>
            </a:r>
            <a:pPr algn="l" indent="0" marL="0">
              <a:lnSpc>
                <a:spcPts val="1814"/>
              </a:lnSpc>
              <a:buNone/>
            </a:pPr>
            <a:r>
              <a:rPr lang="en-US" sz="112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：后续横向拉伸工段。虽然这次没采到数据，但划伤也可能在那一段发生。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771525" y="4302026"/>
            <a:ext cx="2778633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120" b="1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Tg</a:t>
            </a:r>
            <a:pPr algn="l" indent="0" marL="0">
              <a:lnSpc>
                <a:spcPts val="1814"/>
              </a:lnSpc>
              <a:buNone/>
            </a:pPr>
            <a:r>
              <a:rPr lang="en-US" sz="112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：材料从“偏硬”转向“可以被拉伸”的温度门槛，PET 大约在 75C 左右。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771525" y="5267176"/>
            <a:ext cx="2778633" cy="691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120" b="1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双拉</a:t>
            </a:r>
            <a:pPr algn="l" indent="0" marL="0">
              <a:lnSpc>
                <a:spcPts val="1814"/>
              </a:lnSpc>
              <a:buNone/>
            </a:pPr>
            <a:r>
              <a:rPr lang="en-US" sz="112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：先纵向拉，再横向拉，所以“MD出口检测到划伤”不等于“划伤一定发生在MD”。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3962400" y="1777901"/>
            <a:ext cx="7696200" cy="1955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200525" y="1965127"/>
            <a:ext cx="736434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可以把产线理解成四段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00525" y="2498527"/>
            <a:ext cx="1625501" cy="965150"/>
          </a:xfrm>
          <a:prstGeom prst="roundRect">
            <a:avLst>
              <a:gd name="adj" fmla="val 18422"/>
            </a:avLst>
          </a:prstGeom>
          <a:solidFill>
            <a:srgbClr val="F1F6FA"/>
          </a:solidFill>
          <a:ln w="9525">
            <a:solidFill>
              <a:srgbClr val="C8D7E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38650" y="2685752"/>
            <a:ext cx="117223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挤出 / 过滤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38650" y="2965252"/>
            <a:ext cx="1172236" cy="423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9"/>
              </a:lnSpc>
              <a:buNone/>
            </a:pPr>
            <a:r>
              <a:rPr lang="en-US" sz="103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原料熔融、过滤杂质。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6054626" y="2498527"/>
            <a:ext cx="1625501" cy="965150"/>
          </a:xfrm>
          <a:prstGeom prst="roundRect">
            <a:avLst>
              <a:gd name="adj" fmla="val 18422"/>
            </a:avLst>
          </a:prstGeom>
          <a:solidFill>
            <a:srgbClr val="F4F1EA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92751" y="2685752"/>
            <a:ext cx="117223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MD预热 / 纵拉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92751" y="2965252"/>
            <a:ext cx="1172236" cy="423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9"/>
              </a:lnSpc>
              <a:buNone/>
            </a:pPr>
            <a:r>
              <a:rPr lang="en-US" sz="103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这次已有最完整参数。</a:t>
            </a:r>
            <a:endParaRPr lang="en-US" sz="1030" dirty="0"/>
          </a:p>
        </p:txBody>
      </p:sp>
      <p:sp>
        <p:nvSpPr>
          <p:cNvPr id="20" name="Text 18"/>
          <p:cNvSpPr/>
          <p:nvPr/>
        </p:nvSpPr>
        <p:spPr>
          <a:xfrm>
            <a:off x="7908875" y="2498527"/>
            <a:ext cx="1625501" cy="965150"/>
          </a:xfrm>
          <a:prstGeom prst="roundRect">
            <a:avLst>
              <a:gd name="adj" fmla="val 18422"/>
            </a:avLst>
          </a:prstGeom>
          <a:solidFill>
            <a:srgbClr val="FFF5EE"/>
          </a:solidFill>
          <a:ln w="9525">
            <a:solidFill>
              <a:srgbClr val="E7C8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147000" y="2685752"/>
            <a:ext cx="117223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TD横拉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47000" y="2965252"/>
            <a:ext cx="1172236" cy="423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9"/>
              </a:lnSpc>
              <a:buNone/>
            </a:pPr>
            <a:r>
              <a:rPr lang="en-US" sz="103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当前数据缺失，但可能产伤。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9763125" y="2498527"/>
            <a:ext cx="1676400" cy="965150"/>
          </a:xfrm>
          <a:prstGeom prst="roundRect">
            <a:avLst>
              <a:gd name="adj" fmla="val 18422"/>
            </a:avLst>
          </a:prstGeom>
          <a:solidFill>
            <a:srgbClr val="FFF7F2"/>
          </a:solidFill>
          <a:ln w="9525">
            <a:solidFill>
              <a:srgbClr val="E9B8A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0001250" y="2685752"/>
            <a:ext cx="1224153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收卷 / 后处理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01250" y="2965252"/>
            <a:ext cx="1224153" cy="423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9"/>
              </a:lnSpc>
              <a:buNone/>
            </a:pPr>
            <a:r>
              <a:rPr lang="en-US" sz="103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也可能放大划伤表现。</a:t>
            </a:r>
            <a:endParaRPr lang="en-US" sz="1030" dirty="0"/>
          </a:p>
        </p:txBody>
      </p:sp>
      <p:sp>
        <p:nvSpPr>
          <p:cNvPr id="26" name="Text 24"/>
          <p:cNvSpPr/>
          <p:nvPr/>
        </p:nvSpPr>
        <p:spPr>
          <a:xfrm>
            <a:off x="3962400" y="3962400"/>
            <a:ext cx="7696200" cy="787301"/>
          </a:xfrm>
          <a:prstGeom prst="roundRect">
            <a:avLst>
              <a:gd name="adj" fmla="val 22584"/>
            </a:avLst>
          </a:prstGeom>
          <a:solidFill>
            <a:srgbClr val="FFF5EE"/>
          </a:solidFill>
          <a:ln w="9525">
            <a:solidFill>
              <a:srgbClr val="E7C8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200525" y="4200525"/>
            <a:ext cx="7364349" cy="411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老板翻译：这次能确认的是“MD参数不是主要矛盾”，但不能因此误解成“问题一定发生在MD”。相反，真正该追的很可能在材料、规格或下游环节。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3962400" y="4978301"/>
            <a:ext cx="7696200" cy="888950"/>
          </a:xfrm>
          <a:prstGeom prst="roundRect">
            <a:avLst>
              <a:gd name="adj" fmla="val 20001"/>
            </a:avLst>
          </a:prstGeom>
          <a:solidFill>
            <a:srgbClr val="F1F6FA"/>
          </a:solidFill>
          <a:ln w="9525">
            <a:solidFill>
              <a:srgbClr val="C8D7E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200525" y="5165527"/>
            <a:ext cx="736434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这次数据覆盖了什么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200525" y="5495776"/>
            <a:ext cx="7364349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12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149批次、184列数据、18根纵拉辊参数、产品型号信息和划伤计数。数据对 MD 段很丰富，但对原材料、厚度和 TD 段仍然缺口明显。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431750" y="6487269"/>
            <a:ext cx="11328350" cy="15180"/>
          </a:xfrm>
          <a:prstGeom prst="rect">
            <a:avLst/>
          </a:prstGeom>
          <a:solidFill>
            <a:srgbClr val="D7D2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1393091" y="6569125"/>
            <a:ext cx="3227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3401"/>
          </a:xfrm>
          <a:prstGeom prst="rect">
            <a:avLst/>
          </a:prstGeom>
          <a:solidFill>
            <a:srgbClr val="1C31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30101"/>
            <a:ext cx="14019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5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REASONING CHAIN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3400" y="609600"/>
            <a:ext cx="11347704" cy="771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我们不是凭一张图下结论，而是按“先找强信号、再纠偏、再排除、最后收束”的顺序推进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3400" y="1295400"/>
            <a:ext cx="1396901" cy="38100"/>
          </a:xfrm>
          <a:prstGeom prst="roundRect">
            <a:avLst>
              <a:gd name="adj" fmla="val 66667"/>
            </a:avLst>
          </a:prstGeom>
          <a:solidFill>
            <a:srgbClr val="B44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2286000"/>
            <a:ext cx="1930301" cy="1371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1C31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9260" y="2447925"/>
            <a:ext cx="1638580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9260" y="2828925"/>
            <a:ext cx="1638580" cy="20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12"/>
              </a:lnSpc>
              <a:buNone/>
            </a:pPr>
            <a:r>
              <a:rPr lang="en-US" sz="104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先看分布和分组差异</a:t>
            </a:r>
            <a:endParaRPr lang="en-US" sz="1040" dirty="0"/>
          </a:p>
        </p:txBody>
      </p:sp>
      <p:sp>
        <p:nvSpPr>
          <p:cNvPr id="9" name="Text 7"/>
          <p:cNvSpPr/>
          <p:nvPr/>
        </p:nvSpPr>
        <p:spPr>
          <a:xfrm>
            <a:off x="679260" y="3184475"/>
            <a:ext cx="1638580" cy="20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12"/>
              </a:lnSpc>
              <a:buNone/>
            </a:pPr>
            <a:r>
              <a:rPr lang="en-US" sz="104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找最强信号是谁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2565350" y="2768501"/>
            <a:ext cx="25913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20901" y="2286000"/>
            <a:ext cx="1930301" cy="1371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1C31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066761" y="2447925"/>
            <a:ext cx="1638580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66761" y="2828925"/>
            <a:ext cx="1638580" cy="20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12"/>
              </a:lnSpc>
              <a:buNone/>
            </a:pPr>
            <a:r>
              <a:rPr lang="en-US" sz="104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看相关图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3066761" y="3184475"/>
            <a:ext cx="1638580" cy="20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12"/>
              </a:lnSpc>
              <a:buNone/>
            </a:pPr>
            <a:r>
              <a:rPr lang="en-US" sz="104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圈出可疑参数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4953000" y="2768501"/>
            <a:ext cx="25913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308550" y="2286000"/>
            <a:ext cx="1930301" cy="1371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1C31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454411" y="2447925"/>
            <a:ext cx="1638580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54411" y="2828925"/>
            <a:ext cx="1638580" cy="20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12"/>
              </a:lnSpc>
              <a:buNone/>
            </a:pPr>
            <a:r>
              <a:rPr lang="en-US" sz="104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做去趋势 / Spearman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5454411" y="3184475"/>
            <a:ext cx="1638580" cy="20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12"/>
              </a:lnSpc>
              <a:buNone/>
            </a:pPr>
            <a:r>
              <a:rPr lang="en-US" sz="104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识别伪相关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7340501" y="2768501"/>
            <a:ext cx="25913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696200" y="2286000"/>
            <a:ext cx="1930301" cy="1371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1C31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842060" y="2447925"/>
            <a:ext cx="1638580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842060" y="2828925"/>
            <a:ext cx="1638580" cy="20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12"/>
              </a:lnSpc>
              <a:buNone/>
            </a:pPr>
            <a:r>
              <a:rPr lang="en-US" sz="104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按型号分层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7842060" y="3184475"/>
            <a:ext cx="1638580" cy="20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12"/>
              </a:lnSpc>
              <a:buNone/>
            </a:pPr>
            <a:r>
              <a:rPr lang="en-US" sz="104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检查混杂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9728150" y="2768501"/>
            <a:ext cx="25913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083701" y="2286000"/>
            <a:ext cx="1574750" cy="1371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1C31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0233117" y="2447925"/>
            <a:ext cx="127591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第五步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33117" y="2828925"/>
            <a:ext cx="1275918" cy="20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12"/>
              </a:lnSpc>
              <a:buNone/>
            </a:pPr>
            <a:r>
              <a:rPr lang="en-US" sz="104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 H2-H5</a:t>
            </a:r>
            <a:endParaRPr lang="en-US" sz="1040" dirty="0"/>
          </a:p>
        </p:txBody>
      </p:sp>
      <p:sp>
        <p:nvSpPr>
          <p:cNvPr id="29" name="Text 27"/>
          <p:cNvSpPr/>
          <p:nvPr/>
        </p:nvSpPr>
        <p:spPr>
          <a:xfrm>
            <a:off x="10233117" y="3184475"/>
            <a:ext cx="1275918" cy="20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12"/>
              </a:lnSpc>
              <a:buNone/>
            </a:pPr>
            <a:r>
              <a:rPr lang="en-US" sz="104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 H1</a:t>
            </a:r>
            <a:endParaRPr lang="en-US" sz="1040" dirty="0"/>
          </a:p>
        </p:txBody>
      </p:sp>
      <p:sp>
        <p:nvSpPr>
          <p:cNvPr id="30" name="Text 28"/>
          <p:cNvSpPr/>
          <p:nvPr/>
        </p:nvSpPr>
        <p:spPr>
          <a:xfrm>
            <a:off x="533400" y="4241750"/>
            <a:ext cx="11125200" cy="1092101"/>
          </a:xfrm>
          <a:prstGeom prst="roundRect">
            <a:avLst>
              <a:gd name="adj" fmla="val 16281"/>
            </a:avLst>
          </a:prstGeom>
          <a:solidFill>
            <a:srgbClr val="1C3144"/>
          </a:solidFill>
          <a:ln w="9525">
            <a:solidFill>
              <a:srgbClr val="1C31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71525" y="4428976"/>
            <a:ext cx="1086192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这条链路的意义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71525" y="4784675"/>
            <a:ext cx="10861929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它保证我们的结论不是“谁看图更像谁就算谁”，而是每一步都在缩小误诊空间：先找最强分组，再用稳健性和分层把表面相关洗掉，最后才决定企业该把资源投到哪里。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533400" y="5562600"/>
            <a:ext cx="11125200" cy="736550"/>
          </a:xfrm>
          <a:prstGeom prst="roundRect">
            <a:avLst>
              <a:gd name="adj" fmla="val 24140"/>
            </a:avLst>
          </a:prstGeom>
          <a:solidFill>
            <a:srgbClr val="FFF5EE"/>
          </a:solidFill>
          <a:ln w="9525">
            <a:solidFill>
              <a:srgbClr val="E7C8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71525" y="5800725"/>
            <a:ext cx="10861929" cy="205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老板翻译：这次不是“没找到答案”，而是“已经知道哪些答案不成立，剩下哪几个值得继续验证”。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431750" y="6487269"/>
            <a:ext cx="11328350" cy="15180"/>
          </a:xfrm>
          <a:prstGeom prst="rect">
            <a:avLst/>
          </a:prstGeom>
          <a:solidFill>
            <a:srgbClr val="D7D2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1393091" y="6569125"/>
            <a:ext cx="3227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3401"/>
          </a:xfrm>
          <a:prstGeom prst="rect">
            <a:avLst/>
          </a:prstGeom>
          <a:solidFill>
            <a:srgbClr val="1C31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30101"/>
            <a:ext cx="6768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5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FIGURE 1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3400" y="609600"/>
            <a:ext cx="11347704" cy="83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型号差异是当前最强信号，但要注意“均值很大”不等于“所有正常批次都一样大”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33400" y="1295400"/>
            <a:ext cx="1396901" cy="38100"/>
          </a:xfrm>
          <a:prstGeom prst="roundRect">
            <a:avLst>
              <a:gd name="adj" fmla="val 66667"/>
            </a:avLst>
          </a:prstGeom>
          <a:solidFill>
            <a:srgbClr val="B44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75550" y="1854101"/>
            <a:ext cx="3682901" cy="1168301"/>
          </a:xfrm>
          <a:prstGeom prst="roundRect">
            <a:avLst>
              <a:gd name="adj" fmla="val 15219"/>
            </a:avLst>
          </a:prstGeom>
          <a:solidFill>
            <a:srgbClr val="F4F1EA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13675" y="2041327"/>
            <a:ext cx="327078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图怎么看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13675" y="2473226"/>
            <a:ext cx="3270784" cy="691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12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柱高代表各型号平均划伤水平，柱顶 n 表示样本数。它先告诉我们“最强差异来自分组，而不是单个参数”。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7975550" y="3225701"/>
            <a:ext cx="3682901" cy="1371600"/>
          </a:xfrm>
          <a:prstGeom prst="roundRect">
            <a:avLst>
              <a:gd name="adj" fmla="val 12963"/>
            </a:avLst>
          </a:prstGeom>
          <a:solidFill>
            <a:srgbClr val="F1F6FA"/>
          </a:solidFill>
          <a:ln w="9525">
            <a:solidFill>
              <a:srgbClr val="C8D7E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13675" y="3412927"/>
            <a:ext cx="327078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图说明什么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13675" y="3844826"/>
            <a:ext cx="3270784" cy="691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12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FP21、FG22、FP41、PG32D 的平均划伤明显高于 PG32B、PG22C。当前最强信号不是温度或扭矩，而是“产品型号不同，划伤风险层级不同”。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7975550" y="4800600"/>
            <a:ext cx="3682901" cy="1041350"/>
          </a:xfrm>
          <a:prstGeom prst="roundRect">
            <a:avLst>
              <a:gd name="adj" fmla="val 17074"/>
            </a:avLst>
          </a:prstGeom>
          <a:solidFill>
            <a:srgbClr val="FFF5EE"/>
          </a:solidFill>
          <a:ln w="9525">
            <a:solidFill>
              <a:srgbClr val="E7C8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13675" y="4987826"/>
            <a:ext cx="327078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图的边界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13675" y="5368826"/>
            <a:ext cx="3270784" cy="691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12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均值里含极端批次驱动成分。正确理解应是“某些型号更容易出现极端高划伤事件”，而不是“所有正常批次都差那么大”。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431750" y="6487269"/>
            <a:ext cx="11328350" cy="15180"/>
          </a:xfrm>
          <a:prstGeom prst="rect">
            <a:avLst/>
          </a:prstGeom>
          <a:solidFill>
            <a:srgbClr val="D7D2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393091" y="6569125"/>
            <a:ext cx="3227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12</a:t>
            </a:r>
            <a:endParaRPr lang="en-US" sz="900" dirty="0"/>
          </a:p>
        </p:txBody>
      </p:sp>
      <p:pic>
        <p:nvPicPr>
          <p:cNvPr id="17" name="Image 0" descr="/Volumes/laxer/codes/skills/industrial-deep-diagnostic/workspace/diagnostic-runs/202606090427156_BOPET薄膜双拉加工/03_figures/fig_scratch_by_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854101"/>
            <a:ext cx="7111901" cy="39877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3401"/>
          </a:xfrm>
          <a:prstGeom prst="rect">
            <a:avLst/>
          </a:prstGeom>
          <a:solidFill>
            <a:srgbClr val="1C31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30101"/>
            <a:ext cx="7013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5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FIGURE 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3400" y="609600"/>
            <a:ext cx="11347704" cy="385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产品切换时划伤会跳变，而切换前后大部分MD工艺参数并没有同步跳变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3400" y="1295400"/>
            <a:ext cx="1396901" cy="38100"/>
          </a:xfrm>
          <a:prstGeom prst="roundRect">
            <a:avLst>
              <a:gd name="adj" fmla="val 66667"/>
            </a:avLst>
          </a:prstGeom>
          <a:solidFill>
            <a:srgbClr val="B44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5105400"/>
            <a:ext cx="3505200" cy="1193750"/>
          </a:xfrm>
          <a:prstGeom prst="roundRect">
            <a:avLst>
              <a:gd name="adj" fmla="val 14894"/>
            </a:avLst>
          </a:prstGeom>
          <a:solidFill>
            <a:srgbClr val="F4F1EA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1525" y="5292626"/>
            <a:ext cx="308952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图怎么看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1525" y="5724525"/>
            <a:ext cx="3089529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12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红色竖线代表型号切换事件，看切换前后质量水平有没有明显变台阶。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4317950" y="5105400"/>
            <a:ext cx="3505200" cy="1193750"/>
          </a:xfrm>
          <a:prstGeom prst="roundRect">
            <a:avLst>
              <a:gd name="adj" fmla="val 14894"/>
            </a:avLst>
          </a:prstGeom>
          <a:solidFill>
            <a:srgbClr val="F1F6FA"/>
          </a:solidFill>
          <a:ln w="9525">
            <a:solidFill>
              <a:srgbClr val="C8D7E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56075" y="5292626"/>
            <a:ext cx="308952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图说明什么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56075" y="5724525"/>
            <a:ext cx="3089529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12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 PG32B -&gt; PG32D 这样的切换，划伤会明显跳升，而同期 MD 参数没有出现同量级跳变。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8102501" y="5105400"/>
            <a:ext cx="3555950" cy="1193750"/>
          </a:xfrm>
          <a:prstGeom prst="roundRect">
            <a:avLst>
              <a:gd name="adj" fmla="val 14894"/>
            </a:avLst>
          </a:prstGeom>
          <a:solidFill>
            <a:srgbClr val="FFF5EE"/>
          </a:solidFill>
          <a:ln w="9525">
            <a:solidFill>
              <a:srgbClr val="E7C8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340626" y="5292626"/>
            <a:ext cx="314129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图的边界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40626" y="5724525"/>
            <a:ext cx="3141294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12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切换不是“唯一原因”，但它说明分组因素比单个MD工艺变量更强。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431750" y="6487269"/>
            <a:ext cx="11328350" cy="15180"/>
          </a:xfrm>
          <a:prstGeom prst="rect">
            <a:avLst/>
          </a:prstGeom>
          <a:solidFill>
            <a:srgbClr val="D7D2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393091" y="6569125"/>
            <a:ext cx="3227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12</a:t>
            </a:r>
            <a:endParaRPr lang="en-US" sz="900" dirty="0"/>
          </a:p>
        </p:txBody>
      </p:sp>
      <p:pic>
        <p:nvPicPr>
          <p:cNvPr id="17" name="Image 0" descr="/Volumes/laxer/codes/skills/industrial-deep-diagnostic/workspace/diagnostic-runs/202606090427156_BOPET薄膜双拉加工/03_figures/fig_vlm_event_respon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854101"/>
            <a:ext cx="11125200" cy="29971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3401"/>
          </a:xfrm>
          <a:prstGeom prst="rect">
            <a:avLst/>
          </a:prstGeom>
          <a:solidFill>
            <a:srgbClr val="B44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30101"/>
            <a:ext cx="7013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5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FIGURE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3400" y="609600"/>
            <a:ext cx="11347704" cy="385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视在相关经稳健性检查后明显变弱，说明很多表面相关都只是离群批次放大的假象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3400" y="1295400"/>
            <a:ext cx="1396901" cy="38100"/>
          </a:xfrm>
          <a:prstGeom prst="roundRect">
            <a:avLst>
              <a:gd name="adj" fmla="val 66667"/>
            </a:avLst>
          </a:prstGeom>
          <a:solidFill>
            <a:srgbClr val="B44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67600" y="1854101"/>
            <a:ext cx="4191000" cy="1193750"/>
          </a:xfrm>
          <a:prstGeom prst="roundRect">
            <a:avLst>
              <a:gd name="adj" fmla="val 14894"/>
            </a:avLst>
          </a:prstGeom>
          <a:solidFill>
            <a:srgbClr val="F4F1EA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05725" y="2041327"/>
            <a:ext cx="37890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图怎么看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05725" y="2473226"/>
            <a:ext cx="3789045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12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蓝柱是原始 Pearson，橙柱是去趋势后，绿柱是 Spearman。看三者差距有多大。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7467600" y="3251150"/>
            <a:ext cx="4191000" cy="1422350"/>
          </a:xfrm>
          <a:prstGeom prst="roundRect">
            <a:avLst>
              <a:gd name="adj" fmla="val 12500"/>
            </a:avLst>
          </a:prstGeom>
          <a:solidFill>
            <a:srgbClr val="FFF5EE"/>
          </a:solidFill>
          <a:ln w="9525">
            <a:solidFill>
              <a:srgbClr val="E7C8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05725" y="3438376"/>
            <a:ext cx="37890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关键纠偏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05725" y="3870275"/>
            <a:ext cx="3789045" cy="691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12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 Pearson 明显高于 Spearman，说明这条“相关”更像是被少数极端批次拉出来的，而不是多数批次都遵守的规律。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7467600" y="4876800"/>
            <a:ext cx="4191000" cy="965150"/>
          </a:xfrm>
          <a:prstGeom prst="roundRect">
            <a:avLst>
              <a:gd name="adj" fmla="val 18422"/>
            </a:avLst>
          </a:prstGeom>
          <a:solidFill>
            <a:srgbClr val="F1F6FA"/>
          </a:solidFill>
          <a:ln w="9525">
            <a:solidFill>
              <a:srgbClr val="C8D7E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705725" y="5064026"/>
            <a:ext cx="37890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05725" y="5419725"/>
            <a:ext cx="3789045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12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温度相关不稳，不能把它当根因证据。继续围绕 MD 温度调参，性价比很低。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431750" y="6487269"/>
            <a:ext cx="11328350" cy="15180"/>
          </a:xfrm>
          <a:prstGeom prst="rect">
            <a:avLst/>
          </a:prstGeom>
          <a:solidFill>
            <a:srgbClr val="D7D2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399193" y="6569125"/>
            <a:ext cx="3165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12</a:t>
            </a:r>
            <a:endParaRPr lang="en-US" sz="900" dirty="0"/>
          </a:p>
        </p:txBody>
      </p:sp>
      <p:pic>
        <p:nvPicPr>
          <p:cNvPr id="17" name="Image 0" descr="/Volumes/laxer/codes/skills/industrial-deep-diagnostic/workspace/diagnostic-runs/202606090427156_BOPET薄膜双拉加工/03_figures/fig_correlation_robust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854101"/>
            <a:ext cx="6603950" cy="39877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3401"/>
          </a:xfrm>
          <a:prstGeom prst="rect">
            <a:avLst/>
          </a:prstGeom>
          <a:solidFill>
            <a:srgbClr val="1C31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30101"/>
            <a:ext cx="7013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5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FIGURE 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3400" y="609600"/>
            <a:ext cx="11347704" cy="385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同色聚类比斜率更重要：产品型号在工艺参数空间和划伤空间里都形成独立簇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3400" y="1295400"/>
            <a:ext cx="1396901" cy="38100"/>
          </a:xfrm>
          <a:prstGeom prst="roundRect">
            <a:avLst>
              <a:gd name="adj" fmla="val 66667"/>
            </a:avLst>
          </a:prstGeom>
          <a:solidFill>
            <a:srgbClr val="B44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96200" y="1854101"/>
            <a:ext cx="3962400" cy="1244501"/>
          </a:xfrm>
          <a:prstGeom prst="roundRect">
            <a:avLst>
              <a:gd name="adj" fmla="val 12246"/>
            </a:avLst>
          </a:prstGeom>
          <a:solidFill>
            <a:srgbClr val="FFFFFF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08875" y="2041327"/>
            <a:ext cx="3607638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BETWEEN_PRODUCT_ONLY 是什么意思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08875" y="2473226"/>
            <a:ext cx="3607638" cy="452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100" dirty="0">
                <a:solidFill>
                  <a:srgbClr val="2328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全局看起来有相关，但拆到每个型号内部后，关系就近零、反转或互相矛盾。这种相关不能拿来做因果判断。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96200" y="3301901"/>
            <a:ext cx="3962400" cy="12954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08875" y="3489127"/>
            <a:ext cx="3607638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这页最关键的观察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08875" y="3921026"/>
            <a:ext cx="3607638" cy="679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100" dirty="0">
                <a:solidFill>
                  <a:srgbClr val="2328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同色点自己抱团，说明“型号是谁”同时影响工艺设定值和划伤水平。全局斜率只是这些簇错位以后产生的表面效果。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96200" y="4800600"/>
            <a:ext cx="3962400" cy="1041350"/>
          </a:xfrm>
          <a:prstGeom prst="roundRect">
            <a:avLst>
              <a:gd name="adj" fmla="val 14635"/>
            </a:avLst>
          </a:prstGeom>
          <a:solidFill>
            <a:srgbClr val="FFFFFF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08875" y="4987826"/>
            <a:ext cx="3607638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老板翻译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08875" y="5368826"/>
            <a:ext cx="3607638" cy="452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100" dirty="0">
                <a:solidFill>
                  <a:srgbClr val="2328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不是“温度越高划伤越大”，而是“某些型号本来就既更高温、又更容易划伤”。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1750" y="6487269"/>
            <a:ext cx="11328350" cy="15180"/>
          </a:xfrm>
          <a:prstGeom prst="rect">
            <a:avLst/>
          </a:prstGeom>
          <a:solidFill>
            <a:srgbClr val="D7D2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393091" y="6569125"/>
            <a:ext cx="3227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12</a:t>
            </a:r>
            <a:endParaRPr lang="en-US" sz="900" dirty="0"/>
          </a:p>
        </p:txBody>
      </p:sp>
      <p:pic>
        <p:nvPicPr>
          <p:cNvPr id="17" name="Image 0" descr="/Volumes/laxer/codes/skills/industrial-deep-diagnostic/workspace/diagnostic-runs/202606090427156_BOPET薄膜双拉加工/03_figures/fig_filter_quench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854101"/>
            <a:ext cx="6858000" cy="39877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3401"/>
          </a:xfrm>
          <a:prstGeom prst="rect">
            <a:avLst/>
          </a:prstGeom>
          <a:solidFill>
            <a:srgbClr val="1C31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30101"/>
            <a:ext cx="7013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5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FIGURE 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3400" y="609600"/>
            <a:ext cx="11347704" cy="385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高划伤和低划伤批次的温度剖面几乎重叠，所以“继续调MD温度”不是当前最优先动作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3400" y="1295400"/>
            <a:ext cx="1396901" cy="38100"/>
          </a:xfrm>
          <a:prstGeom prst="roundRect">
            <a:avLst>
              <a:gd name="adj" fmla="val 66667"/>
            </a:avLst>
          </a:prstGeom>
          <a:solidFill>
            <a:srgbClr val="B44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96200" y="1854101"/>
            <a:ext cx="3962400" cy="1193750"/>
          </a:xfrm>
          <a:prstGeom prst="roundRect">
            <a:avLst>
              <a:gd name="adj" fmla="val 14894"/>
            </a:avLst>
          </a:prstGeom>
          <a:solidFill>
            <a:srgbClr val="F4F1EA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34325" y="2041327"/>
            <a:ext cx="355587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图怎么看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34325" y="2473226"/>
            <a:ext cx="3555873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12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蓝线和红线分别代表低划伤与高划伤批次的温度剖面。看它们是不是大幅分开。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7696200" y="3251150"/>
            <a:ext cx="3962400" cy="1422350"/>
          </a:xfrm>
          <a:prstGeom prst="roundRect">
            <a:avLst>
              <a:gd name="adj" fmla="val 12500"/>
            </a:avLst>
          </a:prstGeom>
          <a:solidFill>
            <a:srgbClr val="F1F6FA"/>
          </a:solidFill>
          <a:ln w="9525">
            <a:solidFill>
              <a:srgbClr val="C8D7E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34325" y="3438376"/>
            <a:ext cx="355587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图说明什么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34325" y="3870275"/>
            <a:ext cx="3555873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12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预热 / 拉伸段基本重叠，差异通常小于 0.15C。这个量级太小，解释不了从 4 到 6925 的划伤跨度。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7696200" y="4876800"/>
            <a:ext cx="3962400" cy="965150"/>
          </a:xfrm>
          <a:prstGeom prst="roundRect">
            <a:avLst>
              <a:gd name="adj" fmla="val 18422"/>
            </a:avLst>
          </a:prstGeom>
          <a:solidFill>
            <a:srgbClr val="FFF5EE"/>
          </a:solidFill>
          <a:ln w="9525">
            <a:solidFill>
              <a:srgbClr val="E7C8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34325" y="5064026"/>
            <a:ext cx="355587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图的边界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934325" y="5419725"/>
            <a:ext cx="3555873" cy="460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12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急冷段个别型号有系统性偏低，但方向与高划伤并不匹配，所以不能当作主因。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431750" y="6487269"/>
            <a:ext cx="11328350" cy="15180"/>
          </a:xfrm>
          <a:prstGeom prst="rect">
            <a:avLst/>
          </a:prstGeom>
          <a:solidFill>
            <a:srgbClr val="D7D2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393091" y="6569125"/>
            <a:ext cx="3227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12</a:t>
            </a:r>
            <a:endParaRPr lang="en-US" sz="900" dirty="0"/>
          </a:p>
        </p:txBody>
      </p:sp>
      <p:pic>
        <p:nvPicPr>
          <p:cNvPr id="17" name="Image 0" descr="/Volumes/laxer/codes/skills/industrial-deep-diagnostic/workspace/diagnostic-runs/202606090427156_BOPET薄膜双拉加工/03_figures/fig_zone_spatial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854101"/>
            <a:ext cx="6858000" cy="39877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3401"/>
          </a:xfrm>
          <a:prstGeom prst="rect">
            <a:avLst/>
          </a:prstGeom>
          <a:solidFill>
            <a:srgbClr val="1C31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30101"/>
            <a:ext cx="17351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5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GLOSSARY AND LIMITS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3400" y="609600"/>
            <a:ext cx="11347704" cy="385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听懂这四个词，就能明白为什么这次结论要讲得“坚定，但克制”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3400" y="1295400"/>
            <a:ext cx="1396901" cy="38100"/>
          </a:xfrm>
          <a:prstGeom prst="roundRect">
            <a:avLst>
              <a:gd name="adj" fmla="val 66667"/>
            </a:avLst>
          </a:prstGeom>
          <a:solidFill>
            <a:srgbClr val="B44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879550"/>
            <a:ext cx="5308550" cy="1625501"/>
          </a:xfrm>
          <a:prstGeom prst="roundRect">
            <a:avLst>
              <a:gd name="adj" fmla="val 9376"/>
            </a:avLst>
          </a:prstGeom>
          <a:solidFill>
            <a:srgbClr val="FFFFFF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6075" y="2066776"/>
            <a:ext cx="4980712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Pearson相关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6075" y="2498675"/>
            <a:ext cx="4980712" cy="452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100" dirty="0">
                <a:solidFill>
                  <a:srgbClr val="2328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看两个量是不是沿着“直线关系”一起变。优点是直观，缺点是很容易被极端大值拉歪。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49901" y="1879550"/>
            <a:ext cx="5308550" cy="1625501"/>
          </a:xfrm>
          <a:prstGeom prst="roundRect">
            <a:avLst>
              <a:gd name="adj" fmla="val 9376"/>
            </a:avLst>
          </a:prstGeom>
          <a:solidFill>
            <a:srgbClr val="FFFFFF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62576" y="2066776"/>
            <a:ext cx="4980712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Spearman相关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62576" y="2498675"/>
            <a:ext cx="4980712" cy="226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100" dirty="0">
                <a:solidFill>
                  <a:srgbClr val="2328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不看绝对大小，只看大小规律是不是一致。对极端值多、分布偏的数据更稳。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3400" y="3733800"/>
            <a:ext cx="5308550" cy="1625501"/>
          </a:xfrm>
          <a:prstGeom prst="roundRect">
            <a:avLst>
              <a:gd name="adj" fmla="val 9376"/>
            </a:avLst>
          </a:prstGeom>
          <a:solidFill>
            <a:srgbClr val="FFFFFF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6075" y="3921026"/>
            <a:ext cx="4980712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Kruskal-Wallis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6075" y="4352925"/>
            <a:ext cx="4980712" cy="452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100" dirty="0">
                <a:solidFill>
                  <a:srgbClr val="2328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适合比较多组分布差异。比“把产品型号这样的分类变量直接拿去做相关”更合适。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49901" y="3733800"/>
            <a:ext cx="5308550" cy="1625501"/>
          </a:xfrm>
          <a:prstGeom prst="roundRect">
            <a:avLst>
              <a:gd name="adj" fmla="val 9376"/>
            </a:avLst>
          </a:prstGeom>
          <a:solidFill>
            <a:srgbClr val="FFFFFF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62576" y="3921026"/>
            <a:ext cx="4980712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COMPETING_SET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62576" y="4352925"/>
            <a:ext cx="4980712" cy="452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100" dirty="0">
                <a:solidFill>
                  <a:srgbClr val="2328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不是没方向，而是还有多个合理解释同时活着。管理层现在最有价值的动作是支持验证，而不是提前指定答案。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3400" y="5587901"/>
            <a:ext cx="11125200" cy="711101"/>
          </a:xfrm>
          <a:prstGeom prst="roundRect">
            <a:avLst>
              <a:gd name="adj" fmla="val 25004"/>
            </a:avLst>
          </a:prstGeom>
          <a:solidFill>
            <a:srgbClr val="1C3144"/>
          </a:solidFill>
          <a:ln w="9525">
            <a:solidFill>
              <a:srgbClr val="1C31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71525" y="5775127"/>
            <a:ext cx="1086192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1525" y="5876776"/>
            <a:ext cx="10861929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这次最确定的不是“根因是谁”，而是“哪些方向已经不值得继续重投资源”。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431750" y="6487269"/>
            <a:ext cx="11328350" cy="15180"/>
          </a:xfrm>
          <a:prstGeom prst="rect">
            <a:avLst/>
          </a:prstGeom>
          <a:solidFill>
            <a:srgbClr val="D7D2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347252" y="6569125"/>
            <a:ext cx="36949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3401"/>
          </a:xfrm>
          <a:prstGeom prst="rect">
            <a:avLst/>
          </a:prstGeom>
          <a:solidFill>
            <a:srgbClr val="1C31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30101"/>
            <a:ext cx="10195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5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 PLAN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3400" y="609600"/>
            <a:ext cx="11347704" cy="385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下一步不是继续围着MD参数调，而是补齐能区分材料、厚度和下游工艺的数据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3400" y="1295400"/>
            <a:ext cx="1396901" cy="38100"/>
          </a:xfrm>
          <a:prstGeom prst="roundRect">
            <a:avLst>
              <a:gd name="adj" fmla="val 66667"/>
            </a:avLst>
          </a:prstGeom>
          <a:solidFill>
            <a:srgbClr val="B44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981200"/>
            <a:ext cx="3429000" cy="32766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1C31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4274" y="2143125"/>
            <a:ext cx="3167253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阶段一：本周内先补关键数据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4274" y="2676525"/>
            <a:ext cx="3167253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12"/>
              </a:lnSpc>
              <a:buNone/>
            </a:pPr>
            <a:r>
              <a:rPr lang="en-US" sz="104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获取各批次 PET 切片配方，尤其是 SiO2 和关键添加剂信息。</a:t>
            </a:r>
            <a:endParaRPr lang="en-US" sz="1040" dirty="0"/>
          </a:p>
        </p:txBody>
      </p:sp>
      <p:sp>
        <p:nvSpPr>
          <p:cNvPr id="9" name="Text 7"/>
          <p:cNvSpPr/>
          <p:nvPr/>
        </p:nvSpPr>
        <p:spPr>
          <a:xfrm>
            <a:off x="664274" y="3438525"/>
            <a:ext cx="3167253" cy="20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12"/>
              </a:lnSpc>
              <a:buNone/>
            </a:pPr>
            <a:r>
              <a:rPr lang="en-US" sz="104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收集各型号厚度规格，并与缺陷数据做一一对应。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664274" y="4175075"/>
            <a:ext cx="3167253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12"/>
              </a:lnSpc>
              <a:buNone/>
            </a:pPr>
            <a:r>
              <a:rPr lang="en-US" sz="104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清洗 model 字段，消除尾随空格导致的分组失真。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4381500" y="1981200"/>
            <a:ext cx="3429000" cy="32766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1C31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12374" y="2143125"/>
            <a:ext cx="3167253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阶段二：两周内补下游视角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12374" y="2676525"/>
            <a:ext cx="3167253" cy="20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12"/>
              </a:lnSpc>
              <a:buNone/>
            </a:pPr>
            <a:r>
              <a:rPr lang="en-US" sz="104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部署 TD 横拉段和收卷段参数采集。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4512374" y="3438525"/>
            <a:ext cx="3167253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12"/>
              </a:lnSpc>
              <a:buNone/>
            </a:pPr>
            <a:r>
              <a:rPr lang="en-US" sz="104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做 FP21 与 PG32B 的同型号不同材料批次回顾分析。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4512374" y="4175075"/>
            <a:ext cx="3167253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12"/>
              </a:lnSpc>
              <a:buNone/>
            </a:pPr>
            <a:r>
              <a:rPr lang="en-US" sz="104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把极端批次单独拎出来复盘，不只混在总体均值里。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8229600" y="1981200"/>
            <a:ext cx="3429000" cy="32766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1C31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360474" y="2143125"/>
            <a:ext cx="3167253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阶段三：一个月内形成闭环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60474" y="2676525"/>
            <a:ext cx="3167253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12"/>
              </a:lnSpc>
              <a:buNone/>
            </a:pPr>
            <a:r>
              <a:rPr lang="en-US" sz="104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打通原材料 -&gt; MD -&gt; TD -&gt; 收卷 -&gt; 缺陷检测的全链路数据。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8360474" y="3438525"/>
            <a:ext cx="3167253" cy="204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12"/>
              </a:lnSpc>
              <a:buNone/>
            </a:pPr>
            <a:r>
              <a:rPr lang="en-US" sz="104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建立“型号切换 -&gt; 风险基线变化”预警规则。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8360474" y="4175075"/>
            <a:ext cx="3167253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12"/>
              </a:lnSpc>
              <a:buNone/>
            </a:pPr>
            <a:r>
              <a:rPr lang="en-US" sz="1040" dirty="0">
                <a:solidFill>
                  <a:srgbClr val="2730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若仍需验证温度影响，再做小范围定向实验，而不是全面调参。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533400" y="5486400"/>
            <a:ext cx="11125200" cy="812750"/>
          </a:xfrm>
          <a:prstGeom prst="roundRect">
            <a:avLst>
              <a:gd name="adj" fmla="val 21876"/>
            </a:avLst>
          </a:prstGeom>
          <a:solidFill>
            <a:srgbClr val="FFF5EE"/>
          </a:solidFill>
          <a:ln w="9525">
            <a:solidFill>
              <a:srgbClr val="E7C8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71525" y="5673626"/>
            <a:ext cx="1086192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责任分工提醒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1525" y="5978426"/>
            <a:ext cx="10861929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12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工艺负责验证设计，质量负责极端批次回放，设备 / 信息化负责跨段数据打通，生产负责为对照分析留出稳定窗口。没有协同，这个问题会在不同型号上反复出现。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431750" y="6487269"/>
            <a:ext cx="11328350" cy="15180"/>
          </a:xfrm>
          <a:prstGeom prst="rect">
            <a:avLst/>
          </a:prstGeom>
          <a:solidFill>
            <a:srgbClr val="D7D2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1370022" y="6569125"/>
            <a:ext cx="3462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3401"/>
          </a:xfrm>
          <a:prstGeom prst="rect">
            <a:avLst/>
          </a:prstGeom>
          <a:solidFill>
            <a:srgbClr val="1C31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330101"/>
            <a:ext cx="148055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5A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 REQUEST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33400" y="609600"/>
            <a:ext cx="11347704" cy="771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6"/>
              </a:lnSpc>
              <a:buNone/>
            </a:pPr>
            <a:r>
              <a:rPr lang="en-US" sz="23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管理层现在要拍板的，是“验证资源”和“跨段数据打通”，不是替技术团队提前指定根因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33400" y="1295400"/>
            <a:ext cx="1396901" cy="38100"/>
          </a:xfrm>
          <a:prstGeom prst="roundRect">
            <a:avLst>
              <a:gd name="adj" fmla="val 66667"/>
            </a:avLst>
          </a:prstGeom>
          <a:solidFill>
            <a:srgbClr val="B44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981200"/>
            <a:ext cx="4521101" cy="3327350"/>
          </a:xfrm>
          <a:prstGeom prst="roundRect">
            <a:avLst>
              <a:gd name="adj" fmla="val 5344"/>
            </a:avLst>
          </a:prstGeom>
          <a:solidFill>
            <a:srgbClr val="1C3144"/>
          </a:solidFill>
          <a:ln w="9525">
            <a:solidFill>
              <a:srgbClr val="1C31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1525" y="2168426"/>
            <a:ext cx="412574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汇报收口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1525" y="2778026"/>
            <a:ext cx="4125748" cy="1088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6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当前最稳的结论，是“MD纵拉段工艺参数不是主导根因，真正该追的是产品型号固有差异及其未观测子机制”。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1525" y="4073426"/>
            <a:ext cx="4125748" cy="725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6"/>
              </a:lnSpc>
              <a:buNone/>
            </a:pPr>
            <a:r>
              <a:rPr lang="en-US" sz="1700" b="1" dirty="0">
                <a:solidFill>
                  <a:srgbClr val="FFD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最不应该做的，是在证据还不够时，继续把主要资源砸在MD温度或扭矩均值上。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60950" y="1981200"/>
            <a:ext cx="6197501" cy="965150"/>
          </a:xfrm>
          <a:prstGeom prst="roundRect">
            <a:avLst>
              <a:gd name="adj" fmla="val 18422"/>
            </a:avLst>
          </a:prstGeom>
          <a:solidFill>
            <a:srgbClr val="F4F1EA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699075" y="2168426"/>
            <a:ext cx="58356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需要拍板 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99075" y="2498675"/>
            <a:ext cx="5835676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12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批准补采原材料配方、厚度规格和 TD / 收卷段数据，不再只看 MD 段。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5460950" y="3149501"/>
            <a:ext cx="6197501" cy="965150"/>
          </a:xfrm>
          <a:prstGeom prst="roundRect">
            <a:avLst>
              <a:gd name="adj" fmla="val 18422"/>
            </a:avLst>
          </a:prstGeom>
          <a:solidFill>
            <a:srgbClr val="F1F6FA"/>
          </a:solidFill>
          <a:ln w="9525">
            <a:solidFill>
              <a:srgbClr val="C8D7E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699075" y="3336727"/>
            <a:ext cx="58356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需要拍板 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99075" y="3666976"/>
            <a:ext cx="5835676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12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要求极端批次单独复盘，并建立型号切换后的风险监测机制。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5460950" y="4317950"/>
            <a:ext cx="6197501" cy="965150"/>
          </a:xfrm>
          <a:prstGeom prst="roundRect">
            <a:avLst>
              <a:gd name="adj" fmla="val 18422"/>
            </a:avLst>
          </a:prstGeom>
          <a:solidFill>
            <a:srgbClr val="FFF5EE"/>
          </a:solidFill>
          <a:ln w="9525">
            <a:solidFill>
              <a:srgbClr val="E7C8B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99075" y="4505176"/>
            <a:ext cx="583567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31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需要拍板 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699075" y="4835426"/>
            <a:ext cx="5835676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4"/>
              </a:lnSpc>
              <a:buNone/>
            </a:pPr>
            <a:r>
              <a:rPr lang="en-US" sz="112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把后续验证目标写清楚：要区分的是材料差异、厚度差异，还是下游工艺差异。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5460950" y="5486400"/>
            <a:ext cx="6197501" cy="812750"/>
          </a:xfrm>
          <a:prstGeom prst="roundRect">
            <a:avLst>
              <a:gd name="adj" fmla="val 21876"/>
            </a:avLst>
          </a:prstGeom>
          <a:solidFill>
            <a:srgbClr val="FFFFFF"/>
          </a:solidFill>
          <a:ln w="9525">
            <a:solidFill>
              <a:srgbClr val="D9D4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99075" y="5724525"/>
            <a:ext cx="5835676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2024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如果这三件事落下去，下一轮汇报就有机会从“方向已收敛”升级成“子机制已分开”。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1750" y="6487269"/>
            <a:ext cx="11328350" cy="15180"/>
          </a:xfrm>
          <a:prstGeom prst="rect">
            <a:avLst/>
          </a:prstGeom>
          <a:solidFill>
            <a:srgbClr val="D7D2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347252" y="6569125"/>
            <a:ext cx="36949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6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BOPET划伤诊断老板汇报</dc:title>
  <dc:subject>BOPET model-difference diagnosis CEO report</dc:subject>
  <dc:creator>Codex</dc:creator>
  <cp:lastModifiedBy>Codex</cp:lastModifiedBy>
  <cp:revision>1</cp:revision>
  <dcterms:created xsi:type="dcterms:W3CDTF">2026-06-09T08:21:10Z</dcterms:created>
  <dcterms:modified xsi:type="dcterms:W3CDTF">2026-06-09T08:21:10Z</dcterms:modified>
</cp:coreProperties>
</file>